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3"/>
    <p:sldMasterId id="2147483665" r:id="rId4"/>
  </p:sldMasterIdLst>
  <p:notesMasterIdLst>
    <p:notesMasterId r:id="rId6"/>
  </p:notesMasterIdLst>
  <p:handoutMasterIdLst>
    <p:handoutMasterId r:id="rId19"/>
  </p:handoutMasterIdLst>
  <p:sldIdLst>
    <p:sldId id="16765652" r:id="rId5"/>
    <p:sldId id="16765653" r:id="rId7"/>
    <p:sldId id="16765782" r:id="rId8"/>
    <p:sldId id="16765781" r:id="rId9"/>
    <p:sldId id="16765785" r:id="rId10"/>
    <p:sldId id="16765776" r:id="rId11"/>
    <p:sldId id="16765783" r:id="rId12"/>
    <p:sldId id="16765784" r:id="rId13"/>
    <p:sldId id="16765767" r:id="rId14"/>
    <p:sldId id="16765769" r:id="rId15"/>
    <p:sldId id="16765768" r:id="rId16"/>
    <p:sldId id="16765777" r:id="rId17"/>
    <p:sldId id="16765786" r:id="rId18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j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0"/>
    <a:srgbClr val="ED7D31"/>
    <a:srgbClr val="8FAADC"/>
    <a:srgbClr val="004578"/>
    <a:srgbClr val="DAE8FC"/>
    <a:srgbClr val="FFF2CC"/>
    <a:srgbClr val="000000"/>
    <a:srgbClr val="C5E0B4"/>
    <a:srgbClr val="AEB5C0"/>
    <a:srgbClr val="D8E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88" autoAdjust="0"/>
    <p:restoredTop sz="96857" autoAdjust="0"/>
  </p:normalViewPr>
  <p:slideViewPr>
    <p:cSldViewPr snapToGrid="0" showGuides="1">
      <p:cViewPr varScale="1">
        <p:scale>
          <a:sx n="102" d="100"/>
          <a:sy n="102" d="100"/>
        </p:scale>
        <p:origin x="208" y="632"/>
      </p:cViewPr>
      <p:guideLst>
        <p:guide orient="horz" pos="2198"/>
        <p:guide pos="3830"/>
      </p:guideLst>
    </p:cSldViewPr>
  </p:slideViewPr>
  <p:outlineViewPr>
    <p:cViewPr>
      <p:scale>
        <a:sx n="33" d="100"/>
        <a:sy n="33" d="100"/>
      </p:scale>
      <p:origin x="0" y="-235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DEFAB-846D-4294-81E0-AED35FDFBF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86A3F-FEFE-4D9B-B5CD-3110BD76F1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61BC9-900C-4BB2-A524-0880C014BD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BitsCom</a:t>
            </a:r>
            <a:r>
              <a:rPr lang="zh-CN" altLang="en-US" dirty="0"/>
              <a:t>是本文方法，当前的图中采用全量</a:t>
            </a:r>
            <a:r>
              <a:rPr lang="en-US" altLang="zh-CN" dirty="0"/>
              <a:t>4-bit</a:t>
            </a:r>
            <a:r>
              <a:rPr lang="zh-CN" altLang="en-US" dirty="0"/>
              <a:t>训练</a:t>
            </a:r>
            <a:r>
              <a:rPr lang="en-US" altLang="zh-CN" dirty="0"/>
              <a:t>+</a:t>
            </a:r>
            <a:r>
              <a:rPr lang="zh-CN" altLang="en-US" dirty="0"/>
              <a:t>随机舍入量化</a:t>
            </a:r>
            <a:r>
              <a:rPr lang="en-US" altLang="zh-CN" dirty="0"/>
              <a:t>+</a:t>
            </a:r>
            <a:r>
              <a:rPr lang="zh-CN" altLang="en-US" dirty="0"/>
              <a:t>块维度量化，可看到，基本与基线训练保持</a:t>
            </a:r>
            <a:r>
              <a:rPr lang="zh-CN" altLang="en-US" dirty="0"/>
              <a:t>高度一致，维持了</a:t>
            </a:r>
            <a:r>
              <a:rPr lang="zh-CN" altLang="en-US" dirty="0"/>
              <a:t>无偏性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BitsCom</a:t>
            </a:r>
            <a:r>
              <a:rPr lang="zh-CN" altLang="en-US" dirty="0"/>
              <a:t>是本文方法，当前的图中采用全量</a:t>
            </a:r>
            <a:r>
              <a:rPr lang="en-US" altLang="zh-CN" dirty="0"/>
              <a:t>4-bit</a:t>
            </a:r>
            <a:r>
              <a:rPr lang="zh-CN" altLang="en-US" dirty="0"/>
              <a:t>训练</a:t>
            </a:r>
            <a:r>
              <a:rPr lang="en-US" altLang="zh-CN" dirty="0"/>
              <a:t>+</a:t>
            </a:r>
            <a:r>
              <a:rPr lang="zh-CN" altLang="en-US" dirty="0"/>
              <a:t>随机舍入量化</a:t>
            </a:r>
            <a:r>
              <a:rPr lang="en-US" altLang="zh-CN" dirty="0"/>
              <a:t>+</a:t>
            </a:r>
            <a:r>
              <a:rPr lang="zh-CN" altLang="en-US" dirty="0"/>
              <a:t>块维度量化，可看到，基本与基线训练保持</a:t>
            </a:r>
            <a:r>
              <a:rPr lang="zh-CN" altLang="en-US" dirty="0"/>
              <a:t>高度一致，维持了</a:t>
            </a:r>
            <a:r>
              <a:rPr lang="zh-CN" altLang="en-US" dirty="0"/>
              <a:t>无偏性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bitscom-4bit </a:t>
            </a:r>
            <a:r>
              <a:rPr lang="zh-CN" altLang="en-US"/>
              <a:t>最快；</a:t>
            </a:r>
            <a:r>
              <a:rPr lang="en-US" altLang="zh-CN"/>
              <a:t>topk </a:t>
            </a:r>
            <a:r>
              <a:rPr lang="zh-CN" altLang="en-US"/>
              <a:t>通信量也小，但稀疏索引</a:t>
            </a:r>
            <a:r>
              <a:rPr lang="en-US" altLang="zh-CN"/>
              <a:t>/</a:t>
            </a:r>
            <a:r>
              <a:rPr lang="zh-CN" altLang="en-US"/>
              <a:t>聚合有额外开销，所以慢于</a:t>
            </a:r>
            <a:r>
              <a:rPr lang="en-US" altLang="zh-CN"/>
              <a:t> bitscom</a:t>
            </a:r>
            <a:r>
              <a:rPr lang="zh-CN" altLang="en-US"/>
              <a:t>；</a:t>
            </a:r>
            <a:r>
              <a:rPr lang="en-US" altLang="zh-CN"/>
              <a:t>quant8 </a:t>
            </a:r>
            <a:r>
              <a:rPr lang="zh-CN" altLang="en-US"/>
              <a:t>大约是</a:t>
            </a:r>
            <a:r>
              <a:rPr lang="en-US" altLang="zh-CN"/>
              <a:t> dense </a:t>
            </a:r>
            <a:r>
              <a:rPr lang="zh-CN" altLang="en-US"/>
              <a:t>的</a:t>
            </a:r>
            <a:r>
              <a:rPr lang="en-US" altLang="zh-CN"/>
              <a:t> 1/4 </a:t>
            </a:r>
            <a:r>
              <a:rPr lang="zh-CN" altLang="en-US"/>
              <a:t>通信量但仍有量化</a:t>
            </a:r>
            <a:r>
              <a:rPr lang="en-US" altLang="zh-CN"/>
              <a:t>/</a:t>
            </a:r>
            <a:r>
              <a:rPr lang="zh-CN" altLang="en-US"/>
              <a:t>反量化开销；</a:t>
            </a:r>
            <a:r>
              <a:rPr lang="en-US" altLang="zh-CN"/>
              <a:t>powersgd rank=2 </a:t>
            </a:r>
            <a:r>
              <a:rPr lang="zh-CN" altLang="en-US"/>
              <a:t>对</a:t>
            </a:r>
            <a:r>
              <a:rPr lang="en-US" altLang="zh-CN"/>
              <a:t> YOLO </a:t>
            </a:r>
            <a:r>
              <a:rPr lang="zh-CN" altLang="en-US"/>
              <a:t>这类小模型收益有限且重构开销偏高。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bitscom-4bit </a:t>
            </a:r>
            <a:r>
              <a:rPr lang="zh-CN" altLang="en-US"/>
              <a:t>最快；</a:t>
            </a:r>
            <a:r>
              <a:rPr lang="en-US" altLang="zh-CN"/>
              <a:t>topk </a:t>
            </a:r>
            <a:r>
              <a:rPr lang="zh-CN" altLang="en-US"/>
              <a:t>通信量也小，但稀疏索引</a:t>
            </a:r>
            <a:r>
              <a:rPr lang="en-US" altLang="zh-CN"/>
              <a:t>/</a:t>
            </a:r>
            <a:r>
              <a:rPr lang="zh-CN" altLang="en-US"/>
              <a:t>聚合有额外开销，所以慢于</a:t>
            </a:r>
            <a:r>
              <a:rPr lang="en-US" altLang="zh-CN"/>
              <a:t> bitscom</a:t>
            </a:r>
            <a:r>
              <a:rPr lang="zh-CN" altLang="en-US"/>
              <a:t>；</a:t>
            </a:r>
            <a:r>
              <a:rPr lang="en-US" altLang="zh-CN"/>
              <a:t>quant8 </a:t>
            </a:r>
            <a:r>
              <a:rPr lang="zh-CN" altLang="en-US"/>
              <a:t>大约是</a:t>
            </a:r>
            <a:r>
              <a:rPr lang="en-US" altLang="zh-CN"/>
              <a:t> dense </a:t>
            </a:r>
            <a:r>
              <a:rPr lang="zh-CN" altLang="en-US"/>
              <a:t>的</a:t>
            </a:r>
            <a:r>
              <a:rPr lang="en-US" altLang="zh-CN"/>
              <a:t> 1/4 </a:t>
            </a:r>
            <a:r>
              <a:rPr lang="zh-CN" altLang="en-US"/>
              <a:t>通信量但仍有量化</a:t>
            </a:r>
            <a:r>
              <a:rPr lang="en-US" altLang="zh-CN"/>
              <a:t>/</a:t>
            </a:r>
            <a:r>
              <a:rPr lang="zh-CN" altLang="en-US"/>
              <a:t>反量化开销；</a:t>
            </a:r>
            <a:r>
              <a:rPr lang="en-US" altLang="zh-CN"/>
              <a:t>powersgd rank=2 </a:t>
            </a:r>
            <a:r>
              <a:rPr lang="zh-CN" altLang="en-US"/>
              <a:t>对</a:t>
            </a:r>
            <a:r>
              <a:rPr lang="en-US" altLang="zh-CN"/>
              <a:t> YOLO </a:t>
            </a:r>
            <a:r>
              <a:rPr lang="zh-CN" altLang="en-US"/>
              <a:t>这类小模型收益有限且重构开销偏高。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BitsCom</a:t>
            </a:r>
            <a:r>
              <a:rPr lang="zh-CN" altLang="en-US" dirty="0"/>
              <a:t>是本文方法，当前的图中采用全量</a:t>
            </a:r>
            <a:r>
              <a:rPr lang="en-US" altLang="zh-CN" dirty="0"/>
              <a:t>4-bit</a:t>
            </a:r>
            <a:r>
              <a:rPr lang="zh-CN" altLang="en-US" dirty="0"/>
              <a:t>训练</a:t>
            </a:r>
            <a:r>
              <a:rPr lang="en-US" altLang="zh-CN" dirty="0"/>
              <a:t>+</a:t>
            </a:r>
            <a:r>
              <a:rPr lang="zh-CN" altLang="en-US" dirty="0"/>
              <a:t>随机舍入量化</a:t>
            </a:r>
            <a:r>
              <a:rPr lang="en-US" altLang="zh-CN" dirty="0"/>
              <a:t>+</a:t>
            </a:r>
            <a:r>
              <a:rPr lang="zh-CN" altLang="en-US" dirty="0"/>
              <a:t>块维度量化，可看到，基本与基线训练保持</a:t>
            </a:r>
            <a:r>
              <a:rPr lang="zh-CN" altLang="en-US" dirty="0"/>
              <a:t>高度一致，维持了</a:t>
            </a:r>
            <a:r>
              <a:rPr lang="zh-CN" altLang="en-US" dirty="0"/>
              <a:t>无偏性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61FF3F-8469-4412-9B2D-7DCC71D00E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4251" y="4339809"/>
            <a:ext cx="2144717" cy="20906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033C-70E9-4996-B5FE-6974CD59B94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1390" y="-26003"/>
            <a:ext cx="12192000" cy="3924886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3C34-1AA1-4AB3-A96F-01890984CFF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390" y="3900806"/>
            <a:ext cx="12192000" cy="2933114"/>
          </a:xfrm>
          <a:prstGeom prst="rect">
            <a:avLst/>
          </a:prstGeom>
          <a:solidFill>
            <a:srgbClr val="005299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99600" cy="2387600"/>
          </a:xfrm>
        </p:spPr>
        <p:txBody>
          <a:bodyPr anchor="b"/>
          <a:lstStyle>
            <a:lvl1pPr algn="ctr">
              <a:defRPr sz="6000">
                <a:latin typeface="腾祥嘉丽大黑简" panose="01010104010101010101" pitchFamily="2" charset="-122"/>
                <a:ea typeface="腾祥嘉丽大黑简" panose="0101010401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12610" y="3940969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腾祥嘉丽大黑简" panose="01010104010101010101" pitchFamily="2" charset="-122"/>
                <a:ea typeface="腾祥嘉丽大黑简" panose="0101010401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82564"/>
            <a:ext cx="9060581" cy="662781"/>
          </a:xfrm>
        </p:spPr>
        <p:txBody>
          <a:bodyPr>
            <a:noAutofit/>
          </a:bodyPr>
          <a:lstStyle>
            <a:lvl1pPr>
              <a:defRPr sz="4400" b="1">
                <a:solidFill>
                  <a:srgbClr val="0820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462087"/>
            <a:ext cx="10515600" cy="4843463"/>
          </a:xfrm>
        </p:spPr>
        <p:txBody>
          <a:bodyPr>
            <a:normAutofit/>
          </a:bodyPr>
          <a:lstStyle>
            <a:lvl1pPr marL="228600" indent="-2286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ü"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30000"/>
              </a:lnSpc>
              <a:buClr>
                <a:srgbClr val="C00000"/>
              </a:buClr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033C-70E9-4996-B5FE-6974CD59B94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3C34-1AA1-4AB3-A96F-01890984CFF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957263"/>
            <a:ext cx="3403600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3360738" y="1008063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3C34-1AA1-4AB3-A96F-01890984CFF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85800" y="182564"/>
            <a:ext cx="9060581" cy="662781"/>
          </a:xfrm>
        </p:spPr>
        <p:txBody>
          <a:bodyPr>
            <a:noAutofit/>
          </a:bodyPr>
          <a:lstStyle>
            <a:lvl1pPr>
              <a:defRPr sz="4400" b="1">
                <a:solidFill>
                  <a:srgbClr val="0820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462087"/>
            <a:ext cx="10515600" cy="4843463"/>
          </a:xfrm>
        </p:spPr>
        <p:txBody>
          <a:bodyPr>
            <a:normAutofit/>
          </a:bodyPr>
          <a:lstStyle>
            <a:lvl1pPr marL="228600" indent="-2286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ü"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30000"/>
              </a:lnSpc>
              <a:buClr>
                <a:srgbClr val="C00000"/>
              </a:buClr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E53C34-1AA1-4AB3-A96F-01890984CFF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957263"/>
            <a:ext cx="3403600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360738" y="1008063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15670" y="252495"/>
            <a:ext cx="10201275" cy="521970"/>
          </a:xfrm>
        </p:spPr>
        <p:txBody>
          <a:bodyPr vert="horz" lIns="90000" tIns="46800" rIns="90000" bIns="468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solidFill>
                  <a:srgbClr val="0045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8" name="图片 7" descr="C:\Users\len\Desktop\7-140129231040534.png"/>
          <p:cNvPicPr/>
          <p:nvPr userDrawn="1">
            <p:custDataLst>
              <p:tags r:id="rId6"/>
            </p:custDataLst>
          </p:nvPr>
        </p:nvPicPr>
        <p:blipFill rotWithShape="1">
          <a:blip r:embed="rId7" cstate="screen"/>
          <a:srcRect/>
          <a:stretch>
            <a:fillRect/>
          </a:stretch>
        </p:blipFill>
        <p:spPr bwMode="auto">
          <a:xfrm>
            <a:off x="103305" y="176720"/>
            <a:ext cx="725207" cy="6735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矩形 10"/>
          <p:cNvSpPr/>
          <p:nvPr userDrawn="1">
            <p:custDataLst>
              <p:tags r:id="rId8"/>
            </p:custDataLst>
          </p:nvPr>
        </p:nvSpPr>
        <p:spPr>
          <a:xfrm>
            <a:off x="0" y="874713"/>
            <a:ext cx="3403600" cy="10795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9"/>
            </p:custDataLst>
          </p:nvPr>
        </p:nvCxnSpPr>
        <p:spPr>
          <a:xfrm>
            <a:off x="3360738" y="925513"/>
            <a:ext cx="2692400" cy="0"/>
          </a:xfrm>
          <a:prstGeom prst="line">
            <a:avLst/>
          </a:prstGeom>
          <a:ln w="28575">
            <a:solidFill>
              <a:srgbClr val="1453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758" y="2671378"/>
            <a:ext cx="10362485" cy="3881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515" y="3886200"/>
            <a:ext cx="8532971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401" y="4406901"/>
            <a:ext cx="10364073" cy="5970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401" y="2906713"/>
            <a:ext cx="1036407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73519" y="1447800"/>
            <a:ext cx="5307498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33476" y="1447800"/>
            <a:ext cx="5309086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652078"/>
            <a:ext cx="10972324" cy="3881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8" y="1535113"/>
            <a:ext cx="538690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838" y="2174875"/>
            <a:ext cx="538690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9" y="1535113"/>
            <a:ext cx="538849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9" y="2174875"/>
            <a:ext cx="538849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9" y="1136557"/>
            <a:ext cx="4011592" cy="2985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950" y="273051"/>
            <a:ext cx="68162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839" y="1435101"/>
            <a:ext cx="401159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122" y="5068795"/>
            <a:ext cx="7314882" cy="2985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122" y="612775"/>
            <a:ext cx="731488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122" y="5367338"/>
            <a:ext cx="731488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02569" y="758826"/>
            <a:ext cx="388120" cy="55657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73519" y="758826"/>
            <a:ext cx="7924720" cy="55657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43" y="1122366"/>
            <a:ext cx="9144253" cy="238760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43" y="3602043"/>
            <a:ext cx="9144253" cy="165576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16E5A-9D2C-4629-9816-00282E4BBFFC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4CE90-DD58-4BC6-AFF2-BA0032AA654C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73" y="1709743"/>
            <a:ext cx="10515891" cy="285274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73" y="4589473"/>
            <a:ext cx="10515891" cy="1500189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A47F1-0A80-42E3-8199-8E49A1911717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25" y="1825628"/>
            <a:ext cx="5181743" cy="4351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371" y="1825628"/>
            <a:ext cx="5181743" cy="4351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4FA25-B7D1-43A4-89C4-D62A83714B28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11" y="365128"/>
            <a:ext cx="10515891" cy="1325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13" y="1681166"/>
            <a:ext cx="5157929" cy="82391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13" y="2505080"/>
            <a:ext cx="5157929" cy="3684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371" y="1681166"/>
            <a:ext cx="5183332" cy="82391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371" y="2505080"/>
            <a:ext cx="5183332" cy="3684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C9D3B-555D-46C8-A762-FFFD87139196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3E108-0678-4BB4-8C32-B85CDDC971C5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44126-BA58-44D2-9A97-BD374C6593EC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12" y="457201"/>
            <a:ext cx="3932345" cy="160020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332" y="987428"/>
            <a:ext cx="6172371" cy="487363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12" y="2057403"/>
            <a:ext cx="3932345" cy="38115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E5862-1B23-434A-ACD9-BA6FCF2E6606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12" y="457201"/>
            <a:ext cx="3932345" cy="160020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332" y="987428"/>
            <a:ext cx="6172371" cy="4873632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>
                <a:sym typeface="Calibri" panose="020F0502020204030204" pitchFamily="34" charset="0"/>
              </a:rPr>
              <a:t>单击图标添加图片</a:t>
            </a:r>
            <a:endParaRPr lang="zh-CN" altLang="en-US" noProof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12" y="2057403"/>
            <a:ext cx="3932345" cy="38115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32F67-5D92-430E-8119-8AF9ECB00FD4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6E5B6-6B57-4040-B225-B62B37DB1EB7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142" y="365126"/>
            <a:ext cx="2628972" cy="581184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25" y="365126"/>
            <a:ext cx="7734513" cy="58118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DFF32-E7A1-4808-B5E1-A71907C510CB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3" Type="http://schemas.openxmlformats.org/officeDocument/2006/relationships/theme" Target="../theme/theme3.xm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2033C-70E9-4996-B5FE-6974CD59B94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3C34-1AA1-4AB3-A96F-01890984CFF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6"/>
          <p:cNvSpPr>
            <a:spLocks noChangeArrowheads="1"/>
          </p:cNvSpPr>
          <p:nvPr userDrawn="1"/>
        </p:nvSpPr>
        <p:spPr bwMode="auto">
          <a:xfrm>
            <a:off x="0" y="0"/>
            <a:ext cx="12187238" cy="696913"/>
          </a:xfrm>
          <a:prstGeom prst="rect">
            <a:avLst/>
          </a:prstGeom>
          <a:solidFill>
            <a:srgbClr val="436C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3074" name="Picture 75" descr="Content_Bottom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0" y="6446838"/>
            <a:ext cx="121920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91"/>
          <p:cNvSpPr txBox="1">
            <a:spLocks noChangeArrowheads="1"/>
          </p:cNvSpPr>
          <p:nvPr/>
        </p:nvSpPr>
        <p:spPr bwMode="auto">
          <a:xfrm>
            <a:off x="9118987" y="6575426"/>
            <a:ext cx="2580696" cy="1698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rgbClr val="000000"/>
                </a:solidFill>
                <a:latin typeface="华文细黑" panose="02010600040101010101" pitchFamily="2" charset="-122"/>
                <a:ea typeface="SimSun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1100" dirty="0">
                <a:solidFill>
                  <a:schemeClr val="bg1"/>
                </a:solidFill>
                <a:latin typeface="Verdana" panose="020B0604030504040204" pitchFamily="34" charset="0"/>
              </a:rPr>
              <a:t>北航计算机系统结构研究所© 20</a:t>
            </a:r>
            <a:r>
              <a:rPr lang="en-US" altLang="zh-CN" sz="1100" dirty="0">
                <a:solidFill>
                  <a:schemeClr val="bg1"/>
                </a:solidFill>
                <a:latin typeface="Verdana" panose="020B0604030504040204" pitchFamily="34" charset="0"/>
              </a:rPr>
              <a:t>25</a:t>
            </a:r>
            <a:endParaRPr lang="zh-CN" altLang="en-US" sz="11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73519" y="756854"/>
            <a:ext cx="10465713" cy="38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7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3519" y="1447800"/>
            <a:ext cx="1076904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pic>
        <p:nvPicPr>
          <p:cNvPr id="21" name="图片 8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607550" y="-4353"/>
            <a:ext cx="2579688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2pPr>
      <a:lvl3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3pPr>
      <a:lvl4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4pPr>
      <a:lvl5pPr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5pPr>
      <a:lvl6pPr marL="4572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6pPr>
      <a:lvl7pPr marL="9144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7pPr>
      <a:lvl8pPr marL="13716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8pPr>
      <a:lvl9pPr marL="1828800" algn="l" rtl="0" eaLnBrk="0" fontAlgn="base" hangingPunct="0">
        <a:lnSpc>
          <a:spcPct val="97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Franklin Gothic Medium" panose="020B0603020102020204" pitchFamily="34" charset="0"/>
        </a:defRPr>
      </a:lvl9pPr>
    </p:titleStyle>
    <p:bodyStyle>
      <a:lvl1pPr marL="230505" indent="-23050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rgbClr val="000000"/>
          </a:solidFill>
          <a:latin typeface="+mn-lt"/>
          <a:ea typeface="+mn-ea"/>
          <a:cs typeface="+mn-cs"/>
        </a:defRPr>
      </a:lvl1pPr>
      <a:lvl2pPr marL="628650" indent="-23177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-"/>
        <a:defRPr sz="1600" b="1">
          <a:solidFill>
            <a:schemeClr val="tx1"/>
          </a:solidFill>
          <a:latin typeface="+mn-lt"/>
        </a:defRPr>
      </a:lvl2pPr>
      <a:lvl3pPr marL="1025525" indent="-222250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•"/>
        <a:defRPr sz="1600" b="1">
          <a:solidFill>
            <a:schemeClr val="tx1"/>
          </a:solidFill>
          <a:latin typeface="Arial" panose="020B0604020202020204" pitchFamily="34" charset="0"/>
        </a:defRPr>
      </a:lvl3pPr>
      <a:lvl4pPr marL="1376680" indent="-23177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©"/>
        <a:defRPr sz="1600" b="1">
          <a:solidFill>
            <a:schemeClr val="tx1"/>
          </a:solidFill>
          <a:latin typeface="Arial" panose="020B0604020202020204" pitchFamily="34" charset="0"/>
        </a:defRPr>
      </a:lvl4pPr>
      <a:lvl5pPr marL="17176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Arial" panose="020B0604020202020204" pitchFamily="34" charset="0"/>
        </a:defRPr>
      </a:lvl5pPr>
      <a:lvl6pPr marL="21748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Arial" panose="020B0604020202020204" pitchFamily="34" charset="0"/>
        </a:defRPr>
      </a:lvl6pPr>
      <a:lvl7pPr marL="26320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Arial" panose="020B0604020202020204" pitchFamily="34" charset="0"/>
        </a:defRPr>
      </a:lvl7pPr>
      <a:lvl8pPr marL="30892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Arial" panose="020B0604020202020204" pitchFamily="34" charset="0"/>
        </a:defRPr>
      </a:lvl8pPr>
      <a:lvl9pPr marL="3546475" indent="-174625" algn="l" rtl="0" eaLnBrk="0" fontAlgn="base" hangingPunct="0">
        <a:lnSpc>
          <a:spcPct val="97000"/>
        </a:lnSpc>
        <a:spcBef>
          <a:spcPct val="20000"/>
        </a:spcBef>
        <a:spcAft>
          <a:spcPct val="20000"/>
        </a:spcAft>
        <a:buClr>
          <a:schemeClr val="folHlink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24" y="365128"/>
            <a:ext cx="10515891" cy="1325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>
                <a:sym typeface="Calibri Light" panose="020F0302020204030204" pitchFamily="34" charset="0"/>
              </a:rPr>
              <a:t>单击此处编辑母版标题样式</a:t>
            </a:r>
            <a:endParaRPr lang="zh-CN">
              <a:sym typeface="Calibri Light" panose="020F0302020204030204" pitchFamily="34" charset="0"/>
            </a:endParaRP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24" y="1825628"/>
            <a:ext cx="10515891" cy="4351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>
                <a:sym typeface="Calibri" panose="020F0502020204030204" pitchFamily="34" charset="0"/>
              </a:rPr>
              <a:t>单击此处编辑母版文本样式</a:t>
            </a:r>
            <a:endParaRPr lang="zh-CN">
              <a:sym typeface="Calibri" panose="020F0502020204030204" pitchFamily="34" charset="0"/>
            </a:endParaRPr>
          </a:p>
          <a:p>
            <a:pPr lvl="1"/>
            <a:r>
              <a:rPr lang="zh-CN">
                <a:sym typeface="Calibri" panose="020F0502020204030204" pitchFamily="34" charset="0"/>
              </a:rPr>
              <a:t>第二级</a:t>
            </a:r>
            <a:endParaRPr lang="zh-CN">
              <a:sym typeface="Calibri" panose="020F0502020204030204" pitchFamily="34" charset="0"/>
            </a:endParaRPr>
          </a:p>
          <a:p>
            <a:pPr lvl="2"/>
            <a:r>
              <a:rPr lang="zh-CN">
                <a:sym typeface="Calibri" panose="020F0502020204030204" pitchFamily="34" charset="0"/>
              </a:rPr>
              <a:t>第三级</a:t>
            </a:r>
            <a:endParaRPr lang="zh-CN">
              <a:sym typeface="Calibri" panose="020F0502020204030204" pitchFamily="34" charset="0"/>
            </a:endParaRPr>
          </a:p>
          <a:p>
            <a:pPr lvl="3"/>
            <a:r>
              <a:rPr lang="zh-CN">
                <a:sym typeface="Calibri" panose="020F0502020204030204" pitchFamily="34" charset="0"/>
              </a:rPr>
              <a:t>第四级</a:t>
            </a:r>
            <a:endParaRPr lang="zh-CN">
              <a:sym typeface="Calibri" panose="020F0502020204030204" pitchFamily="34" charset="0"/>
            </a:endParaRPr>
          </a:p>
          <a:p>
            <a:pPr lvl="4"/>
            <a:r>
              <a:rPr lang="zh-CN">
                <a:sym typeface="Calibri" panose="020F0502020204030204" pitchFamily="34" charset="0"/>
              </a:rPr>
              <a:t>第五级</a:t>
            </a:r>
            <a:endParaRPr lang="zh-CN">
              <a:sym typeface="Calibri" panose="020F0502020204030204" pitchFamily="34" charset="0"/>
            </a:endParaRP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23" y="6356361"/>
            <a:ext cx="2743276" cy="3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smtClean="0">
                <a:solidFill>
                  <a:srgbClr val="898989"/>
                </a:solidFill>
                <a:sym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713" y="6356361"/>
            <a:ext cx="4114913" cy="3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smtClean="0">
                <a:solidFill>
                  <a:srgbClr val="898989"/>
                </a:solidFill>
                <a:sym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838" y="6356361"/>
            <a:ext cx="2743276" cy="3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B32092-41CB-4103-8C72-19A69FECD800}" type="slidenum">
              <a:rPr lang="zh-CN" altLang="en-US"/>
            </a:fld>
            <a:endParaRPr lang="zh-CN" altLang="en-US" sz="1350">
              <a:solidFill>
                <a:srgbClr val="000000"/>
              </a:solidFill>
            </a:endParaRPr>
          </a:p>
        </p:txBody>
      </p:sp>
      <p:pic>
        <p:nvPicPr>
          <p:cNvPr id="7" name="Picture 6" descr="NoTexture_Ribbon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" y="-272544"/>
            <a:ext cx="12190748" cy="15541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indent="-171450" algn="l" defTabSz="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857250" indent="-171450" algn="l" defTabSz="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200150" indent="-171450" algn="l" defTabSz="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1543050" indent="-171450" algn="l" defTabSz="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" y="3814952"/>
            <a:ext cx="12191997" cy="1095934"/>
          </a:xfrm>
        </p:spPr>
        <p:txBody>
          <a:bodyPr/>
          <a:lstStyle/>
          <a:p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姓名：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李云潼 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~2026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副标题 6"/>
          <p:cNvSpPr txBox="1"/>
          <p:nvPr/>
        </p:nvSpPr>
        <p:spPr bwMode="auto">
          <a:xfrm>
            <a:off x="-2" y="2589454"/>
            <a:ext cx="12191998" cy="698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defTabSz="0" rtl="0" eaLnBrk="1" fontAlgn="base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342900" indent="0" algn="ctr" defTabSz="0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685800" indent="0" algn="ctr" defTabSz="0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028700" indent="0" algn="ctr" defTabSz="0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371600" indent="0" algn="ctr" defTabSz="0" rtl="0" eaLnBrk="1" fontAlgn="base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研究进展报告</a:t>
            </a:r>
            <a:endParaRPr lang="zh-CN" altLang="en-US" sz="4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76004" y="5437452"/>
            <a:ext cx="4758824" cy="137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cs typeface="Times New Roman" panose="02020603050405020304" pitchFamily="18" charset="0"/>
              </a:rPr>
              <a:t>汇报</a:t>
            </a:r>
            <a:r>
              <a:rPr lang="zh-CN" altLang="en-US" sz="4000" kern="0" dirty="0">
                <a:solidFill>
                  <a:srgbClr val="183884"/>
                </a:solidFill>
                <a:cs typeface="Times New Roman" panose="02020603050405020304" pitchFamily="18" charset="0"/>
              </a:rPr>
              <a:t>提纲</a:t>
            </a:r>
            <a:endParaRPr lang="zh-CN" altLang="en-US" sz="4000" kern="0" dirty="0">
              <a:solidFill>
                <a:srgbClr val="183884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41661" y="4326486"/>
            <a:ext cx="6443630" cy="920509"/>
            <a:chOff x="2474628" y="2848845"/>
            <a:chExt cx="6443630" cy="920509"/>
          </a:xfrm>
        </p:grpSpPr>
        <p:sp>
          <p:nvSpPr>
            <p:cNvPr id="6" name="圆角矩形 11"/>
            <p:cNvSpPr/>
            <p:nvPr/>
          </p:nvSpPr>
          <p:spPr>
            <a:xfrm>
              <a:off x="3273748" y="2928272"/>
              <a:ext cx="5644510" cy="752140"/>
            </a:xfrm>
            <a:prstGeom prst="roundRect">
              <a:avLst/>
            </a:prstGeom>
            <a:gradFill rotWithShape="1">
              <a:gsLst>
                <a:gs pos="0">
                  <a:srgbClr val="0070C0">
                    <a:satMod val="103000"/>
                    <a:lumMod val="102000"/>
                    <a:tint val="94000"/>
                  </a:srgbClr>
                </a:gs>
                <a:gs pos="50000">
                  <a:srgbClr val="0070C0">
                    <a:satMod val="110000"/>
                    <a:lumMod val="100000"/>
                    <a:shade val="100000"/>
                  </a:srgbClr>
                </a:gs>
                <a:gs pos="100000">
                  <a:srgbClr val="0070C0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508" tIns="45754" rIns="91508" bIns="45754" anchor="ctr" anchorCtr="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0" indent="-457200" algn="ctr" defTabSz="914400" fontAlgn="auto"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</a:pP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下周重点工作</a:t>
              </a:r>
              <a:endPara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2474628" y="2848845"/>
              <a:ext cx="936007" cy="920509"/>
            </a:xfrm>
            <a:prstGeom prst="ellipse">
              <a:avLst/>
            </a:prstGeom>
            <a:gradFill rotWithShape="1">
              <a:gsLst>
                <a:gs pos="0">
                  <a:srgbClr val="0070C0">
                    <a:satMod val="103000"/>
                    <a:lumMod val="102000"/>
                    <a:tint val="94000"/>
                  </a:srgbClr>
                </a:gs>
                <a:gs pos="50000">
                  <a:srgbClr val="0070C0">
                    <a:satMod val="110000"/>
                    <a:lumMod val="100000"/>
                    <a:shade val="100000"/>
                  </a:srgbClr>
                </a:gs>
                <a:gs pos="100000">
                  <a:srgbClr val="0070C0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r>
                <a:rPr lang="en-US" altLang="zh-CN" sz="3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41661" y="1763337"/>
            <a:ext cx="6443624" cy="916164"/>
            <a:chOff x="2474630" y="1454748"/>
            <a:chExt cx="6443624" cy="916164"/>
          </a:xfrm>
        </p:grpSpPr>
        <p:sp>
          <p:nvSpPr>
            <p:cNvPr id="20" name="圆角矩形 12"/>
            <p:cNvSpPr/>
            <p:nvPr/>
          </p:nvSpPr>
          <p:spPr>
            <a:xfrm>
              <a:off x="3273745" y="1533622"/>
              <a:ext cx="5644509" cy="758416"/>
            </a:xfrm>
            <a:prstGeom prst="roundRect">
              <a:avLst/>
            </a:prstGeom>
            <a:gradFill rotWithShape="1">
              <a:gsLst>
                <a:gs pos="0">
                  <a:srgbClr val="0070C0">
                    <a:satMod val="103000"/>
                    <a:lumMod val="102000"/>
                    <a:tint val="94000"/>
                  </a:srgbClr>
                </a:gs>
                <a:gs pos="50000">
                  <a:srgbClr val="0070C0">
                    <a:satMod val="110000"/>
                    <a:lumMod val="100000"/>
                    <a:shade val="100000"/>
                  </a:srgbClr>
                </a:gs>
                <a:gs pos="100000">
                  <a:srgbClr val="0070C0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508" tIns="45754" rIns="91508" bIns="45754" anchor="ctr" anchorCtr="0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0" indent="-457200" algn="ctr" defTabSz="914400" fontAlgn="auto">
                <a:spcBef>
                  <a:spcPts val="0"/>
                </a:spcBef>
                <a:spcAft>
                  <a:spcPts val="0"/>
                </a:spcAft>
                <a:buClr>
                  <a:srgbClr val="44546A"/>
                </a:buClr>
              </a:pPr>
              <a:r>
                <a:rPr lang="zh-CN" altLang="en-US" sz="3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本周进展成果</a:t>
              </a:r>
              <a:endPara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25" name="椭圆 24"/>
            <p:cNvSpPr/>
            <p:nvPr/>
          </p:nvSpPr>
          <p:spPr bwMode="auto">
            <a:xfrm>
              <a:off x="2474630" y="1454748"/>
              <a:ext cx="936005" cy="916164"/>
            </a:xfrm>
            <a:prstGeom prst="ellipse">
              <a:avLst/>
            </a:prstGeom>
            <a:gradFill rotWithShape="1">
              <a:gsLst>
                <a:gs pos="0">
                  <a:srgbClr val="0070C0">
                    <a:satMod val="103000"/>
                    <a:lumMod val="102000"/>
                    <a:tint val="94000"/>
                  </a:srgbClr>
                </a:gs>
                <a:gs pos="50000">
                  <a:srgbClr val="0070C0">
                    <a:satMod val="110000"/>
                    <a:lumMod val="100000"/>
                    <a:shade val="100000"/>
                  </a:srgbClr>
                </a:gs>
                <a:gs pos="100000">
                  <a:srgbClr val="0070C0">
                    <a:lumMod val="99000"/>
                    <a:satMod val="120000"/>
                    <a:shade val="78000"/>
                  </a:srgbClr>
                </a:gs>
              </a:gsLst>
              <a:lin ang="54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r>
                <a:rPr lang="en-US" altLang="zh-CN" sz="3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：工作集成实验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效果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不同网络条件下，不同模型采用全套通信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优化方案的收益：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bitscom + hierachical pipelined all-reduce + polar-sgd</a:t>
            </a:r>
            <a:endParaRPr kumimoji="1" lang="en-US" altLang="zh-CN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701675" y="3099435"/>
          <a:ext cx="10788650" cy="3630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228"/>
                <a:gridCol w="1405774"/>
                <a:gridCol w="1405774"/>
                <a:gridCol w="1405775"/>
                <a:gridCol w="1405774"/>
                <a:gridCol w="1405774"/>
                <a:gridCol w="1405774"/>
                <a:gridCol w="1405774"/>
              </a:tblGrid>
              <a:tr h="589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10Mbps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100Mbps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500Mbps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1000Mbps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2Gbps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5Gbps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10Gbps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760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</a:rPr>
                        <a:t>resnet50</a:t>
                      </a:r>
                      <a:endParaRPr lang="en-US" altLang="zh-CN" sz="16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6.4x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4.3x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2.1x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1.3x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1.1x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60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</a:rPr>
                        <a:t>yolov8n</a:t>
                      </a:r>
                      <a:endParaRPr lang="en-US" altLang="zh-CN" sz="16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5.3x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2.2x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1.1x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1.0x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60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</a:rPr>
                        <a:t>Llama7b</a:t>
                      </a:r>
                      <a:endParaRPr lang="en-US" altLang="zh-CN" sz="16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-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-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-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7.4x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5.2x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3.0x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aseline="0" dirty="0">
                          <a:latin typeface="Times New Roman" panose="02020603050405020304" pitchFamily="18" charset="0"/>
                        </a:rPr>
                        <a:t>2.1x</a:t>
                      </a:r>
                      <a:endParaRPr lang="en-US" altLang="zh-CN" sz="18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：量化方法精度与性能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量化业内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sota</a:t>
            </a:r>
            <a:endParaRPr kumimoji="1" lang="en-US" altLang="zh-CN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5670" y="2329180"/>
            <a:ext cx="103543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量化系列：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45720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quant8: ICLR spotlight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，通过额外存储离群值来避免量化信息过度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损失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45720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1-bit Adam(Microsoft DeepSpeed)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：兼容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Adam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优化器的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1-bit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/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框架系列：</a:t>
            </a:r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45720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ZeRO++(Microsoft DeepSpeed)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：实现了数据中心环境中跑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ZeRO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训练的集合通信流量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降低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45720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BitDP(26’AAAI 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HKUST)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：实现了低比特训练中数据与通信库的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兼容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793" y="421798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方法优势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各优化维度共同作用实现的可落地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5670" y="4693285"/>
            <a:ext cx="103543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采用随机舍入改善优化器稳定性，提高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训练精度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将随机舍入量化结合块量化机制，进一步提升训练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稳定性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工程上实现专用通信后端，与量化机制结合，融合集合通信和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低比特量化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实现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维护梯度锚点副本，传输梯度差值，降低量化值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方差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集成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误差补偿机制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本实验汇报对比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5670" y="2329180"/>
            <a:ext cx="103543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quant8(Facebook): ICLR spotlight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，通过额外存储离群值来避免量化信息过度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损失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PowerSGD(NIPS EPFL)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low-rank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代表性方法，业内认可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度高，通过低秩分解降低通信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量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/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TopK(ICLR HKUST)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：稀疏化代表性方法，业内认可度高，通过仅传输前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个绝对值最大数值降低通信量，但难以和高效通信规约方法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集成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indent="0"/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本方法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bitscom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本周进展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ResNet50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下：各类压缩方法所对应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final loss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，精度（语言模型对应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perplexity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，分类模型对应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acc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mAP50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701675" y="3490595"/>
          <a:ext cx="10777855" cy="2390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295"/>
                <a:gridCol w="1937385"/>
                <a:gridCol w="1937385"/>
                <a:gridCol w="1938020"/>
                <a:gridCol w="1937385"/>
                <a:gridCol w="1937385"/>
              </a:tblGrid>
              <a:tr h="51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None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quant8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topk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powersgd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bitscom-4bit</a:t>
                      </a:r>
                      <a:endParaRPr lang="en-US" altLang="zh-CN" sz="18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Acc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62.0%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49.2%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35.1%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31.4%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60.9%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final loss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1.4099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1.6632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2.0670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2.2090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1.4290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avg time per step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1246.74 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462.16ms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385.91</a:t>
                      </a: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367.43ms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289.94ms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42340" y="3001645"/>
            <a:ext cx="10537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训练配置：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节点，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GPU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每节点，跨节点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8 DP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并行训练，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100 mbps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本周进展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yolov8n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下：各类压缩方法所对应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final loss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，精度（语言模型对应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perplexity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，分类模型对应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acc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mAP50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701675" y="3490595"/>
          <a:ext cx="10777855" cy="2390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295"/>
                <a:gridCol w="1937385"/>
                <a:gridCol w="1937385"/>
                <a:gridCol w="1938020"/>
                <a:gridCol w="1937385"/>
                <a:gridCol w="1937385"/>
              </a:tblGrid>
              <a:tr h="51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None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quant8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topk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powersgd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bitscom-4bit</a:t>
                      </a:r>
                      <a:endParaRPr lang="en-US" altLang="zh-CN" sz="18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mAP50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94.3%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93.1%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93.8%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83.3%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94.0%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final loss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  <a:sym typeface="Arial" panose="020B0604020202020204" pitchFamily="34" charset="0"/>
                        </a:rPr>
                        <a:t>12.7389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sym typeface="Arial" panose="020B0604020202020204" pitchFamily="34" charset="0"/>
                        </a:rPr>
                        <a:t>12.8372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  <a:sym typeface="Arial" panose="020B0604020202020204" pitchFamily="34" charset="0"/>
                        </a:rPr>
                        <a:t>11.9703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  <a:sym typeface="Arial" panose="020B0604020202020204" pitchFamily="34" charset="0"/>
                        </a:rPr>
                        <a:t>19.4258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  <a:sym typeface="Arial" panose="020B0604020202020204" pitchFamily="34" charset="0"/>
                        </a:rPr>
                        <a:t>12.8021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sym typeface="+mn-ea"/>
                        </a:rPr>
                        <a:t>avg time per step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1131.29ms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480.70ms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356.32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625.46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213.45ms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42340" y="3001645"/>
            <a:ext cx="10537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训练配置：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节点，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GPU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每节点，跨节点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8 DP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并行训练，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 mbps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本周进展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Llama7B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下：各类压缩方法所对应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final loss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，精度（语言模型对应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perplexity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，分类模型对应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acc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mAP50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701675" y="3490595"/>
          <a:ext cx="10799445" cy="2390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295"/>
                <a:gridCol w="2427287"/>
                <a:gridCol w="2427287"/>
                <a:gridCol w="2427287"/>
                <a:gridCol w="2427287"/>
              </a:tblGrid>
              <a:tr h="51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None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quant8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topk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bitscom-4bit</a:t>
                      </a:r>
                      <a:endParaRPr lang="en-US" altLang="zh-CN" sz="18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PPL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69.69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102.50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129.35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69.72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final loss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4.2440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4.6299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sym typeface="+mn-ea"/>
                        </a:rPr>
                        <a:t>4.8625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sym typeface="+mn-ea"/>
                        </a:rPr>
                        <a:t>4.2445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sym typeface="+mn-ea"/>
                        </a:rPr>
                        <a:t>avg time per step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6296.43ms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-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-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1210.85ms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15670" y="3001645"/>
            <a:ext cx="10563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训练配置：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节点，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 GPU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每节点，跨节点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2 DP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并行，节点内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8 PP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并行，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Gbps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训练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Llama7B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天数平台精度曲线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795" y="2317115"/>
            <a:ext cx="7568565" cy="4540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resnet50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天数平台精度曲线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5050" y="2308225"/>
            <a:ext cx="7581900" cy="4549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670" y="252495"/>
            <a:ext cx="11151144" cy="521970"/>
          </a:xfrm>
        </p:spPr>
        <p:txBody>
          <a:bodyPr>
            <a:noAutofit/>
          </a:bodyPr>
          <a:lstStyle/>
          <a:p>
            <a:r>
              <a:rPr lang="zh-CN" altLang="en-US" kern="0" dirty="0">
                <a:solidFill>
                  <a:srgbClr val="1838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本周进展</a:t>
            </a:r>
            <a:endParaRPr lang="zh-CN" altLang="en-US" kern="0" dirty="0">
              <a:solidFill>
                <a:srgbClr val="1838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  <a:sym typeface="+mn-ea"/>
              </a:rPr>
              <a:t>：量化方法精度与性能实验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yolov8n 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天数平台精度曲线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370" y="2315845"/>
            <a:ext cx="7569835" cy="4542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本周进展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Hierarchical pipelined allreduce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性能：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：集合通信性能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520700" y="3366135"/>
          <a:ext cx="7383780" cy="264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395"/>
                <a:gridCol w="1627505"/>
                <a:gridCol w="1626870"/>
                <a:gridCol w="1627505"/>
                <a:gridCol w="1627505"/>
              </a:tblGrid>
              <a:tr h="541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4.19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16.78Mb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67.11Mb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134.22Mb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699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nccl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13.69ms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34.87ms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121.16ms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242.35ms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98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collnet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69.13ms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64.38ms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86.23ms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97.68ms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Hier-pp ar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17.65ms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20.30ms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33.52ms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52.09ms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122285" y="2667635"/>
            <a:ext cx="35490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nccl: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基线方法，直接运行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</a:t>
            </a:r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collnet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方法，现有针对分层网络集合通信的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sota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Hier-pp allreduce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：结合分层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通信，划分分层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local 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inter 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local broadcast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三个阶段，并通过划分数据块并设置多流通信的方式，将三个集合通信阶段在多流间并行起来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0065" y="2480310"/>
            <a:ext cx="7385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nccl: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基线方法，直接运行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运行环境：天数集群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2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节点，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GPU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每节点，运行带宽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Gbps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本周进展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0428" y="1832925"/>
            <a:ext cx="11151144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zh-CN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Hierarchical pipelined allreduce</a:t>
            </a:r>
            <a:r>
              <a:rPr kumimoji="1" lang="zh-CN" altLang="en-US" sz="2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性能：</a:t>
            </a:r>
            <a:endParaRPr kumimoji="1" lang="zh-CN" altLang="en-US" sz="25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40873" y="1109939"/>
            <a:ext cx="11280864" cy="470598"/>
          </a:xfrm>
          <a:prstGeom prst="rect">
            <a:avLst/>
          </a:prstGeom>
          <a:solidFill>
            <a:srgbClr val="DAE8FC">
              <a:alpha val="100000"/>
            </a:srgbClr>
          </a:solidFill>
          <a:ln w="1905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进展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：集合通信性能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实验</a:t>
            </a:r>
            <a:endParaRPr lang="zh-CN" altLang="en-US" sz="2400" b="1" dirty="0">
              <a:solidFill>
                <a:schemeClr val="accent5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2"/>
            </p:custDataLst>
          </p:nvPr>
        </p:nvGraphicFramePr>
        <p:xfrm>
          <a:off x="520700" y="2668270"/>
          <a:ext cx="7414895" cy="3427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395"/>
                <a:gridCol w="1635125"/>
                <a:gridCol w="1635125"/>
                <a:gridCol w="1635125"/>
                <a:gridCol w="1635125"/>
              </a:tblGrid>
              <a:tr h="703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4.19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16.78Mb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67.11Mb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134.22Mb</a:t>
                      </a:r>
                      <a:endParaRPr lang="en-US" altLang="zh-CN" sz="1800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4578"/>
                    </a:solidFill>
                  </a:tcPr>
                </a:tc>
              </a:tr>
              <a:tr h="908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nccl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0.31gbps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0.48gbps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0.55gbps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0.55gbps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8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collnet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0.06</a:t>
                      </a:r>
                      <a:r>
                        <a:rPr lang="en-US" altLang="zh-CN" sz="1600" b="0" baseline="0" dirty="0">
                          <a:latin typeface="Times New Roman" panose="02020603050405020304" pitchFamily="18" charset="0"/>
                        </a:rPr>
                        <a:t>gbps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0.26gbps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0.78gbps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aseline="0" dirty="0">
                          <a:latin typeface="Times New Roman" panose="02020603050405020304" pitchFamily="18" charset="0"/>
                        </a:rPr>
                        <a:t>1.37gbps</a:t>
                      </a:r>
                      <a:endParaRPr lang="en-US" altLang="zh-CN" sz="1600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908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Hier-pp ar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Times New Roman" panose="02020603050405020304" pitchFamily="18" charset="0"/>
                          <a:sym typeface="+mn-ea"/>
                        </a:rPr>
                        <a:t>0.24gbps</a:t>
                      </a:r>
                      <a:endParaRPr lang="en-US" altLang="zh-CN" sz="1600" b="0" baseline="0" dirty="0">
                        <a:latin typeface="Times New Roman" panose="02020603050405020304" pitchFamily="18" charset="0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0.83gbps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2.00gbps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 baseline="0" dirty="0">
                          <a:latin typeface="Times New Roman" panose="02020603050405020304" pitchFamily="18" charset="0"/>
                        </a:rPr>
                        <a:t>2.57gbps</a:t>
                      </a:r>
                      <a:endParaRPr lang="en-US" altLang="zh-CN" sz="1600" b="1" baseline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122285" y="2667635"/>
            <a:ext cx="35490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nccl: 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基线方法，直接运行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nccl</a:t>
            </a:r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collnet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方法，现有针对分层网络集合通信的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sota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Hier-pp allreduce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：结合分层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通信，划分分层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local 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inter all-reduce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local broadcast</a:t>
            </a:r>
            <a:r>
              <a:rPr lang="zh-CN" altLang="en-US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三个阶段，并通过划分数据块并设置多流通信的方式，将三个集合通信阶段在多流间并行起来</a:t>
            </a:r>
            <a:endParaRPr lang="zh-CN" altLang="en-US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833*285"/>
  <p:tag name="TABLE_ENDDRAG_RECT" val="48*179*833*285"/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TABLE_ENDDRAG_ORIGIN_RECT" val="848*130"/>
  <p:tag name="TABLE_ENDDRAG_RECT" val="55*231*848*130"/>
  <p:tag name="KSO_WM_BEAUTIFY_FLAG" val="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TABLE_ENDDRAG_ORIGIN_RECT" val="848*130"/>
  <p:tag name="TABLE_ENDDRAG_RECT" val="55*231*848*130"/>
  <p:tag name="KSO_WM_BEAUTIFY_FLAG" val="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TABLE_ENDDRAG_ORIGIN_RECT" val="848*130"/>
  <p:tag name="TABLE_ENDDRAG_RECT" val="55*231*848*130"/>
  <p:tag name="KSO_WM_BEAUTIFY_FLAG" val="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TABLE_ENDDRAG_ORIGIN_RECT" val="581*207"/>
  <p:tag name="TABLE_ENDDRAG_RECT" val="41*201*581*207"/>
  <p:tag name="KSO_WM_BEAUTIFY_FLAG" val="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TABLE_ENDDRAG_ORIGIN_RECT" val="848*278"/>
  <p:tag name="TABLE_ENDDRAG_RECT" val="55*201*848*278"/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299">
            <a:alpha val="80000"/>
          </a:srgb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enovo_Corporate_Template_White">
  <a:themeElements>
    <a:clrScheme name="">
      <a:dk1>
        <a:srgbClr val="000000"/>
      </a:dk1>
      <a:lt1>
        <a:srgbClr val="FFFFFF"/>
      </a:lt1>
      <a:dk2>
        <a:srgbClr val="00529B"/>
      </a:dk2>
      <a:lt2>
        <a:srgbClr val="808080"/>
      </a:lt2>
      <a:accent1>
        <a:srgbClr val="FFCC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000000"/>
      </a:accent6>
      <a:hlink>
        <a:srgbClr val="EE0802"/>
      </a:hlink>
      <a:folHlink>
        <a:srgbClr val="FF9900"/>
      </a:folHlink>
    </a:clrScheme>
    <a:fontScheme name="1_Lenovo_Corporate_Template_White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华文细黑" panose="02010600040101010101" pitchFamily="2" charset="-122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0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华文细黑" panose="02010600040101010101" pitchFamily="2" charset="-122"/>
            <a:ea typeface="SimSun" panose="02010600030101010101" pitchFamily="2" charset="-122"/>
          </a:defRPr>
        </a:defPPr>
      </a:lstStyle>
    </a:lnDef>
  </a:objectDefaults>
  <a:extraClrSchemeLst>
    <a:extraClrScheme>
      <a:clrScheme name="1_Lenovo_Corporate_Template_Whi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novo_Corporate_Template_White 1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ED1C24"/>
        </a:hlink>
        <a:folHlink>
          <a:srgbClr val="99361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14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FC726"/>
        </a:accent1>
        <a:accent2>
          <a:srgbClr val="00529B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00498C"/>
        </a:accent6>
        <a:hlink>
          <a:srgbClr val="5F5F5F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15">
        <a:dk1>
          <a:srgbClr val="000000"/>
        </a:dk1>
        <a:lt1>
          <a:srgbClr val="FFFFFF"/>
        </a:lt1>
        <a:dk2>
          <a:srgbClr val="0066CC"/>
        </a:dk2>
        <a:lt2>
          <a:srgbClr val="969696"/>
        </a:lt2>
        <a:accent1>
          <a:srgbClr val="FFC726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E78A00"/>
        </a:accent6>
        <a:hlink>
          <a:srgbClr val="009900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novo_Corporate_Template_White 16">
        <a:dk1>
          <a:srgbClr val="000000"/>
        </a:dk1>
        <a:lt1>
          <a:srgbClr val="FFFFFF"/>
        </a:lt1>
        <a:dk2>
          <a:srgbClr val="0066CC"/>
        </a:dk2>
        <a:lt2>
          <a:srgbClr val="969696"/>
        </a:lt2>
        <a:accent1>
          <a:srgbClr val="FFC726"/>
        </a:accent1>
        <a:accent2>
          <a:srgbClr val="0066CC"/>
        </a:accent2>
        <a:accent3>
          <a:srgbClr val="FFFFFF"/>
        </a:accent3>
        <a:accent4>
          <a:srgbClr val="000000"/>
        </a:accent4>
        <a:accent5>
          <a:srgbClr val="FFE0AC"/>
        </a:accent5>
        <a:accent6>
          <a:srgbClr val="005CB9"/>
        </a:accent6>
        <a:hlink>
          <a:srgbClr val="009900"/>
        </a:hlink>
        <a:folHlink>
          <a:srgbClr val="FF11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FFFFFF"/>
      </a:accent3>
      <a:accent4>
        <a:srgbClr val="000000"/>
      </a:accent4>
      <a:accent5>
        <a:srgbClr val="AABBDC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SimSun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2661</Words>
  <Application>WPS 演示</Application>
  <PresentationFormat>宽屏</PresentationFormat>
  <Paragraphs>391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SimSun</vt:lpstr>
      <vt:lpstr>Wingdings</vt:lpstr>
      <vt:lpstr>腾祥嘉丽大黑简</vt:lpstr>
      <vt:lpstr>SimHei</vt:lpstr>
      <vt:lpstr>Microsoft YaHei</vt:lpstr>
      <vt:lpstr>华文细黑</vt:lpstr>
      <vt:lpstr>Verdana</vt:lpstr>
      <vt:lpstr>Franklin Gothic Medium</vt:lpstr>
      <vt:lpstr>Calibri</vt:lpstr>
      <vt:lpstr>Calibri Light</vt:lpstr>
      <vt:lpstr>Times New Roman</vt:lpstr>
      <vt:lpstr>Arial Unicode MS</vt:lpstr>
      <vt:lpstr>DengXian Light</vt:lpstr>
      <vt:lpstr>DengXian</vt:lpstr>
      <vt:lpstr>Franklin Gothic Book</vt:lpstr>
      <vt:lpstr>华文细黑</vt:lpstr>
      <vt:lpstr>腾祥嘉丽大黑简</vt:lpstr>
      <vt:lpstr>1_Office 主题​​</vt:lpstr>
      <vt:lpstr>1_Lenovo_Corporate_Template_White</vt:lpstr>
      <vt:lpstr>2_Office 主题</vt:lpstr>
      <vt:lpstr>PowerPoint 演示文稿</vt:lpstr>
      <vt:lpstr>汇报提纲</vt:lpstr>
      <vt:lpstr>本周进展</vt:lpstr>
      <vt:lpstr>本周进展</vt:lpstr>
      <vt:lpstr>本周进展</vt:lpstr>
      <vt:lpstr>本周进展</vt:lpstr>
      <vt:lpstr>本周进展</vt:lpstr>
      <vt:lpstr>本周进展</vt:lpstr>
      <vt:lpstr>本周进展</vt:lpstr>
      <vt:lpstr>本周进展</vt:lpstr>
      <vt:lpstr>本周进展</vt:lpstr>
      <vt:lpstr>本周进展</vt:lpstr>
      <vt:lpstr>本周进展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Xiaojian Liao</dc:creator>
  <cp:lastModifiedBy>李云潼</cp:lastModifiedBy>
  <cp:revision>5674</cp:revision>
  <cp:lastPrinted>2025-06-09T03:07:00Z</cp:lastPrinted>
  <dcterms:created xsi:type="dcterms:W3CDTF">2018-01-08T08:59:00Z</dcterms:created>
  <dcterms:modified xsi:type="dcterms:W3CDTF">2026-05-22T05:10:54Z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05F5852CCF2948EC8CC975CF76463BE7_13</vt:lpwstr>
  </property>
  <property fmtid="{D5CDD505-2E9C-101B-9397-08002B2CF9AE}" pid="3" name="KSOProductBuildVer">
    <vt:lpwstr>2052-12.1.0.24034</vt:lpwstr>
  </property>
</Properties>
</file>