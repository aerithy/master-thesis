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dp" ContentType="image/vnd.ms-photo"/>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2"/>
  </p:handoutMasterIdLst>
  <p:sldIdLst>
    <p:sldId id="257" r:id="rId3"/>
    <p:sldId id="516" r:id="rId5"/>
    <p:sldId id="645" r:id="rId6"/>
    <p:sldId id="646" r:id="rId7"/>
    <p:sldId id="647" r:id="rId8"/>
    <p:sldId id="649" r:id="rId9"/>
    <p:sldId id="651" r:id="rId10"/>
    <p:sldId id="653" r:id="rId11"/>
    <p:sldId id="511" r:id="rId12"/>
    <p:sldId id="494" r:id="rId13"/>
    <p:sldId id="495" r:id="rId14"/>
    <p:sldId id="583" r:id="rId15"/>
    <p:sldId id="661" r:id="rId16"/>
    <p:sldId id="656" r:id="rId17"/>
    <p:sldId id="662" r:id="rId18"/>
    <p:sldId id="660" r:id="rId19"/>
    <p:sldId id="584" r:id="rId20"/>
    <p:sldId id="643" r:id="rId21"/>
    <p:sldId id="654" r:id="rId22"/>
    <p:sldId id="542" r:id="rId23"/>
    <p:sldId id="644" r:id="rId24"/>
    <p:sldId id="497" r:id="rId25"/>
    <p:sldId id="499" r:id="rId26"/>
    <p:sldId id="493" r:id="rId27"/>
    <p:sldId id="642" r:id="rId28"/>
    <p:sldId id="554" r:id="rId29"/>
    <p:sldId id="502" r:id="rId30"/>
    <p:sldId id="555" r:id="rId31"/>
    <p:sldId id="558" r:id="rId32"/>
    <p:sldId id="557" r:id="rId33"/>
    <p:sldId id="562" r:id="rId34"/>
    <p:sldId id="563" r:id="rId35"/>
    <p:sldId id="564" r:id="rId36"/>
    <p:sldId id="565" r:id="rId37"/>
    <p:sldId id="566" r:id="rId38"/>
    <p:sldId id="585" r:id="rId39"/>
    <p:sldId id="556" r:id="rId40"/>
    <p:sldId id="501" r:id="rId41"/>
  </p:sldIdLst>
  <p:sldSz cx="9144000" cy="6858000" type="screen4x3"/>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标题" id="{AD7FE481-44B1-4C50-A97F-2D085A3B40E5}">
          <p14:sldIdLst>
            <p14:sldId id="257"/>
            <p14:sldId id="516"/>
          </p14:sldIdLst>
        </p14:section>
        <p14:section name="研究背景与意义" id="{6f552c9e-163d-4750-bf84-b2abdf4fd057}">
          <p14:sldIdLst>
            <p14:sldId id="645"/>
            <p14:sldId id="646"/>
            <p14:sldId id="647"/>
          </p14:sldIdLst>
        </p14:section>
        <p14:section name="国内外研究现状" id="{e70ca235-db28-4a85-a5cb-c1d28e7d1022}">
          <p14:sldIdLst>
            <p14:sldId id="649"/>
            <p14:sldId id="651"/>
            <p14:sldId id="653"/>
          </p14:sldIdLst>
        </p14:section>
        <p14:section name="关键科学问题" id="{D8F2AA87-3D43-4613-A72F-4AC933E429D5}">
          <p14:sldIdLst>
            <p14:sldId id="511"/>
          </p14:sldIdLst>
        </p14:section>
        <p14:section name="研究内容与研究目标" id="{CDCDC42C-922A-4F7F-A1BB-B28600E0A5FF}">
          <p14:sldIdLst>
            <p14:sldId id="494"/>
          </p14:sldIdLst>
        </p14:section>
        <p14:section name="研究方案" id="{E38638ED-9B50-40FF-B089-B1ED13E916AD}">
          <p14:sldIdLst>
            <p14:sldId id="495"/>
          </p14:sldIdLst>
        </p14:section>
        <p14:section name="核心技术" id="{15dc622c-bbbe-48ae-9e26-5787f7ba0870}">
          <p14:sldIdLst>
            <p14:sldId id="583"/>
            <p14:sldId id="661"/>
            <p14:sldId id="656"/>
            <p14:sldId id="662"/>
            <p14:sldId id="660"/>
            <p14:sldId id="584"/>
            <p14:sldId id="643"/>
          </p14:sldIdLst>
        </p14:section>
        <p14:section name="实验结果" id="{d6cbfea9-e543-4d49-a444-c86bc32c2044}">
          <p14:sldIdLst>
            <p14:sldId id="654"/>
          </p14:sldIdLst>
        </p14:section>
        <p14:section name="预期创新点与创新成果" id="{7C102D4A-DEC5-4283-8B74-03CE53F5EC20}">
          <p14:sldIdLst>
            <p14:sldId id="542"/>
            <p14:sldId id="644"/>
          </p14:sldIdLst>
        </p14:section>
        <p14:section name="研究计划" id="{17FEB684-308C-406B-9A29-81AA4A0C59F6}">
          <p14:sldIdLst>
            <p14:sldId id="497"/>
            <p14:sldId id="499"/>
          </p14:sldIdLst>
        </p14:section>
        <p14:section name="当前进展与阶段研究成果" id="{C4B0FA5E-DCBA-445B-B4FB-D23B61B34251}">
          <p14:sldIdLst/>
        </p14:section>
        <p14:section name="其他" id="{2BBD5F1D-C892-4E0B-BB94-04C7C1C33E68}">
          <p14:sldIdLst/>
        </p14:section>
        <p14:section name="备份PPT" id="{AF2E8DE5-C09A-414D-AD88-C1816EF3E532}">
          <p14:sldIdLst>
            <p14:sldId id="493"/>
            <p14:sldId id="642"/>
            <p14:sldId id="554"/>
            <p14:sldId id="502"/>
            <p14:sldId id="555"/>
            <p14:sldId id="558"/>
            <p14:sldId id="557"/>
            <p14:sldId id="562"/>
            <p14:sldId id="563"/>
            <p14:sldId id="564"/>
            <p14:sldId id="565"/>
            <p14:sldId id="566"/>
          </p14:sldIdLst>
        </p14:section>
        <p14:section name="国内外研究现状" id="{4CD100C3-60E6-442E-A390-DE7A91E4DAE1}">
          <p14:sldIdLst/>
        </p14:section>
        <p14:section name="研究背景与意义" id="{25AE3C02-2CB4-4BFF-80E2-E6C1636A55F0}">
          <p14:sldIdLst>
            <p14:sldId id="585"/>
            <p14:sldId id="556"/>
            <p14:sldId id="501"/>
          </p14:sldIdLst>
        </p14:section>
      </p14:sectionLst>
    </p:ext>
    <p:ext uri="{EFAFB233-063F-42B5-8137-9DF3F51BA10A}">
      <p15:sldGuideLst xmlns:p15="http://schemas.microsoft.com/office/powerpoint/2012/main">
        <p15:guide id="1" orient="horz" pos="2158" userDrawn="1">
          <p15:clr>
            <a:srgbClr val="A4A3A4"/>
          </p15:clr>
        </p15:guide>
        <p15:guide id="2" pos="2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8"/>
    <a:srgbClr val="71B7ED"/>
    <a:srgbClr val="B8AEEB"/>
    <a:srgbClr val="88D8DB"/>
    <a:srgbClr val="F2B56F"/>
    <a:srgbClr val="F57C6E"/>
    <a:srgbClr val="84C3B7"/>
    <a:srgbClr val="FAE69E"/>
    <a:srgbClr val="F2A7DA"/>
    <a:srgbClr val="1453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82706" autoAdjust="0"/>
  </p:normalViewPr>
  <p:slideViewPr>
    <p:cSldViewPr snapToGrid="0" showGuides="1">
      <p:cViewPr varScale="1">
        <p:scale>
          <a:sx n="130" d="100"/>
          <a:sy n="130" d="100"/>
        </p:scale>
        <p:origin x="2752" y="72"/>
      </p:cViewPr>
      <p:guideLst>
        <p:guide orient="horz" pos="2158"/>
        <p:guide pos="292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295.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尊敬的各位老师，大家上午好！</a:t>
            </a:r>
            <a:endParaRPr lang="en-US" altLang="zh-CN" dirty="0"/>
          </a:p>
          <a:p>
            <a:r>
              <a:rPr lang="zh-CN" altLang="en-US" dirty="0"/>
              <a:t>我是系统结构所肖利民教授的学生李云潼</a:t>
            </a:r>
            <a:endParaRPr lang="en-US" altLang="zh-CN" dirty="0"/>
          </a:p>
          <a:p>
            <a:r>
              <a:rPr lang="zh-CN" altLang="en-US" dirty="0"/>
              <a:t>我开题题目是：面向云边端协同的跨域分布式训练</a:t>
            </a:r>
            <a:r>
              <a:rPr lang="zh-CN" altLang="en-US" dirty="0"/>
              <a:t>通信优化技术研究</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下面我将从以下</a:t>
            </a:r>
            <a:r>
              <a:rPr lang="en-US" altLang="zh-CN" dirty="0"/>
              <a:t>8</a:t>
            </a:r>
            <a:r>
              <a:rPr lang="zh-CN" altLang="en-US" dirty="0"/>
              <a:t>个方面进行汇报</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云边端跨域计算环境是电力、制造等关键领域数智化转型的重要基础设施，已经成为全球范围的研究热点和竞争焦点</a:t>
            </a:r>
            <a:endParaRPr lang="en-US" altLang="zh-CN" dirty="0"/>
          </a:p>
          <a:p>
            <a:r>
              <a:rPr lang="zh-CN" altLang="en-US" dirty="0"/>
              <a:t>近年来，随着深度学习模型的发展，故障检测、智能巡检等云边端协同场景的智能化水平得到提升，而跨域分布式训练是智能化水平进一步提升的重要手段</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其中，云边端协同的跨域分布式训练具有隐私性好、成本低等</a:t>
            </a:r>
            <a:r>
              <a:rPr lang="zh-CN" altLang="en-US"/>
              <a:t>优势</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但是，云边端分布式训练场景呈现出跨域训练通信瓶颈严重、节点间网络状态不一的新特征，对跨域分布式训练提出了全新的挑战</a:t>
            </a:r>
            <a:r>
              <a:rPr lang="en-US" altLang="zh-CN" dirty="0"/>
              <a:t>   </a:t>
            </a:r>
            <a:r>
              <a:rPr lang="zh-CN" altLang="en-US" dirty="0">
                <a:sym typeface="+mn-ea"/>
              </a:rPr>
              <a:t>因此，跨域分布式训练在需要合理的压缩通信，降低通信规模的同时，还需要合理调度节点间的集合通信，动态构建通信拓扑、调度通信操作的执行，从而提升训练速度。</a:t>
            </a:r>
            <a:endParaRPr lang="en-US" altLang="zh-CN" dirty="0"/>
          </a:p>
          <a:p>
            <a:r>
              <a:rPr lang="zh-CN" altLang="en-US" dirty="0"/>
              <a:t>第一，跨域分布式训练任务运行于不同的云边端设备中，节点间在低速网络中传输大量数据，使得训练中通信耗时较高，严重降低计算设备利用率，因此，跨域分布式训练需要合理的压缩通信，降低</a:t>
            </a:r>
            <a:r>
              <a:rPr lang="zh-CN" altLang="en-US" dirty="0"/>
              <a:t>通信规模</a:t>
            </a:r>
            <a:endParaRPr lang="zh-CN" altLang="en-US" dirty="0"/>
          </a:p>
          <a:p>
            <a:r>
              <a:rPr lang="zh-CN" altLang="en-US" dirty="0"/>
              <a:t>第二，跨域分布式训练中各节点通信能力不一，使得训练中各节点协同能力下降。因此，跨域分布式训练需要合理调度节点间通信，动态构建通信拓扑、调度通信操作执行，提升节点间协同速度。</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国内外针对上述的挑战开展了大量的研究工作</a:t>
            </a:r>
            <a:endParaRPr lang="en-US" altLang="zh-CN" dirty="0"/>
          </a:p>
          <a:p>
            <a:r>
              <a:rPr lang="zh-CN" altLang="en-US" dirty="0"/>
              <a:t>在云边端跨域训练压缩策略方面，现有的研究主要有梯度量化与稀疏化，低秩</a:t>
            </a:r>
            <a:r>
              <a:rPr lang="zh-CN" altLang="en-US" dirty="0"/>
              <a:t>压缩两个方面的工作</a:t>
            </a:r>
            <a:endParaRPr lang="en-US" altLang="zh-CN" dirty="0"/>
          </a:p>
          <a:p>
            <a:r>
              <a:rPr lang="zh-CN" altLang="en-US" dirty="0"/>
              <a:t>但是梯度量化与稀疏化算法并没有</a:t>
            </a:r>
            <a:r>
              <a:rPr lang="zh-CN" altLang="en-US" dirty="0">
                <a:latin typeface="Microsoft YaHei" panose="020B0503020204020204" charset="-122"/>
                <a:ea typeface="Microsoft YaHei" panose="020B0503020204020204" charset="-122"/>
                <a:sym typeface="+mn-ea"/>
              </a:rPr>
              <a:t>考虑边缘场景中的带宽情况，难以有效降低在极低带宽条件下的通信时间</a:t>
            </a:r>
            <a:br>
              <a:rPr lang="zh-CN" altLang="en-US" dirty="0">
                <a:latin typeface="Microsoft YaHei" panose="020B0503020204020204" charset="-122"/>
                <a:ea typeface="Microsoft YaHei" panose="020B0503020204020204" charset="-122"/>
                <a:sym typeface="+mn-ea"/>
              </a:rPr>
            </a:br>
            <a:r>
              <a:rPr lang="zh-CN" altLang="en-US" dirty="0">
                <a:latin typeface="Microsoft YaHei" panose="020B0503020204020204" charset="-122"/>
                <a:ea typeface="Microsoft YaHei" panose="020B0503020204020204" charset="-122"/>
                <a:sym typeface="+mn-ea"/>
              </a:rPr>
              <a:t>稀疏化方法通常难以适配高效的集合通信方法，即使降低了数据量却无法进行高效的规约，反而在大规模场景下通信开销不降反</a:t>
            </a:r>
            <a:r>
              <a:rPr lang="zh-CN" altLang="en-US" dirty="0">
                <a:latin typeface="Microsoft YaHei" panose="020B0503020204020204" charset="-122"/>
                <a:ea typeface="Microsoft YaHei" panose="020B0503020204020204" charset="-122"/>
                <a:sym typeface="+mn-ea"/>
              </a:rPr>
              <a:t>升</a:t>
            </a:r>
            <a:endParaRPr lang="zh-CN" altLang="en-US" dirty="0">
              <a:latin typeface="Microsoft YaHei" panose="020B0503020204020204" charset="-122"/>
              <a:ea typeface="Microsoft YaHei" panose="020B0503020204020204" charset="-122"/>
              <a:sym typeface="+mn-ea"/>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在云边端跨域集合通信</a:t>
            </a:r>
            <a:r>
              <a:rPr lang="zh-CN" altLang="en-US" dirty="0"/>
              <a:t>设计方面主要有通信调度和通信拓扑</a:t>
            </a:r>
            <a:r>
              <a:rPr lang="zh-CN" altLang="en-US" dirty="0"/>
              <a:t>设计两个方面的工作</a:t>
            </a:r>
            <a:endParaRPr lang="en-US" altLang="zh-CN" dirty="0"/>
          </a:p>
          <a:p>
            <a:r>
              <a:rPr lang="zh-CN" altLang="en-US" dirty="0"/>
              <a:t>但是调度策略主要设计在集群内部，难以在云边端低带宽链路上具有有效的</a:t>
            </a:r>
            <a:r>
              <a:rPr lang="zh-CN" altLang="en-US" dirty="0"/>
              <a:t>效果</a:t>
            </a:r>
            <a:endParaRPr lang="zh-CN" altLang="en-US" dirty="0"/>
          </a:p>
          <a:p>
            <a:r>
              <a:rPr lang="zh-CN" altLang="en-US" dirty="0"/>
              <a:t>拓扑设计缺乏对于云边端环境中通信链路之间存在的异构性的考虑，无法充分利用链路</a:t>
            </a:r>
            <a:r>
              <a:rPr lang="zh-CN" altLang="en-US" dirty="0"/>
              <a:t>带宽</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在面向广域训练场景的优化设计方面主要有通信掩盖和同步尾部</a:t>
            </a:r>
            <a:r>
              <a:rPr lang="zh-CN" altLang="en-US" dirty="0"/>
              <a:t>优化两个方面的工作</a:t>
            </a:r>
            <a:endParaRPr lang="zh-CN" altLang="en-US" dirty="0"/>
          </a:p>
          <a:p>
            <a:r>
              <a:rPr lang="zh-CN" altLang="en-US" dirty="0"/>
              <a:t>这些已有工作主要以</a:t>
            </a:r>
            <a:r>
              <a:rPr lang="en-US" altLang="zh-CN" dirty="0"/>
              <a:t>Local SGD</a:t>
            </a:r>
            <a:r>
              <a:rPr lang="zh-CN" altLang="en-US" dirty="0"/>
              <a:t>的异步训练方法为根基进行进一步的优化。</a:t>
            </a:r>
            <a:endParaRPr lang="zh-CN" altLang="en-US" dirty="0"/>
          </a:p>
          <a:p>
            <a:r>
              <a:rPr lang="zh-CN" altLang="en-US" dirty="0"/>
              <a:t>首先，设计上来说，</a:t>
            </a:r>
            <a:r>
              <a:rPr lang="en-US" altLang="zh-CN" dirty="0"/>
              <a:t>Local SGD</a:t>
            </a:r>
            <a:r>
              <a:rPr lang="zh-CN" altLang="en-US" dirty="0"/>
              <a:t>降低了通信同步频率，容易在各个全局同步之间出现模型漂移与震荡的情况</a:t>
            </a:r>
            <a:endParaRPr lang="en-US" altLang="zh-CN" dirty="0"/>
          </a:p>
          <a:p>
            <a:r>
              <a:rPr lang="zh-CN" altLang="en-US" dirty="0"/>
              <a:t>其次，这些方法在其验证方法上来看，在最大只有</a:t>
            </a:r>
            <a:r>
              <a:rPr lang="en-US" altLang="zh-CN" dirty="0"/>
              <a:t>1B</a:t>
            </a:r>
            <a:r>
              <a:rPr lang="zh-CN" altLang="en-US" dirty="0"/>
              <a:t>的中小模型上进行的实验</a:t>
            </a:r>
            <a:r>
              <a:rPr lang="zh-CN" altLang="en-US" dirty="0"/>
              <a:t>验证，其中在</a:t>
            </a:r>
            <a:r>
              <a:rPr lang="zh-CN" altLang="en-US" dirty="0"/>
              <a:t>中大模型上的有效性没有得到充分的</a:t>
            </a:r>
            <a:r>
              <a:rPr lang="zh-CN" altLang="en-US" dirty="0"/>
              <a:t>验证</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针对云边端跨域分布式训练的新特征，以及现有方法的不足，导致跨域分布式训练</a:t>
            </a:r>
            <a:r>
              <a:rPr lang="zh-CN" altLang="en-US" dirty="0"/>
              <a:t>通信面临下面</a:t>
            </a:r>
            <a:r>
              <a:rPr lang="en-US" altLang="zh-CN" dirty="0"/>
              <a:t>3</a:t>
            </a:r>
            <a:r>
              <a:rPr lang="zh-CN" altLang="en-US" dirty="0"/>
              <a:t>个关键问题：</a:t>
            </a:r>
            <a:endParaRPr lang="en-US" altLang="zh-CN" dirty="0"/>
          </a:p>
          <a:p>
            <a:r>
              <a:rPr lang="en-US" altLang="zh-CN" dirty="0"/>
              <a:t>1</a:t>
            </a:r>
            <a:r>
              <a:rPr lang="zh-CN" altLang="en-US" dirty="0"/>
              <a:t>、如何实现云边端跨域高效参数</a:t>
            </a:r>
            <a:r>
              <a:rPr lang="zh-CN" altLang="en-US" dirty="0"/>
              <a:t>通信</a:t>
            </a:r>
            <a:endParaRPr lang="zh-CN" altLang="en-US" dirty="0"/>
          </a:p>
          <a:p>
            <a:r>
              <a:rPr lang="en-US" altLang="zh-CN" dirty="0"/>
              <a:t>2</a:t>
            </a:r>
            <a:r>
              <a:rPr lang="zh-CN" altLang="en-US" dirty="0"/>
              <a:t>、如何实现云边端通信高效的优化器策略</a:t>
            </a:r>
            <a:endParaRPr lang="zh-CN" altLang="en-US" dirty="0"/>
          </a:p>
          <a:p>
            <a:r>
              <a:rPr lang="en-US" altLang="zh-CN" dirty="0"/>
              <a:t>3</a:t>
            </a:r>
            <a:r>
              <a:rPr lang="zh-CN" altLang="en-US" dirty="0"/>
              <a:t>、如何动态地生成云边端跨域集合通信</a:t>
            </a:r>
            <a:r>
              <a:rPr lang="zh-CN" altLang="en-US" dirty="0"/>
              <a:t>策略</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依据上述关键科学问题和研究内容，本论文的研究目标是：</a:t>
            </a:r>
            <a:endParaRPr lang="en-US" altLang="zh-CN" dirty="0"/>
          </a:p>
          <a:p>
            <a:r>
              <a:rPr lang="zh-CN" altLang="en-US" dirty="0"/>
              <a:t>针对云边端协同跨域分布式训练通信优化需求，实现跨域分布式训练高效通信</a:t>
            </a:r>
            <a:r>
              <a:rPr lang="zh-CN" altLang="en-US" dirty="0"/>
              <a:t>方法，支撑云边端环境中的模型训练任务</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本论文的总体研究方案是：</a:t>
            </a:r>
            <a:endParaRPr lang="en-US" altLang="zh-CN" dirty="0"/>
          </a:p>
          <a:p>
            <a:r>
              <a:rPr lang="zh-CN" altLang="en-US" dirty="0"/>
              <a:t>首先，研究</a:t>
            </a:r>
            <a:r>
              <a:rPr lang="zh-CN" altLang="en-US" b="1" dirty="0">
                <a:uFillTx/>
                <a:sym typeface="+mn-ea"/>
              </a:rPr>
              <a:t>低比特的自适应优化器方法</a:t>
            </a:r>
            <a:r>
              <a:rPr lang="zh-CN" altLang="en-US" dirty="0"/>
              <a:t>，实现同收敛性条件下的优化器更新量的高度压缩</a:t>
            </a:r>
            <a:endParaRPr lang="zh-CN" altLang="en-US" dirty="0"/>
          </a:p>
          <a:p>
            <a:r>
              <a:rPr lang="zh-CN" altLang="en-US" dirty="0"/>
              <a:t>其次，研究</a:t>
            </a:r>
            <a:r>
              <a:rPr lang="zh-CN" altLang="en-US" b="1" dirty="0"/>
              <a:t>跨域集合通信调度方法</a:t>
            </a:r>
            <a:r>
              <a:rPr lang="zh-CN" altLang="en-US" dirty="0"/>
              <a:t>，</a:t>
            </a:r>
            <a:r>
              <a:rPr lang="zh-CN" altLang="en-US" dirty="0">
                <a:sym typeface="+mn-ea"/>
              </a:rPr>
              <a:t>实现跨域分层网络结构下的通信</a:t>
            </a:r>
            <a:r>
              <a:rPr lang="zh-CN" altLang="en-US" dirty="0">
                <a:sym typeface="+mn-ea"/>
              </a:rPr>
              <a:t>细粒度调度</a:t>
            </a:r>
            <a:endParaRPr lang="zh-CN" altLang="en-US" dirty="0">
              <a:sym typeface="+mn-ea"/>
            </a:endParaRPr>
          </a:p>
          <a:p>
            <a:r>
              <a:rPr lang="zh-CN" altLang="en-US" dirty="0"/>
              <a:t>最后，研究</a:t>
            </a:r>
            <a:r>
              <a:rPr lang="zh-CN" altLang="en-US" b="1" dirty="0">
                <a:sym typeface="+mn-ea"/>
              </a:rPr>
              <a:t>基于参数预测的多节点参数同步方法</a:t>
            </a:r>
            <a:r>
              <a:rPr lang="zh-CN" altLang="en-US" dirty="0"/>
              <a:t>，实现在云边端跨域分布式训练中的计算通信高度重叠</a:t>
            </a:r>
            <a:endParaRPr lang="en-US" altLang="zh-CN" dirty="0"/>
          </a:p>
          <a:p>
            <a:r>
              <a:rPr lang="zh-CN" altLang="en-US" dirty="0"/>
              <a:t>最终，形成面向云边端协同的跨域分布式训练</a:t>
            </a:r>
            <a:r>
              <a:rPr lang="zh-CN" altLang="en-US" dirty="0"/>
              <a:t>通信优化方法，支撑面向云边端协同的跨域分布式训练任务</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针对随机舍入方法在当前工业界中的表现，设计基于随机舍入量化的</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k-bit</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量化方法，并结合</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EF21+</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误差补偿、块量化方法，和</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Adam</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优化器适配，结合进训练循环中。</a:t>
                </a:r>
                <a:endParaRPr lang="zh-CN" altLang="en-US" dirty="0"/>
              </a:p>
              <a:p>
                <a:r>
                  <a:rPr lang="zh-CN" altLang="en-US" dirty="0"/>
                  <a:t>整体的模块设计是这样的</a:t>
                </a:r>
                <a:r>
                  <a:rPr lang="en-US" altLang="zh-CN" dirty="0"/>
                  <a:t>：</a:t>
                </a:r>
                <a:endParaRPr lang="en-US" altLang="zh-CN" dirty="0"/>
              </a:p>
              <a:p>
                <a:r>
                  <a:rPr lang="zh-CN" altLang="en-US" dirty="0"/>
                  <a:t>首先看整体训练流程：</a:t>
                </a:r>
                <a:endParaRPr lang="zh-CN" altLang="en-US" dirty="0"/>
              </a:p>
              <a:p>
                <a:r>
                  <a:rPr lang="zh-CN" altLang="en-US" dirty="0"/>
                  <a:t>在每一次训练迭代中，各个</a:t>
                </a:r>
                <a:r>
                  <a:rPr lang="en-US" altLang="zh-CN" dirty="0"/>
                  <a:t>GPU</a:t>
                </a:r>
                <a:r>
                  <a:rPr lang="zh-CN" altLang="en-US" dirty="0"/>
                  <a:t>首先计算本地梯度</a:t>
                </a:r>
                <a14:m>
                  <m:oMath xmlns:m="http://schemas.openxmlformats.org/officeDocument/2006/math">
                    <m:sSubSup>
                      <m:sSubSupPr>
                        <m:ctrlPr>
                          <a:rPr lang="en-US" altLang="zh-CN" i="1" dirty="0">
                            <a:latin typeface="Cambria Math" panose="02040503050406030204" charset="0"/>
                            <a:cs typeface="Cambria Math" panose="02040503050406030204" charset="0"/>
                          </a:rPr>
                        </m:ctrlPr>
                      </m:sSubSupPr>
                      <m:e>
                        <m:r>
                          <a:rPr lang="en-US" altLang="zh-CN" i="1" dirty="0">
                            <a:latin typeface="Cambria Math" panose="02040503050406030204" charset="0"/>
                            <a:cs typeface="Cambria Math" panose="02040503050406030204" charset="0"/>
                          </a:rPr>
                          <m:t>𝑔</m:t>
                        </m:r>
                      </m:e>
                      <m:sub>
                        <m:r>
                          <a:rPr lang="en-US" altLang="zh-CN" i="1" dirty="0">
                            <a:latin typeface="Cambria Math" panose="02040503050406030204" charset="0"/>
                            <a:cs typeface="Cambria Math" panose="02040503050406030204" charset="0"/>
                          </a:rPr>
                          <m:t>𝑡</m:t>
                        </m:r>
                      </m:sub>
                      <m:sup>
                        <m:r>
                          <a:rPr lang="en-US" altLang="zh-CN" i="1"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𝑖</m:t>
                        </m:r>
                        <m:r>
                          <a:rPr lang="en-US" altLang="zh-CN" i="1" dirty="0">
                            <a:latin typeface="Cambria Math" panose="02040503050406030204" charset="0"/>
                            <a:cs typeface="Cambria Math" panose="02040503050406030204" charset="0"/>
                          </a:rPr>
                          <m:t>)</m:t>
                        </m:r>
                      </m:sup>
                    </m:sSubSup>
                  </m:oMath>
                </a14:m>
                <a:r>
                  <a:rPr lang="zh-CN" altLang="en-US" dirty="0">
                    <a:latin typeface="Cambria Math" panose="02040503050406030204" charset="0"/>
                    <a:cs typeface="Cambria Math" panose="02040503050406030204" charset="0"/>
                  </a:rPr>
                  <a:t>。而后将其送入</a:t>
                </a:r>
                <a:r>
                  <a:rPr lang="en-US" altLang="zh-CN" dirty="0">
                    <a:latin typeface="Cambria Math" panose="02040503050406030204" charset="0"/>
                    <a:cs typeface="Cambria Math" panose="02040503050406030204" charset="0"/>
                  </a:rPr>
                  <a:t>EF21+</a:t>
                </a:r>
                <a:r>
                  <a:rPr lang="zh-CN" altLang="en-US" dirty="0">
                    <a:latin typeface="Cambria Math" panose="02040503050406030204" charset="0"/>
                    <a:cs typeface="Cambria Math" panose="02040503050406030204" charset="0"/>
                  </a:rPr>
                  <a:t>误差补偿模块。这里我们维护了一个梯度锚点</a:t>
                </a:r>
                <a14:m>
                  <m:oMath xmlns:m="http://schemas.openxmlformats.org/officeDocument/2006/math">
                    <m:sSubSup>
                      <m:sSubSupPr>
                        <m:ctrlPr>
                          <a:rPr lang="en-US" altLang="zh-CN" i="1" dirty="0">
                            <a:latin typeface="Cambria Math" panose="02040503050406030204" charset="0"/>
                            <a:cs typeface="Cambria Math" panose="02040503050406030204" charset="0"/>
                          </a:rPr>
                        </m:ctrlPr>
                      </m:sSubSupPr>
                      <m:e>
                        <m:r>
                          <a:rPr lang="en-US" altLang="zh-CN" i="1" dirty="0">
                            <a:latin typeface="Cambria Math" panose="02040503050406030204" charset="0"/>
                            <a:cs typeface="Cambria Math" panose="02040503050406030204" charset="0"/>
                          </a:rPr>
                          <m:t>ℎ</m:t>
                        </m:r>
                      </m:e>
                      <m:sub>
                        <m:r>
                          <a:rPr lang="en-US" altLang="zh-CN" i="1" dirty="0">
                            <a:latin typeface="Cambria Math" panose="02040503050406030204" charset="0"/>
                            <a:cs typeface="Cambria Math" panose="02040503050406030204" charset="0"/>
                          </a:rPr>
                          <m:t>𝑡</m:t>
                        </m:r>
                      </m:sub>
                      <m:sup>
                        <m:r>
                          <a:rPr lang="en-US" altLang="zh-CN" i="1"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𝑖</m:t>
                        </m:r>
                        <m:r>
                          <a:rPr lang="en-US" altLang="zh-CN" i="1" dirty="0">
                            <a:latin typeface="Cambria Math" panose="02040503050406030204" charset="0"/>
                            <a:cs typeface="Cambria Math" panose="02040503050406030204" charset="0"/>
                          </a:rPr>
                          <m:t>)</m:t>
                        </m:r>
                      </m:sup>
                    </m:sSubSup>
                  </m:oMath>
                </a14:m>
                <a:r>
                  <a:rPr lang="zh-CN" altLang="en-US" dirty="0">
                    <a:latin typeface="Cambria Math" panose="02040503050406030204" charset="0"/>
                    <a:cs typeface="Cambria Math" panose="02040503050406030204" charset="0"/>
                  </a:rPr>
                  <a:t>，以及量化误差</a:t>
                </a:r>
                <a14:m>
                  <m:oMath xmlns:m="http://schemas.openxmlformats.org/officeDocument/2006/math">
                    <m:sSubSup>
                      <m:sSubSupPr>
                        <m:ctrlPr>
                          <a:rPr lang="en-US" altLang="zh-CN" i="1" dirty="0">
                            <a:latin typeface="Cambria Math" panose="02040503050406030204" charset="0"/>
                            <a:cs typeface="Cambria Math" panose="02040503050406030204" charset="0"/>
                          </a:rPr>
                        </m:ctrlPr>
                      </m:sSubSupPr>
                      <m:e>
                        <m:r>
                          <a:rPr lang="en-US" altLang="zh-CN" i="1" dirty="0">
                            <a:latin typeface="Cambria Math" panose="02040503050406030204" charset="0"/>
                            <a:cs typeface="Cambria Math" panose="02040503050406030204" charset="0"/>
                          </a:rPr>
                          <m:t>𝑒</m:t>
                        </m:r>
                      </m:e>
                      <m:sub>
                        <m:r>
                          <a:rPr lang="en-US" altLang="zh-CN" i="1" dirty="0">
                            <a:latin typeface="Cambria Math" panose="02040503050406030204" charset="0"/>
                            <a:cs typeface="Cambria Math" panose="02040503050406030204" charset="0"/>
                          </a:rPr>
                          <m:t>𝑡</m:t>
                        </m:r>
                      </m:sub>
                      <m:sup>
                        <m:r>
                          <a:rPr lang="en-US" altLang="zh-CN" i="1"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𝑖</m:t>
                        </m:r>
                        <m:r>
                          <a:rPr lang="en-US" altLang="zh-CN" i="1" dirty="0">
                            <a:latin typeface="Cambria Math" panose="02040503050406030204" charset="0"/>
                            <a:cs typeface="Cambria Math" panose="02040503050406030204" charset="0"/>
                          </a:rPr>
                          <m:t>)</m:t>
                        </m:r>
                      </m:sup>
                    </m:sSubSup>
                  </m:oMath>
                </a14:m>
                <a:r>
                  <a:rPr lang="zh-CN" altLang="en-US" dirty="0">
                    <a:latin typeface="Cambria Math" panose="02040503050406030204" charset="0"/>
                    <a:cs typeface="Cambria Math" panose="02040503050406030204" charset="0"/>
                  </a:rPr>
                  <a:t>，并通过计算梯度和锚点差值并补偿量化误差来构造实际需要传输的通信数据。这样做的目的是降低待通信张量的动态范围。</a:t>
                </a:r>
                <a:endParaRPr lang="zh-CN" altLang="en-US" dirty="0">
                  <a:latin typeface="Cambria Math" panose="02040503050406030204" charset="0"/>
                  <a:cs typeface="Cambria Math" panose="02040503050406030204" charset="0"/>
                </a:endParaRPr>
              </a:p>
              <a:p>
                <a:r>
                  <a:rPr lang="zh-CN" altLang="en-US" dirty="0">
                    <a:latin typeface="Cambria Math" panose="02040503050406030204" charset="0"/>
                    <a:cs typeface="Cambria Math" panose="02040503050406030204" charset="0"/>
                  </a:rPr>
                  <a:t>而后我们对误差信号进行随机舍入量化。</a:t>
                </a:r>
                <a:endParaRPr lang="zh-CN" altLang="en-US" dirty="0">
                  <a:latin typeface="Cambria Math" panose="02040503050406030204" charset="0"/>
                  <a:cs typeface="Cambria Math" panose="02040503050406030204" charset="0"/>
                </a:endParaRPr>
              </a:p>
              <a:p>
                <a:r>
                  <a:rPr lang="zh-CN" altLang="en-US" dirty="0"/>
                  <a:t>首先将梯度划分多个块，每个块内单独计算放缩因子来归一化块内</a:t>
                </a:r>
                <a:r>
                  <a:rPr lang="zh-CN" altLang="en-US" dirty="0"/>
                  <a:t>数值。（这样做是因为不同区域的梯度分布差异很大。如果整个 </a:t>
                </a:r>
                <a:r>
                  <a:rPr lang="en-US" altLang="zh-CN" dirty="0"/>
                  <a:t>tensor </a:t>
                </a:r>
                <a:r>
                  <a:rPr lang="zh-CN" altLang="en-US" dirty="0"/>
                  <a:t>共用一个 </a:t>
                </a:r>
                <a:r>
                  <a:rPr lang="en-US" altLang="zh-CN" dirty="0"/>
                  <a:t>scale，</a:t>
                </a:r>
                <a:r>
                  <a:rPr lang="zh-CN" altLang="en-US" dirty="0"/>
                  <a:t>那么少量 </a:t>
                </a:r>
                <a:r>
                  <a:rPr lang="en-US" altLang="zh-CN" dirty="0"/>
                  <a:t>outlier </a:t>
                </a:r>
                <a:r>
                  <a:rPr lang="zh-CN" altLang="en-US" dirty="0"/>
                  <a:t>会导致大量小梯度直接量化为 0。</a:t>
                </a:r>
                <a:r>
                  <a:rPr lang="zh-CN" altLang="en-US" dirty="0"/>
                  <a:t>）</a:t>
                </a:r>
                <a:endParaRPr lang="zh-CN" altLang="en-US" dirty="0"/>
              </a:p>
              <a:p>
                <a:r>
                  <a:rPr lang="zh-CN" altLang="en-US" dirty="0"/>
                  <a:t>接下来使用随机舍入方法，针对每个元素的小数部分，按伯努利分布将元素舍入到向下或向上取整的数值。这样做，将保证量化后值的整体保持无偏性。（这样做是因为保持无偏性可以避免在训练过程中长期积累</a:t>
                </a:r>
                <a:r>
                  <a:rPr lang="zh-CN" altLang="en-US" dirty="0"/>
                  <a:t>系统误差）</a:t>
                </a:r>
                <a:endParaRPr lang="zh-CN" altLang="en-US" dirty="0"/>
              </a:p>
              <a:p>
                <a:r>
                  <a:rPr lang="zh-CN" altLang="en-US" dirty="0"/>
                  <a:t>量化完后，根据生成的低比特量化梯度，</a:t>
                </a:r>
                <a:r>
                  <a:rPr lang="zh-CN" altLang="en-US" dirty="0"/>
                  <a:t>维护更新误差反馈用的</a:t>
                </a:r>
                <a:r>
                  <a:rPr lang="zh-CN" altLang="en-US" dirty="0"/>
                  <a:t>误差。</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针对随机舍入方法在当前工业界中的表现，设计基于随机舍入量化的</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k-bit</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量化方法，并结合</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EF21+</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误差补偿、块量化方法，和</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Adam</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优化器适配，结合进训练循环中。</a:t>
                </a:r>
                <a:endParaRPr lang="zh-CN" altLang="en-US" dirty="0"/>
              </a:p>
              <a:p>
                <a:r>
                  <a:rPr lang="zh-CN" altLang="en-US" dirty="0"/>
                  <a:t>整体的模块设计是这样的</a:t>
                </a:r>
                <a:r>
                  <a:rPr lang="en-US" altLang="zh-CN" dirty="0"/>
                  <a:t>：</a:t>
                </a:r>
                <a:endParaRPr lang="en-US" altLang="zh-CN" dirty="0"/>
              </a:p>
              <a:p>
                <a:r>
                  <a:rPr lang="zh-CN" altLang="en-US" dirty="0"/>
                  <a:t>首先看整体训练流程：</a:t>
                </a:r>
                <a:endParaRPr lang="zh-CN" altLang="en-US" dirty="0"/>
              </a:p>
              <a:p>
                <a:r>
                  <a:rPr lang="zh-CN" altLang="en-US" dirty="0"/>
                  <a:t>在每一次训练迭代中，各个</a:t>
                </a:r>
                <a:r>
                  <a:rPr lang="en-US" altLang="zh-CN" dirty="0"/>
                  <a:t>GPU</a:t>
                </a:r>
                <a:r>
                  <a:rPr lang="zh-CN" altLang="en-US" dirty="0"/>
                  <a:t>首先计算本地梯度</a:t>
                </a:r>
                <a14:m>
                  <m:oMath xmlns:m="http://schemas.openxmlformats.org/officeDocument/2006/math">
                    <m:sSubSup>
                      <m:sSubSupPr>
                        <m:ctrlPr>
                          <a:rPr lang="en-US" altLang="zh-CN" i="1" dirty="0">
                            <a:latin typeface="Cambria Math" panose="02040503050406030204" charset="0"/>
                            <a:cs typeface="Cambria Math" panose="02040503050406030204" charset="0"/>
                          </a:rPr>
                        </m:ctrlPr>
                      </m:sSubSupPr>
                      <m:e>
                        <m:r>
                          <a:rPr lang="en-US" altLang="zh-CN" i="1" dirty="0">
                            <a:latin typeface="Cambria Math" panose="02040503050406030204" charset="0"/>
                            <a:cs typeface="Cambria Math" panose="02040503050406030204" charset="0"/>
                          </a:rPr>
                          <m:t>𝑔</m:t>
                        </m:r>
                      </m:e>
                      <m:sub>
                        <m:r>
                          <a:rPr lang="en-US" altLang="zh-CN" i="1" dirty="0">
                            <a:latin typeface="Cambria Math" panose="02040503050406030204" charset="0"/>
                            <a:cs typeface="Cambria Math" panose="02040503050406030204" charset="0"/>
                          </a:rPr>
                          <m:t>𝑡</m:t>
                        </m:r>
                      </m:sub>
                      <m:sup>
                        <m:r>
                          <a:rPr lang="en-US" altLang="zh-CN" i="1"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𝑖</m:t>
                        </m:r>
                        <m:r>
                          <a:rPr lang="en-US" altLang="zh-CN" i="1" dirty="0">
                            <a:latin typeface="Cambria Math" panose="02040503050406030204" charset="0"/>
                            <a:cs typeface="Cambria Math" panose="02040503050406030204" charset="0"/>
                          </a:rPr>
                          <m:t>)</m:t>
                        </m:r>
                      </m:sup>
                    </m:sSubSup>
                  </m:oMath>
                </a14:m>
                <a:r>
                  <a:rPr lang="zh-CN" altLang="en-US" dirty="0">
                    <a:latin typeface="Cambria Math" panose="02040503050406030204" charset="0"/>
                    <a:cs typeface="Cambria Math" panose="02040503050406030204" charset="0"/>
                  </a:rPr>
                  <a:t>。而后将其送入</a:t>
                </a:r>
                <a:r>
                  <a:rPr lang="en-US" altLang="zh-CN" dirty="0">
                    <a:latin typeface="Cambria Math" panose="02040503050406030204" charset="0"/>
                    <a:cs typeface="Cambria Math" panose="02040503050406030204" charset="0"/>
                  </a:rPr>
                  <a:t>EF21+</a:t>
                </a:r>
                <a:r>
                  <a:rPr lang="zh-CN" altLang="en-US" dirty="0">
                    <a:latin typeface="Cambria Math" panose="02040503050406030204" charset="0"/>
                    <a:cs typeface="Cambria Math" panose="02040503050406030204" charset="0"/>
                  </a:rPr>
                  <a:t>误差补偿模块。这里我们维护了一个梯度锚点</a:t>
                </a:r>
                <a14:m>
                  <m:oMath xmlns:m="http://schemas.openxmlformats.org/officeDocument/2006/math">
                    <m:sSubSup>
                      <m:sSubSupPr>
                        <m:ctrlPr>
                          <a:rPr lang="en-US" altLang="zh-CN" i="1" dirty="0">
                            <a:latin typeface="Cambria Math" panose="02040503050406030204" charset="0"/>
                            <a:cs typeface="Cambria Math" panose="02040503050406030204" charset="0"/>
                          </a:rPr>
                        </m:ctrlPr>
                      </m:sSubSupPr>
                      <m:e>
                        <m:r>
                          <a:rPr lang="en-US" altLang="zh-CN" i="1" dirty="0">
                            <a:latin typeface="Cambria Math" panose="02040503050406030204" charset="0"/>
                            <a:cs typeface="Cambria Math" panose="02040503050406030204" charset="0"/>
                          </a:rPr>
                          <m:t>ℎ</m:t>
                        </m:r>
                      </m:e>
                      <m:sub>
                        <m:r>
                          <a:rPr lang="en-US" altLang="zh-CN" i="1" dirty="0">
                            <a:latin typeface="Cambria Math" panose="02040503050406030204" charset="0"/>
                            <a:cs typeface="Cambria Math" panose="02040503050406030204" charset="0"/>
                          </a:rPr>
                          <m:t>𝑡</m:t>
                        </m:r>
                      </m:sub>
                      <m:sup>
                        <m:r>
                          <a:rPr lang="en-US" altLang="zh-CN" i="1"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𝑖</m:t>
                        </m:r>
                        <m:r>
                          <a:rPr lang="en-US" altLang="zh-CN" i="1" dirty="0">
                            <a:latin typeface="Cambria Math" panose="02040503050406030204" charset="0"/>
                            <a:cs typeface="Cambria Math" panose="02040503050406030204" charset="0"/>
                          </a:rPr>
                          <m:t>)</m:t>
                        </m:r>
                      </m:sup>
                    </m:sSubSup>
                  </m:oMath>
                </a14:m>
                <a:r>
                  <a:rPr lang="zh-CN" altLang="en-US" dirty="0">
                    <a:latin typeface="Cambria Math" panose="02040503050406030204" charset="0"/>
                    <a:cs typeface="Cambria Math" panose="02040503050406030204" charset="0"/>
                  </a:rPr>
                  <a:t>，以及量化误差</a:t>
                </a:r>
                <a14:m>
                  <m:oMath xmlns:m="http://schemas.openxmlformats.org/officeDocument/2006/math">
                    <m:sSubSup>
                      <m:sSubSupPr>
                        <m:ctrlPr>
                          <a:rPr lang="en-US" altLang="zh-CN" i="1" dirty="0">
                            <a:latin typeface="Cambria Math" panose="02040503050406030204" charset="0"/>
                            <a:cs typeface="Cambria Math" panose="02040503050406030204" charset="0"/>
                          </a:rPr>
                        </m:ctrlPr>
                      </m:sSubSupPr>
                      <m:e>
                        <m:r>
                          <a:rPr lang="en-US" altLang="zh-CN" i="1" dirty="0">
                            <a:latin typeface="Cambria Math" panose="02040503050406030204" charset="0"/>
                            <a:cs typeface="Cambria Math" panose="02040503050406030204" charset="0"/>
                          </a:rPr>
                          <m:t>𝑒</m:t>
                        </m:r>
                      </m:e>
                      <m:sub>
                        <m:r>
                          <a:rPr lang="en-US" altLang="zh-CN" i="1" dirty="0">
                            <a:latin typeface="Cambria Math" panose="02040503050406030204" charset="0"/>
                            <a:cs typeface="Cambria Math" panose="02040503050406030204" charset="0"/>
                          </a:rPr>
                          <m:t>𝑡</m:t>
                        </m:r>
                      </m:sub>
                      <m:sup>
                        <m:r>
                          <a:rPr lang="en-US" altLang="zh-CN" i="1"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𝑖</m:t>
                        </m:r>
                        <m:r>
                          <a:rPr lang="en-US" altLang="zh-CN" i="1" dirty="0">
                            <a:latin typeface="Cambria Math" panose="02040503050406030204" charset="0"/>
                            <a:cs typeface="Cambria Math" panose="02040503050406030204" charset="0"/>
                          </a:rPr>
                          <m:t>)</m:t>
                        </m:r>
                      </m:sup>
                    </m:sSubSup>
                  </m:oMath>
                </a14:m>
                <a:r>
                  <a:rPr lang="zh-CN" altLang="en-US" dirty="0">
                    <a:latin typeface="Cambria Math" panose="02040503050406030204" charset="0"/>
                    <a:cs typeface="Cambria Math" panose="02040503050406030204" charset="0"/>
                  </a:rPr>
                  <a:t>，并通过计算梯度和锚点差值并补偿量化误差来构造实际需要传输的通信数据。这样做的目的是降低待通信张量的动态范围。</a:t>
                </a:r>
                <a:endParaRPr lang="zh-CN" altLang="en-US" dirty="0">
                  <a:latin typeface="Cambria Math" panose="02040503050406030204" charset="0"/>
                  <a:cs typeface="Cambria Math" panose="02040503050406030204" charset="0"/>
                </a:endParaRPr>
              </a:p>
              <a:p>
                <a:r>
                  <a:rPr lang="zh-CN" altLang="en-US" dirty="0">
                    <a:latin typeface="Cambria Math" panose="02040503050406030204" charset="0"/>
                    <a:cs typeface="Cambria Math" panose="02040503050406030204" charset="0"/>
                  </a:rPr>
                  <a:t>而后我们对误差信号进行随机舍入量化。</a:t>
                </a:r>
                <a:endParaRPr lang="zh-CN" altLang="en-US" dirty="0">
                  <a:latin typeface="Cambria Math" panose="02040503050406030204" charset="0"/>
                  <a:cs typeface="Cambria Math" panose="02040503050406030204" charset="0"/>
                </a:endParaRPr>
              </a:p>
              <a:p>
                <a:r>
                  <a:rPr lang="zh-CN" altLang="en-US" dirty="0"/>
                  <a:t>首先将梯度划分多个块，每个块内单独计算放缩因子来归一化块内</a:t>
                </a:r>
                <a:r>
                  <a:rPr lang="zh-CN" altLang="en-US" dirty="0"/>
                  <a:t>数值。（这样做是因为不同区域的梯度分布差异很大。如果整个 </a:t>
                </a:r>
                <a:r>
                  <a:rPr lang="en-US" altLang="zh-CN" dirty="0"/>
                  <a:t>tensor </a:t>
                </a:r>
                <a:r>
                  <a:rPr lang="zh-CN" altLang="en-US" dirty="0"/>
                  <a:t>共用一个 </a:t>
                </a:r>
                <a:r>
                  <a:rPr lang="en-US" altLang="zh-CN" dirty="0"/>
                  <a:t>scale，</a:t>
                </a:r>
                <a:r>
                  <a:rPr lang="zh-CN" altLang="en-US" dirty="0"/>
                  <a:t>那么少量 </a:t>
                </a:r>
                <a:r>
                  <a:rPr lang="en-US" altLang="zh-CN" dirty="0"/>
                  <a:t>outlier </a:t>
                </a:r>
                <a:r>
                  <a:rPr lang="zh-CN" altLang="en-US" dirty="0"/>
                  <a:t>会导致大量小梯度直接量化为 0。</a:t>
                </a:r>
                <a:r>
                  <a:rPr lang="zh-CN" altLang="en-US" dirty="0"/>
                  <a:t>）</a:t>
                </a:r>
                <a:endParaRPr lang="zh-CN" altLang="en-US" dirty="0"/>
              </a:p>
              <a:p>
                <a:r>
                  <a:rPr lang="zh-CN" altLang="en-US" dirty="0"/>
                  <a:t>接下来使用随机舍入方法，针对每个元素的小数部分，按伯努利分布将元素舍入到向下或向上取整的数值。这样做，将保证量化后值的整体保持无偏性。（这样做是因为保持无偏性可以避免在训练过程中长期积累</a:t>
                </a:r>
                <a:r>
                  <a:rPr lang="zh-CN" altLang="en-US" dirty="0"/>
                  <a:t>系统误差）</a:t>
                </a:r>
                <a:endParaRPr lang="zh-CN" altLang="en-US" dirty="0"/>
              </a:p>
              <a:p>
                <a:r>
                  <a:rPr lang="zh-CN" altLang="en-US" dirty="0"/>
                  <a:t>量化完后，根据生成的低比特量化梯度，</a:t>
                </a:r>
                <a:r>
                  <a:rPr lang="zh-CN" altLang="en-US" dirty="0"/>
                  <a:t>维护更新误差反馈用的</a:t>
                </a:r>
                <a:r>
                  <a:rPr lang="zh-CN" altLang="en-US" dirty="0"/>
                  <a:t>误差。</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针对随机舍入方法在当前工业界中的表现，设计基于随机舍入量化的</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k-bit</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量化方法，并结合</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EF21+</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误差补偿、块量化方法，和</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Adam</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优化器适配，结合进训练循环中。</a:t>
            </a:r>
            <a:endParaRPr lang="zh-CN" altLang="en-US" dirty="0"/>
          </a:p>
          <a:p>
            <a:r>
              <a:rPr lang="zh-CN" altLang="en-US" dirty="0"/>
              <a:t>下面介绍本方法</a:t>
            </a:r>
            <a:r>
              <a:rPr lang="zh-CN" altLang="en-US" dirty="0"/>
              <a:t>中低比特</a:t>
            </a:r>
            <a:r>
              <a:rPr lang="en-US" altLang="zh-CN" dirty="0"/>
              <a:t> All-Reduce </a:t>
            </a:r>
            <a:r>
              <a:rPr lang="zh-CN" altLang="en-US" dirty="0"/>
              <a:t>的</a:t>
            </a:r>
            <a:r>
              <a:rPr lang="zh-CN" altLang="en-US" dirty="0"/>
              <a:t>实现</a:t>
            </a:r>
            <a:endParaRPr lang="zh-CN" altLang="en-US" dirty="0"/>
          </a:p>
          <a:p>
            <a:r>
              <a:rPr lang="zh-CN" altLang="en-US" dirty="0"/>
              <a:t>传统</a:t>
            </a:r>
            <a:r>
              <a:rPr lang="en-US" altLang="zh-CN" dirty="0"/>
              <a:t> FP32 FP16 All-Reduce </a:t>
            </a:r>
            <a:r>
              <a:rPr lang="zh-CN" altLang="en-US" dirty="0"/>
              <a:t>本质上是</a:t>
            </a:r>
            <a:r>
              <a:rPr lang="en-US" altLang="zh-CN" dirty="0"/>
              <a:t> Reduce-Scatter + All-Gather </a:t>
            </a:r>
            <a:r>
              <a:rPr lang="zh-CN" altLang="en-US" dirty="0"/>
              <a:t>的两阶段通信，由于</a:t>
            </a:r>
            <a:r>
              <a:rPr lang="en-US" altLang="zh-CN" dirty="0"/>
              <a:t> FP32 </a:t>
            </a:r>
            <a:r>
              <a:rPr lang="zh-CN" altLang="en-US" dirty="0"/>
              <a:t>类型的数据可以直接求和，因此可以直接调用</a:t>
            </a:r>
            <a:r>
              <a:rPr lang="en-US" altLang="zh-CN" dirty="0"/>
              <a:t> NCCL </a:t>
            </a:r>
            <a:r>
              <a:rPr lang="zh-CN" altLang="en-US" dirty="0"/>
              <a:t>执行</a:t>
            </a:r>
            <a:endParaRPr lang="zh-CN" altLang="en-US" dirty="0"/>
          </a:p>
          <a:p>
            <a:r>
              <a:rPr lang="zh-CN" altLang="en-US" dirty="0"/>
              <a:t>但是结合随机舍入的低比特量化后，会带来几个新问题。不同</a:t>
            </a:r>
            <a:r>
              <a:rPr lang="zh-CN" altLang="en-US" dirty="0"/>
              <a:t>节点的不同块的</a:t>
            </a:r>
            <a:r>
              <a:rPr lang="en-US" altLang="zh-CN" dirty="0"/>
              <a:t> </a:t>
            </a:r>
            <a:r>
              <a:rPr lang="zh-CN" altLang="en-US" dirty="0"/>
              <a:t>放缩因子</a:t>
            </a:r>
            <a:r>
              <a:rPr lang="en-US" altLang="zh-CN" dirty="0"/>
              <a:t> </a:t>
            </a:r>
            <a:r>
              <a:rPr lang="zh-CN" altLang="en-US" dirty="0"/>
              <a:t>不一致，无法直接</a:t>
            </a:r>
            <a:r>
              <a:rPr lang="zh-CN" altLang="en-US" dirty="0"/>
              <a:t>相加。</a:t>
            </a:r>
            <a:endParaRPr lang="zh-CN" altLang="en-US" dirty="0"/>
          </a:p>
          <a:p>
            <a:r>
              <a:rPr lang="zh-CN" altLang="en-US" dirty="0"/>
              <a:t>量化经过</a:t>
            </a:r>
            <a:r>
              <a:rPr lang="en-US" altLang="zh-CN" dirty="0"/>
              <a:t>bit packing</a:t>
            </a:r>
            <a:r>
              <a:rPr lang="zh-CN" altLang="en-US" dirty="0"/>
              <a:t>后，</a:t>
            </a:r>
            <a:r>
              <a:rPr lang="en-US" altLang="zh-CN" dirty="0"/>
              <a:t>NCCL </a:t>
            </a:r>
            <a:r>
              <a:rPr lang="zh-CN" altLang="en-US" dirty="0"/>
              <a:t>原有的库无法直接对其执行规约</a:t>
            </a:r>
            <a:r>
              <a:rPr lang="zh-CN" altLang="en-US" dirty="0"/>
              <a:t>操作</a:t>
            </a:r>
            <a:endParaRPr lang="zh-CN" altLang="en-US" dirty="0"/>
          </a:p>
          <a:p>
            <a:r>
              <a:rPr lang="zh-CN" altLang="en-US" dirty="0"/>
              <a:t>所以我们的方法采用</a:t>
            </a:r>
            <a:r>
              <a:rPr lang="en-US" altLang="zh-CN" dirty="0"/>
              <a:t>All-to-all + </a:t>
            </a:r>
            <a:r>
              <a:rPr lang="zh-CN" altLang="en-US" dirty="0"/>
              <a:t>本地反量化求和</a:t>
            </a:r>
            <a:r>
              <a:rPr lang="en-US" altLang="zh-CN" dirty="0"/>
              <a:t> + All-Gather</a:t>
            </a:r>
            <a:r>
              <a:rPr lang="zh-CN" altLang="en-US" dirty="0"/>
              <a:t>的</a:t>
            </a:r>
            <a:r>
              <a:rPr lang="zh-CN" altLang="en-US" dirty="0"/>
              <a:t>实现方式</a:t>
            </a:r>
            <a:endParaRPr lang="zh-CN" altLang="en-US" dirty="0"/>
          </a:p>
          <a:p>
            <a:r>
              <a:rPr lang="zh-CN" altLang="en-US" dirty="0"/>
              <a:t>首先在发送阶段，每个工作节点将各个</a:t>
            </a:r>
            <a:r>
              <a:rPr lang="en-US" altLang="zh-CN" dirty="0"/>
              <a:t> block </a:t>
            </a:r>
            <a:r>
              <a:rPr lang="zh-CN" altLang="en-US" dirty="0"/>
              <a:t>的量化值进行位打包，同时附带对应的</a:t>
            </a:r>
            <a:r>
              <a:rPr lang="en-US" altLang="zh-CN" dirty="0"/>
              <a:t> scale </a:t>
            </a:r>
            <a:r>
              <a:rPr lang="zh-CN" altLang="en-US" dirty="0"/>
              <a:t>信息。随后使用</a:t>
            </a:r>
            <a:r>
              <a:rPr lang="en-US" altLang="zh-CN" dirty="0"/>
              <a:t> all-to-all </a:t>
            </a:r>
            <a:r>
              <a:rPr lang="zh-CN" altLang="en-US" dirty="0"/>
              <a:t>将不同的</a:t>
            </a:r>
            <a:r>
              <a:rPr lang="en-US" altLang="zh-CN" dirty="0"/>
              <a:t> block </a:t>
            </a:r>
            <a:r>
              <a:rPr lang="zh-CN" altLang="en-US" dirty="0"/>
              <a:t>发送到对应的节点。这个过程中</a:t>
            </a:r>
            <a:r>
              <a:rPr lang="en-US" altLang="zh-CN" dirty="0"/>
              <a:t> a2a </a:t>
            </a:r>
            <a:r>
              <a:rPr lang="zh-CN" altLang="en-US" dirty="0"/>
              <a:t>和</a:t>
            </a:r>
            <a:r>
              <a:rPr lang="en-US" altLang="zh-CN" dirty="0"/>
              <a:t> reduce-scatter </a:t>
            </a:r>
            <a:r>
              <a:rPr lang="zh-CN" altLang="en-US" dirty="0"/>
              <a:t>的通信复杂度和开销</a:t>
            </a:r>
            <a:r>
              <a:rPr lang="zh-CN" altLang="en-US" dirty="0"/>
              <a:t>一致。</a:t>
            </a:r>
            <a:endParaRPr lang="zh-CN" altLang="en-US" dirty="0"/>
          </a:p>
          <a:p>
            <a:r>
              <a:rPr lang="zh-CN" altLang="en-US" dirty="0"/>
              <a:t>修改</a:t>
            </a:r>
            <a:r>
              <a:rPr lang="en-US" altLang="zh-CN" dirty="0"/>
              <a:t>nccl reduce kernel</a:t>
            </a:r>
            <a:r>
              <a:rPr lang="zh-CN" altLang="en-US" dirty="0"/>
              <a:t>，每收到一块则根据缩放因子，反量化并求和。从而实现了一个</a:t>
            </a:r>
            <a:r>
              <a:rPr lang="en-US" altLang="zh-CN" dirty="0"/>
              <a:t>reduce scatter </a:t>
            </a:r>
            <a:r>
              <a:rPr lang="zh-CN" altLang="en-US" dirty="0"/>
              <a:t>过程</a:t>
            </a:r>
            <a:endParaRPr lang="zh-CN" altLang="en-US" dirty="0"/>
          </a:p>
          <a:p>
            <a:r>
              <a:rPr lang="zh-CN" altLang="en-US" dirty="0"/>
              <a:t>最后，通过</a:t>
            </a:r>
            <a:r>
              <a:rPr lang="en-US" altLang="zh-CN" dirty="0"/>
              <a:t>all-gather</a:t>
            </a:r>
            <a:r>
              <a:rPr lang="zh-CN" altLang="en-US" dirty="0"/>
              <a:t>将各个节点上的部分</a:t>
            </a:r>
            <a:r>
              <a:rPr lang="en-US" altLang="zh-CN" dirty="0"/>
              <a:t>reduce</a:t>
            </a:r>
            <a:r>
              <a:rPr lang="zh-CN" altLang="en-US" dirty="0"/>
              <a:t>结果收集起来，从而完成了全局梯度的</a:t>
            </a:r>
            <a:r>
              <a:rPr lang="zh-CN" altLang="en-US" dirty="0"/>
              <a:t>同步</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针对随机舍入方法在当前工业界中的表现，设计基于随机舍入量化的</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k-bit</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量化方法，并结合</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EF21+</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误差补偿、块量化方法，和</a:t>
                </a:r>
                <a:r>
                  <a:rPr lang="en-US" altLang="zh-CN"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Adam</a:t>
                </a:r>
                <a:r>
                  <a:rPr lang="zh-CN" altLang="en-US" noProof="0" dirty="0">
                    <a:ln>
                      <a:noFill/>
                    </a:ln>
                    <a:effectLst/>
                    <a:uLnTx/>
                    <a:uFillTx/>
                    <a:latin typeface="Microsoft YaHei" panose="020B0503020204020204" charset="-122"/>
                    <a:ea typeface="Microsoft YaHei" panose="020B0503020204020204" charset="-122"/>
                    <a:cs typeface="Times New Roman" panose="02020603050405020304" pitchFamily="18" charset="0"/>
                    <a:sym typeface="+mn-ea"/>
                  </a:rPr>
                  <a:t>优化器适配，结合进训练循环中。</a:t>
                </a:r>
                <a:endParaRPr lang="zh-CN" altLang="en-US" dirty="0"/>
              </a:p>
              <a:p>
                <a:r>
                  <a:rPr lang="zh-CN" altLang="en-US" dirty="0"/>
                  <a:t>整体的模块设计是这样的</a:t>
                </a:r>
                <a:r>
                  <a:rPr lang="en-US" altLang="zh-CN" dirty="0"/>
                  <a:t>：</a:t>
                </a:r>
                <a:endParaRPr lang="en-US" altLang="zh-CN" dirty="0"/>
              </a:p>
              <a:p>
                <a:r>
                  <a:rPr lang="zh-CN" altLang="en-US" dirty="0"/>
                  <a:t>首先看整体训练流程：</a:t>
                </a:r>
                <a:endParaRPr lang="zh-CN" altLang="en-US" dirty="0"/>
              </a:p>
              <a:p>
                <a:r>
                  <a:rPr lang="zh-CN" altLang="en-US" dirty="0"/>
                  <a:t>在每一次训练迭代中，各个</a:t>
                </a:r>
                <a:r>
                  <a:rPr lang="en-US" altLang="zh-CN" dirty="0"/>
                  <a:t>GPU</a:t>
                </a:r>
                <a:r>
                  <a:rPr lang="zh-CN" altLang="en-US" dirty="0"/>
                  <a:t>首先计算本地梯度</a:t>
                </a:r>
                <a14:m>
                  <m:oMath xmlns:m="http://schemas.openxmlformats.org/officeDocument/2006/math">
                    <m:sSubSup>
                      <m:sSubSupPr>
                        <m:ctrlPr>
                          <a:rPr lang="en-US" altLang="zh-CN" i="1" dirty="0">
                            <a:latin typeface="Cambria Math" panose="02040503050406030204" charset="0"/>
                            <a:cs typeface="Cambria Math" panose="02040503050406030204" charset="0"/>
                          </a:rPr>
                        </m:ctrlPr>
                      </m:sSubSupPr>
                      <m:e>
                        <m:r>
                          <a:rPr lang="en-US" altLang="zh-CN" i="1" dirty="0">
                            <a:latin typeface="Cambria Math" panose="02040503050406030204" charset="0"/>
                            <a:cs typeface="Cambria Math" panose="02040503050406030204" charset="0"/>
                          </a:rPr>
                          <m:t>𝑔</m:t>
                        </m:r>
                      </m:e>
                      <m:sub>
                        <m:r>
                          <a:rPr lang="en-US" altLang="zh-CN" i="1" dirty="0">
                            <a:latin typeface="Cambria Math" panose="02040503050406030204" charset="0"/>
                            <a:cs typeface="Cambria Math" panose="02040503050406030204" charset="0"/>
                          </a:rPr>
                          <m:t>𝑡</m:t>
                        </m:r>
                      </m:sub>
                      <m:sup>
                        <m:r>
                          <a:rPr lang="en-US" altLang="zh-CN" i="1"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𝑖</m:t>
                        </m:r>
                        <m:r>
                          <a:rPr lang="en-US" altLang="zh-CN" i="1" dirty="0">
                            <a:latin typeface="Cambria Math" panose="02040503050406030204" charset="0"/>
                            <a:cs typeface="Cambria Math" panose="02040503050406030204" charset="0"/>
                          </a:rPr>
                          <m:t>)</m:t>
                        </m:r>
                      </m:sup>
                    </m:sSubSup>
                  </m:oMath>
                </a14:m>
                <a:r>
                  <a:rPr lang="zh-CN" altLang="en-US" dirty="0">
                    <a:latin typeface="Cambria Math" panose="02040503050406030204" charset="0"/>
                    <a:cs typeface="Cambria Math" panose="02040503050406030204" charset="0"/>
                  </a:rPr>
                  <a:t>。而后将其送入</a:t>
                </a:r>
                <a:r>
                  <a:rPr lang="en-US" altLang="zh-CN" dirty="0">
                    <a:latin typeface="Cambria Math" panose="02040503050406030204" charset="0"/>
                    <a:cs typeface="Cambria Math" panose="02040503050406030204" charset="0"/>
                  </a:rPr>
                  <a:t>EF21+</a:t>
                </a:r>
                <a:r>
                  <a:rPr lang="zh-CN" altLang="en-US" dirty="0">
                    <a:latin typeface="Cambria Math" panose="02040503050406030204" charset="0"/>
                    <a:cs typeface="Cambria Math" panose="02040503050406030204" charset="0"/>
                  </a:rPr>
                  <a:t>误差补偿模块。这里我们维护了一个梯度锚点</a:t>
                </a:r>
                <a14:m>
                  <m:oMath xmlns:m="http://schemas.openxmlformats.org/officeDocument/2006/math">
                    <m:sSubSup>
                      <m:sSubSupPr>
                        <m:ctrlPr>
                          <a:rPr lang="en-US" altLang="zh-CN" i="1" dirty="0">
                            <a:latin typeface="Cambria Math" panose="02040503050406030204" charset="0"/>
                            <a:cs typeface="Cambria Math" panose="02040503050406030204" charset="0"/>
                          </a:rPr>
                        </m:ctrlPr>
                      </m:sSubSupPr>
                      <m:e>
                        <m:r>
                          <a:rPr lang="en-US" altLang="zh-CN" i="1" dirty="0">
                            <a:latin typeface="Cambria Math" panose="02040503050406030204" charset="0"/>
                            <a:cs typeface="Cambria Math" panose="02040503050406030204" charset="0"/>
                          </a:rPr>
                          <m:t>ℎ</m:t>
                        </m:r>
                      </m:e>
                      <m:sub>
                        <m:r>
                          <a:rPr lang="en-US" altLang="zh-CN" i="1" dirty="0">
                            <a:latin typeface="Cambria Math" panose="02040503050406030204" charset="0"/>
                            <a:cs typeface="Cambria Math" panose="02040503050406030204" charset="0"/>
                          </a:rPr>
                          <m:t>𝑡</m:t>
                        </m:r>
                      </m:sub>
                      <m:sup>
                        <m:r>
                          <a:rPr lang="en-US" altLang="zh-CN" i="1"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𝑖</m:t>
                        </m:r>
                        <m:r>
                          <a:rPr lang="en-US" altLang="zh-CN" i="1" dirty="0">
                            <a:latin typeface="Cambria Math" panose="02040503050406030204" charset="0"/>
                            <a:cs typeface="Cambria Math" panose="02040503050406030204" charset="0"/>
                          </a:rPr>
                          <m:t>)</m:t>
                        </m:r>
                      </m:sup>
                    </m:sSubSup>
                  </m:oMath>
                </a14:m>
                <a:r>
                  <a:rPr lang="zh-CN" altLang="en-US" dirty="0">
                    <a:latin typeface="Cambria Math" panose="02040503050406030204" charset="0"/>
                    <a:cs typeface="Cambria Math" panose="02040503050406030204" charset="0"/>
                  </a:rPr>
                  <a:t>，以及量化误差</a:t>
                </a:r>
                <a14:m>
                  <m:oMath xmlns:m="http://schemas.openxmlformats.org/officeDocument/2006/math">
                    <m:sSubSup>
                      <m:sSubSupPr>
                        <m:ctrlPr>
                          <a:rPr lang="en-US" altLang="zh-CN" i="1" dirty="0">
                            <a:latin typeface="Cambria Math" panose="02040503050406030204" charset="0"/>
                            <a:cs typeface="Cambria Math" panose="02040503050406030204" charset="0"/>
                          </a:rPr>
                        </m:ctrlPr>
                      </m:sSubSupPr>
                      <m:e>
                        <m:r>
                          <a:rPr lang="en-US" altLang="zh-CN" i="1" dirty="0">
                            <a:latin typeface="Cambria Math" panose="02040503050406030204" charset="0"/>
                            <a:cs typeface="Cambria Math" panose="02040503050406030204" charset="0"/>
                          </a:rPr>
                          <m:t>𝑒</m:t>
                        </m:r>
                      </m:e>
                      <m:sub>
                        <m:r>
                          <a:rPr lang="en-US" altLang="zh-CN" i="1" dirty="0">
                            <a:latin typeface="Cambria Math" panose="02040503050406030204" charset="0"/>
                            <a:cs typeface="Cambria Math" panose="02040503050406030204" charset="0"/>
                          </a:rPr>
                          <m:t>𝑡</m:t>
                        </m:r>
                      </m:sub>
                      <m:sup>
                        <m:r>
                          <a:rPr lang="en-US" altLang="zh-CN" i="1"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𝑖</m:t>
                        </m:r>
                        <m:r>
                          <a:rPr lang="en-US" altLang="zh-CN" i="1" dirty="0">
                            <a:latin typeface="Cambria Math" panose="02040503050406030204" charset="0"/>
                            <a:cs typeface="Cambria Math" panose="02040503050406030204" charset="0"/>
                          </a:rPr>
                          <m:t>)</m:t>
                        </m:r>
                      </m:sup>
                    </m:sSubSup>
                  </m:oMath>
                </a14:m>
                <a:r>
                  <a:rPr lang="zh-CN" altLang="en-US" dirty="0">
                    <a:latin typeface="Cambria Math" panose="02040503050406030204" charset="0"/>
                    <a:cs typeface="Cambria Math" panose="02040503050406030204" charset="0"/>
                  </a:rPr>
                  <a:t>，并通过计算梯度和锚点差值并补偿量化误差来构造实际需要传输的通信数据。这样做的目的是降低待通信张量的动态范围。</a:t>
                </a:r>
                <a:endParaRPr lang="zh-CN" altLang="en-US" dirty="0">
                  <a:latin typeface="Cambria Math" panose="02040503050406030204" charset="0"/>
                  <a:cs typeface="Cambria Math" panose="02040503050406030204" charset="0"/>
                </a:endParaRPr>
              </a:p>
              <a:p>
                <a:r>
                  <a:rPr lang="zh-CN" altLang="en-US" dirty="0">
                    <a:latin typeface="Cambria Math" panose="02040503050406030204" charset="0"/>
                    <a:cs typeface="Cambria Math" panose="02040503050406030204" charset="0"/>
                  </a:rPr>
                  <a:t>而后我们对误差信号进行随机舍入量化。</a:t>
                </a:r>
                <a:endParaRPr lang="zh-CN" altLang="en-US" dirty="0">
                  <a:latin typeface="Cambria Math" panose="02040503050406030204" charset="0"/>
                  <a:cs typeface="Cambria Math" panose="02040503050406030204" charset="0"/>
                </a:endParaRPr>
              </a:p>
              <a:p>
                <a:r>
                  <a:rPr lang="zh-CN" altLang="en-US" dirty="0"/>
                  <a:t>首先将梯度划分多个块，每个块内单独计算放缩因子来归一化块内</a:t>
                </a:r>
                <a:r>
                  <a:rPr lang="zh-CN" altLang="en-US" dirty="0"/>
                  <a:t>数值。（这样做是因为不同区域的梯度分布差异很大。如果整个 </a:t>
                </a:r>
                <a:r>
                  <a:rPr lang="en-US" altLang="zh-CN" dirty="0"/>
                  <a:t>tensor </a:t>
                </a:r>
                <a:r>
                  <a:rPr lang="zh-CN" altLang="en-US" dirty="0"/>
                  <a:t>共用一个 </a:t>
                </a:r>
                <a:r>
                  <a:rPr lang="en-US" altLang="zh-CN" dirty="0"/>
                  <a:t>scale，</a:t>
                </a:r>
                <a:r>
                  <a:rPr lang="zh-CN" altLang="en-US" dirty="0"/>
                  <a:t>那么少量 </a:t>
                </a:r>
                <a:r>
                  <a:rPr lang="en-US" altLang="zh-CN" dirty="0"/>
                  <a:t>outlier </a:t>
                </a:r>
                <a:r>
                  <a:rPr lang="zh-CN" altLang="en-US" dirty="0"/>
                  <a:t>会导致大量小梯度直接量化为 0。</a:t>
                </a:r>
                <a:r>
                  <a:rPr lang="zh-CN" altLang="en-US" dirty="0"/>
                  <a:t>）</a:t>
                </a:r>
                <a:endParaRPr lang="zh-CN" altLang="en-US" dirty="0"/>
              </a:p>
              <a:p>
                <a:r>
                  <a:rPr lang="zh-CN" altLang="en-US" dirty="0"/>
                  <a:t>接下来使用随机舍入方法，针对每个元素的小数部分，按伯努利分布将元素舍入到向下或向上取整的数值。这样做，将保证量化后值的整体保持无偏性。（这样做是因为保持无偏性可以避免在训练过程中长期积累</a:t>
                </a:r>
                <a:r>
                  <a:rPr lang="zh-CN" altLang="en-US" dirty="0"/>
                  <a:t>系统误差）</a:t>
                </a:r>
                <a:endParaRPr lang="zh-CN" altLang="en-US" dirty="0"/>
              </a:p>
              <a:p>
                <a:r>
                  <a:rPr lang="zh-CN" altLang="en-US" dirty="0"/>
                  <a:t>量化完后，根据生成的低比特量化梯度，</a:t>
                </a:r>
                <a:r>
                  <a:rPr lang="zh-CN" altLang="en-US" dirty="0"/>
                  <a:t>维护更新误差反馈用的</a:t>
                </a:r>
                <a:r>
                  <a:rPr lang="zh-CN" altLang="en-US" dirty="0"/>
                  <a:t>误差。</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a:t>
            </a:r>
            <a:r>
              <a:rPr lang="zh-CN" altLang="en-US" dirty="0"/>
              <a:t>来说</a:t>
            </a:r>
            <a:endParaRPr lang="zh-CN" altLang="en-US" dirty="0"/>
          </a:p>
          <a:p>
            <a:r>
              <a:rPr lang="zh-CN" altLang="en-US" dirty="0"/>
              <a:t>在进行跨域全节点同步操作的时候</a:t>
            </a:r>
            <a:r>
              <a:rPr lang="en-US" altLang="zh-CN" dirty="0"/>
              <a:t>，</a:t>
            </a:r>
            <a:r>
              <a:rPr lang="zh-CN" altLang="en-US" dirty="0"/>
              <a:t>同步是分层级进行的</a:t>
            </a:r>
            <a:r>
              <a:rPr lang="en-US" altLang="zh-CN" dirty="0"/>
              <a:t>，</a:t>
            </a:r>
            <a:r>
              <a:rPr lang="zh-CN" altLang="en-US" dirty="0"/>
              <a:t>先进行机内同步</a:t>
            </a:r>
            <a:r>
              <a:rPr lang="en-US" altLang="zh-CN" dirty="0"/>
              <a:t>，</a:t>
            </a:r>
            <a:r>
              <a:rPr lang="zh-CN" altLang="en-US" dirty="0"/>
              <a:t>再进行集群内同步</a:t>
            </a:r>
            <a:r>
              <a:rPr lang="en-US" altLang="zh-CN" dirty="0"/>
              <a:t>，</a:t>
            </a:r>
            <a:r>
              <a:rPr lang="zh-CN" altLang="en-US" dirty="0"/>
              <a:t>最后进行域内同步</a:t>
            </a:r>
            <a:r>
              <a:rPr lang="en-US" altLang="zh-CN" dirty="0"/>
              <a:t>，</a:t>
            </a:r>
            <a:r>
              <a:rPr lang="zh-CN" altLang="en-US" dirty="0"/>
              <a:t>而后再在集群内广播域内同步的结果</a:t>
            </a:r>
            <a:r>
              <a:rPr lang="en-US" altLang="zh-CN" dirty="0"/>
              <a:t>，</a:t>
            </a:r>
            <a:r>
              <a:rPr lang="zh-CN" altLang="en-US" dirty="0"/>
              <a:t>而后在机内广播集群内广播后的结果</a:t>
            </a:r>
            <a:r>
              <a:rPr lang="en-US" altLang="zh-CN" dirty="0"/>
              <a:t>。</a:t>
            </a:r>
            <a:r>
              <a:rPr lang="zh-CN" altLang="en-US" dirty="0"/>
              <a:t>这种实现方式会明显的导致机内和集群内的带宽利用率较低</a:t>
            </a:r>
            <a:r>
              <a:rPr lang="en-US" altLang="zh-CN" dirty="0"/>
              <a:t>，</a:t>
            </a:r>
            <a:r>
              <a:rPr lang="zh-CN" altLang="en-US" dirty="0"/>
              <a:t>延长了整体的通信时间</a:t>
            </a:r>
            <a:r>
              <a:rPr lang="en-US" altLang="zh-CN" dirty="0"/>
              <a:t>。</a:t>
            </a:r>
            <a:endParaRPr lang="en-US" altLang="zh-CN" dirty="0"/>
          </a:p>
          <a:p>
            <a:endParaRPr lang="en-US" altLang="zh-CN" dirty="0"/>
          </a:p>
          <a:p>
            <a:r>
              <a:rPr lang="zh-CN" altLang="en-US" dirty="0"/>
              <a:t>针对这种现象</a:t>
            </a:r>
            <a:r>
              <a:rPr lang="en-US" altLang="zh-CN" dirty="0"/>
              <a:t>，</a:t>
            </a:r>
            <a:r>
              <a:rPr lang="zh-CN" altLang="en-US" dirty="0"/>
              <a:t>设计了基于网络状态感知的跨域集合通信方法</a:t>
            </a:r>
            <a:r>
              <a:rPr lang="en-US" altLang="zh-CN" dirty="0"/>
              <a:t>，</a:t>
            </a:r>
            <a:r>
              <a:rPr lang="zh-CN" altLang="en-US" dirty="0"/>
              <a:t>分别采用了以下的优化策略</a:t>
            </a:r>
            <a:r>
              <a:rPr lang="en-US" altLang="zh-CN" dirty="0"/>
              <a:t>：</a:t>
            </a:r>
            <a:endParaRPr lang="en-US" altLang="zh-CN" dirty="0"/>
          </a:p>
          <a:p>
            <a:r>
              <a:rPr lang="zh-CN" altLang="en-US" dirty="0"/>
              <a:t>首先</a:t>
            </a:r>
            <a:r>
              <a:rPr lang="en-US" altLang="zh-CN" dirty="0"/>
              <a:t>，</a:t>
            </a:r>
            <a:r>
              <a:rPr lang="zh-CN" altLang="en-US" dirty="0"/>
              <a:t>使用流水化并行通信</a:t>
            </a:r>
            <a:r>
              <a:rPr lang="en-US" altLang="zh-CN" dirty="0"/>
              <a:t>，</a:t>
            </a:r>
            <a:r>
              <a:rPr lang="zh-CN" altLang="en-US" dirty="0"/>
              <a:t>其核心是将待规约张量进行细粒度的划分</a:t>
            </a:r>
            <a:r>
              <a:rPr lang="en-US" altLang="zh-CN" dirty="0"/>
              <a:t>，</a:t>
            </a:r>
            <a:r>
              <a:rPr lang="zh-CN" altLang="en-US" dirty="0"/>
              <a:t>从而能够重叠不同层级的通信操作</a:t>
            </a:r>
            <a:r>
              <a:rPr lang="en-US" altLang="zh-CN" dirty="0"/>
              <a:t>，</a:t>
            </a:r>
            <a:r>
              <a:rPr lang="zh-CN" altLang="en-US" dirty="0"/>
              <a:t>减少整体的等待时间</a:t>
            </a:r>
            <a:r>
              <a:rPr lang="en-US" altLang="zh-CN" dirty="0"/>
              <a:t>。</a:t>
            </a:r>
            <a:r>
              <a:rPr lang="zh-CN" altLang="en-US" dirty="0"/>
              <a:t>不同层级的通信不再是严格序列，而是按照流水线一样预取数据</a:t>
            </a:r>
            <a:r>
              <a:rPr lang="en-US" altLang="zh-CN" dirty="0"/>
              <a:t>。</a:t>
            </a:r>
            <a:endParaRPr lang="en-US" altLang="zh-CN" dirty="0"/>
          </a:p>
          <a:p>
            <a:r>
              <a:rPr lang="zh-CN" altLang="en-US" dirty="0"/>
              <a:t>其次</a:t>
            </a:r>
            <a:r>
              <a:rPr lang="en-US" altLang="zh-CN" dirty="0"/>
              <a:t>，</a:t>
            </a:r>
            <a:r>
              <a:rPr lang="zh-CN" altLang="en-US" dirty="0"/>
              <a:t>针对低效网络层级或链路</a:t>
            </a:r>
            <a:r>
              <a:rPr lang="en-US" altLang="zh-CN" dirty="0"/>
              <a:t>，</a:t>
            </a:r>
            <a:r>
              <a:rPr lang="zh-CN" altLang="en-US" dirty="0"/>
              <a:t>应用压缩方法进一步压缩通信开销</a:t>
            </a:r>
            <a:r>
              <a:rPr lang="en-US" altLang="zh-CN" dirty="0"/>
              <a:t>。</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a:t>
            </a:r>
            <a:r>
              <a:rPr lang="zh-CN" altLang="en-US" dirty="0"/>
              <a:t>来说</a:t>
            </a:r>
            <a:endParaRPr lang="zh-CN" altLang="en-US" dirty="0"/>
          </a:p>
          <a:p>
            <a:r>
              <a:rPr lang="zh-CN" altLang="en-US" dirty="0"/>
              <a:t>在进行跨域全节点同步操作的时候</a:t>
            </a:r>
            <a:r>
              <a:rPr lang="en-US" altLang="zh-CN" dirty="0"/>
              <a:t>，</a:t>
            </a:r>
            <a:r>
              <a:rPr lang="zh-CN" altLang="en-US" dirty="0"/>
              <a:t>同步是分层级进行的</a:t>
            </a:r>
            <a:r>
              <a:rPr lang="en-US" altLang="zh-CN" dirty="0"/>
              <a:t>，</a:t>
            </a:r>
            <a:r>
              <a:rPr lang="zh-CN" altLang="en-US" dirty="0"/>
              <a:t>先进行机内同步</a:t>
            </a:r>
            <a:r>
              <a:rPr lang="en-US" altLang="zh-CN" dirty="0"/>
              <a:t>，</a:t>
            </a:r>
            <a:r>
              <a:rPr lang="zh-CN" altLang="en-US" dirty="0"/>
              <a:t>再进行集群内同步</a:t>
            </a:r>
            <a:r>
              <a:rPr lang="en-US" altLang="zh-CN" dirty="0"/>
              <a:t>，</a:t>
            </a:r>
            <a:r>
              <a:rPr lang="zh-CN" altLang="en-US" dirty="0"/>
              <a:t>最后进行域内同步</a:t>
            </a:r>
            <a:r>
              <a:rPr lang="en-US" altLang="zh-CN" dirty="0"/>
              <a:t>，</a:t>
            </a:r>
            <a:r>
              <a:rPr lang="zh-CN" altLang="en-US" dirty="0"/>
              <a:t>而后再在集群内广播域内同步的结果</a:t>
            </a:r>
            <a:r>
              <a:rPr lang="en-US" altLang="zh-CN" dirty="0"/>
              <a:t>，</a:t>
            </a:r>
            <a:r>
              <a:rPr lang="zh-CN" altLang="en-US" dirty="0"/>
              <a:t>而后在机内广播集群内广播后的结果</a:t>
            </a:r>
            <a:r>
              <a:rPr lang="en-US" altLang="zh-CN" dirty="0"/>
              <a:t>。</a:t>
            </a:r>
            <a:r>
              <a:rPr lang="zh-CN" altLang="en-US" dirty="0"/>
              <a:t>这种实现方式会明显的导致机内和集群内的带宽利用率较低</a:t>
            </a:r>
            <a:r>
              <a:rPr lang="en-US" altLang="zh-CN" dirty="0"/>
              <a:t>，</a:t>
            </a:r>
            <a:r>
              <a:rPr lang="zh-CN" altLang="en-US" dirty="0"/>
              <a:t>延长了整体的通信时间</a:t>
            </a:r>
            <a:r>
              <a:rPr lang="en-US" altLang="zh-CN" dirty="0"/>
              <a:t>。</a:t>
            </a:r>
            <a:endParaRPr lang="en-US" altLang="zh-CN" dirty="0"/>
          </a:p>
          <a:p>
            <a:endParaRPr lang="en-US" altLang="zh-CN" dirty="0"/>
          </a:p>
          <a:p>
            <a:r>
              <a:rPr lang="zh-CN" altLang="en-US" dirty="0"/>
              <a:t>针对这种现象</a:t>
            </a:r>
            <a:r>
              <a:rPr lang="en-US" altLang="zh-CN" dirty="0"/>
              <a:t>，</a:t>
            </a:r>
            <a:r>
              <a:rPr lang="zh-CN" altLang="en-US" dirty="0"/>
              <a:t>设计了基于网络状态感知的跨域集合通信方法</a:t>
            </a:r>
            <a:r>
              <a:rPr lang="en-US" altLang="zh-CN" dirty="0"/>
              <a:t>，</a:t>
            </a:r>
            <a:r>
              <a:rPr lang="zh-CN" altLang="en-US" dirty="0"/>
              <a:t>分别采用了以下的优化策略</a:t>
            </a:r>
            <a:r>
              <a:rPr lang="en-US" altLang="zh-CN" dirty="0"/>
              <a:t>：</a:t>
            </a:r>
            <a:endParaRPr lang="en-US" altLang="zh-CN" dirty="0"/>
          </a:p>
          <a:p>
            <a:r>
              <a:rPr lang="zh-CN" altLang="en-US" dirty="0"/>
              <a:t>首先</a:t>
            </a:r>
            <a:r>
              <a:rPr lang="en-US" altLang="zh-CN" dirty="0"/>
              <a:t>，</a:t>
            </a:r>
            <a:r>
              <a:rPr lang="zh-CN" altLang="en-US" dirty="0"/>
              <a:t>使用流水化并行通信</a:t>
            </a:r>
            <a:r>
              <a:rPr lang="en-US" altLang="zh-CN" dirty="0"/>
              <a:t>，</a:t>
            </a:r>
            <a:r>
              <a:rPr lang="zh-CN" altLang="en-US" dirty="0"/>
              <a:t>其核心是将待规约张量进行细粒度的划分</a:t>
            </a:r>
            <a:r>
              <a:rPr lang="en-US" altLang="zh-CN" dirty="0"/>
              <a:t>，</a:t>
            </a:r>
            <a:r>
              <a:rPr lang="zh-CN" altLang="en-US" dirty="0"/>
              <a:t>从而能够重叠不同层级的通信操作</a:t>
            </a:r>
            <a:r>
              <a:rPr lang="en-US" altLang="zh-CN" dirty="0"/>
              <a:t>，</a:t>
            </a:r>
            <a:r>
              <a:rPr lang="zh-CN" altLang="en-US" dirty="0"/>
              <a:t>减少整体的等待时间</a:t>
            </a:r>
            <a:r>
              <a:rPr lang="en-US" altLang="zh-CN" dirty="0"/>
              <a:t>。</a:t>
            </a:r>
            <a:r>
              <a:rPr lang="zh-CN" altLang="en-US" dirty="0"/>
              <a:t>不同层级的通信不再是严格序列，而是按照流水线一样预取数据</a:t>
            </a:r>
            <a:r>
              <a:rPr lang="en-US" altLang="zh-CN" dirty="0"/>
              <a:t>。</a:t>
            </a:r>
            <a:endParaRPr lang="en-US" altLang="zh-CN" dirty="0"/>
          </a:p>
          <a:p>
            <a:r>
              <a:rPr lang="zh-CN" altLang="en-US" dirty="0"/>
              <a:t>其次</a:t>
            </a:r>
            <a:r>
              <a:rPr lang="en-US" altLang="zh-CN" dirty="0"/>
              <a:t>，</a:t>
            </a:r>
            <a:r>
              <a:rPr lang="zh-CN" altLang="en-US" dirty="0"/>
              <a:t>针对低效网络层级或链路</a:t>
            </a:r>
            <a:r>
              <a:rPr lang="en-US" altLang="zh-CN" dirty="0"/>
              <a:t>，</a:t>
            </a:r>
            <a:r>
              <a:rPr lang="zh-CN" altLang="en-US" dirty="0"/>
              <a:t>应用压缩方法进一步压缩通信开销</a:t>
            </a:r>
            <a:r>
              <a:rPr lang="en-US" altLang="zh-CN" dirty="0"/>
              <a:t>。</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基于参数预测的多节点跨域</a:t>
            </a:r>
            <a:r>
              <a:rPr lang="zh-CN" altLang="en-US" dirty="0"/>
              <a:t>参数同步方法是一种创新的分布式训练同步策略</a:t>
            </a:r>
            <a:r>
              <a:rPr lang="en-US" altLang="zh-CN" dirty="0"/>
              <a:t>，</a:t>
            </a:r>
            <a:r>
              <a:rPr lang="zh-CN" altLang="en-US" dirty="0"/>
              <a:t>通过梯度预测和层级参数切分解决现有的同步策略的通信效率问题</a:t>
            </a:r>
            <a:r>
              <a:rPr lang="en-US" altLang="zh-CN" dirty="0"/>
              <a:t>，</a:t>
            </a:r>
            <a:r>
              <a:rPr lang="zh-CN" altLang="en-US" dirty="0"/>
              <a:t>同时保持模型的收敛性</a:t>
            </a:r>
            <a:r>
              <a:rPr lang="en-US" altLang="zh-CN" dirty="0"/>
              <a:t>。</a:t>
            </a:r>
            <a:r>
              <a:rPr lang="zh-CN" altLang="en-US" dirty="0"/>
              <a:t>主要分为</a:t>
            </a:r>
            <a:r>
              <a:rPr lang="en-US" altLang="zh-CN" dirty="0"/>
              <a:t>：</a:t>
            </a:r>
            <a:endParaRPr lang="en-US" altLang="zh-CN" dirty="0"/>
          </a:p>
          <a:p>
            <a:r>
              <a:rPr lang="zh-CN" altLang="en-US" dirty="0"/>
              <a:t>本地多步更新</a:t>
            </a:r>
            <a:r>
              <a:rPr lang="en-US" altLang="zh-CN" dirty="0"/>
              <a:t>、</a:t>
            </a:r>
            <a:r>
              <a:rPr lang="zh-CN" altLang="en-US" dirty="0"/>
              <a:t>模型参数分区和梯度数据预测三个部分</a:t>
            </a:r>
            <a:r>
              <a:rPr lang="en-US" altLang="zh-CN" dirty="0"/>
              <a:t>。</a:t>
            </a:r>
            <a:endParaRPr lang="en-US" altLang="zh-CN" dirty="0"/>
          </a:p>
          <a:p>
            <a:r>
              <a:rPr lang="zh-CN" altLang="en-US" dirty="0"/>
              <a:t>本地多步更新减少了模型通信频次</a:t>
            </a:r>
            <a:r>
              <a:rPr lang="en-US" altLang="zh-CN" dirty="0"/>
              <a:t>，</a:t>
            </a:r>
            <a:r>
              <a:rPr lang="zh-CN" altLang="en-US" dirty="0"/>
              <a:t>参数分区则是将模型参数按层切分为不同分区</a:t>
            </a:r>
            <a:r>
              <a:rPr lang="en-US" altLang="zh-CN" dirty="0"/>
              <a:t>，</a:t>
            </a:r>
            <a:r>
              <a:rPr lang="zh-CN" altLang="en-US" dirty="0"/>
              <a:t>每个节点只负责自己的分区的计算和梯度的预测</a:t>
            </a:r>
            <a:r>
              <a:rPr lang="en-US" altLang="zh-CN" dirty="0"/>
              <a:t>。</a:t>
            </a:r>
            <a:r>
              <a:rPr lang="zh-CN" altLang="en-US" dirty="0"/>
              <a:t>梯度数据预测则是使分区</a:t>
            </a:r>
            <a:r>
              <a:rPr lang="en-US" altLang="zh-CN" dirty="0"/>
              <a:t>m</a:t>
            </a:r>
            <a:r>
              <a:rPr lang="zh-CN" altLang="en-US" dirty="0"/>
              <a:t>在</a:t>
            </a:r>
            <a:r>
              <a:rPr lang="en-US" altLang="zh-CN" dirty="0"/>
              <a:t>t+m</a:t>
            </a:r>
            <a:r>
              <a:rPr lang="zh-CN" altLang="en-US" dirty="0"/>
              <a:t>步就完成梯度的预测并进行同步</a:t>
            </a:r>
            <a:r>
              <a:rPr lang="en-US" altLang="zh-CN" dirty="0"/>
              <a:t>，</a:t>
            </a:r>
            <a:r>
              <a:rPr lang="zh-CN" altLang="en-US" dirty="0"/>
              <a:t>无需等待所有分区都完成计算</a:t>
            </a:r>
            <a:r>
              <a:rPr lang="en-US" altLang="zh-CN" dirty="0"/>
              <a:t>。</a:t>
            </a:r>
            <a:r>
              <a:rPr lang="zh-CN" altLang="en-US" dirty="0"/>
              <a:t>从而避免了</a:t>
            </a:r>
            <a:r>
              <a:rPr lang="en-US" altLang="zh-CN" dirty="0"/>
              <a:t>Local SGD</a:t>
            </a:r>
            <a:r>
              <a:rPr lang="zh-CN" altLang="en-US" dirty="0"/>
              <a:t>中的参数全局同步导致的阻塞问题</a:t>
            </a:r>
            <a:r>
              <a:rPr lang="en-US" altLang="zh-CN" dirty="0"/>
              <a:t>。</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基于参数预测的多节点跨域</a:t>
            </a:r>
            <a:r>
              <a:rPr lang="zh-CN" altLang="en-US" dirty="0"/>
              <a:t>参数同步方法是一种创新的分布式训练同步策略</a:t>
            </a:r>
            <a:r>
              <a:rPr lang="en-US" altLang="zh-CN" dirty="0"/>
              <a:t>，</a:t>
            </a:r>
            <a:r>
              <a:rPr lang="zh-CN" altLang="en-US" dirty="0"/>
              <a:t>通过梯度预测和层级参数切分解决现有的同步策略的通信效率问题</a:t>
            </a:r>
            <a:r>
              <a:rPr lang="en-US" altLang="zh-CN" dirty="0"/>
              <a:t>，</a:t>
            </a:r>
            <a:r>
              <a:rPr lang="zh-CN" altLang="en-US" dirty="0"/>
              <a:t>同时保持模型的收敛性</a:t>
            </a:r>
            <a:r>
              <a:rPr lang="en-US" altLang="zh-CN" dirty="0"/>
              <a:t>。</a:t>
            </a:r>
            <a:r>
              <a:rPr lang="zh-CN" altLang="en-US" dirty="0"/>
              <a:t>主要分为</a:t>
            </a:r>
            <a:r>
              <a:rPr lang="en-US" altLang="zh-CN" dirty="0"/>
              <a:t>：</a:t>
            </a:r>
            <a:endParaRPr lang="en-US" altLang="zh-CN" dirty="0"/>
          </a:p>
          <a:p>
            <a:r>
              <a:rPr lang="zh-CN" altLang="en-US" dirty="0"/>
              <a:t>本地多步更新</a:t>
            </a:r>
            <a:r>
              <a:rPr lang="en-US" altLang="zh-CN" dirty="0"/>
              <a:t>、</a:t>
            </a:r>
            <a:r>
              <a:rPr lang="zh-CN" altLang="en-US" dirty="0"/>
              <a:t>模型参数分区和梯度数据预测三个部分</a:t>
            </a:r>
            <a:r>
              <a:rPr lang="en-US" altLang="zh-CN" dirty="0"/>
              <a:t>。</a:t>
            </a:r>
            <a:endParaRPr lang="en-US" altLang="zh-CN" dirty="0"/>
          </a:p>
          <a:p>
            <a:r>
              <a:rPr lang="zh-CN" altLang="en-US" dirty="0"/>
              <a:t>本地多步更新减少了模型通信频次</a:t>
            </a:r>
            <a:r>
              <a:rPr lang="en-US" altLang="zh-CN" dirty="0"/>
              <a:t>，</a:t>
            </a:r>
            <a:r>
              <a:rPr lang="zh-CN" altLang="en-US" dirty="0"/>
              <a:t>参数分区则是将模型参数按层切分为不同分区</a:t>
            </a:r>
            <a:r>
              <a:rPr lang="en-US" altLang="zh-CN" dirty="0"/>
              <a:t>，</a:t>
            </a:r>
            <a:r>
              <a:rPr lang="zh-CN" altLang="en-US" dirty="0"/>
              <a:t>每个节点只负责自己的分区的计算和梯度的预测</a:t>
            </a:r>
            <a:r>
              <a:rPr lang="en-US" altLang="zh-CN" dirty="0"/>
              <a:t>。</a:t>
            </a:r>
            <a:r>
              <a:rPr lang="zh-CN" altLang="en-US" dirty="0"/>
              <a:t>梯度数据预测则是使分区</a:t>
            </a:r>
            <a:r>
              <a:rPr lang="en-US" altLang="zh-CN" dirty="0"/>
              <a:t>m</a:t>
            </a:r>
            <a:r>
              <a:rPr lang="zh-CN" altLang="en-US" dirty="0"/>
              <a:t>在</a:t>
            </a:r>
            <a:r>
              <a:rPr lang="en-US" altLang="zh-CN" dirty="0"/>
              <a:t>t+m</a:t>
            </a:r>
            <a:r>
              <a:rPr lang="zh-CN" altLang="en-US" dirty="0"/>
              <a:t>步就完成梯度的预测并进行同步</a:t>
            </a:r>
            <a:r>
              <a:rPr lang="en-US" altLang="zh-CN" dirty="0"/>
              <a:t>，</a:t>
            </a:r>
            <a:r>
              <a:rPr lang="zh-CN" altLang="en-US" dirty="0"/>
              <a:t>无需等待所有分区都完成计算</a:t>
            </a:r>
            <a:r>
              <a:rPr lang="en-US" altLang="zh-CN" dirty="0"/>
              <a:t>。</a:t>
            </a:r>
            <a:r>
              <a:rPr lang="zh-CN" altLang="en-US" dirty="0"/>
              <a:t>从而避免了</a:t>
            </a:r>
            <a:r>
              <a:rPr lang="en-US" altLang="zh-CN" dirty="0"/>
              <a:t>Local SGD</a:t>
            </a:r>
            <a:r>
              <a:rPr lang="zh-CN" altLang="en-US" dirty="0"/>
              <a:t>中的参数全局同步导致的阻塞问题</a:t>
            </a:r>
            <a:r>
              <a:rPr lang="en-US" altLang="zh-CN" dirty="0"/>
              <a:t>。</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cs typeface="Arial" panose="020B0604020202020204" pitchFamily="34" charset="0"/>
              </a:rPr>
              <a:t>本课题的技术预期成果为</a:t>
            </a:r>
            <a:endParaRPr lang="en-US" altLang="zh-CN" dirty="0">
              <a:cs typeface="Arial" panose="020B0604020202020204" pitchFamily="34" charset="0"/>
            </a:endParaRPr>
          </a:p>
          <a:p>
            <a:r>
              <a:rPr lang="zh-CN" altLang="en-US" dirty="0">
                <a:cs typeface="Arial" panose="020B0604020202020204" pitchFamily="34" charset="0"/>
              </a:rPr>
              <a:t>建立研究内容所对应的三种关键技术</a:t>
            </a:r>
            <a:endParaRPr lang="en-US" altLang="zh-CN" dirty="0">
              <a:cs typeface="Arial" panose="020B0604020202020204" pitchFamily="34" charset="0"/>
            </a:endParaRPr>
          </a:p>
          <a:p>
            <a:endParaRPr lang="en-US" altLang="zh-CN" dirty="0">
              <a:cs typeface="Arial" panose="020B0604020202020204" pitchFamily="34" charset="0"/>
            </a:endParaRPr>
          </a:p>
          <a:p>
            <a:r>
              <a:rPr lang="zh-CN" altLang="en-US" dirty="0">
                <a:cs typeface="Arial" panose="020B0604020202020204" pitchFamily="34" charset="0"/>
              </a:rPr>
              <a:t>学术预期成果为</a:t>
            </a:r>
            <a:endParaRPr lang="en-US" altLang="zh-CN" dirty="0">
              <a:cs typeface="Arial" panose="020B0604020202020204" pitchFamily="34" charset="0"/>
            </a:endParaRPr>
          </a:p>
          <a:p>
            <a:r>
              <a:rPr lang="zh-CN" altLang="en-US" dirty="0">
                <a:cs typeface="Arial" panose="020B0604020202020204" pitchFamily="34" charset="0"/>
              </a:rPr>
              <a:t>在国际重要学术会议和期刊上发表</a:t>
            </a:r>
            <a:r>
              <a:rPr lang="en-US" altLang="zh-CN" dirty="0">
                <a:cs typeface="Arial" panose="020B0604020202020204" pitchFamily="34" charset="0"/>
              </a:rPr>
              <a:t>1</a:t>
            </a:r>
            <a:r>
              <a:rPr lang="zh-CN" altLang="en-US" dirty="0">
                <a:cs typeface="Arial" panose="020B0604020202020204" pitchFamily="34" charset="0"/>
              </a:rPr>
              <a:t>篇以上高质量论文</a:t>
            </a:r>
            <a:endParaRPr lang="en-US" altLang="zh-CN" dirty="0">
              <a:cs typeface="Arial" panose="020B0604020202020204" pitchFamily="34" charset="0"/>
            </a:endParaRPr>
          </a:p>
          <a:p>
            <a:r>
              <a:rPr lang="zh-CN" altLang="en-US" dirty="0">
                <a:cs typeface="Arial" panose="020B0604020202020204" pitchFamily="34" charset="0"/>
              </a:rPr>
              <a:t>申请</a:t>
            </a:r>
            <a:r>
              <a:rPr lang="en-US" altLang="zh-CN" dirty="0">
                <a:cs typeface="Arial" panose="020B0604020202020204" pitchFamily="34" charset="0"/>
              </a:rPr>
              <a:t>1</a:t>
            </a:r>
            <a:r>
              <a:rPr lang="zh-CN" altLang="en-US" dirty="0">
                <a:cs typeface="Arial" panose="020B0604020202020204" pitchFamily="34" charset="0"/>
              </a:rPr>
              <a:t>项发明专利</a:t>
            </a:r>
            <a:endParaRPr lang="en-US" altLang="zh-CN" dirty="0">
              <a:cs typeface="Arial" panose="020B0604020202020204" pitchFamily="34" charset="0"/>
            </a:endParaRPr>
          </a:p>
          <a:p>
            <a:r>
              <a:rPr lang="zh-CN" altLang="en-US" dirty="0">
                <a:cs typeface="Arial" panose="020B0604020202020204" pitchFamily="34" charset="0"/>
              </a:rPr>
              <a:t>将研究内容应用到</a:t>
            </a:r>
            <a:r>
              <a:rPr lang="zh-CN" altLang="en-US" dirty="0">
                <a:cs typeface="Arial" panose="020B0604020202020204" pitchFamily="34" charset="0"/>
              </a:rPr>
              <a:t>研究项目中</a:t>
            </a:r>
            <a:endParaRPr lang="en-US" altLang="zh-CN" dirty="0">
              <a:cs typeface="Arial" panose="020B0604020202020204" pitchFamily="34"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cs typeface="Arial" panose="020B0604020202020204" pitchFamily="34" charset="0"/>
              </a:rPr>
              <a:t>本课题的技术预期成果为</a:t>
            </a:r>
            <a:endParaRPr lang="en-US" altLang="zh-CN" dirty="0">
              <a:cs typeface="Arial" panose="020B0604020202020204" pitchFamily="34" charset="0"/>
            </a:endParaRPr>
          </a:p>
          <a:p>
            <a:r>
              <a:rPr lang="zh-CN" altLang="en-US" dirty="0">
                <a:cs typeface="Arial" panose="020B0604020202020204" pitchFamily="34" charset="0"/>
              </a:rPr>
              <a:t>建立研究内容所对应的三种关键技术</a:t>
            </a:r>
            <a:endParaRPr lang="en-US" altLang="zh-CN" dirty="0">
              <a:cs typeface="Arial" panose="020B0604020202020204" pitchFamily="34" charset="0"/>
            </a:endParaRPr>
          </a:p>
          <a:p>
            <a:endParaRPr lang="en-US" altLang="zh-CN" dirty="0">
              <a:cs typeface="Arial" panose="020B0604020202020204" pitchFamily="34" charset="0"/>
            </a:endParaRPr>
          </a:p>
          <a:p>
            <a:r>
              <a:rPr lang="zh-CN" altLang="en-US" dirty="0">
                <a:cs typeface="Arial" panose="020B0604020202020204" pitchFamily="34" charset="0"/>
              </a:rPr>
              <a:t>学术预期成果为</a:t>
            </a:r>
            <a:endParaRPr lang="en-US" altLang="zh-CN" dirty="0">
              <a:cs typeface="Arial" panose="020B0604020202020204" pitchFamily="34" charset="0"/>
            </a:endParaRPr>
          </a:p>
          <a:p>
            <a:r>
              <a:rPr lang="zh-CN" altLang="en-US" dirty="0">
                <a:cs typeface="Arial" panose="020B0604020202020204" pitchFamily="34" charset="0"/>
              </a:rPr>
              <a:t>在国际重要学术会议和期刊上发表</a:t>
            </a:r>
            <a:r>
              <a:rPr lang="en-US" altLang="zh-CN" dirty="0">
                <a:cs typeface="Arial" panose="020B0604020202020204" pitchFamily="34" charset="0"/>
              </a:rPr>
              <a:t>1</a:t>
            </a:r>
            <a:r>
              <a:rPr lang="zh-CN" altLang="en-US" dirty="0">
                <a:cs typeface="Arial" panose="020B0604020202020204" pitchFamily="34" charset="0"/>
              </a:rPr>
              <a:t>篇以上高质量论文</a:t>
            </a:r>
            <a:endParaRPr lang="en-US" altLang="zh-CN" dirty="0">
              <a:cs typeface="Arial" panose="020B0604020202020204" pitchFamily="34" charset="0"/>
            </a:endParaRPr>
          </a:p>
          <a:p>
            <a:r>
              <a:rPr lang="zh-CN" altLang="en-US" dirty="0">
                <a:cs typeface="Arial" panose="020B0604020202020204" pitchFamily="34" charset="0"/>
              </a:rPr>
              <a:t>申请</a:t>
            </a:r>
            <a:r>
              <a:rPr lang="en-US" altLang="zh-CN" dirty="0">
                <a:cs typeface="Arial" panose="020B0604020202020204" pitchFamily="34" charset="0"/>
              </a:rPr>
              <a:t>1</a:t>
            </a:r>
            <a:r>
              <a:rPr lang="zh-CN" altLang="en-US" dirty="0">
                <a:cs typeface="Arial" panose="020B0604020202020204" pitchFamily="34" charset="0"/>
              </a:rPr>
              <a:t>项发明专利</a:t>
            </a:r>
            <a:endParaRPr lang="en-US" altLang="zh-CN" dirty="0">
              <a:cs typeface="Arial" panose="020B0604020202020204" pitchFamily="34" charset="0"/>
            </a:endParaRPr>
          </a:p>
          <a:p>
            <a:r>
              <a:rPr lang="zh-CN" altLang="en-US" dirty="0">
                <a:cs typeface="Arial" panose="020B0604020202020204" pitchFamily="34" charset="0"/>
              </a:rPr>
              <a:t>将研究内容应用到</a:t>
            </a:r>
            <a:r>
              <a:rPr lang="zh-CN" altLang="en-US" dirty="0">
                <a:cs typeface="Arial" panose="020B0604020202020204" pitchFamily="34" charset="0"/>
              </a:rPr>
              <a:t>研究项目中</a:t>
            </a:r>
            <a:endParaRPr lang="en-US" altLang="zh-CN" dirty="0">
              <a:cs typeface="Arial" panose="020B0604020202020204" pitchFamily="34"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cs typeface="Arial" panose="020B0604020202020204" pitchFamily="34" charset="0"/>
              </a:rPr>
              <a:t>论文研究计划如表所示</a:t>
            </a:r>
            <a:endParaRPr lang="en-US" altLang="zh-CN"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cs typeface="Arial" panose="020B0604020202020204" pitchFamily="34" charset="0"/>
              </a:rPr>
              <a:t>目前已完成针对跨域分布式训练的调研与分析工作</a:t>
            </a:r>
            <a:endParaRPr lang="en-US" altLang="zh-CN"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cs typeface="Arial" panose="020B0604020202020204" pitchFamily="34" charset="0"/>
              </a:rPr>
              <a:t>正在进行基于敏感性分析的模型参数压缩方法、混合精度的</a:t>
            </a:r>
            <a:r>
              <a:rPr lang="zh-CN" altLang="en-US" dirty="0">
                <a:cs typeface="Arial" panose="020B0604020202020204" pitchFamily="34" charset="0"/>
              </a:rPr>
              <a:t>自适应优化器的实现，并开展了前期验证性实现</a:t>
            </a:r>
            <a:endParaRPr lang="en-US" altLang="zh-CN"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cs typeface="Arial" panose="020B0604020202020204" pitchFamily="34" charset="0"/>
              </a:rPr>
              <a:t>并且完成了跨域集合通信方法的基本方案设计，并</a:t>
            </a:r>
            <a:r>
              <a:rPr lang="zh-CN" altLang="en-US" dirty="0">
                <a:cs typeface="Arial" panose="020B0604020202020204" pitchFamily="34" charset="0"/>
              </a:rPr>
              <a:t>计划撰写</a:t>
            </a:r>
            <a:r>
              <a:rPr lang="zh-CN" altLang="en-US" dirty="0">
                <a:cs typeface="Arial" panose="020B0604020202020204" pitchFamily="34" charset="0"/>
              </a:rPr>
              <a:t>论文</a:t>
            </a:r>
            <a:endParaRPr lang="zh-CN" altLang="en-US" dirty="0">
              <a:cs typeface="Arial" panose="020B0604020202020204" pitchFamily="34"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a:t>
            </a:r>
            <a:r>
              <a:rPr lang="zh-CN" altLang="en-US" dirty="0">
                <a:latin typeface="Microsoft YaHei" panose="020B0503020204020204" charset="-122"/>
                <a:ea typeface="Microsoft YaHei" panose="020B0503020204020204" charset="-122"/>
                <a:cs typeface="Microsoft YaHei" panose="020B0503020204020204" charset="-122"/>
                <a:sym typeface="+mn-ea"/>
              </a:rPr>
              <a:t>跨域分布式训练如何实现动态生成跨域集合通信策略</a:t>
            </a:r>
            <a:r>
              <a:rPr lang="zh-CN" altLang="en-US" dirty="0"/>
              <a:t>的问题</a:t>
            </a:r>
            <a:endParaRPr lang="zh-CN" altLang="en-US" dirty="0"/>
          </a:p>
          <a:p>
            <a:r>
              <a:rPr lang="zh-CN" altLang="en-US" dirty="0"/>
              <a:t>提出</a:t>
            </a:r>
            <a:r>
              <a:rPr>
                <a:sym typeface="+mn-ea"/>
              </a:rPr>
              <a:t>基于</a:t>
            </a:r>
            <a:r>
              <a:rPr lang="zh-CN">
                <a:sym typeface="+mn-ea"/>
              </a:rPr>
              <a:t>基于并行策略计划和网络状态感知的跨域集合通信方法</a:t>
            </a:r>
            <a:endParaRPr lang="zh-CN" altLang="en-US" dirty="0"/>
          </a:p>
          <a:p>
            <a:r>
              <a:rPr lang="zh-CN" altLang="en-US" dirty="0"/>
              <a:t>方法的总体思路是：进行集合通信的动态拓扑设计与动态调度</a:t>
            </a:r>
            <a:r>
              <a:rPr lang="zh-CN" altLang="en-US" dirty="0"/>
              <a:t>设计。</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云边端协同的跨域分布式训练</a:t>
            </a:r>
            <a:endParaRPr lang="en-US" altLang="zh-CN" dirty="0"/>
          </a:p>
          <a:p>
            <a:r>
              <a:rPr lang="zh-CN" altLang="en-US" dirty="0"/>
              <a:t>在云边端计算环境中边端侧算力、云边端互联网络得到了快速的发展，</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云边端跨域计算环境是电力、制造等关键领域数智化转型的重要基础设施，已经成为全球范围的研究热点和竞争焦点</a:t>
            </a:r>
            <a:endParaRPr lang="en-US" altLang="zh-CN" dirty="0"/>
          </a:p>
          <a:p>
            <a:r>
              <a:rPr lang="zh-CN" altLang="en-US" dirty="0"/>
              <a:t>近年来，随着深度学习模型的发展，故障检测、智能巡检等云边端协同场景的智能化水平得到提升，而跨域分布式训练是智能化水平进一步提升的重要手段</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其中，云边端协同的跨域分布式训练具有隐私性好、成本低等</a:t>
            </a:r>
            <a:r>
              <a:rPr lang="zh-CN" altLang="en-US"/>
              <a:t>优势</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但是，云边端分布式训练场景呈现出跨域训练通信瓶颈严重、节点间网络状态不一的新特征，对跨域分布式训练提出了全新的挑战</a:t>
            </a:r>
            <a:endParaRPr lang="en-US" altLang="zh-CN" dirty="0"/>
          </a:p>
          <a:p>
            <a:r>
              <a:rPr lang="zh-CN" altLang="en-US" dirty="0"/>
              <a:t>第一，跨域分布式训练任务运行于不同的云边端设备中，节点间在低速网络中传输大量数据，使得训练中通信耗时较高，严重降低计算设备利用率，因此，跨域分布式训练需要合理的压缩通信，降低</a:t>
            </a:r>
            <a:r>
              <a:rPr lang="zh-CN" altLang="en-US" dirty="0"/>
              <a:t>通信规模</a:t>
            </a:r>
            <a:endParaRPr lang="zh-CN" altLang="en-US" dirty="0"/>
          </a:p>
          <a:p>
            <a:r>
              <a:rPr lang="zh-CN" altLang="en-US" dirty="0"/>
              <a:t>第二，跨域分布式训练中各节点通信能力不一，使得训练中各节点协同能力下降。因此，跨域分布式训练需要合理调度节点间通信，动态构建通信拓扑、调度通信操作执行，提升节点间协同速度。</a:t>
            </a:r>
            <a:endParaRPr lang="zh-CN" altLang="en-US" dirty="0"/>
          </a:p>
          <a:p>
            <a:r>
              <a:rPr lang="zh-CN" altLang="en-US" dirty="0"/>
              <a:t>此外</a:t>
            </a:r>
            <a:r>
              <a:rPr lang="en-US" altLang="zh-CN" dirty="0"/>
              <a:t>，</a:t>
            </a:r>
            <a:r>
              <a:rPr lang="zh-CN" altLang="en-US" dirty="0"/>
              <a:t>节点间的高频次的通信也大幅影响到了通信瓶颈</a:t>
            </a:r>
            <a:r>
              <a:rPr lang="en-US" altLang="zh-CN" dirty="0"/>
              <a:t>。</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1.jpeg"/><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image" Target="../media/image3.png"/><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2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476" y="3770630"/>
            <a:ext cx="9136856" cy="3087370"/>
          </a:xfrm>
          <a:prstGeom prst="rect">
            <a:avLst/>
          </a:prstGeom>
          <a:solidFill>
            <a:srgbClr val="004578"/>
          </a:solidFill>
          <a:ln w="19050" cap="flat" cmpd="sng" algn="ctr">
            <a:solidFill>
              <a:srgbClr val="004578"/>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sz="1015">
              <a:latin typeface="Microsoft YaHei" panose="020B0503020204020204" charset="-122"/>
              <a:ea typeface="Microsoft YaHei" panose="020B0503020204020204" charset="-122"/>
            </a:endParaRPr>
          </a:p>
        </p:txBody>
      </p:sp>
      <p:pic>
        <p:nvPicPr>
          <p:cNvPr id="7" name="图片 6"/>
          <p:cNvPicPr>
            <a:picLocks noChangeAspect="1"/>
          </p:cNvPicPr>
          <p:nvPr userDrawn="1">
            <p:custDataLst>
              <p:tags r:id="rId3"/>
            </p:custDataLst>
          </p:nvPr>
        </p:nvPicPr>
        <p:blipFill>
          <a:blip r:embed="rId4" cstate="email">
            <a:alphaModFix amt="48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21840" y="968375"/>
            <a:ext cx="6006465" cy="5759450"/>
          </a:xfrm>
          <a:prstGeom prst="rect">
            <a:avLst/>
          </a:prstGeom>
        </p:spPr>
      </p:pic>
      <p:sp>
        <p:nvSpPr>
          <p:cNvPr id="2" name="标题 1"/>
          <p:cNvSpPr>
            <a:spLocks noGrp="1"/>
          </p:cNvSpPr>
          <p:nvPr>
            <p:ph type="ctrTitle"/>
            <p:custDataLst>
              <p:tags r:id="rId5"/>
            </p:custDataLst>
          </p:nvPr>
        </p:nvSpPr>
        <p:spPr>
          <a:xfrm>
            <a:off x="893921" y="2686050"/>
            <a:ext cx="7349490" cy="645160"/>
          </a:xfrm>
        </p:spPr>
        <p:txBody>
          <a:bodyPr lIns="90000" tIns="46800" rIns="90000" bIns="46800" anchor="b" anchorCtr="0">
            <a:normAutofit/>
          </a:bodyPr>
          <a:lstStyle>
            <a:lvl1pPr algn="ctr">
              <a:defRPr sz="3600">
                <a:solidFill>
                  <a:srgbClr val="004578"/>
                </a:solidFill>
              </a:defRPr>
            </a:lvl1pPr>
          </a:lstStyle>
          <a:p>
            <a:r>
              <a:rPr lang="zh-CN" altLang="en-US" dirty="0"/>
              <a:t>单击此处编辑母版标题样式</a:t>
            </a:r>
            <a:endParaRPr lang="zh-CN" altLang="en-US" dirty="0"/>
          </a:p>
        </p:txBody>
      </p:sp>
      <p:sp>
        <p:nvSpPr>
          <p:cNvPr id="16" name="日期占位符 15"/>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7"/>
            </p:custDataLst>
          </p:nvPr>
        </p:nvSpPr>
        <p:spPr/>
        <p:txBody>
          <a:body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pic>
        <p:nvPicPr>
          <p:cNvPr id="102" name="图片 101"/>
          <p:cNvPicPr/>
          <p:nvPr userDrawn="1"/>
        </p:nvPicPr>
        <p:blipFill>
          <a:blip r:embed="rId9">
            <a:extLst>
              <a:ext uri="{28A0092B-C50C-407E-A947-70E740481C1C}">
                <a14:useLocalDpi xmlns:a14="http://schemas.microsoft.com/office/drawing/2010/main" val="0"/>
              </a:ext>
            </a:extLst>
          </a:blip>
          <a:stretch>
            <a:fillRect/>
          </a:stretch>
        </p:blipFill>
        <p:spPr>
          <a:xfrm>
            <a:off x="125095" y="151130"/>
            <a:ext cx="2359660" cy="657225"/>
          </a:xfrm>
          <a:prstGeom prst="rect">
            <a:avLst/>
          </a:prstGeom>
          <a:noFill/>
          <a:ln w="9525">
            <a:noFill/>
          </a:ln>
        </p:spPr>
      </p:pic>
      <p:sp>
        <p:nvSpPr>
          <p:cNvPr id="5" name="副标题 4"/>
          <p:cNvSpPr>
            <a:spLocks noGrp="1"/>
          </p:cNvSpPr>
          <p:nvPr>
            <p:ph type="subTitle" idx="1"/>
            <p:custDataLst>
              <p:tags r:id="rId10"/>
            </p:custDataLst>
          </p:nvPr>
        </p:nvSpPr>
        <p:spPr>
          <a:xfrm>
            <a:off x="893921" y="4237990"/>
            <a:ext cx="7349490" cy="539750"/>
          </a:xfrm>
        </p:spPr>
        <p:txBody>
          <a:bodyPr lIns="90000" tIns="46800" rIns="90000" bIns="46800">
            <a:normAutofit/>
          </a:bodyPr>
          <a:lstStyle>
            <a:lvl1pPr marL="0" indent="0" algn="ctr">
              <a:lnSpc>
                <a:spcPct val="110000"/>
              </a:lnSpc>
              <a:buNone/>
              <a:defRPr sz="2400" b="1" spc="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pic>
        <p:nvPicPr>
          <p:cNvPr id="7" name="图片 6" descr="C:\Users\len\Desktop\7-140129231040534.png"/>
          <p:cNvPicPr/>
          <p:nvPr userDrawn="1">
            <p:custDataLst>
              <p:tags r:id="rId5"/>
            </p:custDataLst>
          </p:nvPr>
        </p:nvPicPr>
        <p:blipFill rotWithShape="1">
          <a:blip r:embed="rId6" cstate="screen">
            <a:extLst>
              <a:ext uri="{28A0092B-C50C-407E-A947-70E740481C1C}">
                <a14:useLocalDpi xmlns:a14="http://schemas.microsoft.com/office/drawing/2010/main" val="0"/>
              </a:ext>
            </a:extLst>
          </a:blip>
          <a:srcRect/>
          <a:stretch>
            <a:fillRect/>
          </a:stretch>
        </p:blipFill>
        <p:spPr bwMode="auto">
          <a:xfrm>
            <a:off x="77470" y="176530"/>
            <a:ext cx="671195" cy="673735"/>
          </a:xfrm>
          <a:prstGeom prst="rect">
            <a:avLst/>
          </a:prstGeom>
          <a:noFill/>
          <a:ln>
            <a:noFill/>
          </a:ln>
        </p:spPr>
      </p:pic>
      <p:cxnSp>
        <p:nvCxnSpPr>
          <p:cNvPr id="13" name="直接连接符 12"/>
          <p:cNvCxnSpPr/>
          <p:nvPr userDrawn="1">
            <p:custDataLst>
              <p:tags r:id="rId7"/>
            </p:custDataLst>
          </p:nvPr>
        </p:nvCxnSpPr>
        <p:spPr>
          <a:xfrm>
            <a:off x="2520554" y="925513"/>
            <a:ext cx="20193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sp>
        <p:nvSpPr>
          <p:cNvPr id="11" name="矩形 10"/>
          <p:cNvSpPr/>
          <p:nvPr userDrawn="1">
            <p:custDataLst>
              <p:tags r:id="rId8"/>
            </p:custDataLst>
          </p:nvPr>
        </p:nvSpPr>
        <p:spPr>
          <a:xfrm>
            <a:off x="0" y="874713"/>
            <a:ext cx="25527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prstClr val="white"/>
              </a:solidFill>
            </a:endParaRPr>
          </a:p>
        </p:txBody>
      </p:sp>
      <p:sp>
        <p:nvSpPr>
          <p:cNvPr id="10" name="文本框 9"/>
          <p:cNvSpPr txBox="1"/>
          <p:nvPr userDrawn="1"/>
        </p:nvSpPr>
        <p:spPr>
          <a:xfrm>
            <a:off x="748665" y="217170"/>
            <a:ext cx="7798435" cy="583565"/>
          </a:xfrm>
          <a:prstGeom prst="rect">
            <a:avLst/>
          </a:prstGeom>
          <a:noFill/>
        </p:spPr>
        <p:txBody>
          <a:bodyPr wrap="square" rtlCol="0">
            <a:spAutoFit/>
          </a:bodyPr>
          <a:lstStyle/>
          <a:p>
            <a:r>
              <a:rPr lang="zh-CN" altLang="en-US" sz="3200" b="1" spc="600">
                <a:solidFill>
                  <a:srgbClr val="004578"/>
                </a:solidFill>
                <a:uFillTx/>
              </a:rPr>
              <a:t>汇报提纲</a:t>
            </a:r>
            <a:endParaRPr lang="zh-CN" altLang="en-US" sz="3200" b="1" spc="600">
              <a:solidFill>
                <a:srgbClr val="004578"/>
              </a:solidFill>
              <a:uFillTx/>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p:custDataLst>
              <p:tags r:id="rId5"/>
            </p:custDataLst>
          </p:nvPr>
        </p:nvSpPr>
        <p:spPr>
          <a:xfrm>
            <a:off x="686753" y="262890"/>
            <a:ext cx="7650956" cy="521970"/>
          </a:xfrm>
        </p:spPr>
        <p:txBody>
          <a:bodyPr vert="horz" lIns="90000" tIns="46800" rIns="90000" bIns="46800" rtlCol="0" anchor="ctr" anchorCtr="0">
            <a:normAutofit/>
          </a:bodyPr>
          <a:lstStyle>
            <a:lvl1pPr marL="0" marR="0" lvl="0" indent="0" algn="just" defTabSz="914400" rtl="0" eaLnBrk="1" fontAlgn="auto" latinLnBrk="0" hangingPunct="1">
              <a:lnSpc>
                <a:spcPct val="100000"/>
              </a:lnSpc>
              <a:spcBef>
                <a:spcPct val="0"/>
              </a:spcBef>
              <a:buClrTx/>
              <a:buSzTx/>
              <a:buFontTx/>
              <a:buNone/>
              <a:defRPr kumimoji="0" lang="zh-CN" altLang="en-US" sz="3200" b="1" i="0" u="none" strike="noStrike" kern="1200" cap="none" spc="0" normalizeH="0" baseline="0" noProof="1" dirty="0">
                <a:solidFill>
                  <a:srgbClr val="004578"/>
                </a:solidFill>
                <a:uFillTx/>
                <a:latin typeface="+mn-lt"/>
                <a:ea typeface="+mn-ea"/>
                <a:cs typeface="+mn-cs"/>
                <a:sym typeface="+mn-lt"/>
              </a:defRPr>
            </a:lvl1pPr>
          </a:lstStyle>
          <a:p>
            <a:pPr lvl="0"/>
            <a:r>
              <a:rPr lang="zh-CN" altLang="en-US"/>
              <a:t>单击此处编辑母版标题样式</a:t>
            </a:r>
            <a:endParaRPr lang="zh-CN" altLang="en-US"/>
          </a:p>
        </p:txBody>
      </p:sp>
      <p:sp>
        <p:nvSpPr>
          <p:cNvPr id="11" name="矩形 10"/>
          <p:cNvSpPr/>
          <p:nvPr userDrawn="1">
            <p:custDataLst>
              <p:tags r:id="rId6"/>
            </p:custDataLst>
          </p:nvPr>
        </p:nvSpPr>
        <p:spPr>
          <a:xfrm>
            <a:off x="0" y="874713"/>
            <a:ext cx="25527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prstClr val="white"/>
              </a:solidFill>
            </a:endParaRPr>
          </a:p>
        </p:txBody>
      </p:sp>
      <p:cxnSp>
        <p:nvCxnSpPr>
          <p:cNvPr id="13" name="直接连接符 12"/>
          <p:cNvCxnSpPr/>
          <p:nvPr userDrawn="1">
            <p:custDataLst>
              <p:tags r:id="rId7"/>
            </p:custDataLst>
          </p:nvPr>
        </p:nvCxnSpPr>
        <p:spPr>
          <a:xfrm>
            <a:off x="2520554" y="925513"/>
            <a:ext cx="20193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7" name="图片 6" descr="C:\Users\len\Desktop\7-140129231040534.png"/>
          <p:cNvPicPr/>
          <p:nvPr userDrawn="1">
            <p:custDataLst>
              <p:tags r:id="rId8"/>
            </p:custDataLst>
          </p:nvPr>
        </p:nvPicPr>
        <p:blipFill rotWithShape="1">
          <a:blip r:embed="rId9" cstate="screen">
            <a:extLst>
              <a:ext uri="{28A0092B-C50C-407E-A947-70E740481C1C}">
                <a14:useLocalDpi xmlns:a14="http://schemas.microsoft.com/office/drawing/2010/main" val="0"/>
              </a:ext>
            </a:extLst>
          </a:blip>
          <a:srcRect/>
          <a:stretch>
            <a:fillRect/>
          </a:stretch>
        </p:blipFill>
        <p:spPr bwMode="auto">
          <a:xfrm>
            <a:off x="77470" y="176530"/>
            <a:ext cx="671195" cy="673735"/>
          </a:xfrm>
          <a:prstGeom prst="rect">
            <a:avLst/>
          </a:prstGeom>
          <a:noFill/>
          <a:ln>
            <a:noFill/>
          </a:ln>
        </p:spPr>
      </p:pic>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dirty="0"/>
          </a:p>
        </p:txBody>
      </p:sp>
      <p:pic>
        <p:nvPicPr>
          <p:cNvPr id="7" name="图片 6" descr="C:\Users\len\Desktop\7-140129231040534.png"/>
          <p:cNvPicPr/>
          <p:nvPr userDrawn="1">
            <p:custDataLst>
              <p:tags r:id="rId2"/>
            </p:custDataLst>
          </p:nvPr>
        </p:nvPicPr>
        <p:blipFill rotWithShape="1">
          <a:blip r:embed="rId3" cstate="screen">
            <a:extLst>
              <a:ext uri="{28A0092B-C50C-407E-A947-70E740481C1C}">
                <a14:useLocalDpi xmlns:a14="http://schemas.microsoft.com/office/drawing/2010/main" val="0"/>
              </a:ext>
            </a:extLst>
          </a:blip>
          <a:srcRect/>
          <a:stretch>
            <a:fillRect/>
          </a:stretch>
        </p:blipFill>
        <p:spPr bwMode="auto">
          <a:xfrm>
            <a:off x="77470" y="176530"/>
            <a:ext cx="671195" cy="673735"/>
          </a:xfrm>
          <a:prstGeom prst="rect">
            <a:avLst/>
          </a:prstGeom>
          <a:noFill/>
          <a:ln>
            <a:noFill/>
          </a:ln>
        </p:spPr>
      </p:pic>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tags" Target="../tags/tag27.xml"/><Relationship Id="rId11" Type="http://schemas.openxmlformats.org/officeDocument/2006/relationships/image" Target="../media/image5.png"/><Relationship Id="rId10" Type="http://schemas.openxmlformats.org/officeDocument/2006/relationships/image" Target="../media/image4.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459000" y="6314400"/>
            <a:ext cx="2025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3087000" y="6314400"/>
            <a:ext cx="297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9"/>
            </p:custDataLst>
          </p:nvPr>
        </p:nvSpPr>
        <p:spPr>
          <a:xfrm>
            <a:off x="6658200" y="6314400"/>
            <a:ext cx="2025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pic>
        <p:nvPicPr>
          <p:cNvPr id="9" name="图片 8" descr="upload_post_object_v2_111612184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6002214"/>
            <a:ext cx="751848" cy="855762"/>
          </a:xfrm>
          <a:prstGeom prst="rect">
            <a:avLst/>
          </a:prstGeom>
        </p:spPr>
      </p:pic>
      <p:pic>
        <p:nvPicPr>
          <p:cNvPr id="8" name="图片 7" descr="upload_post_object_v2_273281606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479649" y="0"/>
            <a:ext cx="664369" cy="752475"/>
          </a:xfrm>
          <a:prstGeom prst="rect">
            <a:avLst/>
          </a:prstGeom>
        </p:spPr>
      </p:pic>
    </p:spTree>
    <p:custDataLst>
      <p:tags r:id="rId1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3.xml"/><Relationship Id="rId5" Type="http://schemas.openxmlformats.org/officeDocument/2006/relationships/tags" Target="../tags/tag31.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9" Type="http://schemas.microsoft.com/office/2007/relationships/hdphoto" Target="../media/image17.wdp"/><Relationship Id="rId8" Type="http://schemas.openxmlformats.org/officeDocument/2006/relationships/image" Target="../media/image16.png"/><Relationship Id="rId7" Type="http://schemas.microsoft.com/office/2007/relationships/hdphoto" Target="../media/image15.wdp"/><Relationship Id="rId6" Type="http://schemas.openxmlformats.org/officeDocument/2006/relationships/image" Target="../media/image14.png"/><Relationship Id="rId5" Type="http://schemas.microsoft.com/office/2007/relationships/hdphoto" Target="../media/image13.wdp"/><Relationship Id="rId4" Type="http://schemas.openxmlformats.org/officeDocument/2006/relationships/image" Target="../media/image12.png"/><Relationship Id="rId34" Type="http://schemas.openxmlformats.org/officeDocument/2006/relationships/notesSlide" Target="../notesSlides/notesSlide4.xml"/><Relationship Id="rId33" Type="http://schemas.openxmlformats.org/officeDocument/2006/relationships/slideLayout" Target="../slideLayouts/slideLayout3.xml"/><Relationship Id="rId32" Type="http://schemas.openxmlformats.org/officeDocument/2006/relationships/tags" Target="../tags/tag33.xml"/><Relationship Id="rId31" Type="http://schemas.microsoft.com/office/2007/relationships/hdphoto" Target="../media/image39.wdp"/><Relationship Id="rId30" Type="http://schemas.openxmlformats.org/officeDocument/2006/relationships/image" Target="../media/image38.png"/><Relationship Id="rId3" Type="http://schemas.microsoft.com/office/2007/relationships/hdphoto" Target="../media/image11.wdp"/><Relationship Id="rId29" Type="http://schemas.microsoft.com/office/2007/relationships/hdphoto" Target="../media/image37.wdp"/><Relationship Id="rId28" Type="http://schemas.openxmlformats.org/officeDocument/2006/relationships/image" Target="../media/image36.png"/><Relationship Id="rId27" Type="http://schemas.microsoft.com/office/2007/relationships/hdphoto" Target="../media/image35.wdp"/><Relationship Id="rId26" Type="http://schemas.openxmlformats.org/officeDocument/2006/relationships/image" Target="../media/image34.png"/><Relationship Id="rId25" Type="http://schemas.openxmlformats.org/officeDocument/2006/relationships/image" Target="../media/image33.png"/><Relationship Id="rId24" Type="http://schemas.microsoft.com/office/2007/relationships/hdphoto" Target="../media/image32.wdp"/><Relationship Id="rId23" Type="http://schemas.openxmlformats.org/officeDocument/2006/relationships/image" Target="../media/image31.png"/><Relationship Id="rId22" Type="http://schemas.openxmlformats.org/officeDocument/2006/relationships/image" Target="../media/image30.png"/><Relationship Id="rId21" Type="http://schemas.openxmlformats.org/officeDocument/2006/relationships/image" Target="../media/image29.jpeg"/><Relationship Id="rId20" Type="http://schemas.openxmlformats.org/officeDocument/2006/relationships/image" Target="../media/image28.jpeg"/><Relationship Id="rId2" Type="http://schemas.openxmlformats.org/officeDocument/2006/relationships/image" Target="../media/image10.png"/><Relationship Id="rId19" Type="http://schemas.openxmlformats.org/officeDocument/2006/relationships/image" Target="../media/image27.jpeg"/><Relationship Id="rId18" Type="http://schemas.openxmlformats.org/officeDocument/2006/relationships/image" Target="../media/image26.jpeg"/><Relationship Id="rId17" Type="http://schemas.microsoft.com/office/2007/relationships/hdphoto" Target="../media/image25.wdp"/><Relationship Id="rId16" Type="http://schemas.openxmlformats.org/officeDocument/2006/relationships/image" Target="../media/image24.png"/><Relationship Id="rId15" Type="http://schemas.openxmlformats.org/officeDocument/2006/relationships/image" Target="../media/image23.png"/><Relationship Id="rId14" Type="http://schemas.openxmlformats.org/officeDocument/2006/relationships/image" Target="../media/image22.png"/><Relationship Id="rId13" Type="http://schemas.openxmlformats.org/officeDocument/2006/relationships/image" Target="../media/image21.png"/><Relationship Id="rId12" Type="http://schemas.openxmlformats.org/officeDocument/2006/relationships/image" Target="../media/image20.png"/><Relationship Id="rId11" Type="http://schemas.microsoft.com/office/2007/relationships/hdphoto" Target="../media/image19.wdp"/><Relationship Id="rId10" Type="http://schemas.openxmlformats.org/officeDocument/2006/relationships/image" Target="../media/image18.png"/><Relationship Id="rId1" Type="http://schemas.openxmlformats.org/officeDocument/2006/relationships/tags" Target="../tags/tag32.xml"/></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3.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3" Type="http://schemas.openxmlformats.org/officeDocument/2006/relationships/notesSlide" Target="../notesSlides/notesSlide6.xml"/><Relationship Id="rId12" Type="http://schemas.openxmlformats.org/officeDocument/2006/relationships/slideLayout" Target="../slideLayouts/slideLayout3.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1.xml"/></Relationships>
</file>

<file path=ppt/slides/_rels/slide7.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3" Type="http://schemas.openxmlformats.org/officeDocument/2006/relationships/notesSlide" Target="../notesSlides/notesSlide7.xml"/><Relationship Id="rId12" Type="http://schemas.openxmlformats.org/officeDocument/2006/relationships/slideLayout" Target="../slideLayouts/slideLayout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tags" Target="../tags/tag52.xml"/></Relationships>
</file>

<file path=ppt/slides/_rels/slide8.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3" Type="http://schemas.openxmlformats.org/officeDocument/2006/relationships/notesSlide" Target="../notesSlides/notesSlide8.xml"/><Relationship Id="rId12" Type="http://schemas.openxmlformats.org/officeDocument/2006/relationships/slideLayout" Target="../slideLayouts/slideLayout3.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9.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3" Type="http://schemas.openxmlformats.org/officeDocument/2006/relationships/notesSlide" Target="../notesSlides/notesSlide9.xml"/><Relationship Id="rId22" Type="http://schemas.openxmlformats.org/officeDocument/2006/relationships/slideLayout" Target="../slideLayouts/slideLayout3.xml"/><Relationship Id="rId21" Type="http://schemas.openxmlformats.org/officeDocument/2006/relationships/tags" Target="../tags/tag94.xml"/><Relationship Id="rId20" Type="http://schemas.openxmlformats.org/officeDocument/2006/relationships/tags" Target="../tags/tag93.xml"/><Relationship Id="rId2" Type="http://schemas.openxmlformats.org/officeDocument/2006/relationships/tags" Target="../tags/tag75.xml"/><Relationship Id="rId19" Type="http://schemas.openxmlformats.org/officeDocument/2006/relationships/tags" Target="../tags/tag92.xml"/><Relationship Id="rId18" Type="http://schemas.openxmlformats.org/officeDocument/2006/relationships/tags" Target="../tags/tag91.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tags" Target="../tags/tag74.xml"/></Relationships>
</file>

<file path=ppt/slides/_rels/slide10.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7" Type="http://schemas.openxmlformats.org/officeDocument/2006/relationships/notesSlide" Target="../notesSlides/notesSlide10.xml"/><Relationship Id="rId26" Type="http://schemas.openxmlformats.org/officeDocument/2006/relationships/slideLayout" Target="../slideLayouts/slideLayout3.xml"/><Relationship Id="rId25" Type="http://schemas.openxmlformats.org/officeDocument/2006/relationships/tags" Target="../tags/tag119.xml"/><Relationship Id="rId24" Type="http://schemas.openxmlformats.org/officeDocument/2006/relationships/tags" Target="../tags/tag118.xml"/><Relationship Id="rId23" Type="http://schemas.openxmlformats.org/officeDocument/2006/relationships/tags" Target="../tags/tag117.xml"/><Relationship Id="rId22" Type="http://schemas.openxmlformats.org/officeDocument/2006/relationships/tags" Target="../tags/tag116.xml"/><Relationship Id="rId21" Type="http://schemas.openxmlformats.org/officeDocument/2006/relationships/tags" Target="../tags/tag115.xml"/><Relationship Id="rId20" Type="http://schemas.openxmlformats.org/officeDocument/2006/relationships/tags" Target="../tags/tag114.xml"/><Relationship Id="rId2" Type="http://schemas.openxmlformats.org/officeDocument/2006/relationships/tags" Target="../tags/tag96.xml"/><Relationship Id="rId19" Type="http://schemas.openxmlformats.org/officeDocument/2006/relationships/tags" Target="../tags/tag113.xml"/><Relationship Id="rId18" Type="http://schemas.openxmlformats.org/officeDocument/2006/relationships/tags" Target="../tags/tag112.xml"/><Relationship Id="rId17" Type="http://schemas.openxmlformats.org/officeDocument/2006/relationships/tags" Target="../tags/tag111.xml"/><Relationship Id="rId16" Type="http://schemas.openxmlformats.org/officeDocument/2006/relationships/tags" Target="../tags/tag110.xml"/><Relationship Id="rId15" Type="http://schemas.openxmlformats.org/officeDocument/2006/relationships/tags" Target="../tags/tag109.xml"/><Relationship Id="rId14" Type="http://schemas.openxmlformats.org/officeDocument/2006/relationships/tags" Target="../tags/tag108.xml"/><Relationship Id="rId13" Type="http://schemas.openxmlformats.org/officeDocument/2006/relationships/tags" Target="../tags/tag107.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tags" Target="../tags/tag95.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xml"/><Relationship Id="rId2" Type="http://schemas.openxmlformats.org/officeDocument/2006/relationships/tags" Target="../tags/tag121.xml"/><Relationship Id="rId1" Type="http://schemas.openxmlformats.org/officeDocument/2006/relationships/tags" Target="../tags/tag120.xml"/></Relationships>
</file>

<file path=ppt/slides/_rels/slide12.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tags" Target="../tags/tag126.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image" Target="../media/image41.wmf"/><Relationship Id="rId23" Type="http://schemas.openxmlformats.org/officeDocument/2006/relationships/notesSlide" Target="../notesSlides/notesSlide12.xml"/><Relationship Id="rId22" Type="http://schemas.openxmlformats.org/officeDocument/2006/relationships/vmlDrawing" Target="../drawings/vmlDrawing1.vml"/><Relationship Id="rId21" Type="http://schemas.openxmlformats.org/officeDocument/2006/relationships/slideLayout" Target="../slideLayouts/slideLayout3.xml"/><Relationship Id="rId20" Type="http://schemas.openxmlformats.org/officeDocument/2006/relationships/tags" Target="../tags/tag136.xml"/><Relationship Id="rId2" Type="http://schemas.openxmlformats.org/officeDocument/2006/relationships/oleObject" Target="../embeddings/oleObject1.bin"/><Relationship Id="rId19" Type="http://schemas.openxmlformats.org/officeDocument/2006/relationships/image" Target="../media/image43.png"/><Relationship Id="rId18" Type="http://schemas.openxmlformats.org/officeDocument/2006/relationships/tags" Target="../tags/tag135.xml"/><Relationship Id="rId17" Type="http://schemas.openxmlformats.org/officeDocument/2006/relationships/tags" Target="../tags/tag134.xml"/><Relationship Id="rId16" Type="http://schemas.openxmlformats.org/officeDocument/2006/relationships/tags" Target="../tags/tag133.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image" Target="../media/image42.png"/><Relationship Id="rId10" Type="http://schemas.openxmlformats.org/officeDocument/2006/relationships/tags" Target="../tags/tag128.xml"/><Relationship Id="rId1" Type="http://schemas.openxmlformats.org/officeDocument/2006/relationships/image" Target="../media/image40.png"/></Relationships>
</file>

<file path=ppt/slides/_rels/slide13.xml.rels><?xml version="1.0" encoding="UTF-8" standalone="yes"?>
<Relationships xmlns="http://schemas.openxmlformats.org/package/2006/relationships"><Relationship Id="rId9" Type="http://schemas.openxmlformats.org/officeDocument/2006/relationships/tags" Target="../tags/tag142.xml"/><Relationship Id="rId8" Type="http://schemas.openxmlformats.org/officeDocument/2006/relationships/tags" Target="../tags/tag141.xml"/><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image" Target="../media/image41.wmf"/><Relationship Id="rId23" Type="http://schemas.openxmlformats.org/officeDocument/2006/relationships/notesSlide" Target="../notesSlides/notesSlide13.xml"/><Relationship Id="rId22" Type="http://schemas.openxmlformats.org/officeDocument/2006/relationships/vmlDrawing" Target="../drawings/vmlDrawing2.vml"/><Relationship Id="rId21" Type="http://schemas.openxmlformats.org/officeDocument/2006/relationships/slideLayout" Target="../slideLayouts/slideLayout3.xml"/><Relationship Id="rId20" Type="http://schemas.openxmlformats.org/officeDocument/2006/relationships/tags" Target="../tags/tag151.xml"/><Relationship Id="rId2" Type="http://schemas.openxmlformats.org/officeDocument/2006/relationships/oleObject" Target="../embeddings/oleObject2.bin"/><Relationship Id="rId19" Type="http://schemas.openxmlformats.org/officeDocument/2006/relationships/image" Target="../media/image43.png"/><Relationship Id="rId18" Type="http://schemas.openxmlformats.org/officeDocument/2006/relationships/tags" Target="../tags/tag150.xml"/><Relationship Id="rId17" Type="http://schemas.openxmlformats.org/officeDocument/2006/relationships/tags" Target="../tags/tag149.xml"/><Relationship Id="rId16" Type="http://schemas.openxmlformats.org/officeDocument/2006/relationships/tags" Target="../tags/tag148.xml"/><Relationship Id="rId15" Type="http://schemas.openxmlformats.org/officeDocument/2006/relationships/tags" Target="../tags/tag147.xml"/><Relationship Id="rId14" Type="http://schemas.openxmlformats.org/officeDocument/2006/relationships/tags" Target="../tags/tag146.xml"/><Relationship Id="rId13" Type="http://schemas.openxmlformats.org/officeDocument/2006/relationships/tags" Target="../tags/tag145.xml"/><Relationship Id="rId12" Type="http://schemas.openxmlformats.org/officeDocument/2006/relationships/tags" Target="../tags/tag144.xml"/><Relationship Id="rId11" Type="http://schemas.openxmlformats.org/officeDocument/2006/relationships/image" Target="../media/image42.png"/><Relationship Id="rId10" Type="http://schemas.openxmlformats.org/officeDocument/2006/relationships/tags" Target="../tags/tag143.xml"/><Relationship Id="rId1" Type="http://schemas.openxmlformats.org/officeDocument/2006/relationships/image" Target="../media/image40.png"/></Relationships>
</file>

<file path=ppt/slides/_rels/slide14.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2" Type="http://schemas.openxmlformats.org/officeDocument/2006/relationships/notesSlide" Target="../notesSlides/notesSlide14.xml"/><Relationship Id="rId31" Type="http://schemas.openxmlformats.org/officeDocument/2006/relationships/vmlDrawing" Target="../drawings/vmlDrawing3.vml"/><Relationship Id="rId30" Type="http://schemas.openxmlformats.org/officeDocument/2006/relationships/slideLayout" Target="../slideLayouts/slideLayout3.xml"/><Relationship Id="rId3" Type="http://schemas.openxmlformats.org/officeDocument/2006/relationships/tags" Target="../tags/tag152.xml"/><Relationship Id="rId29" Type="http://schemas.openxmlformats.org/officeDocument/2006/relationships/tags" Target="../tags/tag164.xml"/><Relationship Id="rId28" Type="http://schemas.openxmlformats.org/officeDocument/2006/relationships/image" Target="../media/image58.png"/><Relationship Id="rId27" Type="http://schemas.openxmlformats.org/officeDocument/2006/relationships/tags" Target="../tags/tag163.xml"/><Relationship Id="rId26" Type="http://schemas.openxmlformats.org/officeDocument/2006/relationships/tags" Target="../tags/tag162.xml"/><Relationship Id="rId25" Type="http://schemas.openxmlformats.org/officeDocument/2006/relationships/image" Target="../media/image57.png"/><Relationship Id="rId24" Type="http://schemas.openxmlformats.org/officeDocument/2006/relationships/image" Target="../media/image56.png"/><Relationship Id="rId23" Type="http://schemas.openxmlformats.org/officeDocument/2006/relationships/image" Target="../media/image55.png"/><Relationship Id="rId22" Type="http://schemas.openxmlformats.org/officeDocument/2006/relationships/image" Target="../media/image54.png"/><Relationship Id="rId21" Type="http://schemas.openxmlformats.org/officeDocument/2006/relationships/image" Target="../media/image53.png"/><Relationship Id="rId20" Type="http://schemas.openxmlformats.org/officeDocument/2006/relationships/image" Target="../media/image52.png"/><Relationship Id="rId2" Type="http://schemas.openxmlformats.org/officeDocument/2006/relationships/image" Target="../media/image41.wmf"/><Relationship Id="rId19" Type="http://schemas.openxmlformats.org/officeDocument/2006/relationships/tags" Target="../tags/tag161.xml"/><Relationship Id="rId18" Type="http://schemas.openxmlformats.org/officeDocument/2006/relationships/tags" Target="../tags/tag160.xml"/><Relationship Id="rId17" Type="http://schemas.openxmlformats.org/officeDocument/2006/relationships/image" Target="../media/image51.png"/><Relationship Id="rId16" Type="http://schemas.openxmlformats.org/officeDocument/2006/relationships/tags" Target="../tags/tag159.xml"/><Relationship Id="rId15" Type="http://schemas.openxmlformats.org/officeDocument/2006/relationships/tags" Target="../tags/tag158.xml"/><Relationship Id="rId14" Type="http://schemas.openxmlformats.org/officeDocument/2006/relationships/image" Target="../media/image50.png"/><Relationship Id="rId13" Type="http://schemas.openxmlformats.org/officeDocument/2006/relationships/image" Target="../media/image49.png"/><Relationship Id="rId12" Type="http://schemas.openxmlformats.org/officeDocument/2006/relationships/image" Target="../media/image48.png"/><Relationship Id="rId11" Type="http://schemas.openxmlformats.org/officeDocument/2006/relationships/image" Target="../media/image47.png"/><Relationship Id="rId10" Type="http://schemas.openxmlformats.org/officeDocument/2006/relationships/image" Target="../media/image46.png"/><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image" Target="../media/image41.wmf"/><Relationship Id="rId23" Type="http://schemas.openxmlformats.org/officeDocument/2006/relationships/notesSlide" Target="../notesSlides/notesSlide15.xml"/><Relationship Id="rId22" Type="http://schemas.openxmlformats.org/officeDocument/2006/relationships/vmlDrawing" Target="../drawings/vmlDrawing4.vml"/><Relationship Id="rId21" Type="http://schemas.openxmlformats.org/officeDocument/2006/relationships/slideLayout" Target="../slideLayouts/slideLayout3.xml"/><Relationship Id="rId20" Type="http://schemas.openxmlformats.org/officeDocument/2006/relationships/tags" Target="../tags/tag179.xml"/><Relationship Id="rId2" Type="http://schemas.openxmlformats.org/officeDocument/2006/relationships/oleObject" Target="../embeddings/oleObject4.bin"/><Relationship Id="rId19" Type="http://schemas.openxmlformats.org/officeDocument/2006/relationships/image" Target="../media/image43.png"/><Relationship Id="rId18" Type="http://schemas.openxmlformats.org/officeDocument/2006/relationships/tags" Target="../tags/tag178.xml"/><Relationship Id="rId17" Type="http://schemas.openxmlformats.org/officeDocument/2006/relationships/tags" Target="../tags/tag177.xml"/><Relationship Id="rId16" Type="http://schemas.openxmlformats.org/officeDocument/2006/relationships/tags" Target="../tags/tag176.xml"/><Relationship Id="rId15" Type="http://schemas.openxmlformats.org/officeDocument/2006/relationships/tags" Target="../tags/tag175.xml"/><Relationship Id="rId14" Type="http://schemas.openxmlformats.org/officeDocument/2006/relationships/tags" Target="../tags/tag174.xml"/><Relationship Id="rId13" Type="http://schemas.openxmlformats.org/officeDocument/2006/relationships/tags" Target="../tags/tag173.xml"/><Relationship Id="rId12" Type="http://schemas.openxmlformats.org/officeDocument/2006/relationships/tags" Target="../tags/tag172.xml"/><Relationship Id="rId11" Type="http://schemas.openxmlformats.org/officeDocument/2006/relationships/image" Target="../media/image42.png"/><Relationship Id="rId10" Type="http://schemas.openxmlformats.org/officeDocument/2006/relationships/tags" Target="../tags/tag171.xml"/><Relationship Id="rId1" Type="http://schemas.openxmlformats.org/officeDocument/2006/relationships/image" Target="../media/image40.png"/></Relationships>
</file>

<file path=ppt/slides/_rels/slide16.xml.rels><?xml version="1.0" encoding="UTF-8" standalone="yes"?>
<Relationships xmlns="http://schemas.openxmlformats.org/package/2006/relationships"><Relationship Id="rId9" Type="http://schemas.openxmlformats.org/officeDocument/2006/relationships/tags" Target="../tags/tag188.xml"/><Relationship Id="rId8" Type="http://schemas.openxmlformats.org/officeDocument/2006/relationships/tags" Target="../tags/tag187.xml"/><Relationship Id="rId7" Type="http://schemas.openxmlformats.org/officeDocument/2006/relationships/tags" Target="../tags/tag186.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6" Type="http://schemas.openxmlformats.org/officeDocument/2006/relationships/notesSlide" Target="../notesSlides/notesSlide16.xml"/><Relationship Id="rId15" Type="http://schemas.openxmlformats.org/officeDocument/2006/relationships/slideLayout" Target="../slideLayouts/slideLayout3.xml"/><Relationship Id="rId14" Type="http://schemas.openxmlformats.org/officeDocument/2006/relationships/tags" Target="../tags/tag192.xml"/><Relationship Id="rId13" Type="http://schemas.openxmlformats.org/officeDocument/2006/relationships/image" Target="../media/image59.png"/><Relationship Id="rId12" Type="http://schemas.openxmlformats.org/officeDocument/2006/relationships/tags" Target="../tags/tag191.xml"/><Relationship Id="rId11" Type="http://schemas.openxmlformats.org/officeDocument/2006/relationships/tags" Target="../tags/tag190.xml"/><Relationship Id="rId10" Type="http://schemas.openxmlformats.org/officeDocument/2006/relationships/tags" Target="../tags/tag189.xml"/><Relationship Id="rId1" Type="http://schemas.openxmlformats.org/officeDocument/2006/relationships/tags" Target="../tags/tag180.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3.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image" Target="../media/image60.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3.xml"/><Relationship Id="rId7" Type="http://schemas.openxmlformats.org/officeDocument/2006/relationships/tags" Target="../tags/tag200.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image" Target="../media/image61.pn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3.xml"/><Relationship Id="rId7" Type="http://schemas.openxmlformats.org/officeDocument/2006/relationships/tags" Target="../tags/tag20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image" Target="../media/image6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3.xml"/><Relationship Id="rId2" Type="http://schemas.openxmlformats.org/officeDocument/2006/relationships/tags" Target="../tags/tag206.xml"/><Relationship Id="rId1" Type="http://schemas.openxmlformats.org/officeDocument/2006/relationships/tags" Target="../tags/tag20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7.xml"/></Relationships>
</file>

<file path=ppt/slides/_rels/slide24.xml.rels><?xml version="1.0" encoding="UTF-8" standalone="yes"?>
<Relationships xmlns="http://schemas.openxmlformats.org/package/2006/relationships"><Relationship Id="rId9" Type="http://schemas.openxmlformats.org/officeDocument/2006/relationships/tags" Target="../tags/tag216.xml"/><Relationship Id="rId8" Type="http://schemas.openxmlformats.org/officeDocument/2006/relationships/tags" Target="../tags/tag215.xml"/><Relationship Id="rId7" Type="http://schemas.openxmlformats.org/officeDocument/2006/relationships/tags" Target="../tags/tag214.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2" Type="http://schemas.openxmlformats.org/officeDocument/2006/relationships/slideLayout" Target="../slideLayouts/slideLayout3.xml"/><Relationship Id="rId11" Type="http://schemas.openxmlformats.org/officeDocument/2006/relationships/tags" Target="../tags/tag218.xml"/><Relationship Id="rId10" Type="http://schemas.openxmlformats.org/officeDocument/2006/relationships/tags" Target="../tags/tag217.xml"/><Relationship Id="rId1" Type="http://schemas.openxmlformats.org/officeDocument/2006/relationships/tags" Target="../tags/tag208.xml"/></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23.xml"/><Relationship Id="rId8" Type="http://schemas.openxmlformats.org/officeDocument/2006/relationships/slideLayout" Target="../slideLayouts/slideLayout3.xml"/><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3.xml"/><Relationship Id="rId3" Type="http://schemas.openxmlformats.org/officeDocument/2006/relationships/tags" Target="../tags/tag227.xml"/><Relationship Id="rId2" Type="http://schemas.openxmlformats.org/officeDocument/2006/relationships/image" Target="../media/image68.png"/><Relationship Id="rId1" Type="http://schemas.openxmlformats.org/officeDocument/2006/relationships/tags" Target="../tags/tag226.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3.xml"/><Relationship Id="rId5" Type="http://schemas.openxmlformats.org/officeDocument/2006/relationships/tags" Target="../tags/tag228.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26.xml"/><Relationship Id="rId8" Type="http://schemas.openxmlformats.org/officeDocument/2006/relationships/slideLayout" Target="../slideLayouts/slideLayout3.xml"/><Relationship Id="rId7" Type="http://schemas.openxmlformats.org/officeDocument/2006/relationships/tags" Target="../tags/tag235.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tags" Target="../tags/tag229.xml"/></Relationships>
</file>

<file path=ppt/slides/_rels/slide30.xml.rels><?xml version="1.0" encoding="UTF-8" standalone="yes"?>
<Relationships xmlns="http://schemas.openxmlformats.org/package/2006/relationships"><Relationship Id="rId9" Type="http://schemas.openxmlformats.org/officeDocument/2006/relationships/tags" Target="../tags/tag244.xml"/><Relationship Id="rId8" Type="http://schemas.openxmlformats.org/officeDocument/2006/relationships/tags" Target="../tags/tag243.xml"/><Relationship Id="rId7" Type="http://schemas.openxmlformats.org/officeDocument/2006/relationships/tags" Target="../tags/tag242.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1" Type="http://schemas.openxmlformats.org/officeDocument/2006/relationships/slideLayout" Target="../slideLayouts/slideLayout3.xml"/><Relationship Id="rId20" Type="http://schemas.openxmlformats.org/officeDocument/2006/relationships/tags" Target="../tags/tag255.xml"/><Relationship Id="rId2" Type="http://schemas.openxmlformats.org/officeDocument/2006/relationships/tags" Target="../tags/tag237.xml"/><Relationship Id="rId19" Type="http://schemas.openxmlformats.org/officeDocument/2006/relationships/tags" Target="../tags/tag254.xml"/><Relationship Id="rId18" Type="http://schemas.openxmlformats.org/officeDocument/2006/relationships/tags" Target="../tags/tag253.xml"/><Relationship Id="rId17" Type="http://schemas.openxmlformats.org/officeDocument/2006/relationships/tags" Target="../tags/tag252.xml"/><Relationship Id="rId16" Type="http://schemas.openxmlformats.org/officeDocument/2006/relationships/tags" Target="../tags/tag251.xml"/><Relationship Id="rId15" Type="http://schemas.openxmlformats.org/officeDocument/2006/relationships/tags" Target="../tags/tag250.xml"/><Relationship Id="rId14" Type="http://schemas.openxmlformats.org/officeDocument/2006/relationships/tags" Target="../tags/tag249.xml"/><Relationship Id="rId13" Type="http://schemas.openxmlformats.org/officeDocument/2006/relationships/tags" Target="../tags/tag248.xml"/><Relationship Id="rId12" Type="http://schemas.openxmlformats.org/officeDocument/2006/relationships/tags" Target="../tags/tag247.xml"/><Relationship Id="rId11" Type="http://schemas.openxmlformats.org/officeDocument/2006/relationships/tags" Target="../tags/tag246.xml"/><Relationship Id="rId10" Type="http://schemas.openxmlformats.org/officeDocument/2006/relationships/tags" Target="../tags/tag245.xml"/><Relationship Id="rId1" Type="http://schemas.openxmlformats.org/officeDocument/2006/relationships/tags" Target="../tags/tag236.xml"/></Relationships>
</file>

<file path=ppt/slides/_rels/slide31.xml.rels><?xml version="1.0" encoding="UTF-8" standalone="yes"?>
<Relationships xmlns="http://schemas.openxmlformats.org/package/2006/relationships"><Relationship Id="rId9" Type="http://schemas.openxmlformats.org/officeDocument/2006/relationships/tags" Target="../tags/tag264.xml"/><Relationship Id="rId8" Type="http://schemas.openxmlformats.org/officeDocument/2006/relationships/tags" Target="../tags/tag263.xml"/><Relationship Id="rId7" Type="http://schemas.openxmlformats.org/officeDocument/2006/relationships/tags" Target="../tags/tag262.xml"/><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tags" Target="../tags/tag258.xml"/><Relationship Id="rId26" Type="http://schemas.openxmlformats.org/officeDocument/2006/relationships/slideLayout" Target="../slideLayouts/slideLayout3.xml"/><Relationship Id="rId25" Type="http://schemas.openxmlformats.org/officeDocument/2006/relationships/tags" Target="../tags/tag280.xml"/><Relationship Id="rId24" Type="http://schemas.openxmlformats.org/officeDocument/2006/relationships/tags" Target="../tags/tag279.xml"/><Relationship Id="rId23" Type="http://schemas.openxmlformats.org/officeDocument/2006/relationships/tags" Target="../tags/tag278.xml"/><Relationship Id="rId22" Type="http://schemas.openxmlformats.org/officeDocument/2006/relationships/tags" Target="../tags/tag277.xml"/><Relationship Id="rId21" Type="http://schemas.openxmlformats.org/officeDocument/2006/relationships/tags" Target="../tags/tag276.xml"/><Relationship Id="rId20" Type="http://schemas.openxmlformats.org/officeDocument/2006/relationships/tags" Target="../tags/tag275.xml"/><Relationship Id="rId2" Type="http://schemas.openxmlformats.org/officeDocument/2006/relationships/tags" Target="../tags/tag257.xml"/><Relationship Id="rId19" Type="http://schemas.openxmlformats.org/officeDocument/2006/relationships/tags" Target="../tags/tag274.xml"/><Relationship Id="rId18" Type="http://schemas.openxmlformats.org/officeDocument/2006/relationships/tags" Target="../tags/tag273.xml"/><Relationship Id="rId17" Type="http://schemas.openxmlformats.org/officeDocument/2006/relationships/tags" Target="../tags/tag272.xml"/><Relationship Id="rId16" Type="http://schemas.openxmlformats.org/officeDocument/2006/relationships/tags" Target="../tags/tag271.xml"/><Relationship Id="rId15" Type="http://schemas.openxmlformats.org/officeDocument/2006/relationships/tags" Target="../tags/tag270.xml"/><Relationship Id="rId14" Type="http://schemas.openxmlformats.org/officeDocument/2006/relationships/tags" Target="../tags/tag269.xml"/><Relationship Id="rId13" Type="http://schemas.openxmlformats.org/officeDocument/2006/relationships/tags" Target="../tags/tag268.xml"/><Relationship Id="rId12" Type="http://schemas.openxmlformats.org/officeDocument/2006/relationships/tags" Target="../tags/tag267.xml"/><Relationship Id="rId11" Type="http://schemas.openxmlformats.org/officeDocument/2006/relationships/tags" Target="../tags/tag266.xml"/><Relationship Id="rId10" Type="http://schemas.openxmlformats.org/officeDocument/2006/relationships/tags" Target="../tags/tag265.xml"/><Relationship Id="rId1" Type="http://schemas.openxmlformats.org/officeDocument/2006/relationships/tags" Target="../tags/tag256.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3.xml"/><Relationship Id="rId5" Type="http://schemas.openxmlformats.org/officeDocument/2006/relationships/tags" Target="../tags/tag284.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34.xml.rels><?xml version="1.0" encoding="UTF-8" standalone="yes"?>
<Relationships xmlns="http://schemas.openxmlformats.org/package/2006/relationships"><Relationship Id="rId9" Type="http://schemas.openxmlformats.org/officeDocument/2006/relationships/image" Target="../media/image38.png"/><Relationship Id="rId8" Type="http://schemas.microsoft.com/office/2007/relationships/hdphoto" Target="../media/image37.wdp"/><Relationship Id="rId7" Type="http://schemas.openxmlformats.org/officeDocument/2006/relationships/image" Target="../media/image36.png"/><Relationship Id="rId6" Type="http://schemas.microsoft.com/office/2007/relationships/hdphoto" Target="../media/image35.wdp"/><Relationship Id="rId5" Type="http://schemas.openxmlformats.org/officeDocument/2006/relationships/image" Target="../media/image34.png"/><Relationship Id="rId4" Type="http://schemas.openxmlformats.org/officeDocument/2006/relationships/image" Target="../media/image33.png"/><Relationship Id="rId34" Type="http://schemas.openxmlformats.org/officeDocument/2006/relationships/notesSlide" Target="../notesSlides/notesSlide28.xml"/><Relationship Id="rId33" Type="http://schemas.openxmlformats.org/officeDocument/2006/relationships/slideLayout" Target="../slideLayouts/slideLayout3.xml"/><Relationship Id="rId32" Type="http://schemas.openxmlformats.org/officeDocument/2006/relationships/tags" Target="../tags/tag286.xml"/><Relationship Id="rId31" Type="http://schemas.openxmlformats.org/officeDocument/2006/relationships/image" Target="../media/image30.png"/><Relationship Id="rId30" Type="http://schemas.openxmlformats.org/officeDocument/2006/relationships/image" Target="../media/image29.jpeg"/><Relationship Id="rId3" Type="http://schemas.microsoft.com/office/2007/relationships/hdphoto" Target="../media/image32.wdp"/><Relationship Id="rId29" Type="http://schemas.openxmlformats.org/officeDocument/2006/relationships/image" Target="../media/image28.jpeg"/><Relationship Id="rId28" Type="http://schemas.openxmlformats.org/officeDocument/2006/relationships/image" Target="../media/image27.jpeg"/><Relationship Id="rId27" Type="http://schemas.openxmlformats.org/officeDocument/2006/relationships/image" Target="../media/image26.jpeg"/><Relationship Id="rId26" Type="http://schemas.microsoft.com/office/2007/relationships/hdphoto" Target="../media/image25.wdp"/><Relationship Id="rId25" Type="http://schemas.openxmlformats.org/officeDocument/2006/relationships/image" Target="../media/image24.png"/><Relationship Id="rId24" Type="http://schemas.openxmlformats.org/officeDocument/2006/relationships/image" Target="../media/image23.png"/><Relationship Id="rId23" Type="http://schemas.openxmlformats.org/officeDocument/2006/relationships/image" Target="../media/image22.png"/><Relationship Id="rId22" Type="http://schemas.openxmlformats.org/officeDocument/2006/relationships/image" Target="../media/image21.png"/><Relationship Id="rId21" Type="http://schemas.openxmlformats.org/officeDocument/2006/relationships/image" Target="../media/image20.png"/><Relationship Id="rId20" Type="http://schemas.microsoft.com/office/2007/relationships/hdphoto" Target="../media/image19.wdp"/><Relationship Id="rId2" Type="http://schemas.openxmlformats.org/officeDocument/2006/relationships/image" Target="../media/image31.png"/><Relationship Id="rId19" Type="http://schemas.openxmlformats.org/officeDocument/2006/relationships/image" Target="../media/image18.png"/><Relationship Id="rId18" Type="http://schemas.microsoft.com/office/2007/relationships/hdphoto" Target="../media/image17.wdp"/><Relationship Id="rId17" Type="http://schemas.openxmlformats.org/officeDocument/2006/relationships/image" Target="../media/image16.png"/><Relationship Id="rId16" Type="http://schemas.microsoft.com/office/2007/relationships/hdphoto" Target="../media/image15.wdp"/><Relationship Id="rId15" Type="http://schemas.openxmlformats.org/officeDocument/2006/relationships/image" Target="../media/image14.png"/><Relationship Id="rId14" Type="http://schemas.microsoft.com/office/2007/relationships/hdphoto" Target="../media/image13.wdp"/><Relationship Id="rId13" Type="http://schemas.openxmlformats.org/officeDocument/2006/relationships/image" Target="../media/image12.png"/><Relationship Id="rId12" Type="http://schemas.microsoft.com/office/2007/relationships/hdphoto" Target="../media/image11.wdp"/><Relationship Id="rId11" Type="http://schemas.openxmlformats.org/officeDocument/2006/relationships/image" Target="../media/image10.png"/><Relationship Id="rId10" Type="http://schemas.microsoft.com/office/2007/relationships/hdphoto" Target="../media/image39.wdp"/><Relationship Id="rId1" Type="http://schemas.openxmlformats.org/officeDocument/2006/relationships/tags" Target="../tags/tag285.xml"/></Relationships>
</file>

<file path=ppt/slides/_rels/slide35.xml.rels><?xml version="1.0" encoding="UTF-8" standalone="yes"?>
<Relationships xmlns="http://schemas.openxmlformats.org/package/2006/relationships"><Relationship Id="rId9" Type="http://schemas.openxmlformats.org/officeDocument/2006/relationships/image" Target="../media/image38.png"/><Relationship Id="rId8" Type="http://schemas.microsoft.com/office/2007/relationships/hdphoto" Target="../media/image37.wdp"/><Relationship Id="rId7" Type="http://schemas.openxmlformats.org/officeDocument/2006/relationships/image" Target="../media/image36.png"/><Relationship Id="rId6" Type="http://schemas.microsoft.com/office/2007/relationships/hdphoto" Target="../media/image35.wdp"/><Relationship Id="rId5" Type="http://schemas.openxmlformats.org/officeDocument/2006/relationships/image" Target="../media/image34.png"/><Relationship Id="rId4" Type="http://schemas.openxmlformats.org/officeDocument/2006/relationships/image" Target="../media/image33.png"/><Relationship Id="rId34" Type="http://schemas.openxmlformats.org/officeDocument/2006/relationships/notesSlide" Target="../notesSlides/notesSlide29.xml"/><Relationship Id="rId33" Type="http://schemas.openxmlformats.org/officeDocument/2006/relationships/slideLayout" Target="../slideLayouts/slideLayout3.xml"/><Relationship Id="rId32" Type="http://schemas.openxmlformats.org/officeDocument/2006/relationships/tags" Target="../tags/tag288.xml"/><Relationship Id="rId31" Type="http://schemas.openxmlformats.org/officeDocument/2006/relationships/image" Target="../media/image30.png"/><Relationship Id="rId30" Type="http://schemas.openxmlformats.org/officeDocument/2006/relationships/image" Target="../media/image29.jpeg"/><Relationship Id="rId3" Type="http://schemas.microsoft.com/office/2007/relationships/hdphoto" Target="../media/image32.wdp"/><Relationship Id="rId29" Type="http://schemas.openxmlformats.org/officeDocument/2006/relationships/image" Target="../media/image28.jpeg"/><Relationship Id="rId28" Type="http://schemas.openxmlformats.org/officeDocument/2006/relationships/image" Target="../media/image27.jpeg"/><Relationship Id="rId27" Type="http://schemas.openxmlformats.org/officeDocument/2006/relationships/image" Target="../media/image26.jpeg"/><Relationship Id="rId26" Type="http://schemas.microsoft.com/office/2007/relationships/hdphoto" Target="../media/image25.wdp"/><Relationship Id="rId25" Type="http://schemas.openxmlformats.org/officeDocument/2006/relationships/image" Target="../media/image24.png"/><Relationship Id="rId24" Type="http://schemas.openxmlformats.org/officeDocument/2006/relationships/image" Target="../media/image23.png"/><Relationship Id="rId23" Type="http://schemas.openxmlformats.org/officeDocument/2006/relationships/image" Target="../media/image22.png"/><Relationship Id="rId22" Type="http://schemas.openxmlformats.org/officeDocument/2006/relationships/image" Target="../media/image21.png"/><Relationship Id="rId21" Type="http://schemas.openxmlformats.org/officeDocument/2006/relationships/image" Target="../media/image20.png"/><Relationship Id="rId20" Type="http://schemas.microsoft.com/office/2007/relationships/hdphoto" Target="../media/image19.wdp"/><Relationship Id="rId2" Type="http://schemas.openxmlformats.org/officeDocument/2006/relationships/image" Target="../media/image31.png"/><Relationship Id="rId19" Type="http://schemas.openxmlformats.org/officeDocument/2006/relationships/image" Target="../media/image18.png"/><Relationship Id="rId18" Type="http://schemas.microsoft.com/office/2007/relationships/hdphoto" Target="../media/image17.wdp"/><Relationship Id="rId17" Type="http://schemas.openxmlformats.org/officeDocument/2006/relationships/image" Target="../media/image16.png"/><Relationship Id="rId16" Type="http://schemas.microsoft.com/office/2007/relationships/hdphoto" Target="../media/image15.wdp"/><Relationship Id="rId15" Type="http://schemas.openxmlformats.org/officeDocument/2006/relationships/image" Target="../media/image14.png"/><Relationship Id="rId14" Type="http://schemas.microsoft.com/office/2007/relationships/hdphoto" Target="../media/image13.wdp"/><Relationship Id="rId13" Type="http://schemas.openxmlformats.org/officeDocument/2006/relationships/image" Target="../media/image12.png"/><Relationship Id="rId12" Type="http://schemas.microsoft.com/office/2007/relationships/hdphoto" Target="../media/image11.wdp"/><Relationship Id="rId11" Type="http://schemas.openxmlformats.org/officeDocument/2006/relationships/image" Target="../media/image10.png"/><Relationship Id="rId10" Type="http://schemas.microsoft.com/office/2007/relationships/hdphoto" Target="../media/image39.wdp"/><Relationship Id="rId1" Type="http://schemas.openxmlformats.org/officeDocument/2006/relationships/tags" Target="../tags/tag287.xml"/></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3.xml"/><Relationship Id="rId5" Type="http://schemas.openxmlformats.org/officeDocument/2006/relationships/tags" Target="../tags/tag289.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37.xml.rels><?xml version="1.0" encoding="UTF-8" standalone="yes"?>
<Relationships xmlns="http://schemas.openxmlformats.org/package/2006/relationships"><Relationship Id="rId9" Type="http://schemas.microsoft.com/office/2007/relationships/hdphoto" Target="../media/image17.wdp"/><Relationship Id="rId8" Type="http://schemas.openxmlformats.org/officeDocument/2006/relationships/image" Target="../media/image16.png"/><Relationship Id="rId7" Type="http://schemas.microsoft.com/office/2007/relationships/hdphoto" Target="../media/image15.wdp"/><Relationship Id="rId6" Type="http://schemas.openxmlformats.org/officeDocument/2006/relationships/image" Target="../media/image14.png"/><Relationship Id="rId5" Type="http://schemas.microsoft.com/office/2007/relationships/hdphoto" Target="../media/image13.wdp"/><Relationship Id="rId4" Type="http://schemas.openxmlformats.org/officeDocument/2006/relationships/image" Target="../media/image12.png"/><Relationship Id="rId34" Type="http://schemas.openxmlformats.org/officeDocument/2006/relationships/notesSlide" Target="../notesSlides/notesSlide31.xml"/><Relationship Id="rId33" Type="http://schemas.openxmlformats.org/officeDocument/2006/relationships/slideLayout" Target="../slideLayouts/slideLayout3.xml"/><Relationship Id="rId32" Type="http://schemas.openxmlformats.org/officeDocument/2006/relationships/tags" Target="../tags/tag291.xml"/><Relationship Id="rId31" Type="http://schemas.microsoft.com/office/2007/relationships/hdphoto" Target="../media/image39.wdp"/><Relationship Id="rId30" Type="http://schemas.openxmlformats.org/officeDocument/2006/relationships/image" Target="../media/image38.png"/><Relationship Id="rId3" Type="http://schemas.microsoft.com/office/2007/relationships/hdphoto" Target="../media/image11.wdp"/><Relationship Id="rId29" Type="http://schemas.microsoft.com/office/2007/relationships/hdphoto" Target="../media/image37.wdp"/><Relationship Id="rId28" Type="http://schemas.openxmlformats.org/officeDocument/2006/relationships/image" Target="../media/image36.png"/><Relationship Id="rId27" Type="http://schemas.microsoft.com/office/2007/relationships/hdphoto" Target="../media/image35.wdp"/><Relationship Id="rId26" Type="http://schemas.openxmlformats.org/officeDocument/2006/relationships/image" Target="../media/image34.png"/><Relationship Id="rId25" Type="http://schemas.openxmlformats.org/officeDocument/2006/relationships/image" Target="../media/image33.png"/><Relationship Id="rId24" Type="http://schemas.microsoft.com/office/2007/relationships/hdphoto" Target="../media/image32.wdp"/><Relationship Id="rId23" Type="http://schemas.openxmlformats.org/officeDocument/2006/relationships/image" Target="../media/image31.png"/><Relationship Id="rId22" Type="http://schemas.openxmlformats.org/officeDocument/2006/relationships/image" Target="../media/image30.png"/><Relationship Id="rId21" Type="http://schemas.openxmlformats.org/officeDocument/2006/relationships/image" Target="../media/image29.jpeg"/><Relationship Id="rId20" Type="http://schemas.openxmlformats.org/officeDocument/2006/relationships/image" Target="../media/image28.jpeg"/><Relationship Id="rId2" Type="http://schemas.openxmlformats.org/officeDocument/2006/relationships/image" Target="../media/image10.png"/><Relationship Id="rId19" Type="http://schemas.openxmlformats.org/officeDocument/2006/relationships/image" Target="../media/image27.jpeg"/><Relationship Id="rId18" Type="http://schemas.openxmlformats.org/officeDocument/2006/relationships/image" Target="../media/image26.jpeg"/><Relationship Id="rId17" Type="http://schemas.microsoft.com/office/2007/relationships/hdphoto" Target="../media/image25.wdp"/><Relationship Id="rId16" Type="http://schemas.openxmlformats.org/officeDocument/2006/relationships/image" Target="../media/image24.png"/><Relationship Id="rId15" Type="http://schemas.openxmlformats.org/officeDocument/2006/relationships/image" Target="../media/image23.png"/><Relationship Id="rId14" Type="http://schemas.openxmlformats.org/officeDocument/2006/relationships/image" Target="../media/image22.png"/><Relationship Id="rId13" Type="http://schemas.openxmlformats.org/officeDocument/2006/relationships/image" Target="../media/image21.png"/><Relationship Id="rId12" Type="http://schemas.openxmlformats.org/officeDocument/2006/relationships/image" Target="../media/image20.png"/><Relationship Id="rId11" Type="http://schemas.microsoft.com/office/2007/relationships/hdphoto" Target="../media/image19.wdp"/><Relationship Id="rId10" Type="http://schemas.openxmlformats.org/officeDocument/2006/relationships/image" Target="../media/image18.png"/><Relationship Id="rId1" Type="http://schemas.openxmlformats.org/officeDocument/2006/relationships/tags" Target="../tags/tag290.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3.xml"/><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964055"/>
            <a:ext cx="9144635" cy="1391920"/>
          </a:xfrm>
        </p:spPr>
        <p:txBody>
          <a:bodyPr>
            <a:noAutofit/>
          </a:bodyPr>
          <a:lstStyle/>
          <a:p>
            <a:r>
              <a:rPr lang="zh-CN" altLang="en-US" sz="4000" dirty="0">
                <a:sym typeface="+mn-ea"/>
              </a:rPr>
              <a:t>面向云边端协同的跨域分布式训练</a:t>
            </a:r>
            <a:br>
              <a:rPr lang="zh-CN" altLang="en-US" sz="4000" dirty="0">
                <a:sym typeface="+mn-ea"/>
              </a:rPr>
            </a:br>
            <a:r>
              <a:rPr lang="zh-CN" altLang="en-US" sz="4000" dirty="0">
                <a:sym typeface="+mn-ea"/>
              </a:rPr>
              <a:t>通信优化</a:t>
            </a:r>
            <a:r>
              <a:rPr lang="zh-CN" altLang="en-US" sz="4000" dirty="0">
                <a:sym typeface="+mn-ea"/>
              </a:rPr>
              <a:t>技术研究</a:t>
            </a:r>
            <a:endParaRPr lang="zh-CN" altLang="en-US" sz="4000" dirty="0">
              <a:sym typeface="+mn-ea"/>
            </a:endParaRPr>
          </a:p>
        </p:txBody>
      </p:sp>
      <p:sp>
        <p:nvSpPr>
          <p:cNvPr id="3" name="副标题 2"/>
          <p:cNvSpPr>
            <a:spLocks noGrp="1"/>
          </p:cNvSpPr>
          <p:nvPr>
            <p:ph type="subTitle" idx="1"/>
          </p:nvPr>
        </p:nvSpPr>
        <p:spPr>
          <a:xfrm>
            <a:off x="2376488" y="4036060"/>
            <a:ext cx="4391660" cy="2160905"/>
          </a:xfrm>
        </p:spPr>
        <p:txBody>
          <a:bodyPr>
            <a:noAutofit/>
          </a:bodyPr>
          <a:lstStyle/>
          <a:p>
            <a:pPr algn="l"/>
            <a:r>
              <a:rPr lang="zh-CN" altLang="en-US" dirty="0"/>
              <a:t>姓	</a:t>
            </a:r>
            <a:r>
              <a:rPr lang="en-US" altLang="zh-CN" dirty="0"/>
              <a:t> </a:t>
            </a:r>
            <a:r>
              <a:rPr lang="zh-CN" altLang="en-US" dirty="0"/>
              <a:t>名：</a:t>
            </a:r>
            <a:r>
              <a:rPr lang="zh-CN" altLang="en-US" dirty="0"/>
              <a:t>李云潼</a:t>
            </a:r>
            <a:endParaRPr lang="zh-CN" altLang="en-US" dirty="0"/>
          </a:p>
          <a:p>
            <a:pPr algn="l"/>
            <a:r>
              <a:rPr lang="zh-CN" altLang="en-US" dirty="0"/>
              <a:t>学	</a:t>
            </a:r>
            <a:r>
              <a:rPr lang="en-US" altLang="zh-CN" dirty="0"/>
              <a:t> </a:t>
            </a:r>
            <a:r>
              <a:rPr lang="zh-CN" altLang="en-US" dirty="0"/>
              <a:t>号：</a:t>
            </a:r>
            <a:r>
              <a:rPr lang="en-US" dirty="0"/>
              <a:t>SY2306142</a:t>
            </a:r>
            <a:endParaRPr lang="zh-CN" altLang="en-US" dirty="0"/>
          </a:p>
          <a:p>
            <a:pPr algn="l"/>
            <a:r>
              <a:rPr lang="zh-CN" altLang="en-US" dirty="0"/>
              <a:t>指导教师：肖利民教授</a:t>
            </a:r>
            <a:endParaRPr lang="zh-CN" altLang="en-US" dirty="0"/>
          </a:p>
          <a:p>
            <a:pPr algn="l"/>
            <a:r>
              <a:rPr lang="zh-CN" altLang="en-US" dirty="0"/>
              <a:t>答辩日期：</a:t>
            </a:r>
            <a:r>
              <a:rPr lang="en-US" altLang="zh-CN" dirty="0"/>
              <a:t>2026/05/22</a:t>
            </a:r>
            <a:endParaRPr lang="en-US" altLang="zh-CN" dirty="0" smtClean="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85"/>
          <p:cNvSpPr>
            <a:spLocks noChangeArrowheads="1"/>
          </p:cNvSpPr>
          <p:nvPr>
            <p:custDataLst>
              <p:tags r:id="rId1"/>
            </p:custDataLst>
          </p:nvPr>
        </p:nvSpPr>
        <p:spPr bwMode="auto">
          <a:xfrm>
            <a:off x="711835" y="1249680"/>
            <a:ext cx="7637145" cy="4979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28600" indent="-228600">
              <a:defRPr sz="2000" b="1">
                <a:solidFill>
                  <a:srgbClr val="000000"/>
                </a:solidFill>
                <a:latin typeface="华文细黑" panose="02010600040101010101" pitchFamily="2" charset="-122"/>
                <a:ea typeface="SimSun" panose="02010600030101010101" pitchFamily="2" charset="-122"/>
                <a:sym typeface="华文细黑" panose="02010600040101010101" pitchFamily="2" charset="-122"/>
              </a:defRPr>
            </a:lvl1pPr>
            <a:lvl2pPr marL="742950" indent="-285750">
              <a:defRPr sz="2000" b="1">
                <a:solidFill>
                  <a:srgbClr val="000000"/>
                </a:solidFill>
                <a:latin typeface="华文细黑" panose="02010600040101010101" pitchFamily="2" charset="-122"/>
                <a:ea typeface="SimSun" panose="02010600030101010101" pitchFamily="2" charset="-122"/>
                <a:sym typeface="华文细黑" panose="02010600040101010101" pitchFamily="2" charset="-122"/>
              </a:defRPr>
            </a:lvl2pPr>
            <a:lvl3pPr marL="1143000" indent="-228600">
              <a:defRPr sz="2000" b="1">
                <a:solidFill>
                  <a:srgbClr val="000000"/>
                </a:solidFill>
                <a:latin typeface="华文细黑" panose="02010600040101010101" pitchFamily="2" charset="-122"/>
                <a:ea typeface="SimSun" panose="02010600030101010101" pitchFamily="2" charset="-122"/>
                <a:sym typeface="华文细黑" panose="02010600040101010101" pitchFamily="2" charset="-122"/>
              </a:defRPr>
            </a:lvl3pPr>
            <a:lvl4pPr marL="1600200" indent="-228600">
              <a:defRPr sz="2000" b="1">
                <a:solidFill>
                  <a:srgbClr val="000000"/>
                </a:solidFill>
                <a:latin typeface="华文细黑" panose="02010600040101010101" pitchFamily="2" charset="-122"/>
                <a:ea typeface="SimSun" panose="02010600030101010101" pitchFamily="2" charset="-122"/>
                <a:sym typeface="华文细黑" panose="02010600040101010101" pitchFamily="2" charset="-122"/>
              </a:defRPr>
            </a:lvl4pPr>
            <a:lvl5pPr marL="2057400" indent="-228600">
              <a:defRPr sz="2000" b="1">
                <a:solidFill>
                  <a:srgbClr val="000000"/>
                </a:solidFill>
                <a:latin typeface="华文细黑" panose="02010600040101010101" pitchFamily="2" charset="-122"/>
                <a:ea typeface="SimSun" panose="02010600030101010101" pitchFamily="2" charset="-122"/>
                <a:sym typeface="华文细黑" panose="02010600040101010101" pitchFamily="2" charset="-122"/>
              </a:defRPr>
            </a:lvl5pPr>
            <a:lvl6pPr marL="2514600" indent="-228600" eaLnBrk="0" fontAlgn="base" hangingPunct="0">
              <a:spcBef>
                <a:spcPct val="0"/>
              </a:spcBef>
              <a:spcAft>
                <a:spcPct val="0"/>
              </a:spcAft>
              <a:defRPr sz="2000" b="1">
                <a:solidFill>
                  <a:srgbClr val="000000"/>
                </a:solidFill>
                <a:latin typeface="华文细黑" panose="02010600040101010101" pitchFamily="2" charset="-122"/>
                <a:ea typeface="SimSun" panose="02010600030101010101" pitchFamily="2" charset="-122"/>
                <a:sym typeface="华文细黑" panose="02010600040101010101" pitchFamily="2" charset="-122"/>
              </a:defRPr>
            </a:lvl6pPr>
            <a:lvl7pPr marL="2971800" indent="-228600" eaLnBrk="0" fontAlgn="base" hangingPunct="0">
              <a:spcBef>
                <a:spcPct val="0"/>
              </a:spcBef>
              <a:spcAft>
                <a:spcPct val="0"/>
              </a:spcAft>
              <a:defRPr sz="2000" b="1">
                <a:solidFill>
                  <a:srgbClr val="000000"/>
                </a:solidFill>
                <a:latin typeface="华文细黑" panose="02010600040101010101" pitchFamily="2" charset="-122"/>
                <a:ea typeface="SimSun" panose="02010600030101010101" pitchFamily="2" charset="-122"/>
                <a:sym typeface="华文细黑" panose="02010600040101010101" pitchFamily="2" charset="-122"/>
              </a:defRPr>
            </a:lvl7pPr>
            <a:lvl8pPr marL="3429000" indent="-228600" eaLnBrk="0" fontAlgn="base" hangingPunct="0">
              <a:spcBef>
                <a:spcPct val="0"/>
              </a:spcBef>
              <a:spcAft>
                <a:spcPct val="0"/>
              </a:spcAft>
              <a:defRPr sz="2000" b="1">
                <a:solidFill>
                  <a:srgbClr val="000000"/>
                </a:solidFill>
                <a:latin typeface="华文细黑" panose="02010600040101010101" pitchFamily="2" charset="-122"/>
                <a:ea typeface="SimSun" panose="02010600030101010101" pitchFamily="2" charset="-122"/>
                <a:sym typeface="华文细黑" panose="02010600040101010101" pitchFamily="2" charset="-122"/>
              </a:defRPr>
            </a:lvl8pPr>
            <a:lvl9pPr marL="3886200" indent="-228600" eaLnBrk="0" fontAlgn="base" hangingPunct="0">
              <a:spcBef>
                <a:spcPct val="0"/>
              </a:spcBef>
              <a:spcAft>
                <a:spcPct val="0"/>
              </a:spcAft>
              <a:defRPr sz="2000" b="1">
                <a:solidFill>
                  <a:srgbClr val="000000"/>
                </a:solidFill>
                <a:latin typeface="华文细黑" panose="02010600040101010101" pitchFamily="2" charset="-122"/>
                <a:ea typeface="SimSun" panose="02010600030101010101" pitchFamily="2" charset="-122"/>
                <a:sym typeface="华文细黑" panose="02010600040101010101" pitchFamily="2" charset="-122"/>
              </a:defRPr>
            </a:lvl9pPr>
          </a:lstStyle>
          <a:p>
            <a:pPr>
              <a:spcBef>
                <a:spcPct val="20000"/>
              </a:spcBef>
              <a:spcAft>
                <a:spcPct val="20000"/>
              </a:spcAft>
              <a:buClr>
                <a:srgbClr val="1F497D"/>
              </a:buClr>
              <a:buFont typeface="Wingdings" panose="05000000000000000000" pitchFamily="2" charset="2"/>
              <a:buChar char="n"/>
            </a:pPr>
            <a:r>
              <a:rPr lang="zh-CN" altLang="en-US" sz="2800" dirty="0">
                <a:solidFill>
                  <a:srgbClr val="004578"/>
                </a:solidFill>
                <a:latin typeface="Microsoft YaHei" panose="020B0503020204020204" charset="-122"/>
                <a:ea typeface="Microsoft YaHei" panose="020B0503020204020204" charset="-122"/>
              </a:rPr>
              <a:t> 研究背景与意义</a:t>
            </a:r>
            <a:endParaRPr lang="zh-CN" altLang="en-US" sz="2800" dirty="0">
              <a:solidFill>
                <a:srgbClr val="004578"/>
              </a:solidFill>
              <a:latin typeface="Microsoft YaHei" panose="020B0503020204020204" charset="-122"/>
              <a:ea typeface="Microsoft YaHei" panose="020B0503020204020204" charset="-122"/>
            </a:endParaRPr>
          </a:p>
          <a:p>
            <a:pPr>
              <a:spcBef>
                <a:spcPct val="20000"/>
              </a:spcBef>
              <a:spcAft>
                <a:spcPct val="20000"/>
              </a:spcAft>
              <a:buClr>
                <a:srgbClr val="1F497D"/>
              </a:buClr>
              <a:buFont typeface="Wingdings" panose="05000000000000000000" pitchFamily="2" charset="2"/>
              <a:buChar char="n"/>
            </a:pPr>
            <a:r>
              <a:rPr lang="zh-CN" altLang="en-US" sz="2800" dirty="0">
                <a:solidFill>
                  <a:srgbClr val="004578"/>
                </a:solidFill>
                <a:latin typeface="Microsoft YaHei" panose="020B0503020204020204" charset="-122"/>
                <a:ea typeface="Microsoft YaHei" panose="020B0503020204020204" charset="-122"/>
              </a:rPr>
              <a:t> 国内外</a:t>
            </a:r>
            <a:r>
              <a:rPr lang="zh-CN" altLang="en-US" sz="2800" dirty="0">
                <a:solidFill>
                  <a:srgbClr val="004578"/>
                </a:solidFill>
                <a:latin typeface="Microsoft YaHei" panose="020B0503020204020204" charset="-122"/>
                <a:ea typeface="Microsoft YaHei" panose="020B0503020204020204" charset="-122"/>
              </a:rPr>
              <a:t>研究现状</a:t>
            </a:r>
            <a:endParaRPr lang="zh-CN" altLang="en-US" sz="2800" dirty="0">
              <a:solidFill>
                <a:srgbClr val="004578"/>
              </a:solidFill>
              <a:latin typeface="Microsoft YaHei" panose="020B0503020204020204" charset="-122"/>
              <a:ea typeface="Microsoft YaHei" panose="020B0503020204020204" charset="-122"/>
            </a:endParaRPr>
          </a:p>
          <a:p>
            <a:pPr>
              <a:spcBef>
                <a:spcPct val="20000"/>
              </a:spcBef>
              <a:spcAft>
                <a:spcPct val="20000"/>
              </a:spcAft>
              <a:buClr>
                <a:srgbClr val="1F497D"/>
              </a:buClr>
              <a:buFont typeface="Wingdings" panose="05000000000000000000" pitchFamily="2" charset="2"/>
              <a:buChar char="n"/>
            </a:pPr>
            <a:r>
              <a:rPr lang="zh-CN" altLang="en-US" sz="2800" dirty="0">
                <a:solidFill>
                  <a:srgbClr val="004578"/>
                </a:solidFill>
                <a:latin typeface="Microsoft YaHei" panose="020B0503020204020204" charset="-122"/>
                <a:ea typeface="Microsoft YaHei" panose="020B0503020204020204" charset="-122"/>
              </a:rPr>
              <a:t> 关键科学问题</a:t>
            </a:r>
            <a:endParaRPr lang="en-US" altLang="zh-CN" sz="2800" dirty="0">
              <a:solidFill>
                <a:srgbClr val="004578"/>
              </a:solidFill>
              <a:latin typeface="Microsoft YaHei" panose="020B0503020204020204" charset="-122"/>
              <a:ea typeface="Microsoft YaHei" panose="020B0503020204020204" charset="-122"/>
            </a:endParaRPr>
          </a:p>
          <a:p>
            <a:pPr>
              <a:spcBef>
                <a:spcPct val="20000"/>
              </a:spcBef>
              <a:spcAft>
                <a:spcPct val="20000"/>
              </a:spcAft>
              <a:buClr>
                <a:srgbClr val="1F497D"/>
              </a:buClr>
              <a:buFont typeface="Wingdings" panose="05000000000000000000" pitchFamily="2" charset="2"/>
              <a:buChar char="n"/>
            </a:pPr>
            <a:r>
              <a:rPr lang="en-US" altLang="en-US" sz="2800" dirty="0">
                <a:solidFill>
                  <a:srgbClr val="004578"/>
                </a:solidFill>
                <a:latin typeface="Microsoft YaHei" panose="020B0503020204020204" charset="-122"/>
                <a:ea typeface="Microsoft YaHei" panose="020B0503020204020204" charset="-122"/>
              </a:rPr>
              <a:t> </a:t>
            </a:r>
            <a:r>
              <a:rPr lang="zh-CN" altLang="en-US" sz="2800" dirty="0">
                <a:solidFill>
                  <a:srgbClr val="004578"/>
                </a:solidFill>
                <a:latin typeface="Microsoft YaHei" panose="020B0503020204020204" charset="-122"/>
                <a:ea typeface="Microsoft YaHei" panose="020B0503020204020204" charset="-122"/>
              </a:rPr>
              <a:t>研究目标</a:t>
            </a:r>
            <a:endParaRPr lang="en-US" altLang="zh-CN" sz="2800" dirty="0">
              <a:solidFill>
                <a:srgbClr val="004578"/>
              </a:solidFill>
              <a:latin typeface="Microsoft YaHei" panose="020B0503020204020204" charset="-122"/>
              <a:ea typeface="Microsoft YaHei" panose="020B0503020204020204" charset="-122"/>
            </a:endParaRPr>
          </a:p>
          <a:p>
            <a:pPr>
              <a:spcBef>
                <a:spcPct val="20000"/>
              </a:spcBef>
              <a:spcAft>
                <a:spcPct val="20000"/>
              </a:spcAft>
              <a:buClr>
                <a:srgbClr val="1F497D"/>
              </a:buClr>
              <a:buFont typeface="Wingdings" panose="05000000000000000000" pitchFamily="2" charset="2"/>
              <a:buChar char="n"/>
            </a:pPr>
            <a:r>
              <a:rPr lang="zh-CN" altLang="en-US" sz="2800" dirty="0">
                <a:solidFill>
                  <a:srgbClr val="004578"/>
                </a:solidFill>
                <a:latin typeface="Microsoft YaHei" panose="020B0503020204020204" charset="-122"/>
                <a:ea typeface="Microsoft YaHei" panose="020B0503020204020204" charset="-122"/>
              </a:rPr>
              <a:t> 研究方案</a:t>
            </a:r>
            <a:endParaRPr lang="en-US" altLang="zh-CN" sz="2800" dirty="0">
              <a:solidFill>
                <a:srgbClr val="004578"/>
              </a:solidFill>
              <a:latin typeface="Microsoft YaHei" panose="020B0503020204020204" charset="-122"/>
              <a:ea typeface="Microsoft YaHei" panose="020B0503020204020204" charset="-122"/>
            </a:endParaRPr>
          </a:p>
          <a:p>
            <a:pPr>
              <a:spcBef>
                <a:spcPct val="20000"/>
              </a:spcBef>
              <a:spcAft>
                <a:spcPct val="20000"/>
              </a:spcAft>
              <a:buClr>
                <a:srgbClr val="1F497D"/>
              </a:buClr>
              <a:buFont typeface="Wingdings" panose="05000000000000000000" pitchFamily="2" charset="2"/>
              <a:buChar char="n"/>
            </a:pPr>
            <a:r>
              <a:rPr lang="zh-CN" altLang="en-US" sz="2800" dirty="0">
                <a:solidFill>
                  <a:srgbClr val="004578"/>
                </a:solidFill>
                <a:latin typeface="Microsoft YaHei" panose="020B0503020204020204" charset="-122"/>
                <a:ea typeface="Microsoft YaHei" panose="020B0503020204020204" charset="-122"/>
              </a:rPr>
              <a:t> 核心技术</a:t>
            </a:r>
            <a:endParaRPr lang="en-US" altLang="zh-CN" sz="2800" dirty="0">
              <a:solidFill>
                <a:srgbClr val="004578"/>
              </a:solidFill>
              <a:latin typeface="Microsoft YaHei" panose="020B0503020204020204" charset="-122"/>
              <a:ea typeface="Microsoft YaHei" panose="020B0503020204020204" charset="-122"/>
            </a:endParaRPr>
          </a:p>
          <a:p>
            <a:pPr>
              <a:spcBef>
                <a:spcPct val="20000"/>
              </a:spcBef>
              <a:spcAft>
                <a:spcPct val="20000"/>
              </a:spcAft>
              <a:buClr>
                <a:srgbClr val="1F497D"/>
              </a:buClr>
              <a:buFont typeface="Wingdings" panose="05000000000000000000" pitchFamily="2" charset="2"/>
              <a:buChar char="n"/>
            </a:pPr>
            <a:r>
              <a:rPr lang="zh-CN" altLang="en-US" sz="2800" dirty="0">
                <a:solidFill>
                  <a:srgbClr val="004578"/>
                </a:solidFill>
                <a:latin typeface="Microsoft YaHei" panose="020B0503020204020204" charset="-122"/>
                <a:ea typeface="Microsoft YaHei" panose="020B0503020204020204" charset="-122"/>
              </a:rPr>
              <a:t> 实验与</a:t>
            </a:r>
            <a:r>
              <a:rPr lang="zh-CN" altLang="en-US" sz="2800" dirty="0">
                <a:solidFill>
                  <a:srgbClr val="004578"/>
                </a:solidFill>
                <a:latin typeface="Microsoft YaHei" panose="020B0503020204020204" charset="-122"/>
                <a:ea typeface="Microsoft YaHei" panose="020B0503020204020204" charset="-122"/>
              </a:rPr>
              <a:t>结果</a:t>
            </a:r>
            <a:endParaRPr lang="zh-CN" altLang="en-US" sz="2800" dirty="0">
              <a:solidFill>
                <a:srgbClr val="004578"/>
              </a:solidFill>
              <a:latin typeface="Microsoft YaHei" panose="020B0503020204020204" charset="-122"/>
              <a:ea typeface="Microsoft YaHei" panose="020B0503020204020204" charset="-122"/>
            </a:endParaRPr>
          </a:p>
          <a:p>
            <a:pPr>
              <a:spcBef>
                <a:spcPct val="20000"/>
              </a:spcBef>
              <a:spcAft>
                <a:spcPct val="20000"/>
              </a:spcAft>
              <a:buClr>
                <a:srgbClr val="1F497D"/>
              </a:buClr>
              <a:buFont typeface="Wingdings" panose="05000000000000000000" pitchFamily="2" charset="2"/>
              <a:buChar char="n"/>
            </a:pPr>
            <a:r>
              <a:rPr lang="en-US" altLang="zh-CN" sz="2800" dirty="0">
                <a:solidFill>
                  <a:srgbClr val="004578"/>
                </a:solidFill>
                <a:latin typeface="Microsoft YaHei" panose="020B0503020204020204" charset="-122"/>
                <a:ea typeface="Microsoft YaHei" panose="020B0503020204020204" charset="-122"/>
              </a:rPr>
              <a:t> </a:t>
            </a:r>
            <a:r>
              <a:rPr lang="zh-CN" altLang="en-US" sz="2800" dirty="0">
                <a:solidFill>
                  <a:srgbClr val="004578"/>
                </a:solidFill>
                <a:latin typeface="Microsoft YaHei" panose="020B0503020204020204" charset="-122"/>
                <a:ea typeface="Microsoft YaHei" panose="020B0503020204020204" charset="-122"/>
              </a:rPr>
              <a:t>总结与</a:t>
            </a:r>
            <a:r>
              <a:rPr lang="zh-CN" altLang="en-US" sz="2800" dirty="0">
                <a:solidFill>
                  <a:srgbClr val="004578"/>
                </a:solidFill>
                <a:latin typeface="Microsoft YaHei" panose="020B0503020204020204" charset="-122"/>
                <a:ea typeface="Microsoft YaHei" panose="020B0503020204020204" charset="-122"/>
              </a:rPr>
              <a:t>展望</a:t>
            </a:r>
            <a:endParaRPr lang="zh-CN" altLang="en-US" sz="2800" dirty="0">
              <a:solidFill>
                <a:srgbClr val="004578"/>
              </a:solidFill>
              <a:latin typeface="Microsoft YaHei" panose="020B0503020204020204" charset="-122"/>
              <a:ea typeface="Microsoft YaHei" panose="020B0503020204020204" charset="-12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1781898"/>
          </a:xfrm>
          <a:prstGeom prst="rect">
            <a:avLst/>
          </a:prstGeom>
          <a:noFill/>
        </p:spPr>
        <p:txBody>
          <a:bodyPr wrap="square" rtlCol="0">
            <a:spAutoFit/>
          </a:bodyPr>
          <a:lstStyle/>
          <a:p>
            <a:pPr marL="285750" indent="-285750" algn="just" fontAlgn="auto">
              <a:lnSpc>
                <a:spcPct val="150000"/>
              </a:lnSpc>
              <a:spcBef>
                <a:spcPts val="0"/>
              </a:spcBef>
              <a:spcAft>
                <a:spcPts val="600"/>
              </a:spcAft>
              <a:buFont typeface="Wingdings" panose="05000000000000000000" pitchFamily="2" charset="2"/>
              <a:buChar char="l"/>
            </a:pPr>
            <a:r>
              <a:rPr lang="zh-CN" altLang="en-US" b="1" dirty="0"/>
              <a:t>云边端跨域计算环境成为全球研究和竞争的焦点：</a:t>
            </a:r>
            <a:r>
              <a:rPr lang="zh-CN" altLang="en-US" dirty="0"/>
              <a:t>云边端跨域计算环境是电力、制造等关键领域数智化转型的重要基础设施，成为全球范围的研究热点和竞争焦点</a:t>
            </a:r>
            <a:endParaRPr lang="en-US" altLang="zh-CN" dirty="0"/>
          </a:p>
          <a:p>
            <a:pPr marL="285750" indent="-285750" algn="just" fontAlgn="auto">
              <a:lnSpc>
                <a:spcPct val="150000"/>
              </a:lnSpc>
              <a:spcBef>
                <a:spcPts val="0"/>
              </a:spcBef>
              <a:spcAft>
                <a:spcPts val="600"/>
              </a:spcAft>
              <a:buFont typeface="Wingdings" panose="05000000000000000000" pitchFamily="2" charset="2"/>
              <a:buChar char="l"/>
            </a:pPr>
            <a:r>
              <a:rPr lang="zh-CN" altLang="en-US" b="1" dirty="0"/>
              <a:t>云边端跨域计算环境的智能化水平得到跨越式提升：</a:t>
            </a:r>
            <a:r>
              <a:rPr lang="zh-CN" altLang="en-US" dirty="0"/>
              <a:t>近年来，故障检测等云边端协同场景的智能化水平得到提升，而跨域分布式训练是智能化进一步提升的重要手段</a:t>
            </a:r>
            <a:endParaRPr lang="zh-CN" altLang="en-US" dirty="0"/>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12" name="组合 11"/>
          <p:cNvGrpSpPr/>
          <p:nvPr/>
        </p:nvGrpSpPr>
        <p:grpSpPr>
          <a:xfrm>
            <a:off x="278893" y="3058542"/>
            <a:ext cx="4144910" cy="3373726"/>
            <a:chOff x="278893" y="3058542"/>
            <a:chExt cx="4144910" cy="3373726"/>
          </a:xfrm>
        </p:grpSpPr>
        <p:pic>
          <p:nvPicPr>
            <p:cNvPr id="1026" name="Picture 2" descr="中国通号智能巡检机器人保障高铁安全运营_手机新浪网"/>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a:stretch>
              <a:fillRect/>
            </a:stretch>
          </p:blipFill>
          <p:spPr bwMode="auto">
            <a:xfrm>
              <a:off x="280035" y="3060065"/>
              <a:ext cx="2005965" cy="130887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8" name="Picture 4" descr="全球智能制造发展现状及前景预测工业机器人引领行业发展- 智能制造- 创新助理"/>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0991" y="3058542"/>
              <a:ext cx="1992812"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descr="智慧交通、智慧運輸、智慧交通系統、智慧運輸系統- 大眾電腦FIC"/>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2429769" y="4770466"/>
              <a:ext cx="1992812"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2" name="Picture 8" descr="小鹏推出第二代智能驾驶辅助系统，欲摆脱高精地图限制"/>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8893" y="4770466"/>
              <a:ext cx="2005200"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728684" y="4356309"/>
              <a:ext cx="1115153" cy="369332"/>
            </a:xfrm>
            <a:prstGeom prst="rect">
              <a:avLst/>
            </a:prstGeom>
            <a:noFill/>
          </p:spPr>
          <p:txBody>
            <a:bodyPr wrap="square" rtlCol="0">
              <a:spAutoFit/>
            </a:bodyPr>
            <a:lstStyle/>
            <a:p>
              <a:pPr indent="0" algn="ctr" fontAlgn="auto">
                <a:spcBef>
                  <a:spcPts val="0"/>
                </a:spcBef>
              </a:pPr>
              <a:r>
                <a:rPr lang="zh-CN" altLang="en-US" b="1" dirty="0"/>
                <a:t>智能电网</a:t>
              </a:r>
              <a:endParaRPr lang="zh-CN" altLang="en-US" b="1" dirty="0"/>
            </a:p>
          </p:txBody>
        </p:sp>
        <p:sp>
          <p:nvSpPr>
            <p:cNvPr id="8" name="文本框 7"/>
            <p:cNvSpPr txBox="1"/>
            <p:nvPr/>
          </p:nvSpPr>
          <p:spPr>
            <a:xfrm>
              <a:off x="2868598" y="4368942"/>
              <a:ext cx="1115153" cy="369332"/>
            </a:xfrm>
            <a:prstGeom prst="rect">
              <a:avLst/>
            </a:prstGeom>
            <a:noFill/>
          </p:spPr>
          <p:txBody>
            <a:bodyPr wrap="square" rtlCol="0">
              <a:spAutoFit/>
            </a:bodyPr>
            <a:lstStyle/>
            <a:p>
              <a:pPr indent="0" algn="ctr" fontAlgn="auto">
                <a:spcBef>
                  <a:spcPts val="0"/>
                </a:spcBef>
              </a:pPr>
              <a:r>
                <a:rPr lang="zh-CN" altLang="en-US" b="1" dirty="0"/>
                <a:t>智能制造</a:t>
              </a:r>
              <a:endParaRPr lang="zh-CN" altLang="en-US" b="1" dirty="0"/>
            </a:p>
          </p:txBody>
        </p:sp>
        <p:sp>
          <p:nvSpPr>
            <p:cNvPr id="9" name="文本框 8"/>
            <p:cNvSpPr txBox="1"/>
            <p:nvPr/>
          </p:nvSpPr>
          <p:spPr>
            <a:xfrm>
              <a:off x="723916" y="6062936"/>
              <a:ext cx="1115153" cy="369332"/>
            </a:xfrm>
            <a:prstGeom prst="rect">
              <a:avLst/>
            </a:prstGeom>
            <a:noFill/>
          </p:spPr>
          <p:txBody>
            <a:bodyPr wrap="square" rtlCol="0">
              <a:spAutoFit/>
            </a:bodyPr>
            <a:lstStyle/>
            <a:p>
              <a:pPr indent="0" algn="ctr" fontAlgn="auto">
                <a:spcBef>
                  <a:spcPts val="0"/>
                </a:spcBef>
              </a:pPr>
              <a:r>
                <a:rPr lang="zh-CN" altLang="en-US" b="1" dirty="0"/>
                <a:t>智能驾驶</a:t>
              </a:r>
              <a:endParaRPr lang="zh-CN" altLang="en-US" b="1" dirty="0"/>
            </a:p>
          </p:txBody>
        </p:sp>
        <p:sp>
          <p:nvSpPr>
            <p:cNvPr id="10" name="文本框 9"/>
            <p:cNvSpPr txBox="1"/>
            <p:nvPr/>
          </p:nvSpPr>
          <p:spPr>
            <a:xfrm>
              <a:off x="2868598" y="6056767"/>
              <a:ext cx="1115153" cy="369332"/>
            </a:xfrm>
            <a:prstGeom prst="rect">
              <a:avLst/>
            </a:prstGeom>
            <a:noFill/>
          </p:spPr>
          <p:txBody>
            <a:bodyPr wrap="square" rtlCol="0">
              <a:spAutoFit/>
            </a:bodyPr>
            <a:lstStyle/>
            <a:p>
              <a:pPr indent="0" algn="ctr" fontAlgn="auto">
                <a:spcBef>
                  <a:spcPts val="0"/>
                </a:spcBef>
              </a:pPr>
              <a:r>
                <a:rPr lang="zh-CN" altLang="en-US" b="1" dirty="0"/>
                <a:t>智慧交通</a:t>
              </a:r>
              <a:endParaRPr lang="zh-CN" altLang="en-US" b="1" dirty="0"/>
            </a:p>
          </p:txBody>
        </p:sp>
      </p:grpSp>
      <p:graphicFrame>
        <p:nvGraphicFramePr>
          <p:cNvPr id="11" name="表格 10"/>
          <p:cNvGraphicFramePr>
            <a:graphicFrameLocks noGrp="1"/>
          </p:cNvGraphicFramePr>
          <p:nvPr/>
        </p:nvGraphicFramePr>
        <p:xfrm>
          <a:off x="4674282" y="2995787"/>
          <a:ext cx="4232275" cy="336755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19694"/>
                <a:gridCol w="3312581"/>
              </a:tblGrid>
              <a:tr h="428226">
                <a:tc>
                  <a:txBody>
                    <a:bodyPr/>
                    <a:lstStyle/>
                    <a:p>
                      <a:pPr algn="ctr">
                        <a:buNone/>
                      </a:pPr>
                      <a:r>
                        <a:rPr lang="zh-CN" altLang="en-US" sz="1400" baseline="0" dirty="0">
                          <a:latin typeface="Times New Roman" panose="02020603050405020304" pitchFamily="18" charset="0"/>
                        </a:rPr>
                        <a:t>国家地区</a:t>
                      </a:r>
                      <a:endParaRPr lang="zh-CN" altLang="en-US" sz="1400" baseline="0" dirty="0">
                        <a:latin typeface="Times New Roman" panose="02020603050405020304" pitchFamily="18" charset="0"/>
                      </a:endParaRPr>
                    </a:p>
                  </a:txBody>
                  <a:tcPr anchor="ctr">
                    <a:solidFill>
                      <a:srgbClr val="004578"/>
                    </a:solidFill>
                  </a:tcPr>
                </a:tc>
                <a:tc>
                  <a:txBody>
                    <a:bodyPr/>
                    <a:lstStyle/>
                    <a:p>
                      <a:pPr algn="ctr">
                        <a:buNone/>
                      </a:pPr>
                      <a:r>
                        <a:rPr lang="zh-CN" altLang="en-US" sz="1400" baseline="0" dirty="0">
                          <a:latin typeface="Times New Roman" panose="02020603050405020304" pitchFamily="18" charset="0"/>
                        </a:rPr>
                        <a:t>政策法规</a:t>
                      </a:r>
                      <a:endParaRPr lang="zh-CN" altLang="en-US" sz="1400" baseline="0" dirty="0">
                        <a:latin typeface="Times New Roman" panose="02020603050405020304" pitchFamily="18" charset="0"/>
                      </a:endParaRPr>
                    </a:p>
                  </a:txBody>
                  <a:tcPr anchor="ctr">
                    <a:solidFill>
                      <a:srgbClr val="004578"/>
                    </a:solidFill>
                  </a:tcPr>
                </a:tc>
              </a:tr>
              <a:tr h="543137">
                <a:tc>
                  <a:txBody>
                    <a:bodyPr/>
                    <a:lstStyle/>
                    <a:p>
                      <a:pPr algn="ctr">
                        <a:buNone/>
                      </a:pPr>
                      <a:r>
                        <a:rPr lang="zh-CN" altLang="en-US" sz="1400" baseline="0" dirty="0">
                          <a:latin typeface="Times New Roman" panose="02020603050405020304" pitchFamily="18" charset="0"/>
                        </a:rPr>
                        <a:t>美国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引领未来先进计算生态系统：战略计划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将人工智能、边缘计算等列为重点</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欧盟</a:t>
                      </a:r>
                      <a:endParaRPr lang="zh-CN" altLang="en-US" sz="1400" baseline="0" dirty="0">
                        <a:latin typeface="Times New Roman" panose="02020603050405020304" pitchFamily="18" charset="0"/>
                      </a:endParaRPr>
                    </a:p>
                  </a:txBody>
                  <a:tcPr anchor="ctr"/>
                </a:tc>
                <a:tc>
                  <a:txBody>
                    <a:bodyPr/>
                    <a:lstStyle/>
                    <a:p>
                      <a:pPr algn="just">
                        <a:buNone/>
                      </a:pPr>
                      <a:r>
                        <a:rPr lang="zh-CN" altLang="en-US" sz="1400" baseline="0" dirty="0">
                          <a:latin typeface="Times New Roman" panose="02020603050405020304" pitchFamily="18" charset="0"/>
                        </a:rPr>
                        <a:t>“欧洲共同利益重要计划”批准</a:t>
                      </a:r>
                      <a:r>
                        <a:rPr lang="en-US" altLang="zh-CN" sz="1400" baseline="0" dirty="0">
                          <a:latin typeface="Times New Roman" panose="02020603050405020304" pitchFamily="18" charset="0"/>
                        </a:rPr>
                        <a:t>15</a:t>
                      </a:r>
                      <a:r>
                        <a:rPr lang="zh-CN" altLang="en-US" sz="1400" baseline="0" dirty="0">
                          <a:latin typeface="Times New Roman" panose="02020603050405020304" pitchFamily="18" charset="0"/>
                        </a:rPr>
                        <a:t>亿欧元发展边缘计算、云边端协同技术</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日本</a:t>
                      </a:r>
                      <a:endParaRPr lang="zh-CN" altLang="en-US" sz="1400" baseline="0" dirty="0">
                        <a:latin typeface="Times New Roman" panose="02020603050405020304" pitchFamily="18" charset="0"/>
                      </a:endParaRPr>
                    </a:p>
                  </a:txBody>
                  <a:tcPr anchor="ctr"/>
                </a:tc>
                <a:tc>
                  <a:txBody>
                    <a:bodyPr/>
                    <a:lstStyle/>
                    <a:p>
                      <a:pPr algn="just">
                        <a:buNone/>
                      </a:pPr>
                      <a:r>
                        <a:rPr lang="zh-CN" altLang="en-US" sz="1400" baseline="0" dirty="0">
                          <a:latin typeface="Times New Roman" panose="02020603050405020304" pitchFamily="18" charset="0"/>
                        </a:rPr>
                        <a:t>发布“社会</a:t>
                      </a:r>
                      <a:r>
                        <a:rPr lang="en-US" altLang="zh-CN" sz="1400" baseline="0" dirty="0">
                          <a:latin typeface="Times New Roman" panose="02020603050405020304" pitchFamily="18" charset="0"/>
                        </a:rPr>
                        <a:t>5.0</a:t>
                      </a:r>
                      <a:r>
                        <a:rPr lang="zh-CN" altLang="en-US" sz="1400" baseline="0" dirty="0">
                          <a:latin typeface="Times New Roman" panose="02020603050405020304" pitchFamily="18" charset="0"/>
                        </a:rPr>
                        <a:t>”发展计划，将人工智能、边缘计算列为必须优先发展的领域</a:t>
                      </a:r>
                      <a:endParaRPr lang="zh-CN" altLang="en-US" sz="1400" baseline="0" dirty="0">
                        <a:latin typeface="Times New Roman" panose="02020603050405020304" pitchFamily="18" charset="0"/>
                      </a:endParaRPr>
                    </a:p>
                  </a:txBody>
                  <a:tcPr anchor="ctr"/>
                </a:tc>
              </a:tr>
              <a:tr h="766782">
                <a:tc>
                  <a:txBody>
                    <a:bodyPr/>
                    <a:lstStyle/>
                    <a:p>
                      <a:pPr algn="ctr">
                        <a:buNone/>
                      </a:pPr>
                      <a:r>
                        <a:rPr lang="zh-CN" altLang="en-US" sz="1400" baseline="0" dirty="0">
                          <a:latin typeface="Times New Roman" panose="02020603050405020304" pitchFamily="18" charset="0"/>
                        </a:rPr>
                        <a:t>中国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十四五”数字经济发展规划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明确提出要发展边缘计算、云边端协同、人工智能技术，提出重点领域转型升级</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中国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数字中国建设整体布局规划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提出引导云计算中心、边缘计算中心合理规划</a:t>
                      </a:r>
                      <a:endParaRPr lang="zh-CN" altLang="en-US" sz="1400" baseline="0" dirty="0">
                        <a:latin typeface="Times New Roman" panose="02020603050405020304" pitchFamily="18" charset="0"/>
                      </a:endParaRPr>
                    </a:p>
                  </a:txBody>
                  <a:tcPr anchor="ctr"/>
                </a:tc>
              </a:tr>
            </a:tbl>
          </a:graphicData>
        </a:graphic>
      </p:graphicFrame>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1337945"/>
          </a:xfrm>
          <a:prstGeom prst="rect">
            <a:avLst/>
          </a:prstGeom>
          <a:noFill/>
        </p:spPr>
        <p:txBody>
          <a:bodyPr wrap="square" rtlCol="0">
            <a:spAutoFit/>
          </a:bodyPr>
          <a:lstStyle/>
          <a:p>
            <a:pPr indent="0" algn="just" fontAlgn="auto">
              <a:lnSpc>
                <a:spcPct val="150000"/>
              </a:lnSpc>
              <a:spcBef>
                <a:spcPts val="0"/>
              </a:spcBef>
              <a:spcAft>
                <a:spcPts val="600"/>
              </a:spcAft>
            </a:pPr>
            <a:r>
              <a:rPr lang="en-US" altLang="zh-CN" dirty="0">
                <a:sym typeface="+mn-ea"/>
              </a:rPr>
              <a:t> </a:t>
            </a:r>
            <a:r>
              <a:rPr lang="zh-CN" altLang="en-US" dirty="0">
                <a:sym typeface="+mn-ea"/>
              </a:rPr>
              <a:t>随着边端侧硬件算力的增强、基础框架软件的发展、网络连接速度的提升，将模型训练从云侧拓展到边端侧成为可能。</a:t>
            </a:r>
            <a:r>
              <a:rPr lang="zh-CN" altLang="en-US" b="1" dirty="0">
                <a:sym typeface="+mn-ea"/>
              </a:rPr>
              <a:t>云边端协同的跨域分布式训练具有隐私性好、成本低等优势</a:t>
            </a:r>
            <a:r>
              <a:rPr lang="zh-CN" altLang="en-US" dirty="0">
                <a:sym typeface="+mn-ea"/>
              </a:rPr>
              <a:t>。</a:t>
            </a:r>
            <a:endParaRPr lang="zh-CN" altLang="en-US" b="1" dirty="0">
              <a:sym typeface="+mn-ea"/>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矩形 4"/>
          <p:cNvSpPr/>
          <p:nvPr>
            <p:custDataLst>
              <p:tags r:id="rId1"/>
            </p:custDataLst>
          </p:nvPr>
        </p:nvSpPr>
        <p:spPr>
          <a:xfrm>
            <a:off x="1064577" y="2292043"/>
            <a:ext cx="7014845" cy="4180758"/>
          </a:xfrm>
          <a:prstGeom prst="rect">
            <a:avLst/>
          </a:prstGeom>
          <a:solidFill>
            <a:schemeClr val="accent1">
              <a:lumMod val="20000"/>
              <a:lumOff val="80000"/>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42" name="矩形 41"/>
          <p:cNvSpPr/>
          <p:nvPr/>
        </p:nvSpPr>
        <p:spPr>
          <a:xfrm>
            <a:off x="1160117" y="5467267"/>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云边端异构通信网络</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3" name="矩形 42"/>
          <p:cNvSpPr/>
          <p:nvPr/>
        </p:nvSpPr>
        <p:spPr>
          <a:xfrm>
            <a:off x="1160116" y="3387559"/>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云边端智能计算框架</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4" name="矩形 43"/>
          <p:cNvSpPr/>
          <p:nvPr/>
        </p:nvSpPr>
        <p:spPr>
          <a:xfrm>
            <a:off x="1160116" y="2358635"/>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云边端智能应用</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5" name="矩形 44"/>
          <p:cNvSpPr/>
          <p:nvPr/>
        </p:nvSpPr>
        <p:spPr>
          <a:xfrm>
            <a:off x="2338728" y="5467267"/>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6" name="矩形 45"/>
          <p:cNvSpPr/>
          <p:nvPr/>
        </p:nvSpPr>
        <p:spPr>
          <a:xfrm>
            <a:off x="2338728" y="3387559"/>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7" name="矩形 46"/>
          <p:cNvSpPr/>
          <p:nvPr/>
        </p:nvSpPr>
        <p:spPr>
          <a:xfrm>
            <a:off x="2338728" y="2357465"/>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grpSp>
        <p:nvGrpSpPr>
          <p:cNvPr id="58" name="组合 57"/>
          <p:cNvGrpSpPr/>
          <p:nvPr/>
        </p:nvGrpSpPr>
        <p:grpSpPr>
          <a:xfrm>
            <a:off x="6968938" y="5532320"/>
            <a:ext cx="923644" cy="771013"/>
            <a:chOff x="2419631" y="4512712"/>
            <a:chExt cx="923644" cy="771013"/>
          </a:xfrm>
        </p:grpSpPr>
        <p:sp>
          <p:nvSpPr>
            <p:cNvPr id="48" name="矩形 47"/>
            <p:cNvSpPr/>
            <p:nvPr/>
          </p:nvSpPr>
          <p:spPr>
            <a:xfrm>
              <a:off x="2419631"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矩形 48"/>
            <p:cNvSpPr/>
            <p:nvPr/>
          </p:nvSpPr>
          <p:spPr>
            <a:xfrm>
              <a:off x="2419631"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4G</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6" name="Picture 12" descr="4G LTE Only Mode - Google Play 上的应用"/>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0000" l="10000" r="90000">
                          <a14:foregroundMark x1="36889" y1="44000" x2="35556" y2="61778"/>
                          <a14:foregroundMark x1="56889" y1="45778" x2="51111" y2="58667"/>
                          <a14:foregroundMark x1="53778" y1="45778" x2="49333" y2="32000"/>
                          <a14:foregroundMark x1="49778" y1="46222" x2="56889" y2="51111"/>
                          <a14:foregroundMark x1="24889" y1="54222" x2="28444" y2="69333"/>
                          <a14:foregroundMark x1="42667" y1="48444" x2="42667" y2="48444"/>
                          <a14:foregroundMark x1="38222" y1="52444" x2="36000" y2="59556"/>
                          <a14:foregroundMark x1="25333" y1="52889" x2="44000" y2="35111"/>
                          <a14:foregroundMark x1="60889" y1="34667" x2="76000" y2="63556"/>
                          <a14:foregroundMark x1="69333" y1="33778" x2="76000" y2="37778"/>
                          <a14:foregroundMark x1="60444" y1="64889" x2="62667" y2="72000"/>
                        </a14:backgroundRemoval>
                      </a14:imgEffect>
                    </a14:imgLayer>
                  </a14:imgProps>
                </a:ext>
                <a:ext uri="{28A0092B-C50C-407E-A947-70E740481C1C}">
                  <a14:useLocalDpi xmlns:a14="http://schemas.microsoft.com/office/drawing/2010/main" val="0"/>
                </a:ext>
              </a:extLst>
            </a:blip>
            <a:srcRect l="5345" t="5362" r="4110" b="4386"/>
            <a:stretch>
              <a:fillRect/>
            </a:stretch>
          </p:blipFill>
          <p:spPr bwMode="auto">
            <a:xfrm>
              <a:off x="2610573" y="4519851"/>
              <a:ext cx="54176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9" name="组合 58"/>
          <p:cNvGrpSpPr/>
          <p:nvPr/>
        </p:nvGrpSpPr>
        <p:grpSpPr>
          <a:xfrm>
            <a:off x="3556958" y="5532320"/>
            <a:ext cx="923644" cy="771013"/>
            <a:chOff x="3556958" y="4512712"/>
            <a:chExt cx="923644" cy="771013"/>
          </a:xfrm>
        </p:grpSpPr>
        <p:sp>
          <p:nvSpPr>
            <p:cNvPr id="50" name="矩形 49"/>
            <p:cNvSpPr/>
            <p:nvPr/>
          </p:nvSpPr>
          <p:spPr>
            <a:xfrm>
              <a:off x="3556958"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56958"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5G</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8" name="Picture 14" descr="UK Disappoints in Global Comparison of 5G Mobile Broadband Speeds -  ISPreview UK"/>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32583" y1="25250" x2="18000" y2="26083"/>
                          <a14:foregroundMark x1="27417" y1="42083" x2="27833" y2="45833"/>
                          <a14:foregroundMark x1="74583" y1="26583" x2="74583" y2="26583"/>
                          <a14:foregroundMark x1="74833" y1="19167" x2="74833" y2="19167"/>
                          <a14:foregroundMark x1="74250" y1="12167" x2="74250" y2="12167"/>
                        </a14:backgroundRemoval>
                      </a14:imgEffect>
                    </a14:imgLayer>
                  </a14:imgProps>
                </a:ext>
                <a:ext uri="{28A0092B-C50C-407E-A947-70E740481C1C}">
                  <a14:useLocalDpi xmlns:a14="http://schemas.microsoft.com/office/drawing/2010/main" val="0"/>
                </a:ext>
              </a:extLst>
            </a:blip>
            <a:srcRect l="5115" t="7023" r="3331" b="14403"/>
            <a:stretch>
              <a:fillRect/>
            </a:stretch>
          </p:blipFill>
          <p:spPr bwMode="auto">
            <a:xfrm>
              <a:off x="3710019" y="4519851"/>
              <a:ext cx="62921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0" name="组合 59"/>
          <p:cNvGrpSpPr/>
          <p:nvPr/>
        </p:nvGrpSpPr>
        <p:grpSpPr>
          <a:xfrm>
            <a:off x="4694285" y="5532320"/>
            <a:ext cx="923644" cy="771013"/>
            <a:chOff x="4694285" y="4512712"/>
            <a:chExt cx="923644" cy="771013"/>
          </a:xfrm>
        </p:grpSpPr>
        <p:sp>
          <p:nvSpPr>
            <p:cNvPr id="52" name="矩形 51"/>
            <p:cNvSpPr/>
            <p:nvPr/>
          </p:nvSpPr>
          <p:spPr>
            <a:xfrm>
              <a:off x="4694285"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4694285"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Wi-Fi</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0" name="Picture 16" descr="Wi-Fi - Wikipedia"/>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6358" b="93064" l="9247" r="89384">
                          <a14:foregroundMark x1="21233" y1="47399" x2="21233" y2="47399"/>
                          <a14:foregroundMark x1="24658" y1="46821" x2="26027" y2="42197"/>
                          <a14:foregroundMark x1="27055" y1="52023" x2="33904" y2="43931"/>
                          <a14:foregroundMark x1="17123" y1="38728" x2="22945" y2="65318"/>
                          <a14:foregroundMark x1="42808" y1="34682" x2="42808" y2="34682"/>
                          <a14:foregroundMark x1="42123" y1="38728" x2="41096" y2="43353"/>
                          <a14:foregroundMark x1="41096" y1="40462" x2="41096" y2="38150"/>
                          <a14:foregroundMark x1="40411" y1="49711" x2="41096" y2="58382"/>
                          <a14:foregroundMark x1="53082" y1="43353" x2="53082" y2="62428"/>
                          <a14:foregroundMark x1="59932" y1="40462" x2="62329" y2="54335"/>
                          <a14:foregroundMark x1="60959" y1="31214" x2="69178" y2="55491"/>
                          <a14:foregroundMark x1="72260" y1="32370" x2="79795" y2="69942"/>
                          <a14:foregroundMark x1="79795" y1="69942" x2="61301" y2="70520"/>
                          <a14:foregroundMark x1="54452" y1="37572" x2="72603" y2="30058"/>
                          <a14:foregroundMark x1="72603" y1="30058" x2="80822" y2="48555"/>
                          <a14:foregroundMark x1="48630" y1="7514" x2="48630" y2="7514"/>
                          <a14:foregroundMark x1="46918" y1="93064" x2="46918" y2="93064"/>
                          <a14:foregroundMark x1="9247" y1="50867" x2="9247" y2="50867"/>
                        </a14:backgroundRemoval>
                      </a14:imgEffect>
                    </a14:imgLayer>
                  </a14:imgProps>
                </a:ext>
                <a:ext uri="{28A0092B-C50C-407E-A947-70E740481C1C}">
                  <a14:useLocalDpi xmlns:a14="http://schemas.microsoft.com/office/drawing/2010/main" val="0"/>
                </a:ext>
              </a:extLst>
            </a:blip>
            <a:srcRect/>
            <a:stretch>
              <a:fillRect/>
            </a:stretch>
          </p:blipFill>
          <p:spPr bwMode="auto">
            <a:xfrm>
              <a:off x="4706482" y="4514668"/>
              <a:ext cx="911446"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1" name="组合 60"/>
          <p:cNvGrpSpPr/>
          <p:nvPr/>
        </p:nvGrpSpPr>
        <p:grpSpPr>
          <a:xfrm>
            <a:off x="5831612" y="5528918"/>
            <a:ext cx="923644" cy="777816"/>
            <a:chOff x="5831612" y="4505909"/>
            <a:chExt cx="923644" cy="777816"/>
          </a:xfrm>
        </p:grpSpPr>
        <p:sp>
          <p:nvSpPr>
            <p:cNvPr id="54" name="矩形 53"/>
            <p:cNvSpPr/>
            <p:nvPr/>
          </p:nvSpPr>
          <p:spPr>
            <a:xfrm>
              <a:off x="5831612"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5831612"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卫星网络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2" name="Picture 18" descr="中国电信天通卫星通信将覆盖香港：华为、小米等都能用- China Telecom 中国电信- cnBeta.COM"/>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0000" b="90000" l="10000" r="90000">
                          <a14:foregroundMark x1="64833" y1="18224" x2="68000" y2="30841"/>
                          <a14:foregroundMark x1="63667" y1="16355" x2="63667" y2="16355"/>
                          <a14:foregroundMark x1="62000" y1="16589" x2="62000" y2="16589"/>
                          <a14:foregroundMark x1="62500" y1="20794" x2="62500" y2="20794"/>
                          <a14:foregroundMark x1="63833" y1="25000" x2="63833" y2="25000"/>
                          <a14:foregroundMark x1="70333" y1="42991" x2="70333" y2="42991"/>
                          <a14:foregroundMark x1="70000" y1="37850" x2="70000" y2="37850"/>
                          <a14:foregroundMark x1="71167" y1="39720" x2="71167" y2="39720"/>
                          <a14:foregroundMark x1="66333" y1="15421" x2="66333" y2="15421"/>
                          <a14:foregroundMark x1="76667" y1="38084" x2="76667" y2="38084"/>
                          <a14:foregroundMark x1="74667" y1="39720" x2="74667" y2="39720"/>
                          <a14:foregroundMark x1="66667" y1="32243" x2="66667" y2="32243"/>
                          <a14:foregroundMark x1="68667" y1="35514" x2="68667" y2="35514"/>
                          <a14:foregroundMark x1="72833" y1="50000" x2="72833" y2="50000"/>
                          <a14:foregroundMark x1="57833" y1="51869" x2="57833" y2="51869"/>
                        </a14:backgroundRemoval>
                      </a14:imgEffect>
                    </a14:imgLayer>
                  </a14:imgProps>
                </a:ext>
                <a:ext uri="{28A0092B-C50C-407E-A947-70E740481C1C}">
                  <a14:useLocalDpi xmlns:a14="http://schemas.microsoft.com/office/drawing/2010/main" val="0"/>
                </a:ext>
              </a:extLst>
            </a:blip>
            <a:srcRect l="11233" t="7548" r="15573" b="18474"/>
            <a:stretch>
              <a:fillRect/>
            </a:stretch>
          </p:blipFill>
          <p:spPr bwMode="auto">
            <a:xfrm>
              <a:off x="5918937" y="4505909"/>
              <a:ext cx="748993"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4" name="组合 1023"/>
          <p:cNvGrpSpPr/>
          <p:nvPr/>
        </p:nvGrpSpPr>
        <p:grpSpPr>
          <a:xfrm>
            <a:off x="2419631" y="5532320"/>
            <a:ext cx="923644" cy="771013"/>
            <a:chOff x="6968940" y="4506552"/>
            <a:chExt cx="923644" cy="771013"/>
          </a:xfrm>
        </p:grpSpPr>
        <p:sp>
          <p:nvSpPr>
            <p:cNvPr id="56" name="矩形 55"/>
            <p:cNvSpPr/>
            <p:nvPr/>
          </p:nvSpPr>
          <p:spPr>
            <a:xfrm>
              <a:off x="6968940" y="450655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6968940" y="504653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以太网</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8" name="Picture 24" descr="百兆8口以太网交换机"/>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9961" b="89844" l="3711" r="96094">
                          <a14:foregroundMark x1="7617" y1="44336" x2="7617" y2="44336"/>
                          <a14:foregroundMark x1="6836" y1="45898" x2="6836" y2="45898"/>
                          <a14:foregroundMark x1="3711" y1="43164" x2="3711" y2="43164"/>
                          <a14:foregroundMark x1="92969" y1="48047" x2="92969" y2="48047"/>
                          <a14:foregroundMark x1="96094" y1="44727" x2="96094" y2="44727"/>
                        </a14:backgroundRemoval>
                      </a14:imgEffect>
                    </a14:imgLayer>
                  </a14:imgProps>
                </a:ext>
                <a:ext uri="{28A0092B-C50C-407E-A947-70E740481C1C}">
                  <a14:useLocalDpi xmlns:a14="http://schemas.microsoft.com/office/drawing/2010/main" val="0"/>
                </a:ext>
              </a:extLst>
            </a:blip>
            <a:srcRect t="30161" b="28977"/>
            <a:stretch>
              <a:fillRect/>
            </a:stretch>
          </p:blipFill>
          <p:spPr bwMode="auto">
            <a:xfrm>
              <a:off x="7064331" y="4526221"/>
              <a:ext cx="740375"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1025" name="矩形 1024"/>
          <p:cNvSpPr/>
          <p:nvPr/>
        </p:nvSpPr>
        <p:spPr>
          <a:xfrm>
            <a:off x="2419631"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7" name="矩形 1026"/>
          <p:cNvSpPr/>
          <p:nvPr/>
        </p:nvSpPr>
        <p:spPr>
          <a:xfrm>
            <a:off x="2419631"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PyTorch</a:t>
            </a:r>
            <a:r>
              <a:rPr lang="zh-CN" altLang="en-US" sz="900" b="1" dirty="0">
                <a:solidFill>
                  <a:schemeClr val="tx1"/>
                </a:solidFill>
                <a:latin typeface="Times New Roman" panose="02020603050405020304" pitchFamily="18" charset="0"/>
                <a:ea typeface="SimSun" panose="02010600030101010101" pitchFamily="2" charset="-122"/>
              </a:rPr>
              <a:t>计算框架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29" name="矩形 1028"/>
          <p:cNvSpPr/>
          <p:nvPr/>
        </p:nvSpPr>
        <p:spPr>
          <a:xfrm>
            <a:off x="3556958"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1" name="矩形 1030"/>
          <p:cNvSpPr/>
          <p:nvPr/>
        </p:nvSpPr>
        <p:spPr>
          <a:xfrm>
            <a:off x="3556958"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Tensorflow</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33" name="矩形 1032"/>
          <p:cNvSpPr/>
          <p:nvPr/>
        </p:nvSpPr>
        <p:spPr>
          <a:xfrm>
            <a:off x="4706482"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5" name="矩形 1034"/>
          <p:cNvSpPr/>
          <p:nvPr/>
        </p:nvSpPr>
        <p:spPr>
          <a:xfrm>
            <a:off x="4706482"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MindSpore</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37" name="矩形 1036"/>
          <p:cNvSpPr/>
          <p:nvPr/>
        </p:nvSpPr>
        <p:spPr>
          <a:xfrm>
            <a:off x="5831612"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矩形 1038"/>
          <p:cNvSpPr/>
          <p:nvPr/>
        </p:nvSpPr>
        <p:spPr>
          <a:xfrm>
            <a:off x="5831612"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PaddlePaddle</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1" name="矩形 1040"/>
          <p:cNvSpPr/>
          <p:nvPr/>
        </p:nvSpPr>
        <p:spPr>
          <a:xfrm>
            <a:off x="6968940"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3" name="矩形 1042"/>
          <p:cNvSpPr/>
          <p:nvPr/>
        </p:nvSpPr>
        <p:spPr>
          <a:xfrm>
            <a:off x="6968940"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TVM</a:t>
            </a:r>
            <a:r>
              <a:rPr lang="zh-CN" altLang="en-US" sz="900" b="1" dirty="0">
                <a:solidFill>
                  <a:schemeClr val="tx1"/>
                </a:solidFill>
                <a:latin typeface="Times New Roman" panose="02020603050405020304" pitchFamily="18" charset="0"/>
                <a:ea typeface="SimSun" panose="02010600030101010101" pitchFamily="2" charset="-122"/>
              </a:rPr>
              <a:t>计算框架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4" name="矩形 1043"/>
          <p:cNvSpPr/>
          <p:nvPr/>
        </p:nvSpPr>
        <p:spPr>
          <a:xfrm>
            <a:off x="2419631"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5" name="矩形 1044"/>
          <p:cNvSpPr/>
          <p:nvPr/>
        </p:nvSpPr>
        <p:spPr>
          <a:xfrm>
            <a:off x="2419631"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智能驾驶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6" name="矩形 1045"/>
          <p:cNvSpPr/>
          <p:nvPr/>
        </p:nvSpPr>
        <p:spPr>
          <a:xfrm>
            <a:off x="3556958"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7" name="矩形 1046"/>
          <p:cNvSpPr/>
          <p:nvPr/>
        </p:nvSpPr>
        <p:spPr>
          <a:xfrm>
            <a:off x="3556958"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智能交通</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9" name="矩形 1048"/>
          <p:cNvSpPr/>
          <p:nvPr/>
        </p:nvSpPr>
        <p:spPr>
          <a:xfrm>
            <a:off x="4706482"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0" name="矩形 1049"/>
          <p:cNvSpPr/>
          <p:nvPr/>
        </p:nvSpPr>
        <p:spPr>
          <a:xfrm>
            <a:off x="4706482"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智能制造</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51" name="矩形 1050"/>
          <p:cNvSpPr/>
          <p:nvPr/>
        </p:nvSpPr>
        <p:spPr>
          <a:xfrm>
            <a:off x="5831612"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2" name="矩形 1051"/>
          <p:cNvSpPr/>
          <p:nvPr/>
        </p:nvSpPr>
        <p:spPr>
          <a:xfrm>
            <a:off x="5831612"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智能电网</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53" name="矩形 1052"/>
          <p:cNvSpPr/>
          <p:nvPr/>
        </p:nvSpPr>
        <p:spPr>
          <a:xfrm>
            <a:off x="6968940"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4" name="矩形 1053"/>
          <p:cNvSpPr/>
          <p:nvPr/>
        </p:nvSpPr>
        <p:spPr>
          <a:xfrm>
            <a:off x="6968940"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智慧农业</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55" name="Picture 26" descr="Neural Network Compression Apache TVM"/>
          <p:cNvPicPr>
            <a:picLocks noChangeAspect="1" noChangeArrowheads="1"/>
          </p:cNvPicPr>
          <p:nvPr/>
        </p:nvPicPr>
        <p:blipFill rotWithShape="1">
          <a:blip r:embed="rId12">
            <a:extLst>
              <a:ext uri="{28A0092B-C50C-407E-A947-70E740481C1C}">
                <a14:useLocalDpi xmlns:a14="http://schemas.microsoft.com/office/drawing/2010/main" val="0"/>
              </a:ext>
            </a:extLst>
          </a:blip>
          <a:srcRect l="9123" t="22141" r="6894" b="20667"/>
          <a:stretch>
            <a:fillRect/>
          </a:stretch>
        </p:blipFill>
        <p:spPr bwMode="auto">
          <a:xfrm>
            <a:off x="7034266" y="3456065"/>
            <a:ext cx="79299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3" name="Picture 28" descr="Pytorch. 接續上篇建好虛擬環境，如果覺得本篇已經看不懂的話可以先去看之前的文章，連結如下… | by Chicc | Medium"/>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59004" y="3462753"/>
            <a:ext cx="844898"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5" name="Picture 32" descr="GitHub - tensorflow/tensorflow: An Open Source Machine Learning Framework  for Everyone"/>
          <p:cNvPicPr>
            <a:picLocks noChangeAspect="1" noChangeArrowheads="1"/>
          </p:cNvPicPr>
          <p:nvPr/>
        </p:nvPicPr>
        <p:blipFill rotWithShape="1">
          <a:blip r:embed="rId14">
            <a:extLst>
              <a:ext uri="{28A0092B-C50C-407E-A947-70E740481C1C}">
                <a14:useLocalDpi xmlns:a14="http://schemas.microsoft.com/office/drawing/2010/main" val="0"/>
              </a:ext>
            </a:extLst>
          </a:blip>
          <a:srcRect l="6979" t="23377" r="73566" b="22373"/>
          <a:stretch>
            <a:fillRect/>
          </a:stretch>
        </p:blipFill>
        <p:spPr bwMode="auto">
          <a:xfrm>
            <a:off x="3740412" y="3447278"/>
            <a:ext cx="577055"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34" descr="Huawei MindSpore – Medium"/>
          <p:cNvPicPr>
            <a:picLocks noChangeAspect="1" noChangeArrowheads="1"/>
          </p:cNvPicPr>
          <p:nvPr/>
        </p:nvPicPr>
        <p:blipFill rotWithShape="1">
          <a:blip r:embed="rId15">
            <a:extLst>
              <a:ext uri="{28A0092B-C50C-407E-A947-70E740481C1C}">
                <a14:useLocalDpi xmlns:a14="http://schemas.microsoft.com/office/drawing/2010/main" val="0"/>
              </a:ext>
            </a:extLst>
          </a:blip>
          <a:srcRect l="9497" t="19259" r="10801" b="15856"/>
          <a:stretch>
            <a:fillRect/>
          </a:stretch>
        </p:blipFill>
        <p:spPr bwMode="auto">
          <a:xfrm>
            <a:off x="4867579" y="3437118"/>
            <a:ext cx="661242"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7" name="Picture 36" descr="Tengine 支持PaddlePaddle 模型部署- 极术社区- 连接开发者与智能计算生态"/>
          <p:cNvPicPr>
            <a:picLocks noChangeAspect="1" noChangeArrowheads="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15038" y1="51794" x2="15038" y2="51794"/>
                        <a14:foregroundMark x1="25846" y1="52242" x2="25846" y2="52242"/>
                        <a14:foregroundMark x1="29981" y1="26009" x2="29981" y2="26009"/>
                        <a14:foregroundMark x1="36936" y1="45067" x2="36936" y2="45067"/>
                        <a14:foregroundMark x1="45865" y1="37444" x2="45865" y2="37444"/>
                        <a14:foregroundMark x1="45207" y1="26457" x2="45207" y2="26457"/>
                        <a14:foregroundMark x1="60808" y1="42377" x2="60808" y2="42377"/>
                        <a14:foregroundMark x1="60432" y1="51570" x2="60432" y2="51570"/>
                        <a14:foregroundMark x1="70301" y1="45067" x2="70301" y2="45067"/>
                        <a14:foregroundMark x1="75564" y1="34529" x2="75564" y2="34529"/>
                        <a14:foregroundMark x1="74436" y1="55605" x2="74436" y2="55605"/>
                        <a14:foregroundMark x1="70959" y1="62108" x2="70959" y2="62108"/>
                        <a14:foregroundMark x1="77538" y1="61211" x2="77538" y2="61211"/>
                      </a14:backgroundRemoval>
                    </a14:imgEffect>
                  </a14:imgLayer>
                </a14:imgProps>
              </a:ext>
              <a:ext uri="{28A0092B-C50C-407E-A947-70E740481C1C}">
                <a14:useLocalDpi xmlns:a14="http://schemas.microsoft.com/office/drawing/2010/main" val="0"/>
              </a:ext>
            </a:extLst>
          </a:blip>
          <a:srcRect l="11642" t="16198" r="16500" b="23225"/>
          <a:stretch>
            <a:fillRect/>
          </a:stretch>
        </p:blipFill>
        <p:spPr bwMode="auto">
          <a:xfrm>
            <a:off x="5928153" y="3454400"/>
            <a:ext cx="742086"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38" descr="智能驾驶打造汽车和交通网络的未来（沉浸式驾乘）"/>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00865" y="2445482"/>
            <a:ext cx="761176" cy="491636"/>
          </a:xfrm>
          <a:prstGeom prst="rect">
            <a:avLst/>
          </a:prstGeom>
          <a:noFill/>
          <a:extLst>
            <a:ext uri="{909E8E84-426E-40DD-AFC4-6F175D3DCCD1}">
              <a14:hiddenFill xmlns:a14="http://schemas.microsoft.com/office/drawing/2010/main">
                <a:solidFill>
                  <a:srgbClr val="FFFFFF"/>
                </a:solidFill>
              </a14:hiddenFill>
            </a:ext>
          </a:extLst>
        </p:spPr>
      </p:pic>
      <p:pic>
        <p:nvPicPr>
          <p:cNvPr id="1079" name="Picture 40" descr="报告认为，到2035年我国智能交通产业生态将保持全球领先水平-中国科技网"/>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49823" y="2444884"/>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42" descr="智能制造“十四五”规划征求意见：核心技术攻关放到首位，2025年规上制造企业普及数字化| 界面新闻"/>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88504" y="2440298"/>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1" name="Picture 44" descr="智能电网或迎新一轮掘金潮一级市场投资逻辑显现"/>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913633" y="2440298"/>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2" name="Picture 46" descr="IIoTx农业：利用IIoT技术的“智慧农业”的未来| 村田制作所技术文章"/>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57496" y="2440298"/>
            <a:ext cx="759600" cy="49320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1160118" y="4427855"/>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200" b="1" dirty="0">
                <a:solidFill>
                  <a:schemeClr val="bg1"/>
                </a:solidFill>
                <a:latin typeface="Times New Roman" panose="02020603050405020304" pitchFamily="18" charset="0"/>
                <a:ea typeface="SimSun" panose="02010600030101010101" pitchFamily="2" charset="-122"/>
              </a:rPr>
              <a:t>云边端异构</a:t>
            </a:r>
            <a:endParaRPr lang="en-US" altLang="zh-CN" sz="1200" b="1" dirty="0">
              <a:solidFill>
                <a:schemeClr val="bg1"/>
              </a:solidFill>
              <a:latin typeface="Times New Roman" panose="02020603050405020304" pitchFamily="18" charset="0"/>
              <a:ea typeface="SimSun" panose="02010600030101010101" pitchFamily="2" charset="-122"/>
            </a:endParaRPr>
          </a:p>
          <a:p>
            <a:pPr algn="ctr"/>
            <a:r>
              <a:rPr lang="zh-CN" altLang="en-US" sz="1200" b="1" dirty="0">
                <a:solidFill>
                  <a:schemeClr val="bg1"/>
                </a:solidFill>
                <a:latin typeface="Times New Roman" panose="02020603050405020304" pitchFamily="18" charset="0"/>
                <a:ea typeface="SimSun" panose="02010600030101010101" pitchFamily="2" charset="-122"/>
              </a:rPr>
              <a:t>智算硬件</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7" name="矩形 6"/>
          <p:cNvSpPr/>
          <p:nvPr/>
        </p:nvSpPr>
        <p:spPr>
          <a:xfrm>
            <a:off x="2338728" y="4427855"/>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1200" dirty="0">
              <a:solidFill>
                <a:schemeClr val="tx1"/>
              </a:solidFill>
            </a:endParaRPr>
          </a:p>
        </p:txBody>
      </p:sp>
      <p:grpSp>
        <p:nvGrpSpPr>
          <p:cNvPr id="8" name="组合 7"/>
          <p:cNvGrpSpPr/>
          <p:nvPr/>
        </p:nvGrpSpPr>
        <p:grpSpPr>
          <a:xfrm>
            <a:off x="2419631" y="4491827"/>
            <a:ext cx="923644" cy="771013"/>
            <a:chOff x="2419631" y="5566247"/>
            <a:chExt cx="923644" cy="771013"/>
          </a:xfrm>
        </p:grpSpPr>
        <p:sp>
          <p:nvSpPr>
            <p:cNvPr id="9" name="矩形 8"/>
            <p:cNvSpPr/>
            <p:nvPr/>
          </p:nvSpPr>
          <p:spPr>
            <a:xfrm>
              <a:off x="2419631" y="556624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nvSpPr>
          <p:spPr>
            <a:xfrm>
              <a:off x="2419631" y="610622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900" b="1" dirty="0">
                  <a:solidFill>
                    <a:schemeClr val="tx1"/>
                  </a:solidFill>
                  <a:latin typeface="Times New Roman" panose="02020603050405020304" pitchFamily="18" charset="0"/>
                  <a:ea typeface="SimSun" panose="02010600030101010101" pitchFamily="2" charset="-122"/>
                </a:rPr>
                <a:t>A100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1" name="Picture 2" descr="NVIDIA A100 | NVIDIA"/>
            <p:cNvPicPr>
              <a:picLocks noChangeAspect="1" noChangeArrowheads="1"/>
            </p:cNvPicPr>
            <p:nvPr/>
          </p:nvPicPr>
          <p:blipFill rotWithShape="1">
            <a:blip r:embed="rId23">
              <a:extLst>
                <a:ext uri="{BEBA8EAE-BF5A-486C-A8C5-ECC9F3942E4B}">
                  <a14:imgProps xmlns:a14="http://schemas.microsoft.com/office/drawing/2010/main">
                    <a14:imgLayer r:embed="rId24">
                      <a14:imgEffect>
                        <a14:backgroundRemoval t="10000" b="90000" l="10000" r="90000"/>
                      </a14:imgEffect>
                    </a14:imgLayer>
                  </a14:imgProps>
                </a:ext>
                <a:ext uri="{28A0092B-C50C-407E-A947-70E740481C1C}">
                  <a14:useLocalDpi xmlns:a14="http://schemas.microsoft.com/office/drawing/2010/main" val="0"/>
                </a:ext>
              </a:extLst>
            </a:blip>
            <a:srcRect l="24881" t="7017" r="26831" b="10007"/>
            <a:stretch>
              <a:fillRect/>
            </a:stretch>
          </p:blipFill>
          <p:spPr bwMode="auto">
            <a:xfrm>
              <a:off x="2513946" y="5573404"/>
              <a:ext cx="735014"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组合 11"/>
          <p:cNvGrpSpPr/>
          <p:nvPr/>
        </p:nvGrpSpPr>
        <p:grpSpPr>
          <a:xfrm>
            <a:off x="3556958" y="4498984"/>
            <a:ext cx="923644" cy="771013"/>
            <a:chOff x="3556958" y="5573404"/>
            <a:chExt cx="923644" cy="771013"/>
          </a:xfrm>
        </p:grpSpPr>
        <p:sp>
          <p:nvSpPr>
            <p:cNvPr id="13" name="矩形 12"/>
            <p:cNvSpPr/>
            <p:nvPr/>
          </p:nvSpPr>
          <p:spPr>
            <a:xfrm>
              <a:off x="3556958" y="5573404"/>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矩形 13"/>
            <p:cNvSpPr/>
            <p:nvPr/>
          </p:nvSpPr>
          <p:spPr>
            <a:xfrm>
              <a:off x="3556958" y="6113386"/>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zh-CN" altLang="en-US" sz="900" b="1" dirty="0">
                  <a:solidFill>
                    <a:schemeClr val="tx1"/>
                  </a:solidFill>
                  <a:latin typeface="Times New Roman" panose="02020603050405020304" pitchFamily="18" charset="0"/>
                  <a:ea typeface="SimSun" panose="02010600030101010101" pitchFamily="2" charset="-122"/>
                </a:rPr>
                <a:t>天垓</a:t>
              </a:r>
              <a:r>
                <a:rPr lang="en-US" altLang="zh-CN" sz="900" b="1" dirty="0">
                  <a:solidFill>
                    <a:schemeClr val="tx1"/>
                  </a:solidFill>
                  <a:latin typeface="Times New Roman" panose="02020603050405020304" pitchFamily="18" charset="0"/>
                  <a:ea typeface="SimSun" panose="02010600030101010101" pitchFamily="2" charset="-122"/>
                </a:rPr>
                <a:t>100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5" name="Picture 4" descr="天数智芯通用GPU产品天垓100与飞桨完成III级兼容性测试，加速人工智能产业生态建设"/>
            <p:cNvPicPr>
              <a:picLocks noChangeAspect="1" noChangeArrowheads="1"/>
            </p:cNvPicPr>
            <p:nvPr/>
          </p:nvPicPr>
          <p:blipFill rotWithShape="1">
            <a:blip r:embed="rId25">
              <a:extLst>
                <a:ext uri="{28A0092B-C50C-407E-A947-70E740481C1C}">
                  <a14:useLocalDpi xmlns:a14="http://schemas.microsoft.com/office/drawing/2010/main" val="0"/>
                </a:ext>
              </a:extLst>
            </a:blip>
            <a:srcRect l="8477" t="11050" r="12142" b="15361"/>
            <a:stretch>
              <a:fillRect/>
            </a:stretch>
          </p:blipFill>
          <p:spPr bwMode="auto">
            <a:xfrm>
              <a:off x="3722260" y="5590470"/>
              <a:ext cx="603603"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组合 19"/>
          <p:cNvGrpSpPr/>
          <p:nvPr/>
        </p:nvGrpSpPr>
        <p:grpSpPr>
          <a:xfrm>
            <a:off x="4694285" y="4506141"/>
            <a:ext cx="923644" cy="771013"/>
            <a:chOff x="4694285" y="5580561"/>
            <a:chExt cx="923644" cy="771013"/>
          </a:xfrm>
        </p:grpSpPr>
        <p:sp>
          <p:nvSpPr>
            <p:cNvPr id="21" name="矩形 20"/>
            <p:cNvSpPr/>
            <p:nvPr/>
          </p:nvSpPr>
          <p:spPr>
            <a:xfrm>
              <a:off x="4694285" y="5580561"/>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矩形 22"/>
            <p:cNvSpPr/>
            <p:nvPr/>
          </p:nvSpPr>
          <p:spPr>
            <a:xfrm>
              <a:off x="4694285" y="6120543"/>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sz="900" b="1" dirty="0">
                  <a:solidFill>
                    <a:schemeClr val="tx1"/>
                  </a:solidFill>
                  <a:latin typeface="Times New Roman" panose="02020603050405020304" pitchFamily="18" charset="0"/>
                  <a:ea typeface="SimSun" panose="02010600030101010101" pitchFamily="2" charset="-122"/>
                </a:rPr>
                <a:t>Jetson</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26" name="Picture 6" descr="Decatron | STEM 設備| AI 人工智能設備| NVIDIA Jetson Nano 4GB 開發套件"/>
            <p:cNvPicPr>
              <a:picLocks noChangeAspect="1" noChangeArrowheads="1"/>
            </p:cNvPicPr>
            <p:nvPr/>
          </p:nvPicPr>
          <p:blipFill>
            <a:blip r:embed="rId26">
              <a:extLst>
                <a:ext uri="{BEBA8EAE-BF5A-486C-A8C5-ECC9F3942E4B}">
                  <a14:imgProps xmlns:a14="http://schemas.microsoft.com/office/drawing/2010/main">
                    <a14:imgLayer r:embed="rId27">
                      <a14:imgEffect>
                        <a14:backgroundRemoval t="8478" b="92033" l="7500" r="94167">
                          <a14:foregroundMark x1="77583" y1="37181" x2="71333" y2="49438"/>
                          <a14:foregroundMark x1="65250" y1="58121" x2="57750" y2="64964"/>
                          <a14:foregroundMark x1="92250" y1="43514" x2="94167" y2="43514"/>
                          <a14:foregroundMark x1="44250" y1="90092" x2="45667" y2="92033"/>
                          <a14:foregroundMark x1="11250" y1="57712" x2="7500" y2="56180"/>
                          <a14:foregroundMark x1="43333" y1="8478" x2="39083" y2="11747"/>
                        </a14:backgroundRemoval>
                      </a14:imgEffect>
                    </a14:imgLayer>
                  </a14:imgProps>
                </a:ext>
                <a:ext uri="{28A0092B-C50C-407E-A947-70E740481C1C}">
                  <a14:useLocalDpi xmlns:a14="http://schemas.microsoft.com/office/drawing/2010/main" val="0"/>
                </a:ext>
              </a:extLst>
            </a:blip>
            <a:srcRect/>
            <a:stretch>
              <a:fillRect/>
            </a:stretch>
          </p:blipFill>
          <p:spPr bwMode="auto">
            <a:xfrm>
              <a:off x="4825169" y="5580561"/>
              <a:ext cx="661875"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 name="组合 26"/>
          <p:cNvGrpSpPr/>
          <p:nvPr/>
        </p:nvGrpSpPr>
        <p:grpSpPr>
          <a:xfrm>
            <a:off x="5831612" y="4494303"/>
            <a:ext cx="923644" cy="771013"/>
            <a:chOff x="5831612" y="5568723"/>
            <a:chExt cx="923644" cy="771013"/>
          </a:xfrm>
        </p:grpSpPr>
        <p:sp>
          <p:nvSpPr>
            <p:cNvPr id="30" name="矩形 29"/>
            <p:cNvSpPr/>
            <p:nvPr/>
          </p:nvSpPr>
          <p:spPr>
            <a:xfrm>
              <a:off x="5831612" y="5568723"/>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矩形 30"/>
            <p:cNvSpPr/>
            <p:nvPr/>
          </p:nvSpPr>
          <p:spPr>
            <a:xfrm>
              <a:off x="5831612" y="6108705"/>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sz="900" b="1" dirty="0">
                  <a:solidFill>
                    <a:schemeClr val="tx1"/>
                  </a:solidFill>
                  <a:latin typeface="Times New Roman" panose="02020603050405020304" pitchFamily="18" charset="0"/>
                  <a:ea typeface="SimSun" panose="02010600030101010101" pitchFamily="2" charset="-122"/>
                </a:rPr>
                <a:t>Atlas 300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34" name="Picture 8" descr="全爱科技- Atlas 300I Pro 推理卡"/>
            <p:cNvPicPr>
              <a:picLocks noChangeAspect="1" noChangeArrowheads="1"/>
            </p:cNvPicPr>
            <p:nvPr/>
          </p:nvPicPr>
          <p:blipFill rotWithShape="1">
            <a:blip r:embed="rId28">
              <a:extLst>
                <a:ext uri="{BEBA8EAE-BF5A-486C-A8C5-ECC9F3942E4B}">
                  <a14:imgProps xmlns:a14="http://schemas.microsoft.com/office/drawing/2010/main">
                    <a14:imgLayer r:embed="rId29">
                      <a14:imgEffect>
                        <a14:backgroundRemoval t="10000" b="90000" l="10000" r="90000">
                          <a14:foregroundMark x1="55390" y1="31915" x2="53160" y2="35638"/>
                        </a14:backgroundRemoval>
                      </a14:imgEffect>
                    </a14:imgLayer>
                  </a14:imgProps>
                </a:ext>
                <a:ext uri="{28A0092B-C50C-407E-A947-70E740481C1C}">
                  <a14:useLocalDpi xmlns:a14="http://schemas.microsoft.com/office/drawing/2010/main" val="0"/>
                </a:ext>
              </a:extLst>
            </a:blip>
            <a:srcRect l="17664" t="10923" r="11754" b="19524"/>
            <a:stretch>
              <a:fillRect/>
            </a:stretch>
          </p:blipFill>
          <p:spPr bwMode="auto">
            <a:xfrm>
              <a:off x="5901389" y="5582294"/>
              <a:ext cx="78409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5" name="组合 34"/>
          <p:cNvGrpSpPr/>
          <p:nvPr/>
        </p:nvGrpSpPr>
        <p:grpSpPr>
          <a:xfrm>
            <a:off x="6968940" y="4498984"/>
            <a:ext cx="923644" cy="771013"/>
            <a:chOff x="6968940" y="5573404"/>
            <a:chExt cx="923644" cy="771013"/>
          </a:xfrm>
        </p:grpSpPr>
        <p:sp>
          <p:nvSpPr>
            <p:cNvPr id="38" name="矩形 37"/>
            <p:cNvSpPr/>
            <p:nvPr/>
          </p:nvSpPr>
          <p:spPr>
            <a:xfrm>
              <a:off x="6968940" y="5573404"/>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矩形 61"/>
            <p:cNvSpPr/>
            <p:nvPr/>
          </p:nvSpPr>
          <p:spPr>
            <a:xfrm>
              <a:off x="6968940" y="6113386"/>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p>
              <a:pPr algn="ctr"/>
              <a:r>
                <a:rPr lang="en-US" altLang="zh-CN" sz="900" b="1" dirty="0">
                  <a:solidFill>
                    <a:schemeClr val="tx1"/>
                  </a:solidFill>
                  <a:latin typeface="Times New Roman" panose="02020603050405020304" pitchFamily="18" charset="0"/>
                  <a:ea typeface="SimSun" panose="02010600030101010101" pitchFamily="2" charset="-122"/>
                </a:rPr>
                <a:t>MLU270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63" name="Picture 10" descr="MLU270-S4智能加速卡"/>
            <p:cNvPicPr>
              <a:picLocks noChangeAspect="1" noChangeArrowheads="1"/>
            </p:cNvPicPr>
            <p:nvPr/>
          </p:nvPicPr>
          <p:blipFill rotWithShape="1">
            <a:blip r:embed="rId30">
              <a:extLst>
                <a:ext uri="{BEBA8EAE-BF5A-486C-A8C5-ECC9F3942E4B}">
                  <a14:imgProps xmlns:a14="http://schemas.microsoft.com/office/drawing/2010/main">
                    <a14:imgLayer r:embed="rId31">
                      <a14:imgEffect>
                        <a14:backgroundRemoval t="10000" b="90000" l="10000" r="90000">
                          <a14:foregroundMark x1="28237" y1="42909" x2="27769" y2="56000"/>
                          <a14:foregroundMark x1="25117" y1="34727" x2="25117" y2="34727"/>
                          <a14:foregroundMark x1="26989" y1="35818" x2="24337" y2="32727"/>
                          <a14:foregroundMark x1="27769" y1="35273" x2="21997" y2="33455"/>
                          <a14:foregroundMark x1="32449" y1="46909" x2="32293" y2="54727"/>
                          <a14:foregroundMark x1="32293" y1="59455" x2="32137" y2="63636"/>
                          <a14:foregroundMark x1="32293" y1="64182" x2="32605" y2="66909"/>
                        </a14:backgroundRemoval>
                      </a14:imgEffect>
                    </a14:imgLayer>
                  </a14:imgProps>
                </a:ext>
                <a:ext uri="{28A0092B-C50C-407E-A947-70E740481C1C}">
                  <a14:useLocalDpi xmlns:a14="http://schemas.microsoft.com/office/drawing/2010/main" val="0"/>
                </a:ext>
              </a:extLst>
            </a:blip>
            <a:srcRect l="19881" t="19455" r="18965" b="20618"/>
            <a:stretch>
              <a:fillRect/>
            </a:stretch>
          </p:blipFill>
          <p:spPr bwMode="auto">
            <a:xfrm>
              <a:off x="7109645" y="5574402"/>
              <a:ext cx="642233" cy="54000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32"/>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922020"/>
          </a:xfrm>
          <a:prstGeom prst="rect">
            <a:avLst/>
          </a:prstGeom>
          <a:noFill/>
        </p:spPr>
        <p:txBody>
          <a:bodyPr wrap="square" rtlCol="0">
            <a:spAutoFit/>
          </a:bodyPr>
          <a:lstStyle/>
          <a:p>
            <a:pPr indent="0" algn="just" fontAlgn="auto">
              <a:lnSpc>
                <a:spcPct val="150000"/>
              </a:lnSpc>
              <a:spcBef>
                <a:spcPts val="0"/>
              </a:spcBef>
              <a:spcAft>
                <a:spcPts val="600"/>
              </a:spcAft>
            </a:pPr>
            <a:r>
              <a:rPr lang="zh-CN" altLang="en-US" dirty="0">
                <a:sym typeface="+mn-ea"/>
              </a:rPr>
              <a:t>云边端中的</a:t>
            </a:r>
            <a:r>
              <a:rPr lang="zh-CN" altLang="en-US" dirty="0">
                <a:sym typeface="+mn-ea"/>
              </a:rPr>
              <a:t>跨域训练场景呈现出</a:t>
            </a:r>
            <a:r>
              <a:rPr lang="zh-CN" altLang="en-US" b="1" dirty="0">
                <a:sym typeface="+mn-ea"/>
              </a:rPr>
              <a:t>跨域训练通信瓶颈严重、节点间网络状态不一</a:t>
            </a:r>
            <a:r>
              <a:rPr lang="zh-CN" altLang="en-US" dirty="0">
                <a:sym typeface="+mn-ea"/>
              </a:rPr>
              <a:t>的特征，对跨域分布式训练提出了全新的挑战。</a:t>
            </a:r>
            <a:endParaRPr lang="zh-CN" altLang="en-US" dirty="0">
              <a:sym typeface="+mn-ea"/>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2" name="矩形 11"/>
          <p:cNvSpPr/>
          <p:nvPr/>
        </p:nvSpPr>
        <p:spPr>
          <a:xfrm>
            <a:off x="539836" y="1832987"/>
            <a:ext cx="8061321" cy="42354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dirty="0">
                <a:solidFill>
                  <a:schemeClr val="tx1"/>
                </a:solidFill>
                <a:sym typeface="+mn-ea"/>
              </a:rPr>
              <a:t>面向云边端协同的跨域分布式训练场景</a:t>
            </a:r>
            <a:endParaRPr lang="zh-CN" altLang="en-US" sz="2000" b="1" dirty="0">
              <a:solidFill>
                <a:schemeClr val="tx1"/>
              </a:solidFill>
              <a:sym typeface="+mn-ea"/>
            </a:endParaRPr>
          </a:p>
        </p:txBody>
      </p:sp>
      <p:sp>
        <p:nvSpPr>
          <p:cNvPr id="15" name="矩形 14"/>
          <p:cNvSpPr/>
          <p:nvPr>
            <p:custDataLst>
              <p:tags r:id="rId1"/>
            </p:custDataLst>
          </p:nvPr>
        </p:nvSpPr>
        <p:spPr>
          <a:xfrm>
            <a:off x="539115" y="2345055"/>
            <a:ext cx="2577465" cy="816610"/>
          </a:xfrm>
          <a:prstGeom prst="rect">
            <a:avLst/>
          </a:prstGeom>
          <a:solidFill>
            <a:srgbClr val="145396"/>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dirty="0">
                <a:sym typeface="+mn-ea"/>
              </a:rPr>
              <a:t>特征一：域间</a:t>
            </a:r>
            <a:r>
              <a:rPr lang="zh-CN" altLang="en-US" sz="1600" b="1" dirty="0">
                <a:sym typeface="+mn-ea"/>
              </a:rPr>
              <a:t>通信带宽</a:t>
            </a:r>
            <a:r>
              <a:rPr lang="zh-CN" altLang="en-US" sz="1600" b="1" dirty="0">
                <a:sym typeface="+mn-ea"/>
              </a:rPr>
              <a:t>低</a:t>
            </a:r>
            <a:endParaRPr lang="zh-CN" altLang="en-US" sz="1600" b="1" dirty="0">
              <a:sym typeface="+mn-ea"/>
            </a:endParaRPr>
          </a:p>
        </p:txBody>
      </p:sp>
      <p:sp>
        <p:nvSpPr>
          <p:cNvPr id="16" name="矩形 15"/>
          <p:cNvSpPr/>
          <p:nvPr>
            <p:custDataLst>
              <p:tags r:id="rId2"/>
            </p:custDataLst>
          </p:nvPr>
        </p:nvSpPr>
        <p:spPr>
          <a:xfrm>
            <a:off x="542925" y="3249930"/>
            <a:ext cx="2573020" cy="296926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sz="1600" dirty="0">
                <a:solidFill>
                  <a:schemeClr val="tx1"/>
                </a:solidFill>
                <a:sym typeface="+mn-ea"/>
              </a:rPr>
              <a:t>在云边端协同的跨域分布式训练场景中，训练时跨域部署的</a:t>
            </a:r>
            <a:r>
              <a:rPr lang="zh-CN" altLang="en-US" sz="1600" dirty="0">
                <a:solidFill>
                  <a:schemeClr val="tx1"/>
                </a:solidFill>
                <a:sym typeface="+mn-ea"/>
              </a:rPr>
              <a:t>计算节点在低速网络中传输模型参数与梯度，造成分布式训练的通信瓶颈更加严重，通信</a:t>
            </a:r>
            <a:r>
              <a:rPr lang="en-US" altLang="zh-CN" sz="1600" dirty="0">
                <a:solidFill>
                  <a:schemeClr val="tx1"/>
                </a:solidFill>
                <a:sym typeface="+mn-ea"/>
              </a:rPr>
              <a:t>-</a:t>
            </a:r>
            <a:r>
              <a:rPr lang="zh-CN" altLang="en-US" sz="1600" dirty="0">
                <a:solidFill>
                  <a:schemeClr val="tx1"/>
                </a:solidFill>
                <a:sym typeface="+mn-ea"/>
              </a:rPr>
              <a:t>计算比进一步扩大，严重降低计算设备利用率，影响训练速度。</a:t>
            </a:r>
            <a:endParaRPr lang="zh-CN" altLang="en-US" sz="1600" dirty="0">
              <a:solidFill>
                <a:schemeClr val="tx1"/>
              </a:solidFill>
              <a:sym typeface="+mn-ea"/>
            </a:endParaRPr>
          </a:p>
        </p:txBody>
      </p:sp>
      <p:sp>
        <p:nvSpPr>
          <p:cNvPr id="5" name="矩形 4"/>
          <p:cNvSpPr/>
          <p:nvPr>
            <p:custDataLst>
              <p:tags r:id="rId3"/>
            </p:custDataLst>
          </p:nvPr>
        </p:nvSpPr>
        <p:spPr>
          <a:xfrm>
            <a:off x="3283585" y="2345055"/>
            <a:ext cx="2577465" cy="816610"/>
          </a:xfrm>
          <a:prstGeom prst="rect">
            <a:avLst/>
          </a:prstGeom>
          <a:solidFill>
            <a:srgbClr val="145396"/>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dirty="0">
                <a:sym typeface="+mn-ea"/>
              </a:rPr>
              <a:t>特征</a:t>
            </a:r>
            <a:r>
              <a:rPr lang="zh-CN" altLang="en-US" sz="1600" b="1" dirty="0">
                <a:sym typeface="+mn-ea"/>
              </a:rPr>
              <a:t>二：跨域链路</a:t>
            </a:r>
            <a:r>
              <a:rPr lang="zh-CN" altLang="en-US" sz="1600" b="1" dirty="0">
                <a:sym typeface="+mn-ea"/>
              </a:rPr>
              <a:t>异构</a:t>
            </a:r>
            <a:endParaRPr lang="zh-CN" altLang="en-US" sz="1600" b="1" dirty="0">
              <a:sym typeface="+mn-ea"/>
            </a:endParaRPr>
          </a:p>
        </p:txBody>
      </p:sp>
      <p:sp>
        <p:nvSpPr>
          <p:cNvPr id="6" name="矩形 5"/>
          <p:cNvSpPr/>
          <p:nvPr>
            <p:custDataLst>
              <p:tags r:id="rId4"/>
            </p:custDataLst>
          </p:nvPr>
        </p:nvSpPr>
        <p:spPr>
          <a:xfrm>
            <a:off x="6028055" y="2345055"/>
            <a:ext cx="2577465" cy="816610"/>
          </a:xfrm>
          <a:prstGeom prst="rect">
            <a:avLst/>
          </a:prstGeom>
          <a:solidFill>
            <a:srgbClr val="145396"/>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dirty="0">
                <a:sym typeface="+mn-ea"/>
              </a:rPr>
              <a:t>特征三：通信延时</a:t>
            </a:r>
            <a:r>
              <a:rPr lang="zh-CN" altLang="en-US" sz="1600" b="1" dirty="0">
                <a:sym typeface="+mn-ea"/>
              </a:rPr>
              <a:t>高</a:t>
            </a:r>
            <a:endParaRPr lang="zh-CN" altLang="en-US" sz="1600" b="1" dirty="0">
              <a:sym typeface="+mn-ea"/>
            </a:endParaRPr>
          </a:p>
        </p:txBody>
      </p:sp>
      <p:sp>
        <p:nvSpPr>
          <p:cNvPr id="7" name="矩形 6"/>
          <p:cNvSpPr/>
          <p:nvPr>
            <p:custDataLst>
              <p:tags r:id="rId5"/>
            </p:custDataLst>
          </p:nvPr>
        </p:nvSpPr>
        <p:spPr>
          <a:xfrm>
            <a:off x="3288030" y="3249930"/>
            <a:ext cx="2573020" cy="296926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sz="1600" dirty="0">
                <a:solidFill>
                  <a:schemeClr val="tx1"/>
                </a:solidFill>
                <a:sym typeface="+mn-ea"/>
              </a:rPr>
              <a:t>云边端协同的跨域分布式场景中，节点间执行集合通信需经过不同的链路，高速链路需等待低速链路，导致带宽利用率低，各节点进行集合通信的速度远低于集群内，降低了分布式训练时节点间的协同速度，影响</a:t>
            </a:r>
            <a:r>
              <a:rPr lang="zh-CN" altLang="en-US" sz="1600" dirty="0">
                <a:solidFill>
                  <a:schemeClr val="tx1"/>
                </a:solidFill>
                <a:sym typeface="+mn-ea"/>
              </a:rPr>
              <a:t>训练速度。</a:t>
            </a:r>
            <a:endParaRPr lang="zh-CN" altLang="en-US" sz="1600" dirty="0">
              <a:solidFill>
                <a:schemeClr val="tx1"/>
              </a:solidFill>
              <a:sym typeface="+mn-ea"/>
            </a:endParaRPr>
          </a:p>
        </p:txBody>
      </p:sp>
      <p:sp>
        <p:nvSpPr>
          <p:cNvPr id="8" name="矩形 7"/>
          <p:cNvSpPr/>
          <p:nvPr>
            <p:custDataLst>
              <p:tags r:id="rId6"/>
            </p:custDataLst>
          </p:nvPr>
        </p:nvSpPr>
        <p:spPr>
          <a:xfrm>
            <a:off x="6033135" y="3253740"/>
            <a:ext cx="2573020" cy="296926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sz="1600" dirty="0">
                <a:solidFill>
                  <a:schemeClr val="tx1"/>
                </a:solidFill>
                <a:sym typeface="+mn-ea"/>
              </a:rPr>
              <a:t>云边端协同的跨域分布式场景中，通信的延时较高。训练的每次迭代中，模型的计算时间无法掩盖通信同步数据</a:t>
            </a:r>
            <a:r>
              <a:rPr lang="zh-CN" altLang="en-US" sz="1600" dirty="0">
                <a:solidFill>
                  <a:schemeClr val="tx1"/>
                </a:solidFill>
                <a:sym typeface="+mn-ea"/>
              </a:rPr>
              <a:t>的时间，导致在单次迭代末尾极易产生不可掩盖的阻塞式同步尾延迟，产生了大量计算空泡，影响训练</a:t>
            </a:r>
            <a:r>
              <a:rPr lang="zh-CN" altLang="en-US" sz="1600" dirty="0">
                <a:solidFill>
                  <a:schemeClr val="tx1"/>
                </a:solidFill>
                <a:sym typeface="+mn-ea"/>
              </a:rPr>
              <a:t>速度。</a:t>
            </a:r>
            <a:endParaRPr lang="zh-CN" altLang="en-US" sz="1600" dirty="0">
              <a:solidFill>
                <a:schemeClr val="tx1"/>
              </a:solidFill>
              <a:sym typeface="+mn-ea"/>
            </a:endParaRPr>
          </a:p>
        </p:txBody>
      </p:sp>
    </p:spTree>
    <p:custDataLst>
      <p:tags r:id="rId7"/>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6752" y="262890"/>
            <a:ext cx="7996447" cy="521970"/>
          </a:xfrm>
        </p:spPr>
        <p:txBody>
          <a:bodyPr>
            <a:normAutofit fontScale="90000"/>
          </a:bodyPr>
          <a:lstStyle/>
          <a:p>
            <a:r>
              <a:rPr lang="zh-CN" altLang="en-US" dirty="0"/>
              <a:t>国内外研究现状</a:t>
            </a:r>
            <a:r>
              <a:rPr lang="en-US" altLang="zh-CN" dirty="0"/>
              <a:t> - </a:t>
            </a:r>
            <a:r>
              <a:rPr dirty="0"/>
              <a:t>云边端跨域训练</a:t>
            </a:r>
            <a:r>
              <a:rPr lang="zh-CN" altLang="en-US" dirty="0"/>
              <a:t>压缩</a:t>
            </a:r>
            <a:r>
              <a:rPr lang="zh-CN" altLang="en-US" dirty="0"/>
              <a:t>策略</a:t>
            </a:r>
            <a:endParaRPr lang="zh-CN" altLang="en-US" dirty="0"/>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圆角矩形 44"/>
          <p:cNvSpPr/>
          <p:nvPr>
            <p:custDataLst>
              <p:tags r:id="rId1"/>
            </p:custDataLst>
          </p:nvPr>
        </p:nvSpPr>
        <p:spPr>
          <a:xfrm>
            <a:off x="976630" y="5923915"/>
            <a:ext cx="7859395" cy="864235"/>
          </a:xfrm>
          <a:prstGeom prst="roundRect">
            <a:avLst/>
          </a:prstGeom>
          <a:solidFill>
            <a:schemeClr val="accent1">
              <a:lumMod val="20000"/>
              <a:lumOff val="80000"/>
            </a:schemeClr>
          </a:solidFill>
          <a:ln w="19050">
            <a:solidFill>
              <a:schemeClr val="accent1">
                <a:lumMod val="60000"/>
                <a:lumOff val="40000"/>
              </a:schemeClr>
            </a:solidFill>
            <a:miter lim="800000"/>
          </a:ln>
        </p:spPr>
        <p:txBody>
          <a:bodyPr anchor="ctr" anchorCtr="0"/>
          <a:lstStyle/>
          <a:p>
            <a:pPr marL="215900" indent="107950" fontAlgn="ctr">
              <a:spcBef>
                <a:spcPts val="0"/>
              </a:spcBef>
              <a:spcAft>
                <a:spcPts val="600"/>
              </a:spcAft>
              <a:buFont typeface="Arial" panose="020B0604020202020204" pitchFamily="34" charset="0"/>
              <a:buChar char="•"/>
            </a:pPr>
            <a:r>
              <a:rPr lang="zh-CN" altLang="en-US" sz="1700" dirty="0">
                <a:solidFill>
                  <a:schemeClr val="tx1"/>
                </a:solidFill>
                <a:latin typeface="Microsoft YaHei" panose="020B0503020204020204" charset="-122"/>
                <a:ea typeface="Microsoft YaHei" panose="020B0503020204020204" charset="-122"/>
              </a:rPr>
              <a:t>现有的量化算法未充分考虑在</a:t>
            </a:r>
            <a:r>
              <a:rPr lang="zh-CN" altLang="en-US" sz="1700" dirty="0">
                <a:solidFill>
                  <a:schemeClr val="tx1"/>
                </a:solidFill>
                <a:latin typeface="Microsoft YaHei" panose="020B0503020204020204" charset="-122"/>
                <a:ea typeface="Microsoft YaHei" panose="020B0503020204020204" charset="-122"/>
              </a:rPr>
              <a:t>云边端场景中的带宽情况</a:t>
            </a:r>
            <a:endParaRPr lang="en-US" altLang="zh-CN" sz="1700" dirty="0">
              <a:solidFill>
                <a:schemeClr val="tx1"/>
              </a:solidFill>
              <a:latin typeface="Microsoft YaHei" panose="020B0503020204020204" charset="-122"/>
              <a:ea typeface="Microsoft YaHei" panose="020B0503020204020204" charset="-122"/>
            </a:endParaRPr>
          </a:p>
          <a:p>
            <a:pPr marL="215900" indent="107950" fontAlgn="ctr">
              <a:spcBef>
                <a:spcPts val="0"/>
              </a:spcBef>
              <a:spcAft>
                <a:spcPts val="600"/>
              </a:spcAft>
              <a:buFont typeface="Arial" panose="020B0604020202020204" pitchFamily="34" charset="0"/>
              <a:buChar char="•"/>
            </a:pPr>
            <a:r>
              <a:rPr lang="zh-CN" altLang="en-US" sz="1700" dirty="0">
                <a:solidFill>
                  <a:schemeClr val="tx1"/>
                </a:solidFill>
                <a:latin typeface="Microsoft YaHei" panose="020B0503020204020204" charset="-122"/>
                <a:ea typeface="Microsoft YaHei" panose="020B0503020204020204" charset="-122"/>
              </a:rPr>
              <a:t>稀疏化方法通常难以适配</a:t>
            </a:r>
            <a:r>
              <a:rPr lang="zh-CN" altLang="en-US" sz="1700" dirty="0">
                <a:latin typeface="Microsoft YaHei" panose="020B0503020204020204" charset="-122"/>
                <a:ea typeface="Microsoft YaHei" panose="020B0503020204020204" charset="-122"/>
                <a:sym typeface="+mn-ea"/>
              </a:rPr>
              <a:t>高效集合通信方法</a:t>
            </a:r>
            <a:r>
              <a:rPr lang="zh-CN" altLang="en-US" sz="1700" dirty="0">
                <a:solidFill>
                  <a:schemeClr val="tx1"/>
                </a:solidFill>
                <a:latin typeface="Microsoft YaHei" panose="020B0503020204020204" charset="-122"/>
                <a:ea typeface="Microsoft YaHei" panose="020B0503020204020204" charset="-122"/>
              </a:rPr>
              <a:t>，虽降低数据量但无法高效</a:t>
            </a:r>
            <a:r>
              <a:rPr lang="zh-CN" altLang="en-US" sz="1700" dirty="0">
                <a:solidFill>
                  <a:schemeClr val="tx1"/>
                </a:solidFill>
                <a:latin typeface="Microsoft YaHei" panose="020B0503020204020204" charset="-122"/>
                <a:ea typeface="Microsoft YaHei" panose="020B0503020204020204" charset="-122"/>
              </a:rPr>
              <a:t>规约</a:t>
            </a:r>
            <a:endParaRPr lang="zh-CN" altLang="en-US" sz="1700" dirty="0">
              <a:solidFill>
                <a:schemeClr val="tx1"/>
              </a:solidFill>
              <a:latin typeface="Microsoft YaHei" panose="020B0503020204020204" charset="-122"/>
              <a:ea typeface="Microsoft YaHei" panose="020B0503020204020204" charset="-122"/>
            </a:endParaRPr>
          </a:p>
        </p:txBody>
      </p:sp>
      <p:sp>
        <p:nvSpPr>
          <p:cNvPr id="19" name="圆角矩形 52"/>
          <p:cNvSpPr>
            <a:spLocks noChangeArrowheads="1"/>
          </p:cNvSpPr>
          <p:nvPr>
            <p:custDataLst>
              <p:tags r:id="rId2"/>
            </p:custDataLst>
          </p:nvPr>
        </p:nvSpPr>
        <p:spPr bwMode="auto">
          <a:xfrm>
            <a:off x="306070" y="5923915"/>
            <a:ext cx="670560" cy="864235"/>
          </a:xfrm>
          <a:prstGeom prst="roundRect">
            <a:avLst>
              <a:gd name="adj" fmla="val 11204"/>
            </a:avLst>
          </a:prstGeom>
          <a:solidFill>
            <a:srgbClr val="4CA6A6"/>
          </a:solidFill>
          <a:ln w="9525">
            <a:noFill/>
            <a:round/>
          </a:ln>
        </p:spPr>
        <p:txBody>
          <a:bodyPr lIns="0" anchor="ctr"/>
          <a:lstStyle/>
          <a:p>
            <a:pPr algn="ctr"/>
            <a:endParaRPr lang="zh-CN" altLang="en-US" sz="1500" b="1" dirty="0">
              <a:solidFill>
                <a:schemeClr val="bg1"/>
              </a:solidFill>
              <a:latin typeface="Microsoft YaHei" panose="020B0503020204020204" charset="-122"/>
              <a:ea typeface="Microsoft YaHei" panose="020B0503020204020204" charset="-122"/>
            </a:endParaRPr>
          </a:p>
        </p:txBody>
      </p:sp>
      <p:grpSp>
        <p:nvGrpSpPr>
          <p:cNvPr id="20" name="Group 40"/>
          <p:cNvGrpSpPr/>
          <p:nvPr/>
        </p:nvGrpSpPr>
        <p:grpSpPr bwMode="auto">
          <a:xfrm rot="5400000">
            <a:off x="727710" y="6127115"/>
            <a:ext cx="517525" cy="457835"/>
            <a:chOff x="0" y="0"/>
            <a:chExt cx="312" cy="420"/>
          </a:xfrm>
        </p:grpSpPr>
        <p:grpSp>
          <p:nvGrpSpPr>
            <p:cNvPr id="21" name="Group 41"/>
            <p:cNvGrpSpPr/>
            <p:nvPr/>
          </p:nvGrpSpPr>
          <p:grpSpPr bwMode="auto">
            <a:xfrm>
              <a:off x="182" y="2"/>
              <a:ext cx="130" cy="418"/>
              <a:chOff x="0" y="0"/>
              <a:chExt cx="130" cy="418"/>
            </a:xfrm>
          </p:grpSpPr>
          <p:sp>
            <p:nvSpPr>
              <p:cNvPr id="22" name="Oval 31"/>
              <p:cNvSpPr>
                <a:spLocks noChangeArrowheads="1"/>
              </p:cNvSpPr>
              <p:nvPr>
                <p:custDataLst>
                  <p:tags r:id="rId3"/>
                </p:custDataLst>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3" name="Oval 32"/>
              <p:cNvSpPr>
                <a:spLocks noChangeArrowheads="1"/>
              </p:cNvSpPr>
              <p:nvPr>
                <p:custDataLst>
                  <p:tags r:id="rId4"/>
                </p:custDataLst>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4" name="AutoShape 33"/>
              <p:cNvSpPr>
                <a:spLocks noChangeArrowheads="1"/>
              </p:cNvSpPr>
              <p:nvPr>
                <p:custDataLst>
                  <p:tags r:id="rId5"/>
                </p:custDataLst>
              </p:nvPr>
            </p:nvSpPr>
            <p:spPr bwMode="auto">
              <a:xfrm>
                <a:off x="36" y="72"/>
                <a:ext cx="62" cy="300"/>
              </a:xfrm>
              <a:prstGeom prst="roundRect">
                <a:avLst>
                  <a:gd name="adj" fmla="val 50000"/>
                </a:avLst>
              </a:prstGeom>
              <a:gradFill rotWithShape="1">
                <a:gsLst>
                  <a:gs pos="0">
                    <a:srgbClr val="B2B2B2"/>
                  </a:gs>
                  <a:gs pos="50000">
                    <a:srgbClr val="EAEAEA"/>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nvGrpSpPr>
            <p:cNvPr id="25" name="Group 45"/>
            <p:cNvGrpSpPr/>
            <p:nvPr/>
          </p:nvGrpSpPr>
          <p:grpSpPr bwMode="auto">
            <a:xfrm>
              <a:off x="0" y="0"/>
              <a:ext cx="130" cy="418"/>
              <a:chOff x="0" y="0"/>
              <a:chExt cx="130" cy="418"/>
            </a:xfrm>
          </p:grpSpPr>
          <p:sp>
            <p:nvSpPr>
              <p:cNvPr id="26" name="Oval 35"/>
              <p:cNvSpPr>
                <a:spLocks noChangeArrowheads="1"/>
              </p:cNvSpPr>
              <p:nvPr>
                <p:custDataLst>
                  <p:tags r:id="rId6"/>
                </p:custDataLst>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7" name="Oval 36"/>
              <p:cNvSpPr>
                <a:spLocks noChangeArrowheads="1"/>
              </p:cNvSpPr>
              <p:nvPr>
                <p:custDataLst>
                  <p:tags r:id="rId7"/>
                </p:custDataLst>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8" name="AutoShape 37"/>
              <p:cNvSpPr>
                <a:spLocks noChangeArrowheads="1"/>
              </p:cNvSpPr>
              <p:nvPr>
                <p:custDataLst>
                  <p:tags r:id="rId8"/>
                </p:custDataLst>
              </p:nvPr>
            </p:nvSpPr>
            <p:spPr bwMode="auto">
              <a:xfrm>
                <a:off x="36" y="72"/>
                <a:ext cx="62" cy="300"/>
              </a:xfrm>
              <a:prstGeom prst="roundRect">
                <a:avLst>
                  <a:gd name="adj" fmla="val 50000"/>
                </a:avLst>
              </a:prstGeom>
              <a:gradFill rotWithShape="1">
                <a:gsLst>
                  <a:gs pos="0">
                    <a:srgbClr val="B2B2B2"/>
                  </a:gs>
                  <a:gs pos="50000">
                    <a:srgbClr val="FFFFFF"/>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sp>
        <p:nvSpPr>
          <p:cNvPr id="29" name="文本框 28"/>
          <p:cNvSpPr txBox="1"/>
          <p:nvPr>
            <p:custDataLst>
              <p:tags r:id="rId9"/>
            </p:custDataLst>
          </p:nvPr>
        </p:nvSpPr>
        <p:spPr>
          <a:xfrm>
            <a:off x="356235" y="6024880"/>
            <a:ext cx="267335" cy="692785"/>
          </a:xfrm>
          <a:prstGeom prst="rect">
            <a:avLst/>
          </a:prstGeom>
          <a:noFill/>
        </p:spPr>
        <p:txBody>
          <a:bodyPr wrap="square" rtlCol="0">
            <a:spAutoFit/>
          </a:bodyPr>
          <a:lstStyle/>
          <a:p>
            <a:pPr>
              <a:spcAft>
                <a:spcPts val="600"/>
              </a:spcAft>
            </a:pPr>
            <a:r>
              <a:rPr lang="zh-CN" altLang="en-US" sz="1700" dirty="0">
                <a:solidFill>
                  <a:schemeClr val="bg1"/>
                </a:solidFill>
                <a:latin typeface="Microsoft YaHei" panose="020B0503020204020204" charset="-122"/>
                <a:ea typeface="Microsoft YaHei" panose="020B0503020204020204" charset="-122"/>
              </a:rPr>
              <a:t>结</a:t>
            </a:r>
            <a:endParaRPr lang="en-US" altLang="zh-CN" sz="1700" dirty="0">
              <a:solidFill>
                <a:schemeClr val="bg1"/>
              </a:solidFill>
              <a:latin typeface="Microsoft YaHei" panose="020B0503020204020204" charset="-122"/>
              <a:ea typeface="Microsoft YaHei" panose="020B0503020204020204" charset="-122"/>
            </a:endParaRPr>
          </a:p>
          <a:p>
            <a:r>
              <a:rPr lang="zh-CN" altLang="en-US" sz="1700" dirty="0">
                <a:solidFill>
                  <a:schemeClr val="bg1"/>
                </a:solidFill>
                <a:latin typeface="Microsoft YaHei" panose="020B0503020204020204" charset="-122"/>
                <a:ea typeface="Microsoft YaHei" panose="020B0503020204020204" charset="-122"/>
              </a:rPr>
              <a:t>论</a:t>
            </a:r>
            <a:endParaRPr lang="zh-CN" altLang="en-US" sz="1700" dirty="0">
              <a:solidFill>
                <a:schemeClr val="bg1"/>
              </a:solidFill>
              <a:latin typeface="Microsoft YaHei" panose="020B0503020204020204" charset="-122"/>
              <a:ea typeface="Microsoft YaHei" panose="020B0503020204020204" charset="-122"/>
            </a:endParaRPr>
          </a:p>
        </p:txBody>
      </p:sp>
      <p:graphicFrame>
        <p:nvGraphicFramePr>
          <p:cNvPr id="30" name="表格 29"/>
          <p:cNvGraphicFramePr/>
          <p:nvPr>
            <p:custDataLst>
              <p:tags r:id="rId10"/>
            </p:custDataLst>
          </p:nvPr>
        </p:nvGraphicFramePr>
        <p:xfrm>
          <a:off x="326390" y="1024890"/>
          <a:ext cx="8503920" cy="4907280"/>
        </p:xfrm>
        <a:graphic>
          <a:graphicData uri="http://schemas.openxmlformats.org/drawingml/2006/table">
            <a:tbl>
              <a:tblPr firstRow="1" bandRow="1">
                <a:tableStyleId>{5C22544A-7EE6-4342-B048-85BDC9FD1C3A}</a:tableStyleId>
              </a:tblPr>
              <a:tblGrid>
                <a:gridCol w="594360"/>
                <a:gridCol w="551180"/>
                <a:gridCol w="551815"/>
                <a:gridCol w="1212850"/>
                <a:gridCol w="2678430"/>
                <a:gridCol w="2915285"/>
              </a:tblGrid>
              <a:tr h="518160">
                <a:tc>
                  <a:txBody>
                    <a:bodyPr/>
                    <a:lstStyle/>
                    <a:p>
                      <a:pPr algn="ctr">
                        <a:buNone/>
                      </a:pPr>
                      <a:r>
                        <a:rPr lang="zh-CN" altLang="en-US" sz="1400" baseline="0" dirty="0">
                          <a:latin typeface="Times New Roman" panose="02020603050405020304" pitchFamily="18" charset="0"/>
                        </a:rPr>
                        <a:t>方法分类</a:t>
                      </a:r>
                      <a:endParaRPr lang="zh-CN" altLang="en-US" sz="1400" baseline="0" dirty="0">
                        <a:latin typeface="Times New Roman" panose="02020603050405020304" pitchFamily="18" charset="0"/>
                      </a:endParaRPr>
                    </a:p>
                  </a:txBody>
                  <a:tcPr anchor="ctr">
                    <a:solidFill>
                      <a:srgbClr val="004578"/>
                    </a:solidFill>
                  </a:tcPr>
                </a:tc>
                <a:tc>
                  <a:txBody>
                    <a:bodyPr/>
                    <a:lstStyle/>
                    <a:p>
                      <a:pPr algn="ctr">
                        <a:buNone/>
                      </a:pPr>
                      <a:r>
                        <a:rPr lang="zh-CN" altLang="en-US" sz="1400" baseline="0" dirty="0">
                          <a:latin typeface="Times New Roman" panose="02020603050405020304" pitchFamily="18" charset="0"/>
                        </a:rPr>
                        <a:t>国家地区</a:t>
                      </a:r>
                      <a:endParaRPr lang="zh-CN" altLang="en-US" sz="1400" baseline="0" dirty="0">
                        <a:latin typeface="Times New Roman" panose="02020603050405020304" pitchFamily="18" charset="0"/>
                      </a:endParaRPr>
                    </a:p>
                  </a:txBody>
                  <a:tcPr anchor="ctr">
                    <a:solidFill>
                      <a:srgbClr val="004578"/>
                    </a:solidFill>
                  </a:tcPr>
                </a:tc>
                <a:tc>
                  <a:txBody>
                    <a:bodyPr/>
                    <a:lstStyle/>
                    <a:p>
                      <a:pPr algn="ctr">
                        <a:buNone/>
                      </a:pPr>
                      <a:r>
                        <a:rPr lang="zh-CN" altLang="en-US" sz="1400" baseline="0">
                          <a:latin typeface="Times New Roman" panose="02020603050405020304" pitchFamily="18" charset="0"/>
                        </a:rPr>
                        <a:t>机构名称</a:t>
                      </a:r>
                      <a:endParaRPr lang="zh-CN" altLang="en-US" sz="1400" baseline="0">
                        <a:latin typeface="Times New Roman" panose="02020603050405020304" pitchFamily="18" charset="0"/>
                      </a:endParaRPr>
                    </a:p>
                  </a:txBody>
                  <a:tcPr anchor="ctr">
                    <a:solidFill>
                      <a:srgbClr val="004578"/>
                    </a:solidFill>
                  </a:tcPr>
                </a:tc>
                <a:tc>
                  <a:txBody>
                    <a:bodyPr/>
                    <a:lstStyle/>
                    <a:p>
                      <a:pPr algn="ctr">
                        <a:buNone/>
                      </a:pPr>
                      <a:r>
                        <a:rPr lang="zh-CN" altLang="en-US" sz="1400" baseline="0" dirty="0">
                          <a:latin typeface="Times New Roman" panose="02020603050405020304" pitchFamily="18" charset="0"/>
                        </a:rPr>
                        <a:t>相关工作</a:t>
                      </a:r>
                      <a:endParaRPr lang="zh-CN" altLang="en-US" sz="1400" baseline="0" dirty="0">
                        <a:latin typeface="Times New Roman" panose="02020603050405020304" pitchFamily="18" charset="0"/>
                      </a:endParaRPr>
                    </a:p>
                  </a:txBody>
                  <a:tcPr anchor="ctr">
                    <a:solidFill>
                      <a:srgbClr val="004578"/>
                    </a:solidFill>
                  </a:tcPr>
                </a:tc>
                <a:tc>
                  <a:txBody>
                    <a:bodyPr/>
                    <a:lstStyle/>
                    <a:p>
                      <a:pPr algn="ctr">
                        <a:buNone/>
                      </a:pPr>
                      <a:r>
                        <a:rPr lang="zh-CN" altLang="en-US" sz="1400" baseline="0">
                          <a:latin typeface="Times New Roman" panose="02020603050405020304" pitchFamily="18" charset="0"/>
                        </a:rPr>
                        <a:t>相关工作描述</a:t>
                      </a:r>
                      <a:endParaRPr lang="zh-CN" altLang="en-US" sz="1400" baseline="0">
                        <a:latin typeface="Times New Roman" panose="02020603050405020304" pitchFamily="18" charset="0"/>
                      </a:endParaRPr>
                    </a:p>
                  </a:txBody>
                  <a:tcPr anchor="ctr">
                    <a:solidFill>
                      <a:srgbClr val="004578"/>
                    </a:solidFill>
                  </a:tcPr>
                </a:tc>
                <a:tc>
                  <a:txBody>
                    <a:bodyPr/>
                    <a:lstStyle/>
                    <a:p>
                      <a:pPr algn="ctr">
                        <a:buNone/>
                      </a:pPr>
                      <a:r>
                        <a:rPr lang="zh-CN" altLang="en-US" sz="1400" baseline="0">
                          <a:latin typeface="Times New Roman" panose="02020603050405020304" pitchFamily="18" charset="0"/>
                        </a:rPr>
                        <a:t>分析</a:t>
                      </a:r>
                      <a:endParaRPr lang="zh-CN" altLang="en-US" sz="1400" baseline="0">
                        <a:latin typeface="Times New Roman" panose="02020603050405020304" pitchFamily="18" charset="0"/>
                      </a:endParaRPr>
                    </a:p>
                  </a:txBody>
                  <a:tcPr anchor="ctr">
                    <a:solidFill>
                      <a:srgbClr val="004578"/>
                    </a:solidFill>
                  </a:tcPr>
                </a:tc>
              </a:tr>
              <a:tr h="640080">
                <a:tc rowSpan="6">
                  <a:txBody>
                    <a:bodyPr/>
                    <a:lstStyle/>
                    <a:p>
                      <a:pPr algn="ctr">
                        <a:buNone/>
                      </a:pPr>
                      <a:r>
                        <a:rPr lang="zh-CN" altLang="en-US" sz="1200" baseline="0" dirty="0">
                          <a:latin typeface="Times New Roman" panose="02020603050405020304" pitchFamily="18" charset="0"/>
                        </a:rPr>
                        <a:t>梯度量化与稀疏化</a:t>
                      </a:r>
                      <a:endParaRPr lang="zh-CN" altLang="en-US" sz="1200" baseline="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韩国</a:t>
                      </a:r>
                      <a:endParaRPr lang="zh-CN" altLang="en-US" sz="1200" baseline="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延世大学</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Optimus-CC</a:t>
                      </a:r>
                      <a:endParaRPr lang="en-US" altLang="zh-CN" sz="1200" baseline="0" dirty="0">
                        <a:latin typeface="Times New Roman" panose="02020603050405020304" pitchFamily="18" charset="0"/>
                      </a:endParaRPr>
                    </a:p>
                    <a:p>
                      <a:pPr algn="ctr">
                        <a:buNone/>
                      </a:pPr>
                      <a:r>
                        <a:rPr lang="en-US" altLang="zh-CN" sz="1200" baseline="0" dirty="0">
                          <a:latin typeface="Times New Roman" panose="02020603050405020304" pitchFamily="18" charset="0"/>
                        </a:rPr>
                        <a:t>(ASPLOS’23)</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实现全新的级间反向传播压缩和嵌入同步压缩；在不同训练阶段，根据需求动态、选择性地进行压缩</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针对</a:t>
                      </a:r>
                      <a:r>
                        <a:rPr lang="en-US" altLang="zh-CN" sz="1200" baseline="0" dirty="0">
                          <a:latin typeface="Times New Roman" panose="02020603050405020304" pitchFamily="18" charset="0"/>
                        </a:rPr>
                        <a:t>NLP</a:t>
                      </a:r>
                      <a:r>
                        <a:rPr lang="zh-CN" altLang="en-US" sz="1200" baseline="0" dirty="0">
                          <a:latin typeface="Times New Roman" panose="02020603050405020304" pitchFamily="18" charset="0"/>
                        </a:rPr>
                        <a:t>模型中的词汇</a:t>
                      </a:r>
                      <a:r>
                        <a:rPr lang="en-US" altLang="zh-CN" sz="1200" baseline="0" dirty="0">
                          <a:latin typeface="Times New Roman" panose="02020603050405020304" pitchFamily="18" charset="0"/>
                        </a:rPr>
                        <a:t>Embedding</a:t>
                      </a:r>
                      <a:r>
                        <a:rPr lang="zh-CN" altLang="en-US" sz="1200" baseline="0" dirty="0">
                          <a:latin typeface="Times New Roman" panose="02020603050405020304" pitchFamily="18" charset="0"/>
                        </a:rPr>
                        <a:t>特性，提出了全新的动态压缩技术，但其大多对</a:t>
                      </a:r>
                      <a:r>
                        <a:rPr lang="en-US" altLang="zh-CN" sz="1200" baseline="0" dirty="0">
                          <a:latin typeface="Times New Roman" panose="02020603050405020304" pitchFamily="18" charset="0"/>
                        </a:rPr>
                        <a:t>NLP</a:t>
                      </a:r>
                      <a:r>
                        <a:rPr lang="zh-CN" altLang="en-US" sz="1200" baseline="0" dirty="0">
                          <a:latin typeface="Times New Roman" panose="02020603050405020304" pitchFamily="18" charset="0"/>
                        </a:rPr>
                        <a:t>一类模型做优化，忽略了其他模型</a:t>
                      </a:r>
                      <a:endParaRPr lang="zh-CN" altLang="en-US" sz="1200" baseline="0" dirty="0">
                        <a:latin typeface="Times New Roman" panose="02020603050405020304" pitchFamily="18" charset="0"/>
                      </a:endParaRPr>
                    </a:p>
                  </a:txBody>
                  <a:tcPr anchor="ctr"/>
                </a:tc>
              </a:tr>
              <a:tr h="640080">
                <a:tc vMerge="1">
                  <a:tcPr anchor="ctr"/>
                </a:tc>
                <a:tc>
                  <a:txBody>
                    <a:bodyPr/>
                    <a:lstStyle/>
                    <a:p>
                      <a:pPr algn="ctr">
                        <a:buNone/>
                      </a:pPr>
                      <a:r>
                        <a:rPr lang="zh-CN" altLang="en-US" sz="1200" baseline="0" dirty="0">
                          <a:latin typeface="Times New Roman" panose="02020603050405020304" pitchFamily="18" charset="0"/>
                        </a:rPr>
                        <a:t>中国</a:t>
                      </a:r>
                      <a:endParaRPr lang="zh-CN" altLang="en-US" sz="1200" baseline="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港</a:t>
                      </a:r>
                      <a:r>
                        <a:rPr lang="zh-CN" altLang="en-US" sz="1200" baseline="0" dirty="0">
                          <a:latin typeface="Times New Roman" panose="02020603050405020304" pitchFamily="18" charset="0"/>
                        </a:rPr>
                        <a:t>科</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PacTrain</a:t>
                      </a:r>
                      <a:endParaRPr lang="en-US" altLang="zh-CN" sz="1200" baseline="0" dirty="0">
                        <a:latin typeface="Times New Roman" panose="02020603050405020304" pitchFamily="18" charset="0"/>
                      </a:endParaRPr>
                    </a:p>
                    <a:p>
                      <a:pPr algn="ctr">
                        <a:buNone/>
                      </a:pPr>
                      <a:r>
                        <a:rPr lang="en-US" altLang="zh-CN" sz="1200" baseline="0" dirty="0">
                          <a:latin typeface="Times New Roman" panose="02020603050405020304" pitchFamily="18" charset="0"/>
                        </a:rPr>
                        <a:t>(DAC’25)</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通过确保所有节点的稀疏化梯度的位置信息一致，</a:t>
                      </a:r>
                      <a:r>
                        <a:rPr lang="zh-CN" altLang="en-US" sz="1200" baseline="0" dirty="0">
                          <a:latin typeface="Times New Roman" panose="02020603050405020304" pitchFamily="18" charset="0"/>
                        </a:rPr>
                        <a:t>实现轻量级通信</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针对</a:t>
                      </a:r>
                      <a:r>
                        <a:rPr lang="en-US" altLang="zh-CN" sz="1200" baseline="0" dirty="0">
                          <a:latin typeface="Times New Roman" panose="02020603050405020304" pitchFamily="18" charset="0"/>
                        </a:rPr>
                        <a:t>TopK</a:t>
                      </a:r>
                      <a:r>
                        <a:rPr lang="zh-CN" altLang="en-US" sz="1200" baseline="0" dirty="0">
                          <a:latin typeface="Times New Roman" panose="02020603050405020304" pitchFamily="18" charset="0"/>
                        </a:rPr>
                        <a:t>类稀疏化方法不支持高效集合通信的问题，提出了该技术，但与</a:t>
                      </a:r>
                      <a:r>
                        <a:rPr lang="en-US" altLang="zh-CN" sz="1200" baseline="0" dirty="0">
                          <a:latin typeface="Times New Roman" panose="02020603050405020304" pitchFamily="18" charset="0"/>
                        </a:rPr>
                        <a:t>TopK</a:t>
                      </a:r>
                      <a:r>
                        <a:rPr lang="zh-CN" altLang="en-US" sz="1200" baseline="0" dirty="0">
                          <a:latin typeface="Times New Roman" panose="02020603050405020304" pitchFamily="18" charset="0"/>
                        </a:rPr>
                        <a:t>设计有一定出入，具有潜在的</a:t>
                      </a:r>
                      <a:r>
                        <a:rPr lang="zh-CN" altLang="en-US" sz="1200" baseline="0" dirty="0">
                          <a:latin typeface="Times New Roman" panose="02020603050405020304" pitchFamily="18" charset="0"/>
                        </a:rPr>
                        <a:t>精度损失</a:t>
                      </a:r>
                      <a:endParaRPr lang="zh-CN" altLang="en-US" sz="1200" baseline="0" dirty="0">
                        <a:latin typeface="Times New Roman" panose="02020603050405020304" pitchFamily="18" charset="0"/>
                      </a:endParaRPr>
                    </a:p>
                  </a:txBody>
                  <a:tcPr anchor="ctr"/>
                </a:tc>
              </a:tr>
              <a:tr h="822960">
                <a:tc vMerge="1">
                  <a:tcPr anchor="ctr"/>
                </a:tc>
                <a:tc>
                  <a:txBody>
                    <a:bodyPr/>
                    <a:lstStyle/>
                    <a:p>
                      <a:pPr algn="ctr">
                        <a:buNone/>
                      </a:pPr>
                      <a:r>
                        <a:rPr lang="zh-CN" altLang="en-US" sz="1200" baseline="0" dirty="0">
                          <a:latin typeface="Times New Roman" panose="02020603050405020304" pitchFamily="18" charset="0"/>
                        </a:rPr>
                        <a:t>美国</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Facebook</a:t>
                      </a:r>
                      <a:endParaRPr lang="en-US" altLang="zh-CN" sz="1200" baseline="0" dirty="0">
                        <a:latin typeface="Times New Roman" panose="02020603050405020304" pitchFamily="18" charset="0"/>
                      </a:endParaRPr>
                    </a:p>
                  </a:txBody>
                  <a:tcPr anchor="ctr"/>
                </a:tc>
                <a:tc>
                  <a:txBody>
                    <a:bodyPr/>
                    <a:lstStyle/>
                    <a:p>
                      <a:pPr algn="ctr">
                        <a:buNone/>
                      </a:pPr>
                      <a:r>
                        <a:rPr lang="en-US" altLang="zh-CN" sz="1200" baseline="0" dirty="0" err="1">
                          <a:latin typeface="Times New Roman" panose="02020603050405020304" pitchFamily="18" charset="0"/>
                        </a:rPr>
                        <a:t>8-bit Optimizers via Block-wise Quantization</a:t>
                      </a:r>
                      <a:endParaRPr lang="en-US" altLang="zh-CN" sz="1200" baseline="0" dirty="0" err="1">
                        <a:latin typeface="Times New Roman" panose="02020603050405020304" pitchFamily="18" charset="0"/>
                      </a:endParaRPr>
                    </a:p>
                    <a:p>
                      <a:pPr algn="ctr">
                        <a:buNone/>
                      </a:pPr>
                      <a:r>
                        <a:rPr lang="en-US" altLang="zh-CN" sz="1200" baseline="0" dirty="0">
                          <a:latin typeface="Times New Roman" panose="02020603050405020304" pitchFamily="18" charset="0"/>
                        </a:rPr>
                        <a:t>(ICLR’2022)</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dirty="0">
                          <a:latin typeface="Times New Roman" panose="02020603050405020304" pitchFamily="18" charset="0"/>
                          <a:sym typeface="+mn-ea"/>
                        </a:rPr>
                        <a:t>提出一种使用8位状态的优化器，通过块量化动态量化方法来维持与32位优化器状态相同的性能水平。</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可以</a:t>
                      </a:r>
                      <a:r>
                        <a:rPr lang="zh-CN" altLang="en-US" sz="1200" baseline="0" dirty="0">
                          <a:latin typeface="Times New Roman" panose="02020603050405020304" pitchFamily="18" charset="0"/>
                        </a:rPr>
                        <a:t>运用在模型训练中，但实验结果表明，尽管对于模型精度没有明显影响，其在越大的模型上的稳定性</a:t>
                      </a:r>
                      <a:r>
                        <a:rPr lang="zh-CN" altLang="en-US" sz="1200" baseline="0" dirty="0">
                          <a:latin typeface="Times New Roman" panose="02020603050405020304" pitchFamily="18" charset="0"/>
                        </a:rPr>
                        <a:t>越低</a:t>
                      </a:r>
                      <a:endParaRPr lang="zh-CN" altLang="en-US" sz="1200" baseline="0" dirty="0">
                        <a:latin typeface="Times New Roman" panose="02020603050405020304" pitchFamily="18" charset="0"/>
                      </a:endParaRPr>
                    </a:p>
                  </a:txBody>
                  <a:tcPr anchor="ctr"/>
                </a:tc>
              </a:tr>
              <a:tr h="640080">
                <a:tc vMerge="1">
                  <a:tcPr anchor="ctr"/>
                </a:tc>
                <a:tc>
                  <a:txBody>
                    <a:bodyPr/>
                    <a:lstStyle/>
                    <a:p>
                      <a:pPr algn="ctr">
                        <a:buNone/>
                      </a:pPr>
                      <a:r>
                        <a:rPr lang="zh-CN" altLang="en-US" sz="1200" baseline="0" dirty="0">
                          <a:latin typeface="Times New Roman" panose="02020603050405020304" pitchFamily="18" charset="0"/>
                        </a:rPr>
                        <a:t>韩国</a:t>
                      </a:r>
                      <a:endParaRPr lang="zh-CN" altLang="en-US" sz="1200" baseline="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延世大学</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1-bit Adam (ICML’21)</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实现基于</a:t>
                      </a:r>
                      <a:r>
                        <a:rPr lang="en-US" altLang="zh-CN" sz="1200" baseline="0" dirty="0">
                          <a:latin typeface="Times New Roman" panose="02020603050405020304" pitchFamily="18" charset="0"/>
                        </a:rPr>
                        <a:t>1bit</a:t>
                      </a:r>
                      <a:r>
                        <a:rPr lang="zh-CN" altLang="en-US" sz="1200" baseline="0" dirty="0">
                          <a:latin typeface="Times New Roman" panose="02020603050405020304" pitchFamily="18" charset="0"/>
                        </a:rPr>
                        <a:t>的</a:t>
                      </a:r>
                      <a:r>
                        <a:rPr lang="en-US" altLang="zh-CN" sz="1200" baseline="0" dirty="0">
                          <a:latin typeface="Times New Roman" panose="02020603050405020304" pitchFamily="18" charset="0"/>
                        </a:rPr>
                        <a:t>Adam</a:t>
                      </a:r>
                      <a:r>
                        <a:rPr lang="zh-CN" altLang="en-US" sz="1200" baseline="0" dirty="0">
                          <a:latin typeface="Times New Roman" panose="02020603050405020304" pitchFamily="18" charset="0"/>
                        </a:rPr>
                        <a:t>优化器，理论上证明其有和</a:t>
                      </a:r>
                      <a:r>
                        <a:rPr lang="en-US" altLang="zh-CN" sz="1200" baseline="0" dirty="0">
                          <a:latin typeface="Times New Roman" panose="02020603050405020304" pitchFamily="18" charset="0"/>
                        </a:rPr>
                        <a:t>Adam</a:t>
                      </a:r>
                      <a:r>
                        <a:rPr lang="zh-CN" altLang="en-US" sz="1200" baseline="0" dirty="0">
                          <a:latin typeface="Times New Roman" panose="02020603050405020304" pitchFamily="18" charset="0"/>
                        </a:rPr>
                        <a:t>相同的收敛速度。</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可以与</a:t>
                      </a:r>
                      <a:r>
                        <a:rPr lang="en-US" altLang="zh-CN" sz="1200" baseline="0" dirty="0">
                          <a:latin typeface="Times New Roman" panose="02020603050405020304" pitchFamily="18" charset="0"/>
                        </a:rPr>
                        <a:t>bitnet</a:t>
                      </a:r>
                      <a:r>
                        <a:rPr lang="zh-CN" altLang="en-US" sz="1200" baseline="0" dirty="0">
                          <a:latin typeface="Times New Roman" panose="02020603050405020304" pitchFamily="18" charset="0"/>
                        </a:rPr>
                        <a:t>相结合，共同提出了激进的训练策略，可以大幅减少显存资源和带宽资源，但是对于模型精度的影响过大。</a:t>
                      </a:r>
                      <a:endParaRPr lang="zh-CN" altLang="en-US" sz="1200" baseline="0" dirty="0">
                        <a:latin typeface="Times New Roman" panose="02020603050405020304" pitchFamily="18" charset="0"/>
                      </a:endParaRPr>
                    </a:p>
                  </a:txBody>
                  <a:tcPr anchor="ctr"/>
                </a:tc>
              </a:tr>
              <a:tr h="822960">
                <a:tc vMerge="1">
                  <a:tcPr anchor="ctr"/>
                </a:tc>
                <a:tc>
                  <a:txBody>
                    <a:bodyPr/>
                    <a:lstStyle/>
                    <a:p>
                      <a:pPr algn="ctr">
                        <a:buNone/>
                      </a:pPr>
                      <a:r>
                        <a:rPr lang="zh-CN" altLang="en-US" sz="1200" baseline="0" dirty="0">
                          <a:latin typeface="Times New Roman" panose="02020603050405020304" pitchFamily="18" charset="0"/>
                        </a:rPr>
                        <a:t>法国</a:t>
                      </a:r>
                      <a:endParaRPr lang="zh-CN" altLang="en-US" sz="1200" baseline="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巴黎综合理工学院</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LDAdam</a:t>
                      </a:r>
                      <a:endParaRPr lang="en-US" altLang="zh-CN" sz="1200" baseline="0" dirty="0">
                        <a:latin typeface="Times New Roman" panose="02020603050405020304" pitchFamily="18" charset="0"/>
                      </a:endParaRPr>
                    </a:p>
                    <a:p>
                      <a:pPr algn="ctr">
                        <a:buNone/>
                      </a:pPr>
                      <a:r>
                        <a:rPr lang="en-US" altLang="zh-CN" sz="1200" baseline="0" dirty="0">
                          <a:latin typeface="Times New Roman" panose="02020603050405020304" pitchFamily="18" charset="0"/>
                        </a:rPr>
                        <a:t>(arXiv’2024, ICLR’2025)</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该方法通过新的投影感知更新规则来适应投影映射的变化，并整合了一种新的广义错误反馈机制来缓解低秩投影引起的误差。</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集成的误差反馈机制明确考虑了在大型模型训练中梯度和优化器状态的压缩，提升了在压缩情况下，微调、训练语言模型的</a:t>
                      </a:r>
                      <a:r>
                        <a:rPr lang="zh-CN" altLang="en-US" sz="1200" baseline="0" dirty="0">
                          <a:latin typeface="Times New Roman" panose="02020603050405020304" pitchFamily="18" charset="0"/>
                        </a:rPr>
                        <a:t>精确性。</a:t>
                      </a:r>
                      <a:endParaRPr lang="zh-CN" altLang="en-US" sz="1200" baseline="0" dirty="0">
                        <a:latin typeface="Times New Roman" panose="02020603050405020304" pitchFamily="18" charset="0"/>
                      </a:endParaRPr>
                    </a:p>
                  </a:txBody>
                  <a:tcPr anchor="ctr"/>
                </a:tc>
              </a:tr>
              <a:tr h="822960">
                <a:tc vMerge="1">
                  <a:tcPr anchor="ctr"/>
                </a:tc>
                <a:tc>
                  <a:txBody>
                    <a:bodyPr/>
                    <a:lstStyle/>
                    <a:p>
                      <a:pPr algn="ctr">
                        <a:buNone/>
                      </a:pPr>
                      <a:r>
                        <a:rPr lang="zh-CN" altLang="en-US" sz="1200" baseline="0" dirty="0">
                          <a:latin typeface="Times New Roman" panose="02020603050405020304" pitchFamily="18" charset="0"/>
                        </a:rPr>
                        <a:t>中国</a:t>
                      </a:r>
                      <a:endParaRPr lang="zh-CN" altLang="en-US" sz="1200" baseline="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北京大学</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Birder (NeulPS’2023)</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针对现有压缩算法与All-Reduce操作和优化器不匹配的问题，提出了 1 位自适应优化器。无需预热，在低精度优化器中表现自适应</a:t>
                      </a:r>
                      <a:r>
                        <a:rPr lang="zh-CN" altLang="en-US" sz="1200" baseline="0" dirty="0">
                          <a:latin typeface="Times New Roman" panose="02020603050405020304" pitchFamily="18" charset="0"/>
                        </a:rPr>
                        <a:t>特性。</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与压缩方法和集合通信方法适配性高，克服了在实际训练</a:t>
                      </a:r>
                      <a:r>
                        <a:rPr lang="en-US" altLang="zh-CN" sz="1200" baseline="0" dirty="0">
                          <a:latin typeface="Times New Roman" panose="02020603050405020304" pitchFamily="18" charset="0"/>
                        </a:rPr>
                        <a:t>DNN</a:t>
                      </a:r>
                      <a:r>
                        <a:rPr lang="zh-CN" altLang="en-US" sz="1200" baseline="0" dirty="0">
                          <a:latin typeface="Times New Roman" panose="02020603050405020304" pitchFamily="18" charset="0"/>
                        </a:rPr>
                        <a:t>后，压缩方法的模型推理性能低于未压缩的模型的问题。</a:t>
                      </a:r>
                      <a:endParaRPr lang="zh-CN" altLang="en-US" sz="1200" baseline="0" dirty="0">
                        <a:latin typeface="Times New Roman" panose="02020603050405020304" pitchFamily="18" charset="0"/>
                      </a:endParaRPr>
                    </a:p>
                  </a:txBody>
                  <a:tcPr anchor="ctr"/>
                </a:tc>
              </a:tr>
            </a:tbl>
          </a:graphicData>
        </a:graphic>
      </p:graphicFrame>
    </p:spTree>
    <p:custDataLst>
      <p:tags r:id="rId1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国内外研究现状</a:t>
            </a:r>
            <a:r>
              <a:rPr lang="en-US" altLang="zh-CN" dirty="0"/>
              <a:t> – </a:t>
            </a:r>
            <a:r>
              <a:rPr lang="zh-CN" altLang="en-US" dirty="0"/>
              <a:t>云边端跨域集合通信</a:t>
            </a:r>
            <a:r>
              <a:rPr lang="zh-CN" altLang="en-US" dirty="0"/>
              <a:t>设计</a:t>
            </a:r>
            <a:endParaRPr lang="zh-CN" altLang="en-US" dirty="0"/>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圆角矩形 44"/>
          <p:cNvSpPr/>
          <p:nvPr>
            <p:custDataLst>
              <p:tags r:id="rId1"/>
            </p:custDataLst>
          </p:nvPr>
        </p:nvSpPr>
        <p:spPr>
          <a:xfrm>
            <a:off x="976630" y="5923915"/>
            <a:ext cx="7859395" cy="864235"/>
          </a:xfrm>
          <a:prstGeom prst="roundRect">
            <a:avLst/>
          </a:prstGeom>
          <a:solidFill>
            <a:schemeClr val="accent1">
              <a:lumMod val="20000"/>
              <a:lumOff val="80000"/>
            </a:schemeClr>
          </a:solidFill>
          <a:ln w="19050">
            <a:solidFill>
              <a:schemeClr val="accent1">
                <a:lumMod val="60000"/>
                <a:lumOff val="40000"/>
              </a:schemeClr>
            </a:solidFill>
            <a:miter lim="800000"/>
          </a:ln>
        </p:spPr>
        <p:txBody>
          <a:bodyPr anchor="ctr" anchorCtr="0"/>
          <a:lstStyle/>
          <a:p>
            <a:pPr marL="215900" indent="107950" fontAlgn="ctr">
              <a:spcBef>
                <a:spcPts val="0"/>
              </a:spcBef>
              <a:spcAft>
                <a:spcPts val="600"/>
              </a:spcAft>
              <a:buFont typeface="Arial" panose="020B0604020202020204" pitchFamily="34" charset="0"/>
              <a:buChar char="•"/>
            </a:pPr>
            <a:r>
              <a:rPr lang="zh-CN" altLang="en-US" sz="1700" dirty="0">
                <a:solidFill>
                  <a:schemeClr val="tx1"/>
                </a:solidFill>
                <a:latin typeface="Microsoft YaHei" panose="020B0503020204020204" charset="-122"/>
                <a:ea typeface="Microsoft YaHei" panose="020B0503020204020204" charset="-122"/>
              </a:rPr>
              <a:t> 设计在集群内部，难以在对云边端低带宽链路上具有有效的效果</a:t>
            </a:r>
            <a:endParaRPr lang="en-US" altLang="zh-CN" sz="1700" dirty="0">
              <a:solidFill>
                <a:schemeClr val="tx1"/>
              </a:solidFill>
              <a:latin typeface="Microsoft YaHei" panose="020B0503020204020204" charset="-122"/>
              <a:ea typeface="Microsoft YaHei" panose="020B0503020204020204" charset="-122"/>
            </a:endParaRPr>
          </a:p>
          <a:p>
            <a:pPr marL="215900" indent="107950" fontAlgn="ctr">
              <a:spcBef>
                <a:spcPts val="0"/>
              </a:spcBef>
              <a:spcAft>
                <a:spcPts val="600"/>
              </a:spcAft>
              <a:buFont typeface="Arial" panose="020B0604020202020204" pitchFamily="34" charset="0"/>
              <a:buChar char="•"/>
            </a:pPr>
            <a:r>
              <a:rPr lang="en-US" altLang="zh-CN" sz="1700" dirty="0">
                <a:latin typeface="Microsoft YaHei" panose="020B0503020204020204" charset="-122"/>
                <a:ea typeface="Microsoft YaHei" panose="020B0503020204020204" charset="-122"/>
              </a:rPr>
              <a:t> </a:t>
            </a:r>
            <a:r>
              <a:rPr lang="zh-CN" altLang="en-US" sz="1700" dirty="0">
                <a:latin typeface="Microsoft YaHei" panose="020B0503020204020204" charset="-122"/>
                <a:ea typeface="Microsoft YaHei" panose="020B0503020204020204" charset="-122"/>
              </a:rPr>
              <a:t>并未考虑云边端环境中通信链路</a:t>
            </a:r>
            <a:r>
              <a:rPr lang="zh-CN" altLang="en-US" sz="1700" dirty="0">
                <a:latin typeface="Microsoft YaHei" panose="020B0503020204020204" charset="-122"/>
                <a:ea typeface="Microsoft YaHei" panose="020B0503020204020204" charset="-122"/>
              </a:rPr>
              <a:t>差异的</a:t>
            </a:r>
            <a:r>
              <a:rPr lang="zh-CN" altLang="en-US" sz="1700" dirty="0">
                <a:latin typeface="Microsoft YaHei" panose="020B0503020204020204" charset="-122"/>
                <a:ea typeface="Microsoft YaHei" panose="020B0503020204020204" charset="-122"/>
              </a:rPr>
              <a:t>问题</a:t>
            </a:r>
            <a:endParaRPr lang="zh-CN" altLang="en-US" sz="1700" dirty="0">
              <a:latin typeface="Microsoft YaHei" panose="020B0503020204020204" charset="-122"/>
              <a:ea typeface="Microsoft YaHei" panose="020B0503020204020204" charset="-122"/>
            </a:endParaRPr>
          </a:p>
        </p:txBody>
      </p:sp>
      <p:sp>
        <p:nvSpPr>
          <p:cNvPr id="19" name="圆角矩形 52"/>
          <p:cNvSpPr>
            <a:spLocks noChangeArrowheads="1"/>
          </p:cNvSpPr>
          <p:nvPr>
            <p:custDataLst>
              <p:tags r:id="rId2"/>
            </p:custDataLst>
          </p:nvPr>
        </p:nvSpPr>
        <p:spPr bwMode="auto">
          <a:xfrm>
            <a:off x="306070" y="5923915"/>
            <a:ext cx="670560" cy="864235"/>
          </a:xfrm>
          <a:prstGeom prst="roundRect">
            <a:avLst>
              <a:gd name="adj" fmla="val 11204"/>
            </a:avLst>
          </a:prstGeom>
          <a:solidFill>
            <a:srgbClr val="4CA6A6"/>
          </a:solidFill>
          <a:ln w="9525">
            <a:noFill/>
            <a:round/>
          </a:ln>
        </p:spPr>
        <p:txBody>
          <a:bodyPr lIns="0" anchor="ctr"/>
          <a:lstStyle/>
          <a:p>
            <a:pPr algn="ctr"/>
            <a:endParaRPr lang="zh-CN" altLang="en-US" sz="1500" b="1" dirty="0">
              <a:solidFill>
                <a:schemeClr val="bg1"/>
              </a:solidFill>
              <a:latin typeface="Microsoft YaHei" panose="020B0503020204020204" charset="-122"/>
              <a:ea typeface="Microsoft YaHei" panose="020B0503020204020204" charset="-122"/>
            </a:endParaRPr>
          </a:p>
        </p:txBody>
      </p:sp>
      <p:grpSp>
        <p:nvGrpSpPr>
          <p:cNvPr id="20" name="Group 40"/>
          <p:cNvGrpSpPr/>
          <p:nvPr/>
        </p:nvGrpSpPr>
        <p:grpSpPr bwMode="auto">
          <a:xfrm rot="5400000">
            <a:off x="727710" y="6127115"/>
            <a:ext cx="517525" cy="457835"/>
            <a:chOff x="0" y="0"/>
            <a:chExt cx="312" cy="420"/>
          </a:xfrm>
        </p:grpSpPr>
        <p:grpSp>
          <p:nvGrpSpPr>
            <p:cNvPr id="21" name="Group 41"/>
            <p:cNvGrpSpPr/>
            <p:nvPr/>
          </p:nvGrpSpPr>
          <p:grpSpPr bwMode="auto">
            <a:xfrm>
              <a:off x="182" y="2"/>
              <a:ext cx="130" cy="418"/>
              <a:chOff x="0" y="0"/>
              <a:chExt cx="130" cy="418"/>
            </a:xfrm>
          </p:grpSpPr>
          <p:sp>
            <p:nvSpPr>
              <p:cNvPr id="22" name="Oval 31"/>
              <p:cNvSpPr>
                <a:spLocks noChangeArrowheads="1"/>
              </p:cNvSpPr>
              <p:nvPr>
                <p:custDataLst>
                  <p:tags r:id="rId3"/>
                </p:custDataLst>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3" name="Oval 32"/>
              <p:cNvSpPr>
                <a:spLocks noChangeArrowheads="1"/>
              </p:cNvSpPr>
              <p:nvPr>
                <p:custDataLst>
                  <p:tags r:id="rId4"/>
                </p:custDataLst>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4" name="AutoShape 33"/>
              <p:cNvSpPr>
                <a:spLocks noChangeArrowheads="1"/>
              </p:cNvSpPr>
              <p:nvPr>
                <p:custDataLst>
                  <p:tags r:id="rId5"/>
                </p:custDataLst>
              </p:nvPr>
            </p:nvSpPr>
            <p:spPr bwMode="auto">
              <a:xfrm>
                <a:off x="36" y="72"/>
                <a:ext cx="62" cy="300"/>
              </a:xfrm>
              <a:prstGeom prst="roundRect">
                <a:avLst>
                  <a:gd name="adj" fmla="val 50000"/>
                </a:avLst>
              </a:prstGeom>
              <a:gradFill rotWithShape="1">
                <a:gsLst>
                  <a:gs pos="0">
                    <a:srgbClr val="B2B2B2"/>
                  </a:gs>
                  <a:gs pos="50000">
                    <a:srgbClr val="EAEAEA"/>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nvGrpSpPr>
            <p:cNvPr id="25" name="Group 45"/>
            <p:cNvGrpSpPr/>
            <p:nvPr/>
          </p:nvGrpSpPr>
          <p:grpSpPr bwMode="auto">
            <a:xfrm>
              <a:off x="0" y="0"/>
              <a:ext cx="130" cy="418"/>
              <a:chOff x="0" y="0"/>
              <a:chExt cx="130" cy="418"/>
            </a:xfrm>
          </p:grpSpPr>
          <p:sp>
            <p:nvSpPr>
              <p:cNvPr id="26" name="Oval 35"/>
              <p:cNvSpPr>
                <a:spLocks noChangeArrowheads="1"/>
              </p:cNvSpPr>
              <p:nvPr>
                <p:custDataLst>
                  <p:tags r:id="rId6"/>
                </p:custDataLst>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7" name="Oval 36"/>
              <p:cNvSpPr>
                <a:spLocks noChangeArrowheads="1"/>
              </p:cNvSpPr>
              <p:nvPr>
                <p:custDataLst>
                  <p:tags r:id="rId7"/>
                </p:custDataLst>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8" name="AutoShape 37"/>
              <p:cNvSpPr>
                <a:spLocks noChangeArrowheads="1"/>
              </p:cNvSpPr>
              <p:nvPr>
                <p:custDataLst>
                  <p:tags r:id="rId8"/>
                </p:custDataLst>
              </p:nvPr>
            </p:nvSpPr>
            <p:spPr bwMode="auto">
              <a:xfrm>
                <a:off x="36" y="72"/>
                <a:ext cx="62" cy="300"/>
              </a:xfrm>
              <a:prstGeom prst="roundRect">
                <a:avLst>
                  <a:gd name="adj" fmla="val 50000"/>
                </a:avLst>
              </a:prstGeom>
              <a:gradFill rotWithShape="1">
                <a:gsLst>
                  <a:gs pos="0">
                    <a:srgbClr val="B2B2B2"/>
                  </a:gs>
                  <a:gs pos="50000">
                    <a:srgbClr val="FFFFFF"/>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sp>
        <p:nvSpPr>
          <p:cNvPr id="29" name="文本框 28"/>
          <p:cNvSpPr txBox="1"/>
          <p:nvPr>
            <p:custDataLst>
              <p:tags r:id="rId9"/>
            </p:custDataLst>
          </p:nvPr>
        </p:nvSpPr>
        <p:spPr>
          <a:xfrm>
            <a:off x="356235" y="6024880"/>
            <a:ext cx="267335" cy="692785"/>
          </a:xfrm>
          <a:prstGeom prst="rect">
            <a:avLst/>
          </a:prstGeom>
          <a:noFill/>
        </p:spPr>
        <p:txBody>
          <a:bodyPr wrap="square" rtlCol="0">
            <a:spAutoFit/>
          </a:bodyPr>
          <a:lstStyle/>
          <a:p>
            <a:pPr>
              <a:spcAft>
                <a:spcPts val="600"/>
              </a:spcAft>
            </a:pPr>
            <a:r>
              <a:rPr lang="zh-CN" altLang="en-US" sz="1700" dirty="0">
                <a:solidFill>
                  <a:schemeClr val="bg1"/>
                </a:solidFill>
                <a:latin typeface="Microsoft YaHei" panose="020B0503020204020204" charset="-122"/>
                <a:ea typeface="Microsoft YaHei" panose="020B0503020204020204" charset="-122"/>
              </a:rPr>
              <a:t>结</a:t>
            </a:r>
            <a:endParaRPr lang="en-US" altLang="zh-CN" sz="1700" dirty="0">
              <a:solidFill>
                <a:schemeClr val="bg1"/>
              </a:solidFill>
              <a:latin typeface="Microsoft YaHei" panose="020B0503020204020204" charset="-122"/>
              <a:ea typeface="Microsoft YaHei" panose="020B0503020204020204" charset="-122"/>
            </a:endParaRPr>
          </a:p>
          <a:p>
            <a:r>
              <a:rPr lang="zh-CN" altLang="en-US" sz="1700" dirty="0">
                <a:solidFill>
                  <a:schemeClr val="bg1"/>
                </a:solidFill>
                <a:latin typeface="Microsoft YaHei" panose="020B0503020204020204" charset="-122"/>
                <a:ea typeface="Microsoft YaHei" panose="020B0503020204020204" charset="-122"/>
              </a:rPr>
              <a:t>论</a:t>
            </a:r>
            <a:endParaRPr lang="zh-CN" altLang="en-US" sz="1700" dirty="0">
              <a:solidFill>
                <a:schemeClr val="bg1"/>
              </a:solidFill>
              <a:latin typeface="Microsoft YaHei" panose="020B0503020204020204" charset="-122"/>
              <a:ea typeface="Microsoft YaHei" panose="020B0503020204020204" charset="-122"/>
            </a:endParaRPr>
          </a:p>
        </p:txBody>
      </p:sp>
      <p:graphicFrame>
        <p:nvGraphicFramePr>
          <p:cNvPr id="30" name="表格 29"/>
          <p:cNvGraphicFramePr/>
          <p:nvPr>
            <p:custDataLst>
              <p:tags r:id="rId10"/>
            </p:custDataLst>
          </p:nvPr>
        </p:nvGraphicFramePr>
        <p:xfrm>
          <a:off x="326390" y="1024890"/>
          <a:ext cx="8503920" cy="4772025"/>
        </p:xfrm>
        <a:graphic>
          <a:graphicData uri="http://schemas.openxmlformats.org/drawingml/2006/table">
            <a:tbl>
              <a:tblPr firstRow="1" bandRow="1">
                <a:tableStyleId>{5C22544A-7EE6-4342-B048-85BDC9FD1C3A}</a:tableStyleId>
              </a:tblPr>
              <a:tblGrid>
                <a:gridCol w="594360"/>
                <a:gridCol w="635635"/>
                <a:gridCol w="605790"/>
                <a:gridCol w="1265555"/>
                <a:gridCol w="2487295"/>
                <a:gridCol w="2915285"/>
              </a:tblGrid>
              <a:tr h="518160">
                <a:tc>
                  <a:txBody>
                    <a:bodyPr/>
                    <a:lstStyle/>
                    <a:p>
                      <a:pPr algn="ctr">
                        <a:buNone/>
                      </a:pPr>
                      <a:r>
                        <a:rPr lang="zh-CN" altLang="en-US" sz="1400">
                          <a:latin typeface="Times New Roman" panose="02020603050405020304" pitchFamily="18" charset="0"/>
                        </a:rPr>
                        <a:t>方法分类</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国家地区</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机构名称</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相关工作</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相关工作描述</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分析</a:t>
                      </a:r>
                      <a:endParaRPr lang="zh-CN" altLang="en-US" sz="1400">
                        <a:latin typeface="Times New Roman" panose="02020603050405020304" pitchFamily="18" charset="0"/>
                      </a:endParaRPr>
                    </a:p>
                  </a:txBody>
                  <a:tcPr anchor="ctr">
                    <a:solidFill>
                      <a:srgbClr val="004578"/>
                    </a:solidFill>
                  </a:tcPr>
                </a:tc>
              </a:tr>
              <a:tr h="824865">
                <a:tc rowSpan="4">
                  <a:txBody>
                    <a:bodyPr/>
                    <a:lstStyle/>
                    <a:p>
                      <a:pPr algn="ctr">
                        <a:buNone/>
                      </a:pPr>
                      <a:r>
                        <a:rPr lang="zh-CN" altLang="en-US" sz="1200" dirty="0">
                          <a:latin typeface="Times New Roman" panose="02020603050405020304" pitchFamily="18" charset="0"/>
                        </a:rPr>
                        <a:t>集合通信原语调度</a:t>
                      </a:r>
                      <a:r>
                        <a:rPr lang="zh-CN" altLang="en-US" sz="1200" dirty="0">
                          <a:latin typeface="Times New Roman" panose="02020603050405020304" pitchFamily="18" charset="0"/>
                        </a:rPr>
                        <a:t>策略</a:t>
                      </a:r>
                      <a:endParaRPr lang="zh-CN" altLang="en-US" sz="120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美国</a:t>
                      </a:r>
                      <a:endParaRPr lang="zh-CN" altLang="en-US" sz="1200" baseline="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微软</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err="1">
                          <a:latin typeface="Times New Roman" panose="02020603050405020304" pitchFamily="18" charset="0"/>
                        </a:rPr>
                        <a:t>ZeRO</a:t>
                      </a:r>
                      <a:r>
                        <a:rPr lang="en-US" altLang="zh-CN" sz="1200" baseline="0" dirty="0">
                          <a:latin typeface="Times New Roman" panose="02020603050405020304" pitchFamily="18" charset="0"/>
                        </a:rPr>
                        <a:t>++</a:t>
                      </a:r>
                      <a:endParaRPr lang="en-US" altLang="zh-CN" sz="1200" baseline="0" dirty="0">
                        <a:latin typeface="Times New Roman" panose="02020603050405020304" pitchFamily="18" charset="0"/>
                      </a:endParaRPr>
                    </a:p>
                    <a:p>
                      <a:pPr algn="ctr">
                        <a:buNone/>
                      </a:pPr>
                      <a:r>
                        <a:rPr lang="en-US" altLang="zh-CN" sz="1200" baseline="0" dirty="0">
                          <a:latin typeface="Times New Roman" panose="02020603050405020304" pitchFamily="18" charset="0"/>
                        </a:rPr>
                        <a:t>(arXiv’2024)</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提出基于</a:t>
                      </a:r>
                      <a:r>
                        <a:rPr lang="en-US" altLang="zh-CN" sz="1200" baseline="0" dirty="0">
                          <a:latin typeface="Times New Roman" panose="02020603050405020304" pitchFamily="18" charset="0"/>
                        </a:rPr>
                        <a:t>all-to-all</a:t>
                      </a:r>
                      <a:r>
                        <a:rPr lang="zh-CN" altLang="en-US" sz="1200" baseline="0" dirty="0">
                          <a:latin typeface="Times New Roman" panose="02020603050405020304" pitchFamily="18" charset="0"/>
                        </a:rPr>
                        <a:t>的集合通信原语实现量化梯度的</a:t>
                      </a:r>
                      <a:r>
                        <a:rPr lang="en-US" altLang="zh-CN" sz="1200" baseline="0" dirty="0">
                          <a:latin typeface="Times New Roman" panose="02020603050405020304" pitchFamily="18" charset="0"/>
                        </a:rPr>
                        <a:t>reduce-scatter</a:t>
                      </a:r>
                      <a:r>
                        <a:rPr lang="zh-CN" altLang="en-US" sz="1200" baseline="0" dirty="0">
                          <a:latin typeface="Times New Roman" panose="02020603050405020304" pitchFamily="18" charset="0"/>
                        </a:rPr>
                        <a:t>， 利用分层集合</a:t>
                      </a:r>
                      <a:r>
                        <a:rPr lang="zh-CN" altLang="en-US" sz="1200" baseline="0" dirty="0">
                          <a:latin typeface="Times New Roman" panose="02020603050405020304" pitchFamily="18" charset="0"/>
                        </a:rPr>
                        <a:t>通信减少通信量、张量片重排以实现正确的梯度放置。</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工作在集群内部，依赖于集群内</a:t>
                      </a:r>
                      <a:r>
                        <a:rPr lang="en-US" altLang="zh-CN" sz="1200" baseline="0" dirty="0">
                          <a:latin typeface="Times New Roman" panose="02020603050405020304" pitchFamily="18" charset="0"/>
                        </a:rPr>
                        <a:t>all-to-all</a:t>
                      </a:r>
                      <a:r>
                        <a:rPr lang="zh-CN" altLang="en-US" sz="1200" baseline="0" dirty="0">
                          <a:latin typeface="Times New Roman" panose="02020603050405020304" pitchFamily="18" charset="0"/>
                        </a:rPr>
                        <a:t>的实现，难以在边端网络多变的场景下</a:t>
                      </a:r>
                      <a:r>
                        <a:rPr lang="zh-CN" altLang="en-US" sz="1200" baseline="0" dirty="0">
                          <a:latin typeface="Times New Roman" panose="02020603050405020304" pitchFamily="18" charset="0"/>
                        </a:rPr>
                        <a:t>使用。</a:t>
                      </a:r>
                      <a:endParaRPr lang="zh-CN" altLang="en-US" sz="1200" baseline="0" dirty="0">
                        <a:latin typeface="Times New Roman" panose="02020603050405020304" pitchFamily="18" charset="0"/>
                      </a:endParaRPr>
                    </a:p>
                  </a:txBody>
                  <a:tcPr anchor="ctr"/>
                </a:tc>
              </a:tr>
              <a:tr h="828040">
                <a:tc vMerge="1">
                  <a:tcPr anchor="ctr"/>
                </a:tc>
                <a:tc>
                  <a:txBody>
                    <a:bodyPr/>
                    <a:lstStyle/>
                    <a:p>
                      <a:pPr algn="ctr">
                        <a:buNone/>
                      </a:pPr>
                      <a:r>
                        <a:rPr lang="zh-CN" altLang="en-US" sz="1200" baseline="0" dirty="0">
                          <a:latin typeface="Times New Roman" panose="02020603050405020304" pitchFamily="18" charset="0"/>
                        </a:rPr>
                        <a:t>中国</a:t>
                      </a:r>
                      <a:endParaRPr lang="zh-CN" altLang="en-US" sz="1200" baseline="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北京大学</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err="1">
                          <a:latin typeface="Times New Roman" panose="02020603050405020304" pitchFamily="18" charset="0"/>
                        </a:rPr>
                        <a:t>Birder</a:t>
                      </a:r>
                      <a:endParaRPr lang="en-US" altLang="zh-CN" sz="1200" baseline="0" dirty="0">
                        <a:latin typeface="Times New Roman" panose="02020603050405020304" pitchFamily="18" charset="0"/>
                      </a:endParaRPr>
                    </a:p>
                    <a:p>
                      <a:pPr algn="ctr">
                        <a:buNone/>
                      </a:pPr>
                      <a:r>
                        <a:rPr lang="en-US" altLang="zh-CN" sz="1200" baseline="0" dirty="0">
                          <a:latin typeface="Times New Roman" panose="02020603050405020304" pitchFamily="18" charset="0"/>
                        </a:rPr>
                        <a:t>(</a:t>
                      </a:r>
                      <a:r>
                        <a:rPr lang="en-US" altLang="zh-CN" sz="1200" baseline="0" dirty="0">
                          <a:latin typeface="Times New Roman" panose="02020603050405020304" pitchFamily="18" charset="0"/>
                        </a:rPr>
                        <a:t>NeulPS’2023)</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针对</a:t>
                      </a:r>
                      <a:r>
                        <a:rPr lang="en-US" altLang="zh-CN" sz="1200" baseline="0" dirty="0">
                          <a:latin typeface="Times New Roman" panose="02020603050405020304" pitchFamily="18" charset="0"/>
                        </a:rPr>
                        <a:t>1bit</a:t>
                      </a:r>
                      <a:r>
                        <a:rPr lang="zh-CN" altLang="en-US" sz="1200" baseline="0" dirty="0">
                          <a:latin typeface="Times New Roman" panose="02020603050405020304" pitchFamily="18" charset="0"/>
                        </a:rPr>
                        <a:t>量化方法设计了分层1bit-All-Reduce，提升了在该量化条件下的</a:t>
                      </a:r>
                      <a:r>
                        <a:rPr lang="en-US" altLang="zh-CN" sz="1200" baseline="0" dirty="0">
                          <a:latin typeface="Times New Roman" panose="02020603050405020304" pitchFamily="18" charset="0"/>
                        </a:rPr>
                        <a:t>All-Reduce</a:t>
                      </a:r>
                      <a:r>
                        <a:rPr lang="zh-CN" altLang="en-US" sz="1200" baseline="0" dirty="0">
                          <a:latin typeface="Times New Roman" panose="02020603050405020304" pitchFamily="18" charset="0"/>
                        </a:rPr>
                        <a:t>效率，以进一步降低通信量。</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通过剪枝的决策树加速了策略的搜索过程，但是搜索时间仍然较长</a:t>
                      </a:r>
                      <a:endParaRPr lang="zh-CN" altLang="en-US" sz="1200" baseline="0" dirty="0">
                        <a:latin typeface="Times New Roman" panose="02020603050405020304" pitchFamily="18" charset="0"/>
                      </a:endParaRPr>
                    </a:p>
                  </a:txBody>
                  <a:tcPr anchor="ctr"/>
                </a:tc>
              </a:tr>
              <a:tr h="837565">
                <a:tc vMerge="1">
                  <a:tcPr anchor="ctr"/>
                </a:tc>
                <a:tc>
                  <a:txBody>
                    <a:bodyPr/>
                    <a:lstStyle/>
                    <a:p>
                      <a:pPr algn="ctr">
                        <a:buNone/>
                      </a:pPr>
                      <a:r>
                        <a:rPr lang="zh-CN" altLang="en-US" sz="1200" baseline="0" dirty="0">
                          <a:latin typeface="Times New Roman" panose="02020603050405020304" pitchFamily="18" charset="0"/>
                        </a:rPr>
                        <a:t>美国</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UC</a:t>
                      </a:r>
                      <a:r>
                        <a:rPr lang="zh-CN" altLang="en-US" sz="1200" baseline="0" dirty="0">
                          <a:latin typeface="Times New Roman" panose="02020603050405020304" pitchFamily="18" charset="0"/>
                        </a:rPr>
                        <a:t>伯克利</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Lina</a:t>
                      </a:r>
                      <a:endParaRPr lang="en-US" altLang="zh-CN" sz="1200" baseline="0" dirty="0">
                        <a:latin typeface="Times New Roman" panose="02020603050405020304" pitchFamily="18" charset="0"/>
                      </a:endParaRPr>
                    </a:p>
                    <a:p>
                      <a:pPr algn="ctr">
                        <a:buNone/>
                      </a:pPr>
                      <a:r>
                        <a:rPr lang="en-US" altLang="zh-CN" sz="1200" baseline="0" dirty="0">
                          <a:latin typeface="Times New Roman" panose="02020603050405020304" pitchFamily="18" charset="0"/>
                        </a:rPr>
                        <a:t>(ATC’2023)</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针对专家并行中交换令牌产生的</a:t>
                      </a:r>
                      <a:r>
                        <a:rPr lang="en-US" altLang="zh-CN" sz="1200" baseline="0" dirty="0">
                          <a:latin typeface="Times New Roman" panose="02020603050405020304" pitchFamily="18" charset="0"/>
                        </a:rPr>
                        <a:t>All-to-all</a:t>
                      </a:r>
                      <a:r>
                        <a:rPr lang="zh-CN" altLang="en-US" sz="1200" baseline="0" dirty="0">
                          <a:latin typeface="Times New Roman" panose="02020603050405020304" pitchFamily="18" charset="0"/>
                        </a:rPr>
                        <a:t>瓶颈，使用梯度分区代替</a:t>
                      </a:r>
                      <a:r>
                        <a:rPr lang="en-US" altLang="zh-CN" sz="1200" baseline="0" dirty="0">
                          <a:latin typeface="Times New Roman" panose="02020603050405020304" pitchFamily="18" charset="0"/>
                        </a:rPr>
                        <a:t>bucketing</a:t>
                      </a:r>
                      <a:r>
                        <a:rPr lang="zh-CN" altLang="en-US" sz="1200" baseline="0" dirty="0">
                          <a:latin typeface="Times New Roman" panose="02020603050405020304" pitchFamily="18" charset="0"/>
                        </a:rPr>
                        <a:t>，缓解执行</a:t>
                      </a:r>
                      <a:r>
                        <a:rPr lang="en-US" altLang="zh-CN" sz="1200" baseline="0" dirty="0">
                          <a:latin typeface="Times New Roman" panose="02020603050405020304" pitchFamily="18" charset="0"/>
                        </a:rPr>
                        <a:t>All-to-all</a:t>
                      </a:r>
                      <a:r>
                        <a:rPr lang="zh-CN" altLang="en-US" sz="1200" baseline="0" dirty="0">
                          <a:latin typeface="Times New Roman" panose="02020603050405020304" pitchFamily="18" charset="0"/>
                        </a:rPr>
                        <a:t>并发流中产生的</a:t>
                      </a:r>
                      <a:r>
                        <a:rPr lang="zh-CN" altLang="en-US" sz="1200" baseline="0" dirty="0">
                          <a:latin typeface="Times New Roman" panose="02020603050405020304" pitchFamily="18" charset="0"/>
                        </a:rPr>
                        <a:t>带宽争用。</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提出了不同流之间的并行操作将会降低通信效率，但只支持</a:t>
                      </a:r>
                      <a:r>
                        <a:rPr lang="en-US" altLang="zh-CN" sz="1200" baseline="0" dirty="0">
                          <a:latin typeface="Times New Roman" panose="02020603050405020304" pitchFamily="18" charset="0"/>
                        </a:rPr>
                        <a:t>MoE</a:t>
                      </a:r>
                      <a:r>
                        <a:rPr lang="zh-CN" altLang="en-US" sz="1200" baseline="0" dirty="0">
                          <a:latin typeface="Times New Roman" panose="02020603050405020304" pitchFamily="18" charset="0"/>
                        </a:rPr>
                        <a:t>专家并行策略的</a:t>
                      </a:r>
                      <a:r>
                        <a:rPr lang="zh-CN" altLang="en-US" sz="1200" baseline="0" dirty="0">
                          <a:latin typeface="Times New Roman" panose="02020603050405020304" pitchFamily="18" charset="0"/>
                        </a:rPr>
                        <a:t>优化</a:t>
                      </a:r>
                      <a:endParaRPr lang="zh-CN" altLang="en-US" sz="1200" baseline="0" dirty="0">
                        <a:latin typeface="Times New Roman" panose="02020603050405020304" pitchFamily="18" charset="0"/>
                      </a:endParaRPr>
                    </a:p>
                  </a:txBody>
                  <a:tcPr anchor="ctr"/>
                </a:tc>
              </a:tr>
              <a:tr h="757555">
                <a:tc vMerge="1">
                  <a:tcPr anchor="ctr"/>
                </a:tc>
                <a:tc>
                  <a:txBody>
                    <a:bodyPr/>
                    <a:p>
                      <a:pPr algn="ctr">
                        <a:buNone/>
                      </a:pPr>
                      <a:r>
                        <a:rPr lang="zh-CN" altLang="en-US" sz="1200" baseline="0" dirty="0">
                          <a:latin typeface="Times New Roman" panose="02020603050405020304" pitchFamily="18" charset="0"/>
                        </a:rPr>
                        <a:t>中国</a:t>
                      </a:r>
                      <a:endParaRPr lang="zh-CN" altLang="en-US" sz="1200" baseline="0" dirty="0">
                        <a:latin typeface="Times New Roman" panose="02020603050405020304" pitchFamily="18" charset="0"/>
                      </a:endParaRPr>
                    </a:p>
                  </a:txBody>
                  <a:tcPr anchor="ctr"/>
                </a:tc>
                <a:tc>
                  <a:txBody>
                    <a:bodyPr/>
                    <a:p>
                      <a:pPr algn="ctr">
                        <a:buNone/>
                      </a:pPr>
                      <a:r>
                        <a:rPr lang="zh-CN" altLang="en-US" sz="1200" baseline="0" dirty="0">
                          <a:latin typeface="Times New Roman" panose="02020603050405020304" pitchFamily="18" charset="0"/>
                        </a:rPr>
                        <a:t>北京大学</a:t>
                      </a:r>
                      <a:endParaRPr lang="zh-CN" altLang="en-US" sz="1200" baseline="0" dirty="0">
                        <a:latin typeface="Times New Roman" panose="02020603050405020304" pitchFamily="18" charset="0"/>
                      </a:endParaRPr>
                    </a:p>
                  </a:txBody>
                  <a:tcPr anchor="ctr"/>
                </a:tc>
                <a:tc>
                  <a:txBody>
                    <a:bodyPr/>
                    <a:p>
                      <a:pPr algn="ctr">
                        <a:buNone/>
                      </a:pPr>
                      <a:r>
                        <a:rPr lang="en-US" altLang="zh-CN" sz="1200" baseline="0" dirty="0">
                          <a:latin typeface="Times New Roman" panose="02020603050405020304" pitchFamily="18" charset="0"/>
                        </a:rPr>
                        <a:t>Centauri (ASPLOS’2024)</a:t>
                      </a:r>
                      <a:endParaRPr lang="en-US" altLang="zh-CN" sz="1200" baseline="0" dirty="0">
                        <a:latin typeface="Times New Roman" panose="02020603050405020304" pitchFamily="18" charset="0"/>
                      </a:endParaRPr>
                    </a:p>
                  </a:txBody>
                  <a:tcPr anchor="ctr"/>
                </a:tc>
                <a:tc>
                  <a:txBody>
                    <a:bodyPr/>
                    <a:p>
                      <a:pPr algn="just">
                        <a:buNone/>
                      </a:pPr>
                      <a:r>
                        <a:rPr lang="zh-CN" altLang="en-US" sz="1200" baseline="0" dirty="0">
                          <a:latin typeface="Times New Roman" panose="02020603050405020304" pitchFamily="18" charset="0"/>
                        </a:rPr>
                        <a:t>基于原语替换、拓扑感知分组分区和工作负载分区三个层面，设计全面的通信分区与分层调度</a:t>
                      </a:r>
                      <a:r>
                        <a:rPr lang="zh-CN" altLang="en-US" sz="1200" baseline="0" dirty="0">
                          <a:latin typeface="Times New Roman" panose="02020603050405020304" pitchFamily="18" charset="0"/>
                        </a:rPr>
                        <a:t>方案。</a:t>
                      </a:r>
                      <a:endParaRPr lang="zh-CN" altLang="en-US" sz="1200" baseline="0" dirty="0">
                        <a:latin typeface="Times New Roman" panose="02020603050405020304" pitchFamily="18" charset="0"/>
                      </a:endParaRPr>
                    </a:p>
                  </a:txBody>
                  <a:tcPr anchor="ctr"/>
                </a:tc>
                <a:tc>
                  <a:txBody>
                    <a:bodyPr/>
                    <a:p>
                      <a:pPr algn="just">
                        <a:buNone/>
                      </a:pPr>
                      <a:r>
                        <a:rPr lang="zh-CN" altLang="en-US" sz="1200" baseline="0" dirty="0">
                          <a:latin typeface="Times New Roman" panose="02020603050405020304" pitchFamily="18" charset="0"/>
                        </a:rPr>
                        <a:t>通过细粒度的分层调度方案实现了混合通信调度，但一般细粒度的调度通常在跨域场景下难以实现</a:t>
                      </a:r>
                      <a:endParaRPr lang="zh-CN" altLang="en-US" sz="1200" baseline="0" dirty="0">
                        <a:latin typeface="Times New Roman" panose="02020603050405020304" pitchFamily="18" charset="0"/>
                      </a:endParaRPr>
                    </a:p>
                  </a:txBody>
                  <a:tcPr anchor="ctr"/>
                </a:tc>
              </a:tr>
              <a:tr h="1005840">
                <a:tc>
                  <a:txBody>
                    <a:bodyPr/>
                    <a:lstStyle/>
                    <a:p>
                      <a:pPr algn="ctr">
                        <a:buNone/>
                      </a:pPr>
                      <a:r>
                        <a:rPr lang="zh-CN" altLang="en-US" sz="1200" dirty="0">
                          <a:latin typeface="Times New Roman" panose="02020603050405020304" pitchFamily="18" charset="0"/>
                        </a:rPr>
                        <a:t>集合通信动态拓扑</a:t>
                      </a:r>
                      <a:r>
                        <a:rPr lang="zh-CN" altLang="en-US" sz="1200" dirty="0">
                          <a:latin typeface="Times New Roman" panose="02020603050405020304" pitchFamily="18" charset="0"/>
                        </a:rPr>
                        <a:t>设计</a:t>
                      </a:r>
                      <a:endParaRPr lang="zh-CN" altLang="en-US" sz="120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中国</a:t>
                      </a:r>
                      <a:endParaRPr lang="zh-CN" altLang="en-US" sz="1200" baseline="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百度</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err="1">
                          <a:latin typeface="Times New Roman" panose="02020603050405020304" pitchFamily="18" charset="0"/>
                        </a:rPr>
                        <a:t>GreedW </a:t>
                      </a:r>
                      <a:r>
                        <a:rPr lang="en-US" altLang="zh-CN" sz="1200" baseline="0" dirty="0">
                          <a:latin typeface="Times New Roman" panose="02020603050405020304" pitchFamily="18" charset="0"/>
                        </a:rPr>
                        <a:t>(TC’2023)</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使用贪心策略分层聚合广域网中数据并行架构下的梯度与参数，降低了聚合</a:t>
                      </a:r>
                      <a:r>
                        <a:rPr lang="zh-CN" altLang="en-US" sz="1200" baseline="0" dirty="0">
                          <a:latin typeface="Times New Roman" panose="02020603050405020304" pitchFamily="18" charset="0"/>
                        </a:rPr>
                        <a:t>所用时间</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简单的使用贪心策略来动态构建通信拓扑；适用于联邦学习</a:t>
                      </a:r>
                      <a:r>
                        <a:rPr lang="zh-CN" altLang="en-US" sz="1200" baseline="0" dirty="0">
                          <a:latin typeface="Times New Roman" panose="02020603050405020304" pitchFamily="18" charset="0"/>
                        </a:rPr>
                        <a:t>框架</a:t>
                      </a:r>
                      <a:endParaRPr lang="zh-CN" altLang="en-US" sz="1200" baseline="0" dirty="0">
                        <a:latin typeface="Times New Roman" panose="02020603050405020304" pitchFamily="18" charset="0"/>
                      </a:endParaRPr>
                    </a:p>
                  </a:txBody>
                  <a:tcPr anchor="ctr"/>
                </a:tc>
              </a:tr>
            </a:tbl>
          </a:graphicData>
        </a:graphic>
      </p:graphicFrame>
    </p:spTree>
    <p:custDataLst>
      <p:tags r:id="rId1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国内外研究现状</a:t>
            </a:r>
            <a:r>
              <a:rPr lang="en-US" altLang="zh-CN" dirty="0"/>
              <a:t> – </a:t>
            </a:r>
            <a:r>
              <a:rPr dirty="0"/>
              <a:t>通信掩盖与同步尾部</a:t>
            </a:r>
            <a:r>
              <a:rPr dirty="0"/>
              <a:t>优化</a:t>
            </a:r>
            <a:endParaRPr dirty="0"/>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圆角矩形 44"/>
          <p:cNvSpPr/>
          <p:nvPr>
            <p:custDataLst>
              <p:tags r:id="rId1"/>
            </p:custDataLst>
          </p:nvPr>
        </p:nvSpPr>
        <p:spPr>
          <a:xfrm>
            <a:off x="976630" y="5923915"/>
            <a:ext cx="7859395" cy="864235"/>
          </a:xfrm>
          <a:prstGeom prst="roundRect">
            <a:avLst/>
          </a:prstGeom>
          <a:solidFill>
            <a:schemeClr val="accent1">
              <a:lumMod val="20000"/>
              <a:lumOff val="80000"/>
            </a:schemeClr>
          </a:solidFill>
          <a:ln w="19050">
            <a:solidFill>
              <a:schemeClr val="accent1">
                <a:lumMod val="60000"/>
                <a:lumOff val="40000"/>
              </a:schemeClr>
            </a:solidFill>
            <a:miter lim="800000"/>
          </a:ln>
        </p:spPr>
        <p:txBody>
          <a:bodyPr anchor="ctr" anchorCtr="0"/>
          <a:lstStyle/>
          <a:p>
            <a:pPr marL="215900" indent="107950" fontAlgn="ctr">
              <a:spcBef>
                <a:spcPts val="0"/>
              </a:spcBef>
              <a:spcAft>
                <a:spcPts val="600"/>
              </a:spcAft>
              <a:buFont typeface="Arial" panose="020B0604020202020204" pitchFamily="34" charset="0"/>
              <a:buChar char="•"/>
            </a:pPr>
            <a:r>
              <a:rPr lang="zh-CN" altLang="en-US" sz="1700" dirty="0">
                <a:solidFill>
                  <a:schemeClr val="tx1"/>
                </a:solidFill>
                <a:latin typeface="Microsoft YaHei" panose="020B0503020204020204" charset="-122"/>
                <a:ea typeface="Microsoft YaHei" panose="020B0503020204020204" charset="-122"/>
              </a:rPr>
              <a:t> </a:t>
            </a:r>
            <a:r>
              <a:rPr lang="en-US" altLang="zh-CN" sz="1700" dirty="0">
                <a:solidFill>
                  <a:schemeClr val="tx1"/>
                </a:solidFill>
                <a:latin typeface="Microsoft YaHei" panose="020B0503020204020204" charset="-122"/>
                <a:ea typeface="Microsoft YaHei" panose="020B0503020204020204" charset="-122"/>
              </a:rPr>
              <a:t>FedAvg</a:t>
            </a:r>
            <a:r>
              <a:rPr lang="zh-CN" altLang="en-US" sz="1700" dirty="0">
                <a:solidFill>
                  <a:schemeClr val="tx1"/>
                </a:solidFill>
                <a:latin typeface="Microsoft YaHei" panose="020B0503020204020204" charset="-122"/>
                <a:ea typeface="Microsoft YaHei" panose="020B0503020204020204" charset="-122"/>
              </a:rPr>
              <a:t>等基于</a:t>
            </a:r>
            <a:r>
              <a:rPr lang="en-US" altLang="zh-CN" sz="1700" dirty="0">
                <a:solidFill>
                  <a:schemeClr val="tx1"/>
                </a:solidFill>
                <a:latin typeface="Microsoft YaHei" panose="020B0503020204020204" charset="-122"/>
                <a:ea typeface="Microsoft YaHei" panose="020B0503020204020204" charset="-122"/>
              </a:rPr>
              <a:t>LocalSGD</a:t>
            </a:r>
            <a:r>
              <a:rPr lang="zh-CN" altLang="en-US" sz="1700" dirty="0">
                <a:solidFill>
                  <a:schemeClr val="tx1"/>
                </a:solidFill>
                <a:latin typeface="Microsoft YaHei" panose="020B0503020204020204" charset="-122"/>
                <a:ea typeface="Microsoft YaHei" panose="020B0503020204020204" charset="-122"/>
              </a:rPr>
              <a:t>实现</a:t>
            </a:r>
            <a:r>
              <a:rPr lang="zh-CN" altLang="en-US" sz="1700" dirty="0">
                <a:solidFill>
                  <a:schemeClr val="tx1"/>
                </a:solidFill>
                <a:latin typeface="Microsoft YaHei" panose="020B0503020204020204" charset="-122"/>
                <a:ea typeface="Microsoft YaHei" panose="020B0503020204020204" charset="-122"/>
              </a:rPr>
              <a:t>的异步训练方法容易出现模型漂移与震荡</a:t>
            </a:r>
            <a:endParaRPr lang="en-US" altLang="zh-CN" sz="1700" dirty="0">
              <a:solidFill>
                <a:schemeClr val="tx1"/>
              </a:solidFill>
              <a:latin typeface="Microsoft YaHei" panose="020B0503020204020204" charset="-122"/>
              <a:ea typeface="Microsoft YaHei" panose="020B0503020204020204" charset="-122"/>
            </a:endParaRPr>
          </a:p>
          <a:p>
            <a:pPr marL="215900" indent="107950" fontAlgn="ctr">
              <a:spcBef>
                <a:spcPts val="0"/>
              </a:spcBef>
              <a:spcAft>
                <a:spcPts val="600"/>
              </a:spcAft>
              <a:buFont typeface="Arial" panose="020B0604020202020204" pitchFamily="34" charset="0"/>
              <a:buChar char="•"/>
            </a:pPr>
            <a:r>
              <a:rPr lang="en-US" altLang="zh-CN" sz="1700" dirty="0">
                <a:latin typeface="Microsoft YaHei" panose="020B0503020204020204" charset="-122"/>
                <a:ea typeface="Microsoft YaHei" panose="020B0503020204020204" charset="-122"/>
              </a:rPr>
              <a:t> </a:t>
            </a:r>
            <a:r>
              <a:rPr lang="zh-CN" altLang="en-US" sz="1700" dirty="0">
                <a:latin typeface="Microsoft YaHei" panose="020B0503020204020204" charset="-122"/>
                <a:ea typeface="Microsoft YaHei" panose="020B0503020204020204" charset="-122"/>
              </a:rPr>
              <a:t>各类实验暂时没有涉及到中大</a:t>
            </a:r>
            <a:r>
              <a:rPr lang="zh-CN" altLang="en-US" sz="1700" dirty="0">
                <a:latin typeface="Microsoft YaHei" panose="020B0503020204020204" charset="-122"/>
                <a:ea typeface="Microsoft YaHei" panose="020B0503020204020204" charset="-122"/>
              </a:rPr>
              <a:t>模型</a:t>
            </a:r>
            <a:endParaRPr lang="zh-CN" altLang="en-US" sz="1700" dirty="0">
              <a:latin typeface="Microsoft YaHei" panose="020B0503020204020204" charset="-122"/>
              <a:ea typeface="Microsoft YaHei" panose="020B0503020204020204" charset="-122"/>
            </a:endParaRPr>
          </a:p>
        </p:txBody>
      </p:sp>
      <p:sp>
        <p:nvSpPr>
          <p:cNvPr id="19" name="圆角矩形 52"/>
          <p:cNvSpPr>
            <a:spLocks noChangeArrowheads="1"/>
          </p:cNvSpPr>
          <p:nvPr>
            <p:custDataLst>
              <p:tags r:id="rId2"/>
            </p:custDataLst>
          </p:nvPr>
        </p:nvSpPr>
        <p:spPr bwMode="auto">
          <a:xfrm>
            <a:off x="306070" y="5923915"/>
            <a:ext cx="670560" cy="864235"/>
          </a:xfrm>
          <a:prstGeom prst="roundRect">
            <a:avLst>
              <a:gd name="adj" fmla="val 11204"/>
            </a:avLst>
          </a:prstGeom>
          <a:solidFill>
            <a:srgbClr val="4CA6A6"/>
          </a:solidFill>
          <a:ln w="9525">
            <a:noFill/>
            <a:round/>
          </a:ln>
        </p:spPr>
        <p:txBody>
          <a:bodyPr lIns="0" anchor="ctr"/>
          <a:lstStyle/>
          <a:p>
            <a:pPr algn="ctr"/>
            <a:endParaRPr lang="zh-CN" altLang="en-US" sz="1500" b="1" dirty="0">
              <a:solidFill>
                <a:schemeClr val="bg1"/>
              </a:solidFill>
              <a:latin typeface="Microsoft YaHei" panose="020B0503020204020204" charset="-122"/>
              <a:ea typeface="Microsoft YaHei" panose="020B0503020204020204" charset="-122"/>
            </a:endParaRPr>
          </a:p>
        </p:txBody>
      </p:sp>
      <p:grpSp>
        <p:nvGrpSpPr>
          <p:cNvPr id="20" name="Group 40"/>
          <p:cNvGrpSpPr/>
          <p:nvPr/>
        </p:nvGrpSpPr>
        <p:grpSpPr bwMode="auto">
          <a:xfrm rot="5400000">
            <a:off x="727710" y="6127115"/>
            <a:ext cx="517525" cy="457835"/>
            <a:chOff x="0" y="0"/>
            <a:chExt cx="312" cy="420"/>
          </a:xfrm>
        </p:grpSpPr>
        <p:grpSp>
          <p:nvGrpSpPr>
            <p:cNvPr id="21" name="Group 41"/>
            <p:cNvGrpSpPr/>
            <p:nvPr/>
          </p:nvGrpSpPr>
          <p:grpSpPr bwMode="auto">
            <a:xfrm>
              <a:off x="182" y="2"/>
              <a:ext cx="130" cy="418"/>
              <a:chOff x="0" y="0"/>
              <a:chExt cx="130" cy="418"/>
            </a:xfrm>
          </p:grpSpPr>
          <p:sp>
            <p:nvSpPr>
              <p:cNvPr id="22" name="Oval 31"/>
              <p:cNvSpPr>
                <a:spLocks noChangeArrowheads="1"/>
              </p:cNvSpPr>
              <p:nvPr>
                <p:custDataLst>
                  <p:tags r:id="rId3"/>
                </p:custDataLst>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3" name="Oval 32"/>
              <p:cNvSpPr>
                <a:spLocks noChangeArrowheads="1"/>
              </p:cNvSpPr>
              <p:nvPr>
                <p:custDataLst>
                  <p:tags r:id="rId4"/>
                </p:custDataLst>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4" name="AutoShape 33"/>
              <p:cNvSpPr>
                <a:spLocks noChangeArrowheads="1"/>
              </p:cNvSpPr>
              <p:nvPr>
                <p:custDataLst>
                  <p:tags r:id="rId5"/>
                </p:custDataLst>
              </p:nvPr>
            </p:nvSpPr>
            <p:spPr bwMode="auto">
              <a:xfrm>
                <a:off x="36" y="72"/>
                <a:ext cx="62" cy="300"/>
              </a:xfrm>
              <a:prstGeom prst="roundRect">
                <a:avLst>
                  <a:gd name="adj" fmla="val 50000"/>
                </a:avLst>
              </a:prstGeom>
              <a:gradFill rotWithShape="1">
                <a:gsLst>
                  <a:gs pos="0">
                    <a:srgbClr val="B2B2B2"/>
                  </a:gs>
                  <a:gs pos="50000">
                    <a:srgbClr val="EAEAEA"/>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nvGrpSpPr>
            <p:cNvPr id="25" name="Group 45"/>
            <p:cNvGrpSpPr/>
            <p:nvPr/>
          </p:nvGrpSpPr>
          <p:grpSpPr bwMode="auto">
            <a:xfrm>
              <a:off x="0" y="0"/>
              <a:ext cx="130" cy="418"/>
              <a:chOff x="0" y="0"/>
              <a:chExt cx="130" cy="418"/>
            </a:xfrm>
          </p:grpSpPr>
          <p:sp>
            <p:nvSpPr>
              <p:cNvPr id="26" name="Oval 35"/>
              <p:cNvSpPr>
                <a:spLocks noChangeArrowheads="1"/>
              </p:cNvSpPr>
              <p:nvPr>
                <p:custDataLst>
                  <p:tags r:id="rId6"/>
                </p:custDataLst>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7" name="Oval 36"/>
              <p:cNvSpPr>
                <a:spLocks noChangeArrowheads="1"/>
              </p:cNvSpPr>
              <p:nvPr>
                <p:custDataLst>
                  <p:tags r:id="rId7"/>
                </p:custDataLst>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28" name="AutoShape 37"/>
              <p:cNvSpPr>
                <a:spLocks noChangeArrowheads="1"/>
              </p:cNvSpPr>
              <p:nvPr>
                <p:custDataLst>
                  <p:tags r:id="rId8"/>
                </p:custDataLst>
              </p:nvPr>
            </p:nvSpPr>
            <p:spPr bwMode="auto">
              <a:xfrm>
                <a:off x="36" y="72"/>
                <a:ext cx="62" cy="300"/>
              </a:xfrm>
              <a:prstGeom prst="roundRect">
                <a:avLst>
                  <a:gd name="adj" fmla="val 50000"/>
                </a:avLst>
              </a:prstGeom>
              <a:gradFill rotWithShape="1">
                <a:gsLst>
                  <a:gs pos="0">
                    <a:srgbClr val="B2B2B2"/>
                  </a:gs>
                  <a:gs pos="50000">
                    <a:srgbClr val="FFFFFF"/>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sp>
        <p:nvSpPr>
          <p:cNvPr id="29" name="文本框 28"/>
          <p:cNvSpPr txBox="1"/>
          <p:nvPr>
            <p:custDataLst>
              <p:tags r:id="rId9"/>
            </p:custDataLst>
          </p:nvPr>
        </p:nvSpPr>
        <p:spPr>
          <a:xfrm>
            <a:off x="356235" y="6024880"/>
            <a:ext cx="267335" cy="692785"/>
          </a:xfrm>
          <a:prstGeom prst="rect">
            <a:avLst/>
          </a:prstGeom>
          <a:noFill/>
        </p:spPr>
        <p:txBody>
          <a:bodyPr wrap="square" rtlCol="0">
            <a:spAutoFit/>
          </a:bodyPr>
          <a:lstStyle/>
          <a:p>
            <a:pPr>
              <a:spcAft>
                <a:spcPts val="600"/>
              </a:spcAft>
            </a:pPr>
            <a:r>
              <a:rPr lang="zh-CN" altLang="en-US" sz="1700" dirty="0">
                <a:solidFill>
                  <a:schemeClr val="bg1"/>
                </a:solidFill>
                <a:latin typeface="Microsoft YaHei" panose="020B0503020204020204" charset="-122"/>
                <a:ea typeface="Microsoft YaHei" panose="020B0503020204020204" charset="-122"/>
              </a:rPr>
              <a:t>结</a:t>
            </a:r>
            <a:endParaRPr lang="en-US" altLang="zh-CN" sz="1700" dirty="0">
              <a:solidFill>
                <a:schemeClr val="bg1"/>
              </a:solidFill>
              <a:latin typeface="Microsoft YaHei" panose="020B0503020204020204" charset="-122"/>
              <a:ea typeface="Microsoft YaHei" panose="020B0503020204020204" charset="-122"/>
            </a:endParaRPr>
          </a:p>
          <a:p>
            <a:r>
              <a:rPr lang="zh-CN" altLang="en-US" sz="1700" dirty="0">
                <a:solidFill>
                  <a:schemeClr val="bg1"/>
                </a:solidFill>
                <a:latin typeface="Microsoft YaHei" panose="020B0503020204020204" charset="-122"/>
                <a:ea typeface="Microsoft YaHei" panose="020B0503020204020204" charset="-122"/>
              </a:rPr>
              <a:t>论</a:t>
            </a:r>
            <a:endParaRPr lang="zh-CN" altLang="en-US" sz="1700" dirty="0">
              <a:solidFill>
                <a:schemeClr val="bg1"/>
              </a:solidFill>
              <a:latin typeface="Microsoft YaHei" panose="020B0503020204020204" charset="-122"/>
              <a:ea typeface="Microsoft YaHei" panose="020B0503020204020204" charset="-122"/>
            </a:endParaRPr>
          </a:p>
        </p:txBody>
      </p:sp>
      <p:graphicFrame>
        <p:nvGraphicFramePr>
          <p:cNvPr id="30" name="表格 29"/>
          <p:cNvGraphicFramePr/>
          <p:nvPr>
            <p:custDataLst>
              <p:tags r:id="rId10"/>
            </p:custDataLst>
          </p:nvPr>
        </p:nvGraphicFramePr>
        <p:xfrm>
          <a:off x="326390" y="1024890"/>
          <a:ext cx="8503920" cy="4772025"/>
        </p:xfrm>
        <a:graphic>
          <a:graphicData uri="http://schemas.openxmlformats.org/drawingml/2006/table">
            <a:tbl>
              <a:tblPr firstRow="1" bandRow="1">
                <a:tableStyleId>{5C22544A-7EE6-4342-B048-85BDC9FD1C3A}</a:tableStyleId>
              </a:tblPr>
              <a:tblGrid>
                <a:gridCol w="594360"/>
                <a:gridCol w="635635"/>
                <a:gridCol w="605790"/>
                <a:gridCol w="1265555"/>
                <a:gridCol w="2487295"/>
                <a:gridCol w="2915285"/>
              </a:tblGrid>
              <a:tr h="518160">
                <a:tc>
                  <a:txBody>
                    <a:bodyPr/>
                    <a:lstStyle/>
                    <a:p>
                      <a:pPr algn="ctr">
                        <a:buNone/>
                      </a:pPr>
                      <a:r>
                        <a:rPr lang="zh-CN" altLang="en-US" sz="1400">
                          <a:latin typeface="Times New Roman" panose="02020603050405020304" pitchFamily="18" charset="0"/>
                        </a:rPr>
                        <a:t>方法分类</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国家地区</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机构名称</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相关工作</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相关工作描述</a:t>
                      </a:r>
                      <a:endParaRPr lang="zh-CN" altLang="en-US" sz="1400">
                        <a:latin typeface="Times New Roman" panose="02020603050405020304" pitchFamily="18" charset="0"/>
                      </a:endParaRPr>
                    </a:p>
                  </a:txBody>
                  <a:tcPr anchor="ctr">
                    <a:solidFill>
                      <a:srgbClr val="004578"/>
                    </a:solidFill>
                  </a:tcPr>
                </a:tc>
                <a:tc>
                  <a:txBody>
                    <a:bodyPr/>
                    <a:lstStyle/>
                    <a:p>
                      <a:pPr algn="ctr">
                        <a:buNone/>
                      </a:pPr>
                      <a:r>
                        <a:rPr lang="zh-CN" altLang="en-US" sz="1400">
                          <a:latin typeface="Times New Roman" panose="02020603050405020304" pitchFamily="18" charset="0"/>
                        </a:rPr>
                        <a:t>分析</a:t>
                      </a:r>
                      <a:endParaRPr lang="zh-CN" altLang="en-US" sz="1400">
                        <a:latin typeface="Times New Roman" panose="02020603050405020304" pitchFamily="18" charset="0"/>
                      </a:endParaRPr>
                    </a:p>
                  </a:txBody>
                  <a:tcPr anchor="ctr">
                    <a:solidFill>
                      <a:srgbClr val="004578"/>
                    </a:solidFill>
                  </a:tcPr>
                </a:tc>
              </a:tr>
              <a:tr h="824865">
                <a:tc rowSpan="5">
                  <a:txBody>
                    <a:bodyPr/>
                    <a:lstStyle/>
                    <a:p>
                      <a:pPr algn="ctr">
                        <a:buNone/>
                      </a:pPr>
                      <a:r>
                        <a:rPr lang="zh-CN" altLang="en-US" sz="1200" dirty="0">
                          <a:latin typeface="Times New Roman" panose="02020603050405020304" pitchFamily="18" charset="0"/>
                        </a:rPr>
                        <a:t>广域协同训练</a:t>
                      </a:r>
                      <a:endParaRPr lang="zh-CN" altLang="en-US" sz="1200" dirty="0">
                        <a:latin typeface="Times New Roman" panose="02020603050405020304" pitchFamily="18" charset="0"/>
                      </a:endParaRPr>
                    </a:p>
                  </a:txBody>
                  <a:tcPr anchor="ctr"/>
                </a:tc>
                <a:tc>
                  <a:txBody>
                    <a:bodyPr/>
                    <a:lstStyle/>
                    <a:p>
                      <a:pPr algn="ctr">
                        <a:buNone/>
                      </a:pPr>
                      <a:r>
                        <a:rPr lang="zh-CN" altLang="en-US" sz="1200" baseline="0" dirty="0">
                          <a:latin typeface="Times New Roman" panose="02020603050405020304" pitchFamily="18" charset="0"/>
                        </a:rPr>
                        <a:t>德国</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CISPA</a:t>
                      </a:r>
                      <a:endParaRPr lang="en-US" altLang="zh-CN" sz="1200" baseline="0" dirty="0">
                        <a:latin typeface="Times New Roman" panose="02020603050405020304" pitchFamily="18" charset="0"/>
                      </a:endParaRPr>
                    </a:p>
                  </a:txBody>
                  <a:tcPr anchor="ctr"/>
                </a:tc>
                <a:tc>
                  <a:txBody>
                    <a:bodyPr/>
                    <a:lstStyle/>
                    <a:p>
                      <a:pPr algn="ctr">
                        <a:buNone/>
                      </a:pPr>
                      <a:r>
                        <a:rPr lang="en-US" altLang="zh-CN" sz="1200" baseline="0" dirty="0" err="1">
                          <a:latin typeface="Times New Roman" panose="02020603050405020304" pitchFamily="18" charset="0"/>
                        </a:rPr>
                        <a:t>Local SGD</a:t>
                      </a:r>
                      <a:endParaRPr lang="en-US" altLang="zh-CN" sz="1200" baseline="0" dirty="0">
                        <a:latin typeface="Times New Roman" panose="02020603050405020304" pitchFamily="18" charset="0"/>
                      </a:endParaRPr>
                    </a:p>
                    <a:p>
                      <a:pPr algn="ctr">
                        <a:buNone/>
                      </a:pPr>
                      <a:r>
                        <a:rPr lang="en-US" altLang="zh-CN" sz="1200" baseline="0" dirty="0">
                          <a:latin typeface="Times New Roman" panose="02020603050405020304" pitchFamily="18" charset="0"/>
                        </a:rPr>
                        <a:t>(</a:t>
                      </a:r>
                      <a:r>
                        <a:rPr lang="en-US" altLang="zh-CN" sz="1200" baseline="0" dirty="0">
                          <a:latin typeface="Times New Roman" panose="02020603050405020304" pitchFamily="18" charset="0"/>
                        </a:rPr>
                        <a:t>ICLR’2019)</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将数据并行训练中的同步</a:t>
                      </a:r>
                      <a:r>
                        <a:rPr lang="en-US" altLang="zh-CN" sz="1200" baseline="0" dirty="0">
                          <a:latin typeface="Times New Roman" panose="02020603050405020304" pitchFamily="18" charset="0"/>
                        </a:rPr>
                        <a:t>SGD</a:t>
                      </a:r>
                      <a:r>
                        <a:rPr lang="zh-CN" altLang="en-US" sz="1200" baseline="0" dirty="0">
                          <a:latin typeface="Times New Roman" panose="02020603050405020304" pitchFamily="18" charset="0"/>
                        </a:rPr>
                        <a:t>扩展为周期性同步模式，各节点进行局部梯度更新，仅在固定间隔后执行参数同步</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有效降低了同步通信频率，提高了弱网络环境下的训练效率；但局部步数增大后容易导致模型偏移和收敛震荡，对异构数据较为敏感</a:t>
                      </a:r>
                      <a:endParaRPr lang="zh-CN" altLang="en-US" sz="1200" baseline="0" dirty="0">
                        <a:latin typeface="Times New Roman" panose="02020603050405020304" pitchFamily="18" charset="0"/>
                      </a:endParaRPr>
                    </a:p>
                  </a:txBody>
                  <a:tcPr anchor="ctr"/>
                </a:tc>
              </a:tr>
              <a:tr h="828040">
                <a:tc vMerge="1">
                  <a:tcPr anchor="ctr"/>
                </a:tc>
                <a:tc>
                  <a:txBody>
                    <a:bodyPr/>
                    <a:lstStyle/>
                    <a:p>
                      <a:pPr algn="ctr">
                        <a:buNone/>
                      </a:pPr>
                      <a:r>
                        <a:rPr lang="zh-CN" altLang="en-US" sz="1200" baseline="0" dirty="0">
                          <a:latin typeface="Times New Roman" panose="02020603050405020304" pitchFamily="18" charset="0"/>
                        </a:rPr>
                        <a:t>德国</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EPFL</a:t>
                      </a:r>
                      <a:endParaRPr lang="en-US" altLang="zh-CN"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SCAFFOLD</a:t>
                      </a:r>
                      <a:endParaRPr lang="en-US" altLang="zh-CN" sz="1200" baseline="0" dirty="0">
                        <a:latin typeface="Times New Roman" panose="02020603050405020304" pitchFamily="18" charset="0"/>
                      </a:endParaRPr>
                    </a:p>
                    <a:p>
                      <a:pPr algn="ctr">
                        <a:buNone/>
                      </a:pPr>
                      <a:r>
                        <a:rPr lang="en-US" altLang="zh-CN" sz="1200" baseline="0" dirty="0">
                          <a:latin typeface="Times New Roman" panose="02020603050405020304" pitchFamily="18" charset="0"/>
                        </a:rPr>
                        <a:t>(ICML’2020)</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引入控制变量（</a:t>
                      </a:r>
                      <a:r>
                        <a:rPr lang="en-US" altLang="zh-CN" sz="1200" baseline="0" dirty="0">
                          <a:latin typeface="Times New Roman" panose="02020603050405020304" pitchFamily="18" charset="0"/>
                        </a:rPr>
                        <a:t>control variates）</a:t>
                      </a:r>
                      <a:r>
                        <a:rPr lang="zh-CN" altLang="en-US" sz="1200" baseline="0" dirty="0">
                          <a:latin typeface="Times New Roman" panose="02020603050405020304" pitchFamily="18" charset="0"/>
                        </a:rPr>
                        <a:t>修正客户端与全局模型之间的梯度漂移，在本地更新过程中动态补偿偏差</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显著改善了</a:t>
                      </a:r>
                      <a:r>
                        <a:rPr lang="en-US" altLang="zh-CN" sz="1200" baseline="0" dirty="0">
                          <a:latin typeface="Times New Roman" panose="02020603050405020304" pitchFamily="18" charset="0"/>
                        </a:rPr>
                        <a:t>FedAvg</a:t>
                      </a:r>
                      <a:r>
                        <a:rPr lang="zh-CN" altLang="en-US" sz="1200" baseline="0" dirty="0">
                          <a:latin typeface="Times New Roman" panose="02020603050405020304" pitchFamily="18" charset="0"/>
                        </a:rPr>
                        <a:t>和</a:t>
                      </a:r>
                      <a:r>
                        <a:rPr lang="en-US" altLang="zh-CN" sz="1200" baseline="0" dirty="0">
                          <a:latin typeface="Times New Roman" panose="02020603050405020304" pitchFamily="18" charset="0"/>
                        </a:rPr>
                        <a:t>Local SGD</a:t>
                      </a:r>
                      <a:r>
                        <a:rPr lang="zh-CN" altLang="en-US" sz="1200" baseline="0" dirty="0">
                          <a:latin typeface="Times New Roman" panose="02020603050405020304" pitchFamily="18" charset="0"/>
                        </a:rPr>
                        <a:t>的收敛问题，提高了异构数据训练稳定性；但需要额外维护控制变量状态，增加了通信与存储开销</a:t>
                      </a:r>
                      <a:endParaRPr lang="zh-CN" altLang="en-US" sz="1200" baseline="0" dirty="0">
                        <a:latin typeface="Times New Roman" panose="02020603050405020304" pitchFamily="18" charset="0"/>
                      </a:endParaRPr>
                    </a:p>
                  </a:txBody>
                  <a:tcPr anchor="ctr"/>
                </a:tc>
              </a:tr>
              <a:tr h="837565">
                <a:tc vMerge="1">
                  <a:tcPr anchor="ctr"/>
                </a:tc>
                <a:tc rowSpan="2">
                  <a:txBody>
                    <a:bodyPr/>
                    <a:lstStyle/>
                    <a:p>
                      <a:pPr algn="ctr">
                        <a:buNone/>
                      </a:pPr>
                      <a:r>
                        <a:rPr lang="zh-CN" altLang="en-US" sz="1200" baseline="0" dirty="0">
                          <a:latin typeface="Times New Roman" panose="02020603050405020304" pitchFamily="18" charset="0"/>
                        </a:rPr>
                        <a:t>美国</a:t>
                      </a:r>
                      <a:endParaRPr lang="zh-CN" altLang="en-US" sz="1200" baseline="0" dirty="0">
                        <a:latin typeface="Times New Roman" panose="02020603050405020304" pitchFamily="18" charset="0"/>
                      </a:endParaRPr>
                    </a:p>
                  </a:txBody>
                  <a:tcPr anchor="ctr"/>
                </a:tc>
                <a:tc rowSpan="2">
                  <a:txBody>
                    <a:bodyPr/>
                    <a:lstStyle/>
                    <a:p>
                      <a:pPr algn="ctr">
                        <a:buNone/>
                      </a:pPr>
                      <a:r>
                        <a:rPr lang="en-US" altLang="zh-CN" sz="1200" baseline="0" dirty="0">
                          <a:latin typeface="Times New Roman" panose="02020603050405020304" pitchFamily="18" charset="0"/>
                        </a:rPr>
                        <a:t>DeepMind</a:t>
                      </a:r>
                      <a:endParaRPr lang="en-US" altLang="zh-CN"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OpenDiLoCo (ICML</a:t>
                      </a:r>
                      <a:endParaRPr lang="en-US" altLang="zh-CN" sz="1200" baseline="0" dirty="0">
                        <a:latin typeface="Times New Roman" panose="02020603050405020304" pitchFamily="18" charset="0"/>
                      </a:endParaRPr>
                    </a:p>
                    <a:p>
                      <a:pPr algn="ctr">
                        <a:buNone/>
                      </a:pPr>
                      <a:r>
                        <a:rPr lang="en-US" altLang="zh-CN" sz="1200" baseline="0" dirty="0">
                          <a:latin typeface="Times New Roman" panose="02020603050405020304" pitchFamily="18" charset="0"/>
                        </a:rPr>
                        <a:t>Workshop’2024)</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基于原语替换、拓扑感知分组分区和工作负载分区三个层面，设计全面的通信分区与分层调度</a:t>
                      </a:r>
                      <a:r>
                        <a:rPr lang="zh-CN" altLang="en-US" sz="1200" baseline="0" dirty="0">
                          <a:latin typeface="Times New Roman" panose="02020603050405020304" pitchFamily="18" charset="0"/>
                        </a:rPr>
                        <a:t>方案。</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在真实跨洲网络环境中验证了低通信训练的可行性，但整体训练效率仍低于高性能数据并行方案。</a:t>
                      </a:r>
                      <a:endParaRPr lang="zh-CN" altLang="en-US" sz="1200" baseline="0" dirty="0">
                        <a:latin typeface="Times New Roman" panose="02020603050405020304" pitchFamily="18" charset="0"/>
                      </a:endParaRPr>
                    </a:p>
                  </a:txBody>
                  <a:tcPr anchor="ctr"/>
                </a:tc>
              </a:tr>
              <a:tr h="757555">
                <a:tc vMerge="1">
                  <a:tcPr anchor="ctr"/>
                </a:tc>
                <a:tc vMerge="1">
                  <a:tcPr anchor="ctr"/>
                </a:tc>
                <a:tc vMerge="1">
                  <a:tcPr anchor="ctr"/>
                </a:tc>
                <a:tc>
                  <a:txBody>
                    <a:bodyPr/>
                    <a:p>
                      <a:pPr algn="ctr">
                        <a:buNone/>
                      </a:pPr>
                      <a:r>
                        <a:rPr lang="en-US" altLang="zh-CN" sz="1200" baseline="0" dirty="0">
                          <a:latin typeface="Times New Roman" panose="02020603050405020304" pitchFamily="18" charset="0"/>
                        </a:rPr>
                        <a:t>Streaming DiLoCo（arXiv’2025）</a:t>
                      </a:r>
                      <a:endParaRPr lang="en-US" altLang="zh-CN" sz="1200" baseline="0" dirty="0">
                        <a:latin typeface="Times New Roman" panose="02020603050405020304" pitchFamily="18" charset="0"/>
                      </a:endParaRPr>
                    </a:p>
                  </a:txBody>
                  <a:tcPr anchor="ctr"/>
                </a:tc>
                <a:tc>
                  <a:txBody>
                    <a:bodyPr/>
                    <a:p>
                      <a:pPr algn="just">
                        <a:buNone/>
                      </a:pPr>
                      <a:r>
                        <a:rPr lang="zh-CN" altLang="en-US" sz="1200" baseline="0" dirty="0">
                          <a:latin typeface="Times New Roman" panose="02020603050405020304" pitchFamily="18" charset="0"/>
                        </a:rPr>
                        <a:t>在</a:t>
                      </a:r>
                      <a:r>
                        <a:rPr lang="en-US" altLang="zh-CN" sz="1200" baseline="0" dirty="0">
                          <a:latin typeface="Times New Roman" panose="02020603050405020304" pitchFamily="18" charset="0"/>
                        </a:rPr>
                        <a:t>DiLoCo</a:t>
                      </a:r>
                      <a:r>
                        <a:rPr lang="zh-CN" altLang="en-US" sz="1200" baseline="0" dirty="0">
                          <a:latin typeface="Times New Roman" panose="02020603050405020304" pitchFamily="18" charset="0"/>
                        </a:rPr>
                        <a:t>基础上提出参数分块流式同步与通信计算重叠机制，并结合量化通信进一步降低带宽需求。</a:t>
                      </a:r>
                      <a:endParaRPr lang="zh-CN" altLang="en-US" sz="1200" baseline="0" dirty="0">
                        <a:latin typeface="Times New Roman" panose="02020603050405020304" pitchFamily="18" charset="0"/>
                      </a:endParaRPr>
                    </a:p>
                  </a:txBody>
                  <a:tcPr anchor="ctr"/>
                </a:tc>
                <a:tc>
                  <a:txBody>
                    <a:bodyPr/>
                    <a:p>
                      <a:pPr algn="just">
                        <a:buNone/>
                      </a:pPr>
                      <a:r>
                        <a:rPr lang="zh-CN" altLang="en-US" sz="1200" baseline="0" dirty="0">
                          <a:latin typeface="Times New Roman" panose="02020603050405020304" pitchFamily="18" charset="0"/>
                        </a:rPr>
                        <a:t>通过流式通信与异步重叠显著降低了峰值带宽占用，提升了广域网络环境下的训练吞吐；但系统实现复杂度较高，且缺乏在中大型模型上的</a:t>
                      </a:r>
                      <a:r>
                        <a:rPr lang="zh-CN" altLang="en-US" sz="1200" baseline="0" dirty="0">
                          <a:latin typeface="Times New Roman" panose="02020603050405020304" pitchFamily="18" charset="0"/>
                        </a:rPr>
                        <a:t>验证</a:t>
                      </a:r>
                      <a:endParaRPr lang="zh-CN" altLang="en-US" sz="1200" baseline="0" dirty="0">
                        <a:latin typeface="Times New Roman" panose="02020603050405020304" pitchFamily="18" charset="0"/>
                      </a:endParaRPr>
                    </a:p>
                  </a:txBody>
                  <a:tcPr anchor="ctr"/>
                </a:tc>
              </a:tr>
              <a:tr h="1005840">
                <a:tc vMerge="1">
                  <a:tcPr anchor="ctr"/>
                </a:tc>
                <a:tc>
                  <a:txBody>
                    <a:bodyPr/>
                    <a:lstStyle/>
                    <a:p>
                      <a:pPr algn="ctr">
                        <a:buNone/>
                      </a:pPr>
                      <a:r>
                        <a:rPr lang="zh-CN" altLang="en-US" sz="1200" baseline="0" dirty="0">
                          <a:latin typeface="Times New Roman" panose="02020603050405020304" pitchFamily="18" charset="0"/>
                        </a:rPr>
                        <a:t>美国</a:t>
                      </a:r>
                      <a:endParaRPr lang="zh-CN" altLang="en-US"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DeepMind</a:t>
                      </a:r>
                      <a:endParaRPr lang="en-US" altLang="zh-CN" sz="1200" baseline="0" dirty="0">
                        <a:latin typeface="Times New Roman" panose="02020603050405020304" pitchFamily="18" charset="0"/>
                      </a:endParaRPr>
                    </a:p>
                  </a:txBody>
                  <a:tcPr anchor="ctr"/>
                </a:tc>
                <a:tc>
                  <a:txBody>
                    <a:bodyPr/>
                    <a:lstStyle/>
                    <a:p>
                      <a:pPr algn="ctr">
                        <a:buNone/>
                      </a:pPr>
                      <a:r>
                        <a:rPr lang="en-US" altLang="zh-CN" sz="1200" baseline="0" dirty="0">
                          <a:latin typeface="Times New Roman" panose="02020603050405020304" pitchFamily="18" charset="0"/>
                        </a:rPr>
                        <a:t>Eager Updates for DiLoCo (TC’2026)</a:t>
                      </a:r>
                      <a:endParaRPr lang="en-US" altLang="zh-CN"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提出</a:t>
                      </a:r>
                      <a:r>
                        <a:rPr lang="en-US" altLang="zh-CN" sz="1200" baseline="0" dirty="0">
                          <a:latin typeface="Times New Roman" panose="02020603050405020304" pitchFamily="18" charset="0"/>
                        </a:rPr>
                        <a:t>Eager Update</a:t>
                      </a:r>
                      <a:r>
                        <a:rPr lang="zh-CN" altLang="en-US" sz="1200" baseline="0" dirty="0">
                          <a:latin typeface="Times New Roman" panose="02020603050405020304" pitchFamily="18" charset="0"/>
                        </a:rPr>
                        <a:t>机制，在本地训练阶段提前执行部分外层同步操作，实现通信与计算深度重叠。</a:t>
                      </a:r>
                      <a:endParaRPr lang="zh-CN" altLang="en-US" sz="1200" baseline="0" dirty="0">
                        <a:latin typeface="Times New Roman" panose="02020603050405020304" pitchFamily="18" charset="0"/>
                      </a:endParaRPr>
                    </a:p>
                  </a:txBody>
                  <a:tcPr anchor="ctr"/>
                </a:tc>
                <a:tc>
                  <a:txBody>
                    <a:bodyPr/>
                    <a:lstStyle/>
                    <a:p>
                      <a:pPr algn="just">
                        <a:buNone/>
                      </a:pPr>
                      <a:r>
                        <a:rPr lang="zh-CN" altLang="en-US" sz="1200" baseline="0" dirty="0">
                          <a:latin typeface="Times New Roman" panose="02020603050405020304" pitchFamily="18" charset="0"/>
                        </a:rPr>
                        <a:t>缓解了广域同步中的阻塞等待问题，提高了低带宽环境下的训练效率；但异步更新会带来一定陈旧梯度问题，对优化稳定性提出更高要求。</a:t>
                      </a:r>
                      <a:endParaRPr lang="zh-CN" altLang="en-US" sz="1200" baseline="0" dirty="0">
                        <a:latin typeface="Times New Roman" panose="02020603050405020304" pitchFamily="18" charset="0"/>
                      </a:endParaRPr>
                    </a:p>
                  </a:txBody>
                  <a:tcPr anchor="ctr"/>
                </a:tc>
              </a:tr>
            </a:tbl>
          </a:graphicData>
        </a:graphic>
      </p:graphicFrame>
    </p:spTree>
    <p:custDataLst>
      <p:tags r:id="rId1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关键科学问题</a:t>
            </a:r>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8" name="矩形 17"/>
          <p:cNvSpPr/>
          <p:nvPr userDrawn="1">
            <p:custDataLst>
              <p:tags r:id="rId1"/>
            </p:custDataLst>
          </p:nvPr>
        </p:nvSpPr>
        <p:spPr>
          <a:xfrm>
            <a:off x="141605" y="1623259"/>
            <a:ext cx="8862060" cy="479552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1" name="矩形 10"/>
          <p:cNvSpPr/>
          <p:nvPr userDrawn="1">
            <p:custDataLst>
              <p:tags r:id="rId2"/>
            </p:custDataLst>
          </p:nvPr>
        </p:nvSpPr>
        <p:spPr>
          <a:xfrm>
            <a:off x="141605" y="1200984"/>
            <a:ext cx="8862060" cy="422275"/>
          </a:xfrm>
          <a:prstGeom prst="rect">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rPr>
              <a:t>面向云边端协同的跨域分布式训练场景的新特征、现有不足，导致的关键科学问题</a:t>
            </a:r>
            <a:endParaRPr lang="zh-CN" altLang="en-US" b="1"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0" name="矩形 9"/>
          <p:cNvSpPr/>
          <p:nvPr userDrawn="1">
            <p:custDataLst>
              <p:tags r:id="rId3"/>
            </p:custDataLst>
          </p:nvPr>
        </p:nvSpPr>
        <p:spPr>
          <a:xfrm>
            <a:off x="6524625" y="1793875"/>
            <a:ext cx="2334260" cy="1242695"/>
          </a:xfrm>
          <a:prstGeom prst="rect">
            <a:avLst/>
          </a:prstGeom>
          <a:solidFill>
            <a:srgbClr val="FAE69E"/>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rPr>
              <a:t>如何实现云边端跨域高效</a:t>
            </a: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rPr>
              <a:t>梯度通信</a:t>
            </a:r>
            <a:endParaRPr lang="zh-CN" altLang="en-US" b="1"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2" name="矩形 11"/>
          <p:cNvSpPr/>
          <p:nvPr userDrawn="1">
            <p:custDataLst>
              <p:tags r:id="rId4"/>
            </p:custDataLst>
          </p:nvPr>
        </p:nvSpPr>
        <p:spPr>
          <a:xfrm>
            <a:off x="6523990" y="3404235"/>
            <a:ext cx="2334260" cy="1237615"/>
          </a:xfrm>
          <a:prstGeom prst="rect">
            <a:avLst/>
          </a:prstGeom>
          <a:solidFill>
            <a:srgbClr val="FAE69E"/>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rPr>
              <a:t>如何实现云边端通信高效的集合通信</a:t>
            </a: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rPr>
              <a:t>算法</a:t>
            </a:r>
            <a:endPar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endParaRPr>
          </a:p>
        </p:txBody>
      </p:sp>
      <p:sp>
        <p:nvSpPr>
          <p:cNvPr id="14" name="矩形 13"/>
          <p:cNvSpPr/>
          <p:nvPr userDrawn="1">
            <p:custDataLst>
              <p:tags r:id="rId5"/>
            </p:custDataLst>
          </p:nvPr>
        </p:nvSpPr>
        <p:spPr>
          <a:xfrm>
            <a:off x="6524294" y="5009752"/>
            <a:ext cx="2334077" cy="1236673"/>
          </a:xfrm>
          <a:prstGeom prst="rect">
            <a:avLst/>
          </a:prstGeom>
          <a:solidFill>
            <a:srgbClr val="FAE69E"/>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rPr>
              <a:t>如何实现云边端跨域混合并行</a:t>
            </a: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rPr>
              <a:t>高效通信</a:t>
            </a:r>
            <a:endPar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endParaRPr>
          </a:p>
        </p:txBody>
      </p:sp>
      <p:sp>
        <p:nvSpPr>
          <p:cNvPr id="15" name="矩形 14"/>
          <p:cNvSpPr/>
          <p:nvPr userDrawn="1">
            <p:custDataLst>
              <p:tags r:id="rId6"/>
            </p:custDataLst>
          </p:nvPr>
        </p:nvSpPr>
        <p:spPr>
          <a:xfrm>
            <a:off x="2430780" y="1792605"/>
            <a:ext cx="3691255" cy="12446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现有压缩策略难在云边端跨域带宽受限梯度数据规模大的场景中难以适配，存在严重通信</a:t>
            </a: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瓶颈</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20" name="矩形 19"/>
          <p:cNvSpPr/>
          <p:nvPr>
            <p:custDataLst>
              <p:tags r:id="rId7"/>
            </p:custDataLst>
          </p:nvPr>
        </p:nvSpPr>
        <p:spPr>
          <a:xfrm>
            <a:off x="2432050" y="3397250"/>
            <a:ext cx="3689985" cy="1243965"/>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现有集合通信算法难以适配云边端环境中不同的链路情况，执行集合通信带宽利用率</a:t>
            </a: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低</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29" name="矩形 28"/>
          <p:cNvSpPr/>
          <p:nvPr>
            <p:custDataLst>
              <p:tags r:id="rId8"/>
            </p:custDataLst>
          </p:nvPr>
        </p:nvSpPr>
        <p:spPr>
          <a:xfrm>
            <a:off x="412115" y="2147570"/>
            <a:ext cx="889000" cy="888365"/>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域间通信带宽</a:t>
            </a: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低</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30" name="矩形 29"/>
          <p:cNvSpPr/>
          <p:nvPr>
            <p:custDataLst>
              <p:tags r:id="rId9"/>
            </p:custDataLst>
          </p:nvPr>
        </p:nvSpPr>
        <p:spPr>
          <a:xfrm>
            <a:off x="2432050" y="5005070"/>
            <a:ext cx="3689985" cy="123444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现有广域训练系统在云边端环境中，在训练吞吐和训练精度之间难以权衡，且对于</a:t>
            </a: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中大模型适配</a:t>
            </a: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不足</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32" name="矩形 31"/>
          <p:cNvSpPr/>
          <p:nvPr>
            <p:custDataLst>
              <p:tags r:id="rId10"/>
            </p:custDataLst>
          </p:nvPr>
        </p:nvSpPr>
        <p:spPr>
          <a:xfrm>
            <a:off x="412115" y="1795780"/>
            <a:ext cx="888365" cy="348615"/>
          </a:xfrm>
          <a:prstGeom prst="rect">
            <a:avLst/>
          </a:prstGeom>
          <a:solidFill>
            <a:srgbClr val="71B7ED"/>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特征</a:t>
            </a:r>
            <a:r>
              <a:rPr lang="en-US" altLang="zh-CN" dirty="0">
                <a:solidFill>
                  <a:srgbClr val="000000"/>
                </a:solidFill>
                <a:latin typeface="Microsoft YaHei" panose="020B0503020204020204" charset="-122"/>
                <a:ea typeface="Microsoft YaHei" panose="020B0503020204020204" charset="-122"/>
                <a:cs typeface="Microsoft YaHei" panose="020B0503020204020204" charset="-122"/>
              </a:rPr>
              <a:t> 1</a:t>
            </a:r>
            <a:endParaRPr lang="en-US" altLang="zh-CN"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34" name="矩形 33"/>
          <p:cNvSpPr/>
          <p:nvPr>
            <p:custDataLst>
              <p:tags r:id="rId11"/>
            </p:custDataLst>
          </p:nvPr>
        </p:nvSpPr>
        <p:spPr>
          <a:xfrm>
            <a:off x="1710055" y="1795780"/>
            <a:ext cx="720725" cy="1240790"/>
          </a:xfrm>
          <a:prstGeom prst="rect">
            <a:avLst/>
          </a:prstGeom>
          <a:solidFill>
            <a:srgbClr val="F2B56F"/>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挑战 </a:t>
            </a:r>
            <a:r>
              <a:rPr lang="en-US" altLang="zh-CN" dirty="0">
                <a:solidFill>
                  <a:srgbClr val="000000"/>
                </a:solidFill>
                <a:latin typeface="Microsoft YaHei" panose="020B0503020204020204" charset="-122"/>
                <a:ea typeface="Microsoft YaHei" panose="020B0503020204020204" charset="-122"/>
                <a:cs typeface="Microsoft YaHei" panose="020B0503020204020204" charset="-122"/>
              </a:rPr>
              <a:t>1</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35" name="矩形 34"/>
          <p:cNvSpPr/>
          <p:nvPr>
            <p:custDataLst>
              <p:tags r:id="rId12"/>
            </p:custDataLst>
          </p:nvPr>
        </p:nvSpPr>
        <p:spPr>
          <a:xfrm>
            <a:off x="1711325" y="3402330"/>
            <a:ext cx="720725" cy="1238885"/>
          </a:xfrm>
          <a:prstGeom prst="rect">
            <a:avLst/>
          </a:prstGeom>
          <a:solidFill>
            <a:srgbClr val="F2B56F"/>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现状 </a:t>
            </a:r>
            <a:r>
              <a:rPr lang="en-US" altLang="zh-CN" dirty="0">
                <a:solidFill>
                  <a:srgbClr val="000000"/>
                </a:solidFill>
                <a:latin typeface="Microsoft YaHei" panose="020B0503020204020204" charset="-122"/>
                <a:ea typeface="Microsoft YaHei" panose="020B0503020204020204" charset="-122"/>
                <a:cs typeface="Microsoft YaHei" panose="020B0503020204020204" charset="-122"/>
              </a:rPr>
              <a:t>2</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36" name="矩形 35"/>
          <p:cNvSpPr/>
          <p:nvPr>
            <p:custDataLst>
              <p:tags r:id="rId13"/>
            </p:custDataLst>
          </p:nvPr>
        </p:nvSpPr>
        <p:spPr>
          <a:xfrm>
            <a:off x="1711325" y="5011420"/>
            <a:ext cx="720725" cy="1215390"/>
          </a:xfrm>
          <a:prstGeom prst="rect">
            <a:avLst/>
          </a:prstGeom>
          <a:solidFill>
            <a:srgbClr val="F2B56F"/>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现状 </a:t>
            </a:r>
            <a:r>
              <a:rPr lang="en-US" altLang="zh-CN" dirty="0">
                <a:solidFill>
                  <a:srgbClr val="000000"/>
                </a:solidFill>
                <a:latin typeface="Microsoft YaHei" panose="020B0503020204020204" charset="-122"/>
                <a:ea typeface="Microsoft YaHei" panose="020B0503020204020204" charset="-122"/>
                <a:cs typeface="Microsoft YaHei" panose="020B0503020204020204" charset="-122"/>
              </a:rPr>
              <a:t>3</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cxnSp>
        <p:nvCxnSpPr>
          <p:cNvPr id="40" name="肘形连接符 35"/>
          <p:cNvCxnSpPr>
            <a:stCxn id="15" idx="3"/>
            <a:endCxn id="10" idx="1"/>
          </p:cNvCxnSpPr>
          <p:nvPr>
            <p:custDataLst>
              <p:tags r:id="rId14"/>
            </p:custDataLst>
          </p:nvPr>
        </p:nvCxnSpPr>
        <p:spPr>
          <a:xfrm>
            <a:off x="6122035" y="2414905"/>
            <a:ext cx="402590" cy="635"/>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6" name="肘形连接符 35"/>
          <p:cNvCxnSpPr>
            <a:stCxn id="20" idx="3"/>
            <a:endCxn id="12" idx="1"/>
          </p:cNvCxnSpPr>
          <p:nvPr>
            <p:custDataLst>
              <p:tags r:id="rId15"/>
            </p:custDataLst>
          </p:nvPr>
        </p:nvCxnSpPr>
        <p:spPr>
          <a:xfrm>
            <a:off x="6122035" y="4019550"/>
            <a:ext cx="401955" cy="3810"/>
          </a:xfrm>
          <a:prstGeom prst="bentConnector3">
            <a:avLst>
              <a:gd name="adj1" fmla="val 50079"/>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50" name="肘形连接符 35"/>
          <p:cNvCxnSpPr>
            <a:stCxn id="30" idx="3"/>
            <a:endCxn id="14" idx="1"/>
          </p:cNvCxnSpPr>
          <p:nvPr>
            <p:custDataLst>
              <p:tags r:id="rId16"/>
            </p:custDataLst>
          </p:nvPr>
        </p:nvCxnSpPr>
        <p:spPr>
          <a:xfrm>
            <a:off x="6122035" y="5622290"/>
            <a:ext cx="401955" cy="5715"/>
          </a:xfrm>
          <a:prstGeom prst="bentConnector3">
            <a:avLst>
              <a:gd name="adj1" fmla="val 50079"/>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5" name="肘形连接符 4"/>
          <p:cNvCxnSpPr>
            <a:endCxn id="34" idx="1"/>
          </p:cNvCxnSpPr>
          <p:nvPr/>
        </p:nvCxnSpPr>
        <p:spPr>
          <a:xfrm flipV="1">
            <a:off x="1306195" y="2416175"/>
            <a:ext cx="403860" cy="3175"/>
          </a:xfrm>
          <a:prstGeom prst="bentConnector3">
            <a:avLst>
              <a:gd name="adj1" fmla="val 50157"/>
            </a:avLst>
          </a:prstGeom>
          <a:ln>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4" name="矩形 3"/>
          <p:cNvSpPr/>
          <p:nvPr>
            <p:custDataLst>
              <p:tags r:id="rId17"/>
            </p:custDataLst>
          </p:nvPr>
        </p:nvSpPr>
        <p:spPr>
          <a:xfrm>
            <a:off x="413385" y="3757930"/>
            <a:ext cx="887730" cy="88265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跨域链路</a:t>
            </a: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异构</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7" name="矩形 6"/>
          <p:cNvSpPr/>
          <p:nvPr>
            <p:custDataLst>
              <p:tags r:id="rId18"/>
            </p:custDataLst>
          </p:nvPr>
        </p:nvSpPr>
        <p:spPr>
          <a:xfrm>
            <a:off x="412115" y="5363210"/>
            <a:ext cx="890270" cy="87249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通信</a:t>
            </a: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延时高</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9" name="矩形 8"/>
          <p:cNvSpPr/>
          <p:nvPr>
            <p:custDataLst>
              <p:tags r:id="rId19"/>
            </p:custDataLst>
          </p:nvPr>
        </p:nvSpPr>
        <p:spPr>
          <a:xfrm>
            <a:off x="413385" y="3409315"/>
            <a:ext cx="888365" cy="348615"/>
          </a:xfrm>
          <a:prstGeom prst="rect">
            <a:avLst/>
          </a:prstGeom>
          <a:solidFill>
            <a:srgbClr val="71B7ED"/>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特征</a:t>
            </a:r>
            <a:r>
              <a:rPr lang="en-US" altLang="zh-CN" dirty="0">
                <a:solidFill>
                  <a:srgbClr val="000000"/>
                </a:solidFill>
                <a:latin typeface="Microsoft YaHei" panose="020B0503020204020204" charset="-122"/>
                <a:ea typeface="Microsoft YaHei" panose="020B0503020204020204" charset="-122"/>
                <a:cs typeface="Microsoft YaHei" panose="020B0503020204020204" charset="-122"/>
              </a:rPr>
              <a:t> 2</a:t>
            </a:r>
            <a:endParaRPr lang="en-US" altLang="zh-CN"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3" name="矩形 12"/>
          <p:cNvSpPr/>
          <p:nvPr>
            <p:custDataLst>
              <p:tags r:id="rId20"/>
            </p:custDataLst>
          </p:nvPr>
        </p:nvSpPr>
        <p:spPr>
          <a:xfrm>
            <a:off x="412750" y="5022850"/>
            <a:ext cx="888365" cy="348615"/>
          </a:xfrm>
          <a:prstGeom prst="rect">
            <a:avLst/>
          </a:prstGeom>
          <a:solidFill>
            <a:srgbClr val="71B7ED"/>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特征</a:t>
            </a:r>
            <a:r>
              <a:rPr lang="en-US" altLang="zh-CN" dirty="0">
                <a:solidFill>
                  <a:srgbClr val="000000"/>
                </a:solidFill>
                <a:latin typeface="Microsoft YaHei" panose="020B0503020204020204" charset="-122"/>
                <a:ea typeface="Microsoft YaHei" panose="020B0503020204020204" charset="-122"/>
                <a:cs typeface="Microsoft YaHei" panose="020B0503020204020204" charset="-122"/>
              </a:rPr>
              <a:t> 3</a:t>
            </a:r>
            <a:endParaRPr lang="en-US" altLang="zh-CN" dirty="0">
              <a:solidFill>
                <a:srgbClr val="000000"/>
              </a:solidFill>
              <a:latin typeface="Microsoft YaHei" panose="020B0503020204020204" charset="-122"/>
              <a:ea typeface="Microsoft YaHei" panose="020B0503020204020204" charset="-122"/>
              <a:cs typeface="Microsoft YaHei" panose="020B0503020204020204" charset="-122"/>
            </a:endParaRPr>
          </a:p>
        </p:txBody>
      </p:sp>
      <p:cxnSp>
        <p:nvCxnSpPr>
          <p:cNvPr id="16" name="肘形连接符 15"/>
          <p:cNvCxnSpPr/>
          <p:nvPr/>
        </p:nvCxnSpPr>
        <p:spPr>
          <a:xfrm flipV="1">
            <a:off x="1307465" y="4050665"/>
            <a:ext cx="403860" cy="3175"/>
          </a:xfrm>
          <a:prstGeom prst="bentConnector3">
            <a:avLst>
              <a:gd name="adj1" fmla="val 50157"/>
            </a:avLst>
          </a:prstGeom>
          <a:ln>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17" name="肘形连接符 16"/>
          <p:cNvCxnSpPr/>
          <p:nvPr/>
        </p:nvCxnSpPr>
        <p:spPr>
          <a:xfrm flipV="1">
            <a:off x="1307465" y="5685155"/>
            <a:ext cx="403860" cy="3175"/>
          </a:xfrm>
          <a:prstGeom prst="bentConnector3">
            <a:avLst>
              <a:gd name="adj1" fmla="val 50157"/>
            </a:avLst>
          </a:prstGeom>
          <a:ln>
            <a:solidFill>
              <a:schemeClr val="tx1"/>
            </a:solidFill>
            <a:tailEnd type="triangle"/>
          </a:ln>
        </p:spPr>
        <p:style>
          <a:lnRef idx="2">
            <a:schemeClr val="accent1"/>
          </a:lnRef>
          <a:fillRef idx="0">
            <a:srgbClr val="FFFFFF"/>
          </a:fillRef>
          <a:effectRef idx="0">
            <a:srgbClr val="FFFFFF"/>
          </a:effectRef>
          <a:fontRef idx="minor">
            <a:schemeClr val="tx1"/>
          </a:fontRef>
        </p:style>
      </p:cxnSp>
    </p:spTree>
    <p:custDataLst>
      <p:tags r:id="rId2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研究目标</a:t>
            </a:r>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8" name="矩形 17"/>
          <p:cNvSpPr/>
          <p:nvPr userDrawn="1">
            <p:custDataLst>
              <p:tags r:id="rId1"/>
            </p:custDataLst>
          </p:nvPr>
        </p:nvSpPr>
        <p:spPr>
          <a:xfrm>
            <a:off x="160020" y="1503045"/>
            <a:ext cx="8859520" cy="4674235"/>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8" name="矩形 7"/>
          <p:cNvSpPr/>
          <p:nvPr userDrawn="1">
            <p:custDataLst>
              <p:tags r:id="rId2"/>
            </p:custDataLst>
          </p:nvPr>
        </p:nvSpPr>
        <p:spPr>
          <a:xfrm>
            <a:off x="267035" y="2530513"/>
            <a:ext cx="1021080" cy="26670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990" tIns="46990" rIns="46990" bIns="46990" numCol="1" spcCol="0" rtlCol="0" fromWordArt="0" anchor="ctr" anchorCtr="0" forceAA="0" compatLnSpc="1">
            <a:noAutofit/>
          </a:bodyPr>
          <a:lstStyle/>
          <a:p>
            <a:pPr lvl="0" algn="ctr">
              <a:lnSpc>
                <a:spcPct val="110000"/>
              </a:lnSpc>
              <a:buClrTx/>
              <a:buSzTx/>
              <a:buFontTx/>
            </a:pPr>
            <a:r>
              <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sym typeface="+mn-ea"/>
              </a:rPr>
              <a:t>面向云边端协同的跨域分布式训练对跨域分布式通信</a:t>
            </a:r>
            <a:r>
              <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sym typeface="+mn-ea"/>
              </a:rPr>
              <a:t>优化的需求</a:t>
            </a:r>
            <a:endPar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sym typeface="+mn-ea"/>
            </a:endParaRPr>
          </a:p>
        </p:txBody>
      </p:sp>
      <p:sp>
        <p:nvSpPr>
          <p:cNvPr id="13" name="矩形 12"/>
          <p:cNvSpPr/>
          <p:nvPr userDrawn="1">
            <p:custDataLst>
              <p:tags r:id="rId3"/>
            </p:custDataLst>
          </p:nvPr>
        </p:nvSpPr>
        <p:spPr>
          <a:xfrm>
            <a:off x="1515145" y="1816754"/>
            <a:ext cx="1999428"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sym typeface="+mn-ea"/>
              </a:rPr>
              <a:t>如何实现云边端跨域高效</a:t>
            </a:r>
            <a:r>
              <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sym typeface="+mn-ea"/>
              </a:rPr>
              <a:t>梯度通信</a:t>
            </a:r>
            <a:endPar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5" name="矩形 14"/>
          <p:cNvSpPr/>
          <p:nvPr userDrawn="1">
            <p:custDataLst>
              <p:tags r:id="rId4"/>
            </p:custDataLst>
          </p:nvPr>
        </p:nvSpPr>
        <p:spPr>
          <a:xfrm>
            <a:off x="1509582" y="4940761"/>
            <a:ext cx="1999428"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sym typeface="+mn-ea"/>
              </a:rPr>
              <a:t>如何实现云边端跨域混合并行高效通信</a:t>
            </a:r>
            <a:endPar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sym typeface="+mn-ea"/>
            </a:endParaRPr>
          </a:p>
        </p:txBody>
      </p:sp>
      <p:sp>
        <p:nvSpPr>
          <p:cNvPr id="17" name="矩形 16"/>
          <p:cNvSpPr/>
          <p:nvPr userDrawn="1">
            <p:custDataLst>
              <p:tags r:id="rId5"/>
            </p:custDataLst>
          </p:nvPr>
        </p:nvSpPr>
        <p:spPr>
          <a:xfrm>
            <a:off x="1515145" y="3378758"/>
            <a:ext cx="1999428"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sym typeface="+mn-ea"/>
              </a:rPr>
              <a:t>如何实现云边端通信高效的集合通信算法</a:t>
            </a:r>
            <a:endParaRPr lang="zh-CN" altLang="en-US" sz="1600" dirty="0">
              <a:solidFill>
                <a:srgbClr val="000000"/>
              </a:solidFill>
              <a:latin typeface="Microsoft YaHei" panose="020B0503020204020204" charset="-122"/>
              <a:ea typeface="Microsoft YaHei" panose="020B0503020204020204" charset="-122"/>
              <a:cs typeface="Microsoft YaHei" panose="020B0503020204020204" charset="-122"/>
              <a:sym typeface="+mn-ea"/>
            </a:endParaRPr>
          </a:p>
        </p:txBody>
      </p:sp>
      <p:sp>
        <p:nvSpPr>
          <p:cNvPr id="22" name="矩形 21"/>
          <p:cNvSpPr/>
          <p:nvPr userDrawn="1">
            <p:custDataLst>
              <p:tags r:id="rId6"/>
            </p:custDataLst>
          </p:nvPr>
        </p:nvSpPr>
        <p:spPr>
          <a:xfrm>
            <a:off x="3675528" y="1816754"/>
            <a:ext cx="2640670"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b="1" dirty="0">
                <a:solidFill>
                  <a:schemeClr val="tx1"/>
                </a:solidFill>
                <a:uFillTx/>
                <a:sym typeface="+mn-ea"/>
              </a:rPr>
              <a:t>分布式优化器低比特量化</a:t>
            </a:r>
            <a:endParaRPr lang="zh-CN" altLang="en-US" b="1" dirty="0">
              <a:solidFill>
                <a:schemeClr val="tx1"/>
              </a:solidFill>
              <a:latin typeface="Microsoft YaHei" panose="020B0503020204020204" charset="-122"/>
              <a:ea typeface="Microsoft YaHei" panose="020B0503020204020204" charset="-122"/>
              <a:cs typeface="Microsoft YaHei" panose="020B0503020204020204" charset="-122"/>
              <a:sym typeface="+mn-ea"/>
            </a:endParaRPr>
          </a:p>
        </p:txBody>
      </p:sp>
      <p:sp>
        <p:nvSpPr>
          <p:cNvPr id="24" name="矩形 23"/>
          <p:cNvSpPr/>
          <p:nvPr userDrawn="1">
            <p:custDataLst>
              <p:tags r:id="rId7"/>
            </p:custDataLst>
          </p:nvPr>
        </p:nvSpPr>
        <p:spPr>
          <a:xfrm>
            <a:off x="3675528" y="4940761"/>
            <a:ext cx="2640670"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b="1" dirty="0">
                <a:solidFill>
                  <a:schemeClr val="tx1"/>
                </a:solidFill>
                <a:sym typeface="+mn-ea"/>
              </a:rPr>
              <a:t>通信受限场景下的混合并行通信掩盖</a:t>
            </a:r>
            <a:r>
              <a:rPr lang="zh-CN" altLang="en-US" b="1" dirty="0">
                <a:solidFill>
                  <a:schemeClr val="tx1"/>
                </a:solidFill>
                <a:sym typeface="+mn-ea"/>
              </a:rPr>
              <a:t>策略</a:t>
            </a:r>
            <a:endParaRPr lang="zh-CN" altLang="en-US" b="1" dirty="0">
              <a:solidFill>
                <a:schemeClr val="tx1"/>
              </a:solidFill>
              <a:latin typeface="Microsoft YaHei" panose="020B0503020204020204" charset="-122"/>
              <a:ea typeface="Microsoft YaHei" panose="020B0503020204020204" charset="-122"/>
              <a:cs typeface="Microsoft YaHei" panose="020B0503020204020204" charset="-122"/>
              <a:sym typeface="+mn-ea"/>
            </a:endParaRPr>
          </a:p>
        </p:txBody>
      </p:sp>
      <p:sp>
        <p:nvSpPr>
          <p:cNvPr id="26" name="矩形 25"/>
          <p:cNvSpPr/>
          <p:nvPr userDrawn="1">
            <p:custDataLst>
              <p:tags r:id="rId8"/>
            </p:custDataLst>
          </p:nvPr>
        </p:nvSpPr>
        <p:spPr>
          <a:xfrm>
            <a:off x="3675528" y="3378758"/>
            <a:ext cx="2640670"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b="1" dirty="0">
                <a:solidFill>
                  <a:schemeClr val="tx1"/>
                </a:solidFill>
                <a:sym typeface="+mn-ea"/>
              </a:rPr>
              <a:t>基于流水线的层次化梯度通信调度</a:t>
            </a:r>
            <a:r>
              <a:rPr lang="zh-CN" altLang="en-US" b="1" dirty="0">
                <a:solidFill>
                  <a:schemeClr val="tx1"/>
                </a:solidFill>
                <a:sym typeface="+mn-ea"/>
              </a:rPr>
              <a:t>策略</a:t>
            </a:r>
            <a:endParaRPr lang="zh-CN" altLang="en-US" b="1" dirty="0">
              <a:solidFill>
                <a:schemeClr val="tx1"/>
              </a:solidFill>
              <a:sym typeface="+mn-ea"/>
            </a:endParaRPr>
          </a:p>
        </p:txBody>
      </p:sp>
      <p:sp>
        <p:nvSpPr>
          <p:cNvPr id="28" name="矩形 27"/>
          <p:cNvSpPr/>
          <p:nvPr userDrawn="1">
            <p:custDataLst>
              <p:tags r:id="rId9"/>
            </p:custDataLst>
          </p:nvPr>
        </p:nvSpPr>
        <p:spPr>
          <a:xfrm>
            <a:off x="6552340" y="3000743"/>
            <a:ext cx="791845" cy="1725706"/>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云边端跨域分布式训练高效通信</a:t>
            </a: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方法</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cxnSp>
        <p:nvCxnSpPr>
          <p:cNvPr id="36" name="肘形连接符 35"/>
          <p:cNvCxnSpPr>
            <a:stCxn id="8" idx="3"/>
            <a:endCxn id="13" idx="1"/>
          </p:cNvCxnSpPr>
          <p:nvPr userDrawn="1">
            <p:custDataLst>
              <p:tags r:id="rId10"/>
            </p:custDataLst>
          </p:nvPr>
        </p:nvCxnSpPr>
        <p:spPr>
          <a:xfrm flipV="1">
            <a:off x="1288115" y="2301731"/>
            <a:ext cx="227030" cy="1562282"/>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37" name="肘形连接符 36"/>
          <p:cNvCxnSpPr>
            <a:stCxn id="8" idx="3"/>
            <a:endCxn id="15" idx="1"/>
          </p:cNvCxnSpPr>
          <p:nvPr userDrawn="1">
            <p:custDataLst>
              <p:tags r:id="rId11"/>
            </p:custDataLst>
          </p:nvPr>
        </p:nvCxnSpPr>
        <p:spPr>
          <a:xfrm>
            <a:off x="1288115" y="3864013"/>
            <a:ext cx="221467" cy="1561725"/>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38" name="肘形连接符 37"/>
          <p:cNvCxnSpPr>
            <a:stCxn id="8" idx="3"/>
            <a:endCxn id="17" idx="1"/>
          </p:cNvCxnSpPr>
          <p:nvPr userDrawn="1">
            <p:custDataLst>
              <p:tags r:id="rId12"/>
            </p:custDataLst>
          </p:nvPr>
        </p:nvCxnSpPr>
        <p:spPr>
          <a:xfrm flipV="1">
            <a:off x="1288115" y="3863735"/>
            <a:ext cx="227030" cy="278"/>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3" idx="3"/>
            <a:endCxn id="22" idx="1"/>
          </p:cNvCxnSpPr>
          <p:nvPr userDrawn="1">
            <p:custDataLst>
              <p:tags r:id="rId13"/>
            </p:custDataLst>
          </p:nvPr>
        </p:nvCxnSpPr>
        <p:spPr>
          <a:xfrm>
            <a:off x="3514573" y="2301731"/>
            <a:ext cx="160955" cy="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15" idx="3"/>
            <a:endCxn id="24" idx="1"/>
          </p:cNvCxnSpPr>
          <p:nvPr userDrawn="1">
            <p:custDataLst>
              <p:tags r:id="rId14"/>
            </p:custDataLst>
          </p:nvPr>
        </p:nvCxnSpPr>
        <p:spPr>
          <a:xfrm>
            <a:off x="3509010" y="5425738"/>
            <a:ext cx="166518" cy="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17" idx="3"/>
            <a:endCxn id="26" idx="1"/>
          </p:cNvCxnSpPr>
          <p:nvPr userDrawn="1">
            <p:custDataLst>
              <p:tags r:id="rId15"/>
            </p:custDataLst>
          </p:nvPr>
        </p:nvCxnSpPr>
        <p:spPr>
          <a:xfrm>
            <a:off x="3514573" y="3863735"/>
            <a:ext cx="160955" cy="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4" name="肘形连接符 43"/>
          <p:cNvCxnSpPr>
            <a:stCxn id="22" idx="3"/>
            <a:endCxn id="28" idx="1"/>
          </p:cNvCxnSpPr>
          <p:nvPr userDrawn="1">
            <p:custDataLst>
              <p:tags r:id="rId16"/>
            </p:custDataLst>
          </p:nvPr>
        </p:nvCxnSpPr>
        <p:spPr>
          <a:xfrm>
            <a:off x="6316198" y="2301731"/>
            <a:ext cx="236142" cy="1561865"/>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5" name="肘形连接符 44"/>
          <p:cNvCxnSpPr>
            <a:stCxn id="24" idx="3"/>
            <a:endCxn id="28" idx="1"/>
          </p:cNvCxnSpPr>
          <p:nvPr userDrawn="1">
            <p:custDataLst>
              <p:tags r:id="rId17"/>
            </p:custDataLst>
          </p:nvPr>
        </p:nvCxnSpPr>
        <p:spPr>
          <a:xfrm flipV="1">
            <a:off x="6316198" y="3863596"/>
            <a:ext cx="236142" cy="1562142"/>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6" name="肘形连接符 45"/>
          <p:cNvCxnSpPr>
            <a:stCxn id="26" idx="3"/>
            <a:endCxn id="28" idx="1"/>
          </p:cNvCxnSpPr>
          <p:nvPr userDrawn="1">
            <p:custDataLst>
              <p:tags r:id="rId18"/>
            </p:custDataLst>
          </p:nvPr>
        </p:nvCxnSpPr>
        <p:spPr>
          <a:xfrm flipV="1">
            <a:off x="6316198" y="3863596"/>
            <a:ext cx="236142" cy="139"/>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userDrawn="1">
            <p:custDataLst>
              <p:tags r:id="rId19"/>
            </p:custDataLst>
          </p:nvPr>
        </p:nvSpPr>
        <p:spPr>
          <a:xfrm>
            <a:off x="7185660" y="6174740"/>
            <a:ext cx="1833880" cy="422275"/>
          </a:xfrm>
          <a:prstGeom prst="rect">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b="1">
                <a:solidFill>
                  <a:srgbClr val="000000"/>
                </a:solidFill>
                <a:latin typeface="Microsoft YaHei" panose="020B0503020204020204" charset="-122"/>
                <a:ea typeface="Microsoft YaHei" panose="020B0503020204020204" charset="-122"/>
                <a:cs typeface="Microsoft YaHei" panose="020B0503020204020204" charset="-122"/>
              </a:rPr>
              <a:t>研究目标</a:t>
            </a:r>
            <a:endParaRPr lang="zh-CN" altLang="en-US" b="1">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57" name="五边形 56"/>
          <p:cNvSpPr/>
          <p:nvPr userDrawn="1">
            <p:custDataLst>
              <p:tags r:id="rId20"/>
            </p:custDataLst>
          </p:nvPr>
        </p:nvSpPr>
        <p:spPr>
          <a:xfrm>
            <a:off x="3279140" y="6174740"/>
            <a:ext cx="4112895" cy="422275"/>
          </a:xfrm>
          <a:prstGeom prst="homePlate">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b="1">
                <a:solidFill>
                  <a:srgbClr val="000000"/>
                </a:solidFill>
                <a:latin typeface="Microsoft YaHei" panose="020B0503020204020204" charset="-122"/>
                <a:ea typeface="Microsoft YaHei" panose="020B0503020204020204" charset="-122"/>
                <a:cs typeface="Microsoft YaHei" panose="020B0503020204020204" charset="-122"/>
              </a:rPr>
              <a:t>研究内容</a:t>
            </a:r>
            <a:endParaRPr lang="zh-CN" altLang="en-US" b="1">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58" name="五边形 57"/>
          <p:cNvSpPr/>
          <p:nvPr userDrawn="1">
            <p:custDataLst>
              <p:tags r:id="rId21"/>
            </p:custDataLst>
          </p:nvPr>
        </p:nvSpPr>
        <p:spPr>
          <a:xfrm>
            <a:off x="160020" y="6174740"/>
            <a:ext cx="3348990" cy="422275"/>
          </a:xfrm>
          <a:prstGeom prst="homePlate">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b="1">
                <a:solidFill>
                  <a:srgbClr val="000000"/>
                </a:solidFill>
                <a:latin typeface="Microsoft YaHei" panose="020B0503020204020204" charset="-122"/>
                <a:ea typeface="Microsoft YaHei" panose="020B0503020204020204" charset="-122"/>
                <a:cs typeface="Microsoft YaHei" panose="020B0503020204020204" charset="-122"/>
              </a:rPr>
              <a:t>关键科学技术问题</a:t>
            </a:r>
            <a:endParaRPr lang="zh-CN" altLang="en-US" b="1">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1" name="矩形 10"/>
          <p:cNvSpPr/>
          <p:nvPr userDrawn="1">
            <p:custDataLst>
              <p:tags r:id="rId22"/>
            </p:custDataLst>
          </p:nvPr>
        </p:nvSpPr>
        <p:spPr>
          <a:xfrm>
            <a:off x="160020" y="1119505"/>
            <a:ext cx="8859520" cy="422275"/>
          </a:xfrm>
          <a:prstGeom prst="rect">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000" b="1">
                <a:solidFill>
                  <a:srgbClr val="000000"/>
                </a:solidFill>
                <a:latin typeface="Microsoft YaHei" panose="020B0503020204020204" charset="-122"/>
                <a:ea typeface="Microsoft YaHei" panose="020B0503020204020204" charset="-122"/>
                <a:cs typeface="Microsoft YaHei" panose="020B0503020204020204" charset="-122"/>
              </a:rPr>
              <a:t>建立面向云边端协同的跨域分布式训练的跨域</a:t>
            </a:r>
            <a:r>
              <a:rPr lang="zh-CN" altLang="en-US" sz="2000" b="1">
                <a:solidFill>
                  <a:srgbClr val="000000"/>
                </a:solidFill>
                <a:latin typeface="Microsoft YaHei" panose="020B0503020204020204" charset="-122"/>
                <a:ea typeface="Microsoft YaHei" panose="020B0503020204020204" charset="-122"/>
                <a:cs typeface="Microsoft YaHei" panose="020B0503020204020204" charset="-122"/>
              </a:rPr>
              <a:t>高效通信</a:t>
            </a:r>
            <a:r>
              <a:rPr lang="zh-CN" altLang="en-US" sz="2000" b="1">
                <a:solidFill>
                  <a:srgbClr val="000000"/>
                </a:solidFill>
                <a:latin typeface="Microsoft YaHei" panose="020B0503020204020204" charset="-122"/>
                <a:ea typeface="Microsoft YaHei" panose="020B0503020204020204" charset="-122"/>
                <a:cs typeface="Microsoft YaHei" panose="020B0503020204020204" charset="-122"/>
              </a:rPr>
              <a:t>方法</a:t>
            </a:r>
            <a:endParaRPr lang="zh-CN" altLang="en-US" sz="2000" b="1">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6" name="矩形 5"/>
          <p:cNvSpPr/>
          <p:nvPr userDrawn="1">
            <p:custDataLst>
              <p:tags r:id="rId23"/>
            </p:custDataLst>
          </p:nvPr>
        </p:nvSpPr>
        <p:spPr>
          <a:xfrm>
            <a:off x="7509510" y="2012315"/>
            <a:ext cx="1438910" cy="3692525"/>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针对模型云边端协同跨域分布式训练通信需求，突破跨域分布式通信关键技术，实现跨域分布式训练高效通信</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cxnSp>
        <p:nvCxnSpPr>
          <p:cNvPr id="7" name="直接箭头连接符 6"/>
          <p:cNvCxnSpPr>
            <a:stCxn id="28" idx="3"/>
            <a:endCxn id="6" idx="1"/>
          </p:cNvCxnSpPr>
          <p:nvPr userDrawn="1">
            <p:custDataLst>
              <p:tags r:id="rId24"/>
            </p:custDataLst>
          </p:nvPr>
        </p:nvCxnSpPr>
        <p:spPr>
          <a:xfrm flipV="1">
            <a:off x="7344185" y="3859151"/>
            <a:ext cx="165100" cy="508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Tree>
    <p:custDataLst>
      <p:tags r:id="rId2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研究方案</a:t>
            </a:r>
            <a:r>
              <a:rPr lang="en-US" altLang="zh-CN"/>
              <a:t>-</a:t>
            </a:r>
            <a:r>
              <a:rPr sz="2200"/>
              <a:t>总体研究方案概述</a:t>
            </a:r>
            <a:endParaRPr sz="2200"/>
          </a:p>
        </p:txBody>
      </p:sp>
      <p:sp>
        <p:nvSpPr>
          <p:cNvPr id="4" name="文本框 3"/>
          <p:cNvSpPr txBox="1"/>
          <p:nvPr>
            <p:custDataLst>
              <p:tags r:id="rId1"/>
            </p:custDataLst>
          </p:nvPr>
        </p:nvSpPr>
        <p:spPr>
          <a:xfrm>
            <a:off x="140970" y="896620"/>
            <a:ext cx="8932545" cy="5320030"/>
          </a:xfrm>
          <a:prstGeom prst="rect">
            <a:avLst/>
          </a:prstGeom>
          <a:noFill/>
        </p:spPr>
        <p:txBody>
          <a:bodyPr wrap="square" rtlCol="0">
            <a:noAutofit/>
          </a:bodyPr>
          <a:lstStyle/>
          <a:p>
            <a:pPr marL="342900" indent="-342900" algn="just" fontAlgn="auto">
              <a:lnSpc>
                <a:spcPct val="120000"/>
              </a:lnSpc>
              <a:spcBef>
                <a:spcPts val="0"/>
              </a:spcBef>
              <a:spcAft>
                <a:spcPts val="600"/>
              </a:spcAft>
              <a:buFont typeface="Wingdings" panose="05000000000000000000" charset="0"/>
              <a:buChar char="n"/>
            </a:pPr>
            <a:r>
              <a:rPr lang="zh-CN" altLang="en-US" sz="2400" b="1" dirty="0">
                <a:solidFill>
                  <a:schemeClr val="tx1"/>
                </a:solidFill>
                <a:uFillTx/>
                <a:sym typeface="+mn-ea"/>
              </a:rPr>
              <a:t>总体研究思路：</a:t>
            </a:r>
            <a:endParaRPr lang="zh-CN" altLang="en-US" sz="2400" b="1" dirty="0">
              <a:solidFill>
                <a:schemeClr val="tx1"/>
              </a:solidFill>
              <a:uFillTx/>
              <a:sym typeface="+mn-ea"/>
            </a:endParaRPr>
          </a:p>
          <a:p>
            <a:pPr marL="342900" indent="-342900" algn="just" fontAlgn="auto">
              <a:lnSpc>
                <a:spcPct val="120000"/>
              </a:lnSpc>
              <a:spcBef>
                <a:spcPts val="0"/>
              </a:spcBef>
              <a:buFont typeface="Wingdings" panose="05000000000000000000" charset="0"/>
              <a:buChar char="Ø"/>
            </a:pPr>
            <a:r>
              <a:rPr lang="zh-CN" altLang="en-US" dirty="0">
                <a:solidFill>
                  <a:schemeClr val="tx1"/>
                </a:solidFill>
                <a:uFillTx/>
                <a:sym typeface="+mn-ea"/>
              </a:rPr>
              <a:t>通过提出</a:t>
            </a:r>
            <a:r>
              <a:rPr lang="zh-CN" altLang="en-US" b="1" dirty="0">
                <a:uFillTx/>
                <a:sym typeface="+mn-ea"/>
              </a:rPr>
              <a:t>分布式优化器低比特量化</a:t>
            </a:r>
            <a:r>
              <a:rPr lang="zh-CN" altLang="en-US" b="1" dirty="0">
                <a:sym typeface="+mn-ea"/>
              </a:rPr>
              <a:t>方法</a:t>
            </a:r>
            <a:r>
              <a:rPr lang="zh-CN" altLang="en-US" dirty="0">
                <a:solidFill>
                  <a:schemeClr val="tx1"/>
                </a:solidFill>
                <a:uFillTx/>
                <a:sym typeface="+mn-ea"/>
              </a:rPr>
              <a:t>，在通信数据规模优化层面</a:t>
            </a:r>
            <a:r>
              <a:rPr lang="en-US" altLang="zh-CN" dirty="0">
                <a:solidFill>
                  <a:schemeClr val="tx1"/>
                </a:solidFill>
                <a:uFillTx/>
                <a:sym typeface="+mn-ea"/>
              </a:rPr>
              <a:t>，</a:t>
            </a:r>
            <a:r>
              <a:rPr lang="zh-CN" altLang="en-US" dirty="0">
                <a:solidFill>
                  <a:schemeClr val="tx1"/>
                </a:solidFill>
                <a:uFillTx/>
                <a:sym typeface="+mn-ea"/>
              </a:rPr>
              <a:t>在高度受限网络下提高端到端训练吞吐量</a:t>
            </a:r>
            <a:endParaRPr lang="en-US" altLang="zh-CN" dirty="0">
              <a:solidFill>
                <a:schemeClr val="tx1"/>
              </a:solidFill>
              <a:uFillTx/>
              <a:sym typeface="+mn-ea"/>
            </a:endParaRPr>
          </a:p>
          <a:p>
            <a:pPr marL="342900" indent="-342900" algn="just" fontAlgn="auto">
              <a:lnSpc>
                <a:spcPct val="120000"/>
              </a:lnSpc>
              <a:spcBef>
                <a:spcPts val="0"/>
              </a:spcBef>
              <a:buFont typeface="Wingdings" panose="05000000000000000000" charset="0"/>
              <a:buChar char="Ø"/>
            </a:pPr>
            <a:r>
              <a:rPr lang="zh-CN" altLang="en-US" dirty="0">
                <a:uFillTx/>
                <a:sym typeface="+mn-ea"/>
              </a:rPr>
              <a:t>通过提出</a:t>
            </a:r>
            <a:r>
              <a:rPr lang="zh-CN" altLang="en-US" b="1" dirty="0">
                <a:sym typeface="+mn-ea"/>
              </a:rPr>
              <a:t>层次化梯度</a:t>
            </a:r>
            <a:r>
              <a:rPr lang="zh-CN" altLang="en-US" b="1" dirty="0">
                <a:sym typeface="+mn-ea"/>
              </a:rPr>
              <a:t>流水通信调度策略</a:t>
            </a:r>
            <a:r>
              <a:rPr lang="zh-CN" altLang="en-US" dirty="0">
                <a:uFillTx/>
                <a:sym typeface="+mn-ea"/>
              </a:rPr>
              <a:t>，在集合通信调度优化层面，提升了集合通信在云边端场景下域内、域间高度不对称的链路带宽场景下执行时</a:t>
            </a:r>
            <a:r>
              <a:rPr lang="zh-CN" altLang="en-US" dirty="0">
                <a:uFillTx/>
                <a:sym typeface="+mn-ea"/>
              </a:rPr>
              <a:t>的带宽利用率</a:t>
            </a:r>
            <a:endParaRPr lang="zh-CN" altLang="en-US" dirty="0">
              <a:uFillTx/>
              <a:sym typeface="+mn-ea"/>
            </a:endParaRPr>
          </a:p>
          <a:p>
            <a:pPr marL="342900" indent="-342900" algn="just" fontAlgn="auto">
              <a:lnSpc>
                <a:spcPct val="120000"/>
              </a:lnSpc>
              <a:spcBef>
                <a:spcPts val="0"/>
              </a:spcBef>
              <a:buFont typeface="Wingdings" panose="05000000000000000000" charset="0"/>
              <a:buChar char="Ø"/>
            </a:pPr>
            <a:r>
              <a:rPr lang="zh-CN" altLang="en-US" dirty="0">
                <a:uFillTx/>
                <a:sym typeface="+mn-ea"/>
              </a:rPr>
              <a:t>通过提出</a:t>
            </a:r>
            <a:r>
              <a:rPr lang="zh-CN" altLang="en-US" b="1" dirty="0">
                <a:sym typeface="+mn-ea"/>
              </a:rPr>
              <a:t>通信受限场景下的混合并行通信掩盖策略</a:t>
            </a:r>
            <a:r>
              <a:rPr lang="en-US" altLang="zh-CN" dirty="0">
                <a:uFillTx/>
                <a:sym typeface="+mn-ea"/>
              </a:rPr>
              <a:t>，</a:t>
            </a:r>
            <a:r>
              <a:rPr lang="zh-CN" altLang="en-US" dirty="0">
                <a:uFillTx/>
                <a:sym typeface="+mn-ea"/>
              </a:rPr>
              <a:t>在计算</a:t>
            </a:r>
            <a:r>
              <a:rPr lang="en-US" altLang="zh-CN" dirty="0">
                <a:uFillTx/>
                <a:sym typeface="+mn-ea"/>
              </a:rPr>
              <a:t>——</a:t>
            </a:r>
            <a:r>
              <a:rPr lang="zh-CN" altLang="en-US" dirty="0">
                <a:uFillTx/>
                <a:sym typeface="+mn-ea"/>
              </a:rPr>
              <a:t>通信重叠层面，提升了云边端跨域分布式训练中的计算通信重叠效率</a:t>
            </a:r>
            <a:r>
              <a:rPr lang="en-US" altLang="zh-CN" dirty="0">
                <a:uFillTx/>
                <a:sym typeface="+mn-ea"/>
              </a:rPr>
              <a:t>。</a:t>
            </a:r>
            <a:endParaRPr lang="en-US" altLang="zh-CN" dirty="0">
              <a:uFillTx/>
              <a:sym typeface="+mn-ea"/>
            </a:endParaRPr>
          </a:p>
          <a:p>
            <a:pPr marL="342900" indent="-342900" algn="just" fontAlgn="auto">
              <a:lnSpc>
                <a:spcPct val="120000"/>
              </a:lnSpc>
              <a:spcBef>
                <a:spcPts val="0"/>
              </a:spcBef>
              <a:buFont typeface="Wingdings" panose="05000000000000000000" charset="0"/>
              <a:buChar char="Ø"/>
            </a:pPr>
            <a:r>
              <a:rPr lang="zh-CN" altLang="en-US" dirty="0">
                <a:uFillTx/>
                <a:sym typeface="+mn-ea"/>
              </a:rPr>
              <a:t>最终，通过使用</a:t>
            </a:r>
            <a:r>
              <a:rPr lang="zh-CN" altLang="en-US" b="1" dirty="0">
                <a:uFillTx/>
                <a:sym typeface="+mn-ea"/>
              </a:rPr>
              <a:t>层次化梯度流水通信调度策略</a:t>
            </a:r>
            <a:r>
              <a:rPr lang="zh-CN" altLang="en-US" dirty="0">
                <a:uFillTx/>
                <a:sym typeface="+mn-ea"/>
              </a:rPr>
              <a:t>提升集合通信效率；使用</a:t>
            </a:r>
            <a:r>
              <a:rPr lang="zh-CN" altLang="en-US" b="1" dirty="0">
                <a:sym typeface="+mn-ea"/>
              </a:rPr>
              <a:t>通信受限场景下的混合并行通信掩盖策略</a:t>
            </a:r>
            <a:r>
              <a:rPr lang="zh-CN" altLang="en-US" dirty="0">
                <a:sym typeface="+mn-ea"/>
              </a:rPr>
              <a:t>和</a:t>
            </a:r>
            <a:r>
              <a:rPr lang="zh-CN" altLang="en-US" b="1" dirty="0">
                <a:uFillTx/>
                <a:sym typeface="+mn-ea"/>
              </a:rPr>
              <a:t>分布式优化器低比特量化</a:t>
            </a:r>
            <a:r>
              <a:rPr lang="zh-CN" altLang="en-US" b="1" dirty="0">
                <a:sym typeface="+mn-ea"/>
              </a:rPr>
              <a:t>方法</a:t>
            </a:r>
            <a:r>
              <a:rPr lang="zh-CN" altLang="en-US" dirty="0">
                <a:sym typeface="+mn-ea"/>
              </a:rPr>
              <a:t>结合缓解训练中同步通信瓶颈，系统构建面向云边端跨域分布式训练场景下的通信优化</a:t>
            </a:r>
            <a:r>
              <a:rPr lang="zh-CN" altLang="en-US" dirty="0">
                <a:sym typeface="+mn-ea"/>
              </a:rPr>
              <a:t>策略，从而大幅提升云边端场景下的分布式训练</a:t>
            </a:r>
            <a:r>
              <a:rPr lang="zh-CN" altLang="en-US" dirty="0">
                <a:sym typeface="+mn-ea"/>
              </a:rPr>
              <a:t>效率。</a:t>
            </a:r>
            <a:endParaRPr lang="zh-CN" altLang="en-US" dirty="0">
              <a:sym typeface="+mn-ea"/>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7070" y="262890"/>
            <a:ext cx="7920355" cy="521970"/>
          </a:xfrm>
        </p:spPr>
        <p:txBody>
          <a:bodyPr>
            <a:normAutofit fontScale="90000"/>
          </a:bodyPr>
          <a:lstStyle/>
          <a:p>
            <a:r>
              <a:rPr dirty="0"/>
              <a:t>核心技术</a:t>
            </a:r>
            <a:r>
              <a:rPr lang="en-US" altLang="zh-CN" dirty="0"/>
              <a:t>-</a:t>
            </a:r>
            <a:r>
              <a:rPr sz="2200">
                <a:sym typeface="+mn-ea"/>
              </a:rPr>
              <a:t>分布式优化器低比特量化方法</a:t>
            </a:r>
            <a:endParaRPr sz="2200">
              <a:sym typeface="+mn-ea"/>
            </a:endParaRPr>
          </a:p>
        </p:txBody>
      </p:sp>
      <p:pic>
        <p:nvPicPr>
          <p:cNvPr id="4" name="图片 3"/>
          <p:cNvPicPr>
            <a:picLocks noChangeAspect="1"/>
          </p:cNvPicPr>
          <p:nvPr/>
        </p:nvPicPr>
        <p:blipFill>
          <a:blip r:embed="rId1"/>
          <a:stretch>
            <a:fillRect/>
          </a:stretch>
        </p:blipFill>
        <p:spPr>
          <a:xfrm>
            <a:off x="4251325" y="1183005"/>
            <a:ext cx="4471670" cy="2661285"/>
          </a:xfrm>
          <a:prstGeom prst="rect">
            <a:avLst/>
          </a:prstGeom>
        </p:spPr>
      </p:pic>
      <p:graphicFrame>
        <p:nvGraphicFramePr>
          <p:cNvPr id="8" name="对象 7">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4514850" y="3321050"/>
                        <a:ext cx="114300" cy="215900"/>
                      </a:xfrm>
                      <a:prstGeom prst="rect">
                        <a:avLst/>
                      </a:prstGeom>
                    </p:spPr>
                  </p:pic>
                </p:oleObj>
              </mc:Fallback>
            </mc:AlternateContent>
          </a:graphicData>
        </a:graphic>
      </p:graphicFrame>
      <p:grpSp>
        <p:nvGrpSpPr>
          <p:cNvPr id="27" name="组合 26"/>
          <p:cNvGrpSpPr/>
          <p:nvPr>
            <p:custDataLst>
              <p:tags r:id="rId4"/>
            </p:custDataLst>
          </p:nvPr>
        </p:nvGrpSpPr>
        <p:grpSpPr>
          <a:xfrm>
            <a:off x="326390" y="1183005"/>
            <a:ext cx="3815080" cy="2635885"/>
            <a:chOff x="514" y="1863"/>
            <a:chExt cx="6008" cy="4151"/>
          </a:xfrm>
        </p:grpSpPr>
        <p:sp>
          <p:nvSpPr>
            <p:cNvPr id="17" name="同侧圆角矩形 16"/>
            <p:cNvSpPr/>
            <p:nvPr>
              <p:custDataLst>
                <p:tags r:id="rId5"/>
              </p:custDataLst>
            </p:nvPr>
          </p:nvSpPr>
          <p:spPr>
            <a:xfrm>
              <a:off x="514" y="1863"/>
              <a:ext cx="6008" cy="750"/>
            </a:xfrm>
            <a:prstGeom prst="round2SameRect">
              <a:avLst>
                <a:gd name="adj1" fmla="val 28266"/>
                <a:gd name="adj2" fmla="val 0"/>
              </a:avLst>
            </a:prstGeom>
            <a:solidFill>
              <a:schemeClr val="accent1">
                <a:lumMod val="20000"/>
                <a:lumOff val="80000"/>
              </a:schemeClr>
            </a:solidFill>
            <a:ln w="1905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同侧圆角矩形 17"/>
            <p:cNvSpPr/>
            <p:nvPr>
              <p:custDataLst>
                <p:tags r:id="rId6"/>
              </p:custDataLst>
            </p:nvPr>
          </p:nvSpPr>
          <p:spPr>
            <a:xfrm rot="10800000">
              <a:off x="514" y="2613"/>
              <a:ext cx="6008" cy="3401"/>
            </a:xfrm>
            <a:prstGeom prst="round2SameRect">
              <a:avLst>
                <a:gd name="adj1" fmla="val 7339"/>
                <a:gd name="adj2" fmla="val 0"/>
              </a:avLst>
            </a:prstGeom>
            <a:noFill/>
            <a:ln w="19050">
              <a:solidFill>
                <a:schemeClr val="accent1"/>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9" name="Овал 64"/>
            <p:cNvSpPr/>
            <p:nvPr>
              <p:custDataLst>
                <p:tags r:id="rId7"/>
              </p:custDataLst>
            </p:nvPr>
          </p:nvSpPr>
          <p:spPr>
            <a:xfrm>
              <a:off x="668" y="2034"/>
              <a:ext cx="446" cy="435"/>
            </a:xfrm>
            <a:prstGeom prst="ellipse">
              <a:avLst/>
            </a:prstGeom>
            <a:solidFill>
              <a:schemeClr val="accent1">
                <a:lumMod val="75000"/>
              </a:schemeClr>
            </a:solidFill>
            <a:ln w="25400" cap="flat" cmpd="sng" algn="ctr">
              <a:solidFill>
                <a:schemeClr val="accent1">
                  <a:lumMod val="75000"/>
                </a:schemeClr>
              </a:solid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1</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sp>
          <p:nvSpPr>
            <p:cNvPr id="20" name="文本框 2"/>
            <p:cNvSpPr txBox="1"/>
            <p:nvPr>
              <p:custDataLst>
                <p:tags r:id="rId8"/>
              </p:custDataLst>
            </p:nvPr>
          </p:nvSpPr>
          <p:spPr>
            <a:xfrm>
              <a:off x="1114" y="1953"/>
              <a:ext cx="5260" cy="580"/>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dirty="0">
                  <a:solidFill>
                    <a:schemeClr val="accent1">
                      <a:lumMod val="75000"/>
                    </a:schemeClr>
                  </a:solidFill>
                  <a:latin typeface="Times New Roman" panose="02020603050405020304" pitchFamily="18" charset="0"/>
                  <a:ea typeface="Microsoft YaHei" panose="020B0503020204020204" charset="-122"/>
                  <a:cs typeface="Times New Roman" panose="02020603050405020304" pitchFamily="18" charset="0"/>
                </a:rPr>
                <a:t>问题分析</a:t>
              </a:r>
              <a:r>
                <a:rPr lang="en-US" altLang="zh-CN" sz="1800" dirty="0">
                  <a:solidFill>
                    <a:schemeClr val="accent1">
                      <a:lumMod val="75000"/>
                    </a:schemeClr>
                  </a:solidFill>
                  <a:latin typeface="Times New Roman" panose="02020603050405020304" pitchFamily="18" charset="0"/>
                  <a:ea typeface="Microsoft YaHei" panose="020B0503020204020204" charset="-122"/>
                  <a:cs typeface="Times New Roman" panose="02020603050405020304" pitchFamily="18" charset="0"/>
                </a:rPr>
                <a:t>  </a:t>
              </a:r>
              <a:r>
                <a:rPr lang="zh-CN" altLang="en-US" sz="120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作用：降低动态范围</a:t>
              </a:r>
              <a:endParaRPr lang="zh-CN" altLang="en-US" sz="120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AlternateContent xmlns:mc="http://schemas.openxmlformats.org/markup-compatibility/2006">
          <mc:Choice xmlns:a14="http://schemas.microsoft.com/office/drawing/2010/main" Requires="a14">
            <p:sp>
              <p:nvSpPr>
                <p:cNvPr id="22" name="Текст 12"/>
                <p:cNvSpPr txBox="1"/>
                <p:nvPr>
                  <p:custDataLst>
                    <p:tags r:id="rId9"/>
                  </p:custDataLst>
                </p:nvPr>
              </p:nvSpPr>
              <p:spPr>
                <a:xfrm>
                  <a:off x="667" y="2613"/>
                  <a:ext cx="5706" cy="3288"/>
                </a:xfrm>
                <a:prstGeom prst="rect">
                  <a:avLst/>
                </a:prstGeom>
                <a:ln>
                  <a:noFill/>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(1)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维护高精度梯度</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与量化误差</a:t>
                  </a:r>
                  <a14:m>
                    <m:oMath xmlns:m="http://schemas.openxmlformats.org/officeDocument/2006/math">
                      <m:r>
                        <a:rPr lang="en-US" altLang="zh-CN" sz="1400" b="0"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 </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𝑒</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endPar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(2)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构造传输数据：</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𝑔</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𝑒</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(3) EF21+</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更新：</a:t>
                  </a:r>
                  <a:endPar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ctr" fontAlgn="auto">
                    <a:lnSpc>
                      <a:spcPct val="130000"/>
                    </a:lnSpc>
                    <a:spcBef>
                      <a:spcPts val="0"/>
                    </a:spcBef>
                    <a:spcAft>
                      <a:spcPts val="600"/>
                    </a:spcAft>
                    <a:buClr>
                      <a:schemeClr val="tx2"/>
                    </a:buClr>
                  </a:pP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hr m:val="̃"/>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r>
                    <a:rPr lang="zh-CN" altLang="en-US" sz="1400"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a:t>，</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𝑒</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endPar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endParaRPr lang="en-US" altLang="zh-CN" sz="1600" b="0" i="1"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endParaRPr lang="zh-CN" altLang="en-US" sz="1600" b="0" noProof="0" dirty="0">
                    <a:ln>
                      <a:noFill/>
                    </a:ln>
                    <a:solidFill>
                      <a:schemeClr val="tx1"/>
                    </a:solidFill>
                    <a:effectLst/>
                    <a:uLnTx/>
                    <a:uFillTx/>
                    <a:latin typeface="Microsoft YaHei" panose="020B0503020204020204" charset="-122"/>
                    <a:ea typeface="Microsoft YaHei" panose="020B0503020204020204" charset="-122"/>
                    <a:cs typeface="Times New Roman" panose="02020603050405020304" pitchFamily="18" charset="0"/>
                    <a:sym typeface="+mn-ea"/>
                  </a:endParaRPr>
                </a:p>
                <a:p>
                  <a:pPr marL="69850" indent="457200" algn="just" fontAlgn="auto">
                    <a:lnSpc>
                      <a:spcPct val="130000"/>
                    </a:lnSpc>
                    <a:spcBef>
                      <a:spcPts val="0"/>
                    </a:spcBef>
                    <a:spcAft>
                      <a:spcPts val="600"/>
                    </a:spcAft>
                    <a:buClr>
                      <a:schemeClr val="tx2"/>
                    </a:buClr>
                  </a:pPr>
                  <a:r>
                    <a:rPr lang="en-US" altLang="zh-CN" sz="1600" b="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sym typeface="+mn-ea"/>
                    </a:rPr>
                    <a:t>1</a:t>
                  </a:r>
                  <a:endParaRPr lang="en-US" altLang="zh-CN" sz="1600" b="0" dirty="0">
                    <a:latin typeface="Microsoft YaHei" panose="020B0503020204020204" charset="-122"/>
                    <a:ea typeface="Microsoft YaHei" panose="020B0503020204020204" charset="-122"/>
                  </a:endParaRPr>
                </a:p>
              </p:txBody>
            </p:sp>
          </mc:Choice>
          <mc:Fallback>
            <p:sp>
              <p:nvSpPr>
                <p:cNvPr id="22" name="Текст 12"/>
                <p:cNvSpPr txBox="1">
                  <a:spLocks noRot="1" noChangeAspect="1" noMove="1" noResize="1" noEditPoints="1" noAdjustHandles="1" noChangeArrowheads="1" noChangeShapeType="1" noTextEdit="1"/>
                </p:cNvSpPr>
                <p:nvPr>
                  <p:custDataLst>
                    <p:tags r:id="rId10"/>
                  </p:custDataLst>
                </p:nvPr>
              </p:nvSpPr>
              <p:spPr>
                <a:xfrm>
                  <a:off x="667" y="2613"/>
                  <a:ext cx="5706" cy="3288"/>
                </a:xfrm>
                <a:prstGeom prst="rect">
                  <a:avLst/>
                </a:prstGeom>
                <a:blipFill rotWithShape="1">
                  <a:blip r:embed="rId11"/>
                </a:blipFill>
                <a:ln>
                  <a:noFill/>
                </a:ln>
              </p:spPr>
              <p:txBody>
                <a:bodyPr/>
                <a:lstStyle/>
                <a:p>
                  <a:r>
                    <a:rPr lang="zh-CN" altLang="en-US">
                      <a:noFill/>
                    </a:rPr>
                    <a:t> </a:t>
                  </a:r>
                </a:p>
              </p:txBody>
            </p:sp>
          </mc:Fallback>
        </mc:AlternateContent>
      </p:grpSp>
      <p:grpSp>
        <p:nvGrpSpPr>
          <p:cNvPr id="28" name="组合 27"/>
          <p:cNvGrpSpPr/>
          <p:nvPr>
            <p:custDataLst>
              <p:tags r:id="rId12"/>
            </p:custDataLst>
          </p:nvPr>
        </p:nvGrpSpPr>
        <p:grpSpPr>
          <a:xfrm>
            <a:off x="326390" y="3945255"/>
            <a:ext cx="8396605" cy="2635885"/>
            <a:chOff x="514" y="1863"/>
            <a:chExt cx="13223" cy="4151"/>
          </a:xfrm>
        </p:grpSpPr>
        <p:sp>
          <p:nvSpPr>
            <p:cNvPr id="29" name="同侧圆角矩形 28"/>
            <p:cNvSpPr/>
            <p:nvPr>
              <p:custDataLst>
                <p:tags r:id="rId13"/>
              </p:custDataLst>
            </p:nvPr>
          </p:nvSpPr>
          <p:spPr>
            <a:xfrm>
              <a:off x="514" y="1863"/>
              <a:ext cx="13223" cy="750"/>
            </a:xfrm>
            <a:prstGeom prst="round2SameRect">
              <a:avLst>
                <a:gd name="adj1" fmla="val 28266"/>
                <a:gd name="adj2" fmla="val 0"/>
              </a:avLst>
            </a:prstGeom>
            <a:solidFill>
              <a:schemeClr val="accent6">
                <a:lumMod val="20000"/>
                <a:lumOff val="80000"/>
              </a:schemeClr>
            </a:solidFill>
            <a:ln w="19050">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同侧圆角矩形 29"/>
            <p:cNvSpPr/>
            <p:nvPr>
              <p:custDataLst>
                <p:tags r:id="rId14"/>
              </p:custDataLst>
            </p:nvPr>
          </p:nvSpPr>
          <p:spPr>
            <a:xfrm rot="10800000">
              <a:off x="514" y="2613"/>
              <a:ext cx="13223" cy="3401"/>
            </a:xfrm>
            <a:prstGeom prst="round2SameRect">
              <a:avLst>
                <a:gd name="adj1" fmla="val 7339"/>
                <a:gd name="adj2" fmla="val 0"/>
              </a:avLst>
            </a:prstGeom>
            <a:noFill/>
            <a:ln w="19050">
              <a:solidFill>
                <a:schemeClr val="accent6"/>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31" name="Овал 64"/>
            <p:cNvSpPr/>
            <p:nvPr>
              <p:custDataLst>
                <p:tags r:id="rId15"/>
              </p:custDataLst>
            </p:nvPr>
          </p:nvSpPr>
          <p:spPr>
            <a:xfrm>
              <a:off x="668" y="2034"/>
              <a:ext cx="446" cy="435"/>
            </a:xfrm>
            <a:prstGeom prst="ellipse">
              <a:avLst/>
            </a:prstGeom>
            <a:solidFill>
              <a:schemeClr val="accent6">
                <a:lumMod val="50000"/>
              </a:schemeClr>
            </a:solidFill>
            <a:ln w="25400" cap="flat" cmpd="sng" algn="ctr">
              <a:solidFill>
                <a:schemeClr val="accent6">
                  <a:lumMod val="50000"/>
                </a:schemeClr>
              </a:solid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2</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sp>
          <p:nvSpPr>
            <p:cNvPr id="32" name="文本框 2"/>
            <p:cNvSpPr txBox="1"/>
            <p:nvPr>
              <p:custDataLst>
                <p:tags r:id="rId16"/>
              </p:custDataLst>
            </p:nvPr>
          </p:nvSpPr>
          <p:spPr>
            <a:xfrm>
              <a:off x="1114" y="1953"/>
              <a:ext cx="12441" cy="580"/>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rPr>
                <a:t>解决方案</a:t>
              </a:r>
              <a:r>
                <a:rPr lang="en-US" altLang="zh-CN" sz="18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rPr>
                <a:t>   </a:t>
              </a:r>
              <a:r>
                <a:rPr lang="zh-CN" altLang="en-US" sz="12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rPr>
                <a:t>作用：令量化值统计上无偏</a:t>
              </a:r>
              <a:endParaRPr lang="zh-CN" altLang="en-US" sz="12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3" name="Текст 12"/>
                <p:cNvSpPr txBox="1"/>
                <p:nvPr>
                  <p:custDataLst>
                    <p:tags r:id="rId17"/>
                  </p:custDataLst>
                </p:nvPr>
              </p:nvSpPr>
              <p:spPr>
                <a:xfrm>
                  <a:off x="667" y="2613"/>
                  <a:ext cx="12888" cy="3228"/>
                </a:xfrm>
                <a:prstGeom prst="rect">
                  <a:avLst/>
                </a:prstGeom>
                <a:ln>
                  <a:noFill/>
                </a:ln>
              </p:spPr>
              <p:txBody>
                <a:bodyPr wrap="square" numCol="2" spcCol="36000">
                  <a:no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0" algn="just" fontAlgn="auto">
                    <a:lnSpc>
                      <a:spcPct val="130000"/>
                    </a:lnSpc>
                    <a:spcBef>
                      <a:spcPts val="0"/>
                    </a:spcBef>
                    <a:spcAft>
                      <a:spcPts val="600"/>
                    </a:spcAft>
                    <a:buClr>
                      <a:schemeClr val="tx2"/>
                    </a:buClr>
                  </a:pPr>
                  <a:r>
                    <a:rPr 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(1)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块划分：将</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r>
                    <a:rPr lang="en-US" altLang="zh-CN"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按大小</a:t>
                  </a:r>
                  <a:r>
                    <a:rPr lang="en-US" altLang="zh-CN"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B</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划分为</a:t>
                  </a:r>
                  <a14:m>
                    <m:oMath xmlns:m="http://schemas.openxmlformats.org/officeDocument/2006/math">
                      <m:sSubSup>
                        <m:sSubSupPr>
                          <m:ctrlP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m:t>
                          </m:r>
                        </m:sup>
                      </m:sSubSup>
                    </m:oMath>
                  </a14:m>
                  <a:endPar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(2)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每块以</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f>
                        <m:f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fPr>
                        <m:num>
                          <m:sSub>
                            <m:sSub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𝑚𝑎𝑥</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num>
                        <m:den>
                          <m:sSup>
                            <m:s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2</m:t>
                              </m:r>
                            </m:e>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p>
                          </m:s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den>
                      </m:f>
                    </m:oMath>
                  </a14:m>
                  <a:r>
                    <a:rPr lang="en-US" altLang="zh-CN"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的</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因子独立进行放缩</a:t>
                  </a:r>
                  <a:endPar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(3)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归一化：</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𝑢</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f>
                        <m:f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fPr>
                        <m:num>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num>
                        <m:den>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den>
                      </m:f>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(4)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划分小数部分：</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d>
                        <m:dPr>
                          <m:begChr m:val="⌊"/>
                          <m:endChr m:val="⌋"/>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dPr>
                        <m:e>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𝑢</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e>
                      </m:d>
                    </m:oMath>
                  </a14:m>
                  <a:r>
                    <a:rPr lang="zh-CN" altLang="en-US" sz="1400" noProof="0" dirty="0">
                      <a:ln>
                        <a:noFill/>
                      </a:ln>
                      <a:effectLst/>
                      <a:uLnTx/>
                      <a:uFillTx/>
                      <a:latin typeface="Cambria Math" panose="02040503050406030204" charset="0"/>
                      <a:ea typeface="Microsoft YaHei" panose="020B0503020204020204" charset="-122"/>
                      <a:cs typeface="Cambria Math" panose="02040503050406030204" charset="0"/>
                      <a:sym typeface="+mn-ea"/>
                    </a:rPr>
                    <a:t>，</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𝑝</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𝑢</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endPar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(4)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随机舍入：</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𝐵𝑒𝑟𝑛𝑜𝑢𝑙𝑙𝑖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𝑝</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(5)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反量化重构：</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𝑠𝑖𝑔𝑛</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𝑠</m:t>
                          </m:r>
                        </m:e>
                        <m:sub>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r>
                    <a:rPr lang="zh-CN" altLang="en-US" sz="1400"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a:t>，</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hr m:val="̃"/>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
                        <m:sSub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𝑐𝑜𝑛𝑐𝑎𝑡</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600" b="0" i="1"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endParaRPr lang="zh-CN" altLang="en-US" sz="1600" b="0" noProof="0" dirty="0">
                    <a:ln>
                      <a:noFill/>
                    </a:ln>
                    <a:solidFill>
                      <a:schemeClr val="tx1"/>
                    </a:solidFill>
                    <a:effectLst/>
                    <a:uLnTx/>
                    <a:uFillTx/>
                    <a:latin typeface="Microsoft YaHei" panose="020B0503020204020204" charset="-122"/>
                    <a:ea typeface="Microsoft YaHei" panose="020B0503020204020204" charset="-122"/>
                    <a:cs typeface="Times New Roman" panose="02020603050405020304" pitchFamily="18" charset="0"/>
                    <a:sym typeface="+mn-ea"/>
                  </a:endParaRPr>
                </a:p>
                <a:p>
                  <a:pPr marL="69850" indent="457200" algn="just" fontAlgn="auto">
                    <a:lnSpc>
                      <a:spcPct val="130000"/>
                    </a:lnSpc>
                    <a:spcBef>
                      <a:spcPts val="0"/>
                    </a:spcBef>
                    <a:spcAft>
                      <a:spcPts val="600"/>
                    </a:spcAft>
                    <a:buClr>
                      <a:schemeClr val="tx2"/>
                    </a:buClr>
                  </a:pPr>
                  <a:r>
                    <a:rPr lang="en-US" altLang="zh-CN" sz="1600" b="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sym typeface="+mn-ea"/>
                    </a:rPr>
                    <a:t>1</a:t>
                  </a:r>
                  <a:endParaRPr lang="en-US" altLang="zh-CN" sz="1600" b="0" dirty="0">
                    <a:latin typeface="Microsoft YaHei" panose="020B0503020204020204" charset="-122"/>
                    <a:ea typeface="Microsoft YaHei" panose="020B0503020204020204" charset="-122"/>
                  </a:endParaRPr>
                </a:p>
              </p:txBody>
            </p:sp>
          </mc:Choice>
          <mc:Fallback>
            <p:sp>
              <p:nvSpPr>
                <p:cNvPr id="33" name="Текст 12"/>
                <p:cNvSpPr txBox="1">
                  <a:spLocks noRot="1" noChangeAspect="1" noMove="1" noResize="1" noEditPoints="1" noAdjustHandles="1" noChangeArrowheads="1" noChangeShapeType="1" noTextEdit="1"/>
                </p:cNvSpPr>
                <p:nvPr>
                  <p:custDataLst>
                    <p:tags r:id="rId18"/>
                  </p:custDataLst>
                </p:nvPr>
              </p:nvSpPr>
              <p:spPr>
                <a:xfrm>
                  <a:off x="667" y="2613"/>
                  <a:ext cx="12888" cy="3228"/>
                </a:xfrm>
                <a:prstGeom prst="rect">
                  <a:avLst/>
                </a:prstGeom>
                <a:blipFill rotWithShape="1">
                  <a:blip r:embed="rId19"/>
                </a:blipFill>
                <a:ln>
                  <a:noFill/>
                </a:ln>
              </p:spPr>
              <p:txBody>
                <a:bodyPr/>
                <a:lstStyle/>
                <a:p>
                  <a:r>
                    <a:rPr lang="zh-CN" altLang="en-US">
                      <a:noFill/>
                    </a:rPr>
                    <a:t> </a:t>
                  </a:r>
                </a:p>
              </p:txBody>
            </p:sp>
          </mc:Fallback>
        </mc:AlternateContent>
      </p:grpSp>
    </p:spTree>
    <p:custDataLst>
      <p:tags r:id="rId20"/>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7070" y="262890"/>
            <a:ext cx="7920355" cy="521970"/>
          </a:xfrm>
        </p:spPr>
        <p:txBody>
          <a:bodyPr>
            <a:normAutofit fontScale="90000"/>
          </a:bodyPr>
          <a:lstStyle/>
          <a:p>
            <a:r>
              <a:rPr dirty="0"/>
              <a:t>核心技术</a:t>
            </a:r>
            <a:r>
              <a:rPr lang="en-US" altLang="zh-CN" dirty="0"/>
              <a:t>-</a:t>
            </a:r>
            <a:r>
              <a:rPr sz="2200">
                <a:sym typeface="+mn-ea"/>
              </a:rPr>
              <a:t>分布式优化器低比特量化方法</a:t>
            </a:r>
            <a:endParaRPr sz="2200">
              <a:sym typeface="+mn-ea"/>
            </a:endParaRPr>
          </a:p>
        </p:txBody>
      </p:sp>
      <p:pic>
        <p:nvPicPr>
          <p:cNvPr id="4" name="图片 3"/>
          <p:cNvPicPr>
            <a:picLocks noChangeAspect="1"/>
          </p:cNvPicPr>
          <p:nvPr/>
        </p:nvPicPr>
        <p:blipFill>
          <a:blip r:embed="rId1"/>
          <a:stretch>
            <a:fillRect/>
          </a:stretch>
        </p:blipFill>
        <p:spPr>
          <a:xfrm>
            <a:off x="4251325" y="1183005"/>
            <a:ext cx="4471670" cy="2661285"/>
          </a:xfrm>
          <a:prstGeom prst="rect">
            <a:avLst/>
          </a:prstGeom>
        </p:spPr>
      </p:pic>
      <p:graphicFrame>
        <p:nvGraphicFramePr>
          <p:cNvPr id="8" name="对象 7">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4514850" y="3321050"/>
                        <a:ext cx="114300" cy="215900"/>
                      </a:xfrm>
                      <a:prstGeom prst="rect">
                        <a:avLst/>
                      </a:prstGeom>
                    </p:spPr>
                  </p:pic>
                </p:oleObj>
              </mc:Fallback>
            </mc:AlternateContent>
          </a:graphicData>
        </a:graphic>
      </p:graphicFrame>
      <p:grpSp>
        <p:nvGrpSpPr>
          <p:cNvPr id="27" name="组合 26"/>
          <p:cNvGrpSpPr/>
          <p:nvPr>
            <p:custDataLst>
              <p:tags r:id="rId4"/>
            </p:custDataLst>
          </p:nvPr>
        </p:nvGrpSpPr>
        <p:grpSpPr>
          <a:xfrm>
            <a:off x="326390" y="1183005"/>
            <a:ext cx="3815080" cy="2635885"/>
            <a:chOff x="514" y="1863"/>
            <a:chExt cx="6008" cy="4151"/>
          </a:xfrm>
        </p:grpSpPr>
        <p:sp>
          <p:nvSpPr>
            <p:cNvPr id="17" name="同侧圆角矩形 16"/>
            <p:cNvSpPr/>
            <p:nvPr>
              <p:custDataLst>
                <p:tags r:id="rId5"/>
              </p:custDataLst>
            </p:nvPr>
          </p:nvSpPr>
          <p:spPr>
            <a:xfrm>
              <a:off x="514" y="1863"/>
              <a:ext cx="6008" cy="750"/>
            </a:xfrm>
            <a:prstGeom prst="round2SameRect">
              <a:avLst>
                <a:gd name="adj1" fmla="val 28266"/>
                <a:gd name="adj2" fmla="val 0"/>
              </a:avLst>
            </a:prstGeom>
            <a:solidFill>
              <a:schemeClr val="accent1">
                <a:lumMod val="20000"/>
                <a:lumOff val="80000"/>
              </a:schemeClr>
            </a:solidFill>
            <a:ln w="1905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同侧圆角矩形 17"/>
            <p:cNvSpPr/>
            <p:nvPr>
              <p:custDataLst>
                <p:tags r:id="rId6"/>
              </p:custDataLst>
            </p:nvPr>
          </p:nvSpPr>
          <p:spPr>
            <a:xfrm rot="10800000">
              <a:off x="514" y="2613"/>
              <a:ext cx="6008" cy="3401"/>
            </a:xfrm>
            <a:prstGeom prst="round2SameRect">
              <a:avLst>
                <a:gd name="adj1" fmla="val 7339"/>
                <a:gd name="adj2" fmla="val 0"/>
              </a:avLst>
            </a:prstGeom>
            <a:noFill/>
            <a:ln w="19050">
              <a:solidFill>
                <a:schemeClr val="accent1"/>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9" name="Овал 64"/>
            <p:cNvSpPr/>
            <p:nvPr>
              <p:custDataLst>
                <p:tags r:id="rId7"/>
              </p:custDataLst>
            </p:nvPr>
          </p:nvSpPr>
          <p:spPr>
            <a:xfrm>
              <a:off x="668" y="2034"/>
              <a:ext cx="446" cy="435"/>
            </a:xfrm>
            <a:prstGeom prst="ellipse">
              <a:avLst/>
            </a:prstGeom>
            <a:solidFill>
              <a:schemeClr val="accent1">
                <a:lumMod val="75000"/>
              </a:schemeClr>
            </a:solidFill>
            <a:ln w="25400" cap="flat" cmpd="sng" algn="ctr">
              <a:solidFill>
                <a:schemeClr val="accent1">
                  <a:lumMod val="75000"/>
                </a:schemeClr>
              </a:solid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1</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sp>
          <p:nvSpPr>
            <p:cNvPr id="20" name="文本框 2"/>
            <p:cNvSpPr txBox="1"/>
            <p:nvPr>
              <p:custDataLst>
                <p:tags r:id="rId8"/>
              </p:custDataLst>
            </p:nvPr>
          </p:nvSpPr>
          <p:spPr>
            <a:xfrm>
              <a:off x="1114" y="1953"/>
              <a:ext cx="5260" cy="580"/>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en-US" altLang="zh-CN" sz="1800" dirty="0">
                  <a:solidFill>
                    <a:schemeClr val="accent1">
                      <a:lumMod val="75000"/>
                    </a:schemeClr>
                  </a:solidFill>
                  <a:latin typeface="Times New Roman" panose="02020603050405020304" pitchFamily="18" charset="0"/>
                  <a:ea typeface="Microsoft YaHei" panose="020B0503020204020204" charset="-122"/>
                  <a:cs typeface="Times New Roman" panose="02020603050405020304" pitchFamily="18" charset="0"/>
                </a:rPr>
                <a:t>EF21+ </a:t>
              </a:r>
              <a:r>
                <a:rPr lang="zh-CN" altLang="en-US" sz="1800" dirty="0">
                  <a:solidFill>
                    <a:schemeClr val="accent1">
                      <a:lumMod val="75000"/>
                    </a:schemeClr>
                  </a:solidFill>
                  <a:latin typeface="Times New Roman" panose="02020603050405020304" pitchFamily="18" charset="0"/>
                  <a:ea typeface="Microsoft YaHei" panose="020B0503020204020204" charset="-122"/>
                  <a:cs typeface="Times New Roman" panose="02020603050405020304" pitchFamily="18" charset="0"/>
                </a:rPr>
                <a:t>误差补偿</a:t>
              </a:r>
              <a:r>
                <a:rPr lang="en-US" altLang="zh-CN" sz="1800" dirty="0">
                  <a:solidFill>
                    <a:schemeClr val="accent1">
                      <a:lumMod val="75000"/>
                    </a:schemeClr>
                  </a:solidFill>
                  <a:latin typeface="Times New Roman" panose="02020603050405020304" pitchFamily="18" charset="0"/>
                  <a:ea typeface="Microsoft YaHei" panose="020B0503020204020204" charset="-122"/>
                  <a:cs typeface="Times New Roman" panose="02020603050405020304" pitchFamily="18" charset="0"/>
                </a:rPr>
                <a:t>  </a:t>
              </a:r>
              <a:r>
                <a:rPr lang="zh-CN" altLang="en-US" sz="120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作用：降低动态范围</a:t>
              </a:r>
              <a:endParaRPr lang="zh-CN" altLang="en-US" sz="120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AlternateContent xmlns:mc="http://schemas.openxmlformats.org/markup-compatibility/2006">
          <mc:Choice xmlns:a14="http://schemas.microsoft.com/office/drawing/2010/main" Requires="a14">
            <p:sp>
              <p:nvSpPr>
                <p:cNvPr id="22" name="Текст 12"/>
                <p:cNvSpPr txBox="1"/>
                <p:nvPr>
                  <p:custDataLst>
                    <p:tags r:id="rId9"/>
                  </p:custDataLst>
                </p:nvPr>
              </p:nvSpPr>
              <p:spPr>
                <a:xfrm>
                  <a:off x="667" y="2613"/>
                  <a:ext cx="5706" cy="3288"/>
                </a:xfrm>
                <a:prstGeom prst="rect">
                  <a:avLst/>
                </a:prstGeom>
                <a:ln>
                  <a:noFill/>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(1)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维护高精度梯度</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与量化误差</a:t>
                  </a:r>
                  <a14:m>
                    <m:oMath xmlns:m="http://schemas.openxmlformats.org/officeDocument/2006/math">
                      <m:r>
                        <a:rPr lang="en-US" altLang="zh-CN" sz="1400" b="0"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 </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𝑒</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endPar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(2)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构造传输数据：</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𝑔</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𝑒</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(3) EF21+</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更新：</a:t>
                  </a:r>
                  <a:endPar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ctr" fontAlgn="auto">
                    <a:lnSpc>
                      <a:spcPct val="130000"/>
                    </a:lnSpc>
                    <a:spcBef>
                      <a:spcPts val="0"/>
                    </a:spcBef>
                    <a:spcAft>
                      <a:spcPts val="600"/>
                    </a:spcAft>
                    <a:buClr>
                      <a:schemeClr val="tx2"/>
                    </a:buClr>
                  </a:pP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hr m:val="̃"/>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r>
                    <a:rPr lang="zh-CN" altLang="en-US" sz="1400"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a:t>，</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𝑒</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endPar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endParaRPr lang="en-US" altLang="zh-CN" sz="1600" b="0" i="1"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endParaRPr lang="zh-CN" altLang="en-US" sz="1600" b="0" noProof="0" dirty="0">
                    <a:ln>
                      <a:noFill/>
                    </a:ln>
                    <a:solidFill>
                      <a:schemeClr val="tx1"/>
                    </a:solidFill>
                    <a:effectLst/>
                    <a:uLnTx/>
                    <a:uFillTx/>
                    <a:latin typeface="Microsoft YaHei" panose="020B0503020204020204" charset="-122"/>
                    <a:ea typeface="Microsoft YaHei" panose="020B0503020204020204" charset="-122"/>
                    <a:cs typeface="Times New Roman" panose="02020603050405020304" pitchFamily="18" charset="0"/>
                    <a:sym typeface="+mn-ea"/>
                  </a:endParaRPr>
                </a:p>
                <a:p>
                  <a:pPr marL="69850" indent="457200" algn="just" fontAlgn="auto">
                    <a:lnSpc>
                      <a:spcPct val="130000"/>
                    </a:lnSpc>
                    <a:spcBef>
                      <a:spcPts val="0"/>
                    </a:spcBef>
                    <a:spcAft>
                      <a:spcPts val="600"/>
                    </a:spcAft>
                    <a:buClr>
                      <a:schemeClr val="tx2"/>
                    </a:buClr>
                  </a:pPr>
                  <a:r>
                    <a:rPr lang="en-US" altLang="zh-CN" sz="1600" b="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sym typeface="+mn-ea"/>
                    </a:rPr>
                    <a:t>1</a:t>
                  </a:r>
                  <a:endParaRPr lang="en-US" altLang="zh-CN" sz="1600" b="0" dirty="0">
                    <a:latin typeface="Microsoft YaHei" panose="020B0503020204020204" charset="-122"/>
                    <a:ea typeface="Microsoft YaHei" panose="020B0503020204020204" charset="-122"/>
                  </a:endParaRPr>
                </a:p>
              </p:txBody>
            </p:sp>
          </mc:Choice>
          <mc:Fallback>
            <p:sp>
              <p:nvSpPr>
                <p:cNvPr id="22" name="Текст 12"/>
                <p:cNvSpPr txBox="1">
                  <a:spLocks noRot="1" noChangeAspect="1" noMove="1" noResize="1" noEditPoints="1" noAdjustHandles="1" noChangeArrowheads="1" noChangeShapeType="1" noTextEdit="1"/>
                </p:cNvSpPr>
                <p:nvPr>
                  <p:custDataLst>
                    <p:tags r:id="rId10"/>
                  </p:custDataLst>
                </p:nvPr>
              </p:nvSpPr>
              <p:spPr>
                <a:xfrm>
                  <a:off x="667" y="2613"/>
                  <a:ext cx="5706" cy="3288"/>
                </a:xfrm>
                <a:prstGeom prst="rect">
                  <a:avLst/>
                </a:prstGeom>
                <a:blipFill rotWithShape="1">
                  <a:blip r:embed="rId11"/>
                </a:blipFill>
                <a:ln>
                  <a:noFill/>
                </a:ln>
              </p:spPr>
              <p:txBody>
                <a:bodyPr/>
                <a:lstStyle/>
                <a:p>
                  <a:r>
                    <a:rPr lang="zh-CN" altLang="en-US">
                      <a:noFill/>
                    </a:rPr>
                    <a:t> </a:t>
                  </a:r>
                </a:p>
              </p:txBody>
            </p:sp>
          </mc:Fallback>
        </mc:AlternateContent>
      </p:grpSp>
      <p:grpSp>
        <p:nvGrpSpPr>
          <p:cNvPr id="28" name="组合 27"/>
          <p:cNvGrpSpPr/>
          <p:nvPr>
            <p:custDataLst>
              <p:tags r:id="rId12"/>
            </p:custDataLst>
          </p:nvPr>
        </p:nvGrpSpPr>
        <p:grpSpPr>
          <a:xfrm>
            <a:off x="326390" y="3945255"/>
            <a:ext cx="8396605" cy="2635885"/>
            <a:chOff x="514" y="1863"/>
            <a:chExt cx="13223" cy="4151"/>
          </a:xfrm>
        </p:grpSpPr>
        <p:sp>
          <p:nvSpPr>
            <p:cNvPr id="29" name="同侧圆角矩形 28"/>
            <p:cNvSpPr/>
            <p:nvPr>
              <p:custDataLst>
                <p:tags r:id="rId13"/>
              </p:custDataLst>
            </p:nvPr>
          </p:nvSpPr>
          <p:spPr>
            <a:xfrm>
              <a:off x="514" y="1863"/>
              <a:ext cx="13223" cy="750"/>
            </a:xfrm>
            <a:prstGeom prst="round2SameRect">
              <a:avLst>
                <a:gd name="adj1" fmla="val 28266"/>
                <a:gd name="adj2" fmla="val 0"/>
              </a:avLst>
            </a:prstGeom>
            <a:solidFill>
              <a:schemeClr val="accent6">
                <a:lumMod val="20000"/>
                <a:lumOff val="80000"/>
              </a:schemeClr>
            </a:solidFill>
            <a:ln w="19050">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同侧圆角矩形 29"/>
            <p:cNvSpPr/>
            <p:nvPr>
              <p:custDataLst>
                <p:tags r:id="rId14"/>
              </p:custDataLst>
            </p:nvPr>
          </p:nvSpPr>
          <p:spPr>
            <a:xfrm rot="10800000">
              <a:off x="514" y="2613"/>
              <a:ext cx="13223" cy="3401"/>
            </a:xfrm>
            <a:prstGeom prst="round2SameRect">
              <a:avLst>
                <a:gd name="adj1" fmla="val 7339"/>
                <a:gd name="adj2" fmla="val 0"/>
              </a:avLst>
            </a:prstGeom>
            <a:noFill/>
            <a:ln w="19050">
              <a:solidFill>
                <a:schemeClr val="accent6"/>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31" name="Овал 64"/>
            <p:cNvSpPr/>
            <p:nvPr>
              <p:custDataLst>
                <p:tags r:id="rId15"/>
              </p:custDataLst>
            </p:nvPr>
          </p:nvSpPr>
          <p:spPr>
            <a:xfrm>
              <a:off x="668" y="2034"/>
              <a:ext cx="446" cy="435"/>
            </a:xfrm>
            <a:prstGeom prst="ellipse">
              <a:avLst/>
            </a:prstGeom>
            <a:solidFill>
              <a:schemeClr val="accent6">
                <a:lumMod val="50000"/>
              </a:schemeClr>
            </a:solidFill>
            <a:ln w="25400" cap="flat" cmpd="sng" algn="ctr">
              <a:solidFill>
                <a:schemeClr val="accent6">
                  <a:lumMod val="50000"/>
                </a:schemeClr>
              </a:solid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2</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sp>
          <p:nvSpPr>
            <p:cNvPr id="32" name="文本框 2"/>
            <p:cNvSpPr txBox="1"/>
            <p:nvPr>
              <p:custDataLst>
                <p:tags r:id="rId16"/>
              </p:custDataLst>
            </p:nvPr>
          </p:nvSpPr>
          <p:spPr>
            <a:xfrm>
              <a:off x="1114" y="1953"/>
              <a:ext cx="12441" cy="580"/>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rPr>
                <a:t>随机舍入量化与重构</a:t>
              </a:r>
              <a:r>
                <a:rPr lang="en-US" altLang="zh-CN" sz="18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rPr>
                <a:t>   </a:t>
              </a:r>
              <a:r>
                <a:rPr lang="zh-CN" altLang="en-US" sz="12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rPr>
                <a:t>作用：令量化值统计上无偏</a:t>
              </a:r>
              <a:endParaRPr lang="zh-CN" altLang="en-US" sz="12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3" name="Текст 12"/>
                <p:cNvSpPr txBox="1"/>
                <p:nvPr>
                  <p:custDataLst>
                    <p:tags r:id="rId17"/>
                  </p:custDataLst>
                </p:nvPr>
              </p:nvSpPr>
              <p:spPr>
                <a:xfrm>
                  <a:off x="667" y="2613"/>
                  <a:ext cx="12888" cy="3228"/>
                </a:xfrm>
                <a:prstGeom prst="rect">
                  <a:avLst/>
                </a:prstGeom>
                <a:ln>
                  <a:noFill/>
                </a:ln>
              </p:spPr>
              <p:txBody>
                <a:bodyPr wrap="square" numCol="2" spcCol="36000">
                  <a:no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0" algn="just" fontAlgn="auto">
                    <a:lnSpc>
                      <a:spcPct val="130000"/>
                    </a:lnSpc>
                    <a:spcBef>
                      <a:spcPts val="0"/>
                    </a:spcBef>
                    <a:spcAft>
                      <a:spcPts val="600"/>
                    </a:spcAft>
                    <a:buClr>
                      <a:schemeClr val="tx2"/>
                    </a:buClr>
                  </a:pPr>
                  <a:r>
                    <a:rPr 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(1)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块划分：将</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r>
                    <a:rPr lang="en-US" altLang="zh-CN"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按大小</a:t>
                  </a:r>
                  <a:r>
                    <a:rPr lang="en-US" altLang="zh-CN"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B</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划分为</a:t>
                  </a:r>
                  <a14:m>
                    <m:oMath xmlns:m="http://schemas.openxmlformats.org/officeDocument/2006/math">
                      <m:sSubSup>
                        <m:sSubSupPr>
                          <m:ctrlP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m:t>
                          </m:r>
                        </m:sup>
                      </m:sSubSup>
                    </m:oMath>
                  </a14:m>
                  <a:endPar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(2)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每块以</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f>
                        <m:f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fPr>
                        <m:num>
                          <m:sSub>
                            <m:sSub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𝑚𝑎𝑥</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num>
                        <m:den>
                          <m:sSup>
                            <m:s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2</m:t>
                              </m:r>
                            </m:e>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p>
                          </m:s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den>
                      </m:f>
                    </m:oMath>
                  </a14:m>
                  <a:r>
                    <a:rPr lang="en-US" altLang="zh-CN"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的</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因子独立进行放缩</a:t>
                  </a:r>
                  <a:endPar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(3)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归一化：</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𝑢</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f>
                        <m:f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fPr>
                        <m:num>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num>
                        <m:den>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den>
                      </m:f>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(4)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划分小数部分：</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d>
                        <m:dPr>
                          <m:begChr m:val="⌊"/>
                          <m:endChr m:val="⌋"/>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dPr>
                        <m:e>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𝑢</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e>
                      </m:d>
                    </m:oMath>
                  </a14:m>
                  <a:r>
                    <a:rPr lang="zh-CN" altLang="en-US" sz="1400" noProof="0" dirty="0">
                      <a:ln>
                        <a:noFill/>
                      </a:ln>
                      <a:effectLst/>
                      <a:uLnTx/>
                      <a:uFillTx/>
                      <a:latin typeface="Cambria Math" panose="02040503050406030204" charset="0"/>
                      <a:ea typeface="Microsoft YaHei" panose="020B0503020204020204" charset="-122"/>
                      <a:cs typeface="Cambria Math" panose="02040503050406030204" charset="0"/>
                      <a:sym typeface="+mn-ea"/>
                    </a:rPr>
                    <a:t>，</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𝑝</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𝑢</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endPar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(4)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随机舍入：</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𝐵𝑒𝑟𝑛𝑜𝑢𝑙𝑙𝑖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𝑝</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(5)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反量化重构：</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𝑠𝑖𝑔𝑛</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𝑠</m:t>
                          </m:r>
                        </m:e>
                        <m:sub>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r>
                    <a:rPr lang="zh-CN" altLang="en-US" sz="1400"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a:t>，</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hr m:val="̃"/>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
                        <m:sSub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𝑐𝑜𝑛𝑐𝑎𝑡</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600" b="0" i="1"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endParaRPr lang="zh-CN" altLang="en-US" sz="1600" b="0" noProof="0" dirty="0">
                    <a:ln>
                      <a:noFill/>
                    </a:ln>
                    <a:solidFill>
                      <a:schemeClr val="tx1"/>
                    </a:solidFill>
                    <a:effectLst/>
                    <a:uLnTx/>
                    <a:uFillTx/>
                    <a:latin typeface="Microsoft YaHei" panose="020B0503020204020204" charset="-122"/>
                    <a:ea typeface="Microsoft YaHei" panose="020B0503020204020204" charset="-122"/>
                    <a:cs typeface="Times New Roman" panose="02020603050405020304" pitchFamily="18" charset="0"/>
                    <a:sym typeface="+mn-ea"/>
                  </a:endParaRPr>
                </a:p>
                <a:p>
                  <a:pPr marL="69850" indent="457200" algn="just" fontAlgn="auto">
                    <a:lnSpc>
                      <a:spcPct val="130000"/>
                    </a:lnSpc>
                    <a:spcBef>
                      <a:spcPts val="0"/>
                    </a:spcBef>
                    <a:spcAft>
                      <a:spcPts val="600"/>
                    </a:spcAft>
                    <a:buClr>
                      <a:schemeClr val="tx2"/>
                    </a:buClr>
                  </a:pPr>
                  <a:r>
                    <a:rPr lang="en-US" altLang="zh-CN" sz="1600" b="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sym typeface="+mn-ea"/>
                    </a:rPr>
                    <a:t>1</a:t>
                  </a:r>
                  <a:endParaRPr lang="en-US" altLang="zh-CN" sz="1600" b="0" dirty="0">
                    <a:latin typeface="Microsoft YaHei" panose="020B0503020204020204" charset="-122"/>
                    <a:ea typeface="Microsoft YaHei" panose="020B0503020204020204" charset="-122"/>
                  </a:endParaRPr>
                </a:p>
              </p:txBody>
            </p:sp>
          </mc:Choice>
          <mc:Fallback>
            <p:sp>
              <p:nvSpPr>
                <p:cNvPr id="33" name="Текст 12"/>
                <p:cNvSpPr txBox="1">
                  <a:spLocks noRot="1" noChangeAspect="1" noMove="1" noResize="1" noEditPoints="1" noAdjustHandles="1" noChangeArrowheads="1" noChangeShapeType="1" noTextEdit="1"/>
                </p:cNvSpPr>
                <p:nvPr>
                  <p:custDataLst>
                    <p:tags r:id="rId18"/>
                  </p:custDataLst>
                </p:nvPr>
              </p:nvSpPr>
              <p:spPr>
                <a:xfrm>
                  <a:off x="667" y="2613"/>
                  <a:ext cx="12888" cy="3228"/>
                </a:xfrm>
                <a:prstGeom prst="rect">
                  <a:avLst/>
                </a:prstGeom>
                <a:blipFill rotWithShape="1">
                  <a:blip r:embed="rId19"/>
                </a:blipFill>
                <a:ln>
                  <a:noFill/>
                </a:ln>
              </p:spPr>
              <p:txBody>
                <a:bodyPr/>
                <a:lstStyle/>
                <a:p>
                  <a:r>
                    <a:rPr lang="zh-CN" altLang="en-US">
                      <a:noFill/>
                    </a:rPr>
                    <a:t> </a:t>
                  </a:r>
                </a:p>
              </p:txBody>
            </p:sp>
          </mc:Fallback>
        </mc:AlternateContent>
      </p:grpSp>
    </p:spTree>
    <p:custDataLst>
      <p:tags r:id="rId2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7070" y="262890"/>
            <a:ext cx="7920355" cy="521970"/>
          </a:xfrm>
        </p:spPr>
        <p:txBody>
          <a:bodyPr>
            <a:normAutofit fontScale="90000"/>
          </a:bodyPr>
          <a:lstStyle/>
          <a:p>
            <a:r>
              <a:rPr dirty="0"/>
              <a:t>核心技术</a:t>
            </a:r>
            <a:r>
              <a:rPr lang="en-US" altLang="zh-CN" dirty="0"/>
              <a:t>-</a:t>
            </a:r>
            <a:r>
              <a:rPr sz="2200">
                <a:sym typeface="+mn-ea"/>
              </a:rPr>
              <a:t>分布式优化器低比特量化方法</a:t>
            </a:r>
            <a:endParaRPr sz="2200">
              <a:sym typeface="+mn-ea"/>
            </a:endParaRPr>
          </a:p>
        </p:txBody>
      </p:sp>
      <p:graphicFrame>
        <p:nvGraphicFramePr>
          <p:cNvPr id="8" name="对象 7">
            <a:hlinkClick r:id="" action="ppaction://ole?verb="/>
          </p:cNvPr>
          <p:cNvGraphicFramePr>
            <a:graphicFrameLocks noChangeAspect="1"/>
          </p:cNvGraphicFramePr>
          <p:nvPr/>
        </p:nvGraphicFramePr>
        <p:xfrm>
          <a:off x="4753610" y="3131185"/>
          <a:ext cx="114300" cy="215900"/>
        </p:xfrm>
        <a:graphic>
          <a:graphicData uri="http://schemas.openxmlformats.org/presentationml/2006/ole">
            <mc:AlternateContent xmlns:mc="http://schemas.openxmlformats.org/markup-compatibility/2006">
              <mc:Choice xmlns:v="urn:schemas-microsoft-com:vml" Requires="v">
                <p:oleObj spid="_x0000_s1025" name="" r:id="rId1" imgW="114300" imgH="215900" progId="Equation.KSEE3">
                  <p:embed/>
                </p:oleObj>
              </mc:Choice>
              <mc:Fallback>
                <p:oleObj name="" r:id="rId1" imgW="114300" imgH="215900" progId="Equation.KSEE3">
                  <p:embed/>
                  <p:pic>
                    <p:nvPicPr>
                      <p:cNvPr id="0" name="图片 1024"/>
                      <p:cNvPicPr/>
                      <p:nvPr/>
                    </p:nvPicPr>
                    <p:blipFill>
                      <a:blip r:embed="rId2"/>
                      <a:stretch>
                        <a:fillRect/>
                      </a:stretch>
                    </p:blipFill>
                    <p:spPr>
                      <a:xfrm>
                        <a:off x="4753610" y="3131185"/>
                        <a:ext cx="114300" cy="215900"/>
                      </a:xfrm>
                      <a:prstGeom prst="rect">
                        <a:avLst/>
                      </a:prstGeom>
                    </p:spPr>
                  </p:pic>
                </p:oleObj>
              </mc:Fallback>
            </mc:AlternateContent>
          </a:graphicData>
        </a:graphic>
      </p:graphicFrame>
      <p:sp>
        <p:nvSpPr>
          <p:cNvPr id="17" name="同侧圆角矩形 16"/>
          <p:cNvSpPr/>
          <p:nvPr>
            <p:custDataLst>
              <p:tags r:id="rId3"/>
            </p:custDataLst>
          </p:nvPr>
        </p:nvSpPr>
        <p:spPr>
          <a:xfrm>
            <a:off x="326390" y="1183005"/>
            <a:ext cx="8395970" cy="476250"/>
          </a:xfrm>
          <a:prstGeom prst="round2SameRect">
            <a:avLst>
              <a:gd name="adj1" fmla="val 28266"/>
              <a:gd name="adj2" fmla="val 0"/>
            </a:avLst>
          </a:prstGeom>
          <a:solidFill>
            <a:schemeClr val="accent4">
              <a:lumMod val="20000"/>
              <a:lumOff val="80000"/>
            </a:schemeClr>
          </a:solidFill>
          <a:ln w="19050">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同侧圆角矩形 17"/>
          <p:cNvSpPr/>
          <p:nvPr>
            <p:custDataLst>
              <p:tags r:id="rId4"/>
            </p:custDataLst>
          </p:nvPr>
        </p:nvSpPr>
        <p:spPr>
          <a:xfrm rot="10800000">
            <a:off x="326390" y="1659255"/>
            <a:ext cx="8395335" cy="4676140"/>
          </a:xfrm>
          <a:prstGeom prst="round2SameRect">
            <a:avLst>
              <a:gd name="adj1" fmla="val 3096"/>
              <a:gd name="adj2" fmla="val 0"/>
            </a:avLst>
          </a:prstGeom>
          <a:noFill/>
          <a:ln w="19050">
            <a:solidFill>
              <a:schemeClr val="accent4">
                <a:lumMod val="75000"/>
              </a:schemeClr>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9" name="Овал 64"/>
          <p:cNvSpPr/>
          <p:nvPr>
            <p:custDataLst>
              <p:tags r:id="rId5"/>
            </p:custDataLst>
          </p:nvPr>
        </p:nvSpPr>
        <p:spPr>
          <a:xfrm>
            <a:off x="424180" y="1291590"/>
            <a:ext cx="283210" cy="276225"/>
          </a:xfrm>
          <a:prstGeom prst="ellipse">
            <a:avLst/>
          </a:prstGeom>
          <a:solidFill>
            <a:schemeClr val="accent4">
              <a:lumMod val="75000"/>
            </a:schemeClr>
          </a:solidFill>
          <a:ln w="25400" cap="flat" cmpd="sng" algn="ctr">
            <a:solidFill>
              <a:schemeClr val="accent4">
                <a:lumMod val="75000"/>
              </a:schemeClr>
            </a:solid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3</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sp>
        <p:nvSpPr>
          <p:cNvPr id="20" name="文本框 2"/>
          <p:cNvSpPr txBox="1"/>
          <p:nvPr>
            <p:custDataLst>
              <p:tags r:id="rId6"/>
            </p:custDataLst>
          </p:nvPr>
        </p:nvSpPr>
        <p:spPr>
          <a:xfrm>
            <a:off x="707390" y="1240155"/>
            <a:ext cx="7900670" cy="368300"/>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dirty="0">
                <a:solidFill>
                  <a:schemeClr val="accent4">
                    <a:lumMod val="75000"/>
                  </a:schemeClr>
                </a:solidFill>
                <a:latin typeface="Times New Roman" panose="02020603050405020304" pitchFamily="18" charset="0"/>
                <a:ea typeface="Microsoft YaHei" panose="020B0503020204020204" charset="-122"/>
                <a:cs typeface="Times New Roman" panose="02020603050405020304" pitchFamily="18" charset="0"/>
              </a:rPr>
              <a:t>低比特</a:t>
            </a:r>
            <a:r>
              <a:rPr lang="en-US" altLang="zh-CN" sz="1800" dirty="0">
                <a:solidFill>
                  <a:schemeClr val="accent4">
                    <a:lumMod val="75000"/>
                  </a:schemeClr>
                </a:solidFill>
                <a:latin typeface="Times New Roman" panose="02020603050405020304" pitchFamily="18" charset="0"/>
                <a:ea typeface="Microsoft YaHei" panose="020B0503020204020204" charset="-122"/>
                <a:cs typeface="Times New Roman" panose="02020603050405020304" pitchFamily="18" charset="0"/>
              </a:rPr>
              <a:t> All-Reduce </a:t>
            </a:r>
            <a:r>
              <a:rPr lang="zh-CN" altLang="en-US" sz="1800" dirty="0">
                <a:solidFill>
                  <a:schemeClr val="accent4">
                    <a:lumMod val="75000"/>
                  </a:schemeClr>
                </a:solidFill>
                <a:latin typeface="Times New Roman" panose="02020603050405020304" pitchFamily="18" charset="0"/>
                <a:ea typeface="Microsoft YaHei" panose="020B0503020204020204" charset="-122"/>
                <a:cs typeface="Times New Roman" panose="02020603050405020304" pitchFamily="18" charset="0"/>
              </a:rPr>
              <a:t>实现</a:t>
            </a:r>
            <a:r>
              <a:rPr lang="en-US" altLang="zh-CN" sz="1800" dirty="0">
                <a:solidFill>
                  <a:schemeClr val="accent4">
                    <a:lumMod val="75000"/>
                  </a:schemeClr>
                </a:solidFill>
                <a:latin typeface="Times New Roman" panose="02020603050405020304" pitchFamily="18" charset="0"/>
                <a:ea typeface="Microsoft YaHei" panose="020B0503020204020204" charset="-122"/>
                <a:cs typeface="Times New Roman" panose="02020603050405020304" pitchFamily="18" charset="0"/>
              </a:rPr>
              <a:t>  </a:t>
            </a:r>
            <a:r>
              <a:rPr lang="zh-CN" altLang="en-US" sz="1200"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作用：降低动态范围</a:t>
            </a:r>
            <a:endParaRPr lang="zh-CN" altLang="en-US" sz="1200"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3" name="文本框 2"/>
          <p:cNvSpPr txBox="1"/>
          <p:nvPr/>
        </p:nvSpPr>
        <p:spPr>
          <a:xfrm>
            <a:off x="1079500" y="1884045"/>
            <a:ext cx="2786380" cy="262890"/>
          </a:xfrm>
          <a:prstGeom prst="rect">
            <a:avLst/>
          </a:prstGeom>
          <a:ln>
            <a:noFill/>
          </a:ln>
        </p:spPr>
        <p:txBody>
          <a:bodyPr lIns="0" tIns="0" rIns="0" bIns="0" numCol="1" spcCol="36000"/>
          <a:p>
            <a:pPr marL="69850" indent="0" algn="l" fontAlgn="auto">
              <a:lnSpc>
                <a:spcPct val="130000"/>
              </a:lnSpc>
              <a:spcBef>
                <a:spcPts val="0"/>
              </a:spcBef>
              <a:spcAft>
                <a:spcPts val="600"/>
              </a:spcAft>
              <a:buClr>
                <a:schemeClr val="tx2"/>
              </a:buClr>
            </a:pPr>
            <a:r>
              <a:rPr lang="zh-CN" altLang="en-US"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原始</a:t>
            </a:r>
            <a:r>
              <a:rPr lang="en-US" altLang="zh-CN"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All-Reduce (FP32/BF16) </a:t>
            </a:r>
            <a:endParaRPr lang="en-US" altLang="zh-CN"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5" name="圆角矩形 4"/>
          <p:cNvSpPr/>
          <p:nvPr/>
        </p:nvSpPr>
        <p:spPr>
          <a:xfrm>
            <a:off x="618490" y="1884680"/>
            <a:ext cx="461010" cy="262255"/>
          </a:xfrm>
          <a:prstGeom prst="roundRect">
            <a:avLst/>
          </a:prstGeom>
          <a:noFill/>
          <a:ln w="15875">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solidFill>
                  <a:schemeClr val="accent4">
                    <a:lumMod val="75000"/>
                  </a:schemeClr>
                </a:solidFill>
                <a:latin typeface="Times New Roman" panose="02020603050405020304" pitchFamily="18" charset="0"/>
                <a:cs typeface="Times New Roman" panose="02020603050405020304" pitchFamily="18" charset="0"/>
              </a:rPr>
              <a:t>3.1</a:t>
            </a:r>
            <a:endParaRPr lang="en-US" altLang="zh-CN" sz="1400" b="1">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6" name="文本框 5"/>
          <p:cNvSpPr txBox="1"/>
          <p:nvPr/>
        </p:nvSpPr>
        <p:spPr>
          <a:xfrm>
            <a:off x="618490" y="2242185"/>
            <a:ext cx="2720340" cy="1469390"/>
          </a:xfrm>
          <a:prstGeom prst="rect">
            <a:avLst/>
          </a:prstGeom>
          <a:ln w="12700" cap="rnd">
            <a:solidFill>
              <a:schemeClr val="accent4">
                <a:lumMod val="75000"/>
              </a:schemeClr>
            </a:solidFill>
          </a:ln>
        </p:spPr>
        <p:txBody>
          <a:bodyPr wrap="square" lIns="90170" numCol="1" spcCol="36000"/>
          <a:p>
            <a:pPr marL="69850" indent="0" algn="l" fontAlgn="auto">
              <a:lnSpc>
                <a:spcPct val="130000"/>
              </a:lnSpc>
              <a:spcBef>
                <a:spcPts val="0"/>
              </a:spcBef>
              <a:spcAft>
                <a:spcPts val="600"/>
              </a:spcAft>
              <a:buClr>
                <a:schemeClr val="tx2"/>
              </a:buClr>
              <a:buNone/>
            </a:pPr>
            <a:r>
              <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两阶段集合通信：</a:t>
            </a:r>
            <a:endPar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l" fontAlgn="auto">
              <a:lnSpc>
                <a:spcPct val="130000"/>
              </a:lnSpc>
              <a:spcBef>
                <a:spcPts val="0"/>
              </a:spcBef>
              <a:spcAft>
                <a:spcPts val="600"/>
              </a:spcAft>
              <a:buClr>
                <a:schemeClr val="tx2"/>
              </a:buClr>
            </a:pPr>
            <a:r>
              <a:rPr lang="en-US" altLang="zh-CN"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Reduce-Scatter + All-Gather</a:t>
            </a:r>
            <a:endParaRPr lang="en-US" altLang="zh-CN"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l" fontAlgn="auto">
              <a:lnSpc>
                <a:spcPct val="130000"/>
              </a:lnSpc>
              <a:spcBef>
                <a:spcPts val="0"/>
              </a:spcBef>
              <a:spcAft>
                <a:spcPts val="600"/>
              </a:spcAft>
              <a:buClr>
                <a:schemeClr val="tx2"/>
              </a:buClr>
              <a:buNone/>
            </a:pPr>
            <a:r>
              <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每卡发送</a:t>
            </a:r>
            <a:r>
              <a:rPr lang="en-US" altLang="zh-CN"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a:t>
            </a:r>
            <a:r>
              <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接收</a:t>
            </a:r>
            <a:r>
              <a:rPr lang="en-US" altLang="zh-CN"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FP32 </a:t>
            </a:r>
            <a:r>
              <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张量直接参与求和</a:t>
            </a:r>
            <a:endPar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7" name="文本框 6"/>
          <p:cNvSpPr txBox="1"/>
          <p:nvPr/>
        </p:nvSpPr>
        <p:spPr>
          <a:xfrm>
            <a:off x="1079500" y="3982720"/>
            <a:ext cx="2786380" cy="262890"/>
          </a:xfrm>
          <a:prstGeom prst="rect">
            <a:avLst/>
          </a:prstGeom>
          <a:ln>
            <a:noFill/>
          </a:ln>
        </p:spPr>
        <p:txBody>
          <a:bodyPr lIns="0" tIns="0" rIns="0" bIns="0" numCol="1" spcCol="36000"/>
          <a:p>
            <a:pPr marL="69850" indent="0" algn="l" fontAlgn="auto">
              <a:lnSpc>
                <a:spcPct val="130000"/>
              </a:lnSpc>
              <a:spcBef>
                <a:spcPts val="0"/>
              </a:spcBef>
              <a:spcAft>
                <a:spcPts val="600"/>
              </a:spcAft>
              <a:buClr>
                <a:schemeClr val="tx2"/>
              </a:buClr>
            </a:pPr>
            <a:r>
              <a:rPr lang="zh-CN" altLang="en-US"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低比特</a:t>
            </a:r>
            <a:r>
              <a:rPr lang="en-US" altLang="zh-CN"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All-Reduce </a:t>
            </a:r>
            <a:r>
              <a:rPr lang="zh-CN" altLang="en-US"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问题</a:t>
            </a:r>
            <a:r>
              <a:rPr lang="en-US" altLang="zh-CN"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endParaRPr lang="en-US" altLang="zh-CN"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9" name="圆角矩形 8"/>
          <p:cNvSpPr/>
          <p:nvPr/>
        </p:nvSpPr>
        <p:spPr>
          <a:xfrm>
            <a:off x="618490" y="3983355"/>
            <a:ext cx="461010" cy="262255"/>
          </a:xfrm>
          <a:prstGeom prst="roundRect">
            <a:avLst/>
          </a:prstGeom>
          <a:noFill/>
          <a:ln w="15875">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solidFill>
                  <a:schemeClr val="accent4">
                    <a:lumMod val="75000"/>
                  </a:schemeClr>
                </a:solidFill>
                <a:latin typeface="Times New Roman" panose="02020603050405020304" pitchFamily="18" charset="0"/>
                <a:cs typeface="Times New Roman" panose="02020603050405020304" pitchFamily="18" charset="0"/>
              </a:rPr>
              <a:t>3.2</a:t>
            </a:r>
            <a:endParaRPr lang="en-US" altLang="zh-CN" sz="1400" b="1">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10" name="文本框 9"/>
          <p:cNvSpPr txBox="1"/>
          <p:nvPr/>
        </p:nvSpPr>
        <p:spPr>
          <a:xfrm>
            <a:off x="618490" y="4340860"/>
            <a:ext cx="2720340" cy="1715135"/>
          </a:xfrm>
          <a:prstGeom prst="rect">
            <a:avLst/>
          </a:prstGeom>
        </p:spPr>
        <p:style>
          <a:lnRef idx="2">
            <a:schemeClr val="accent4"/>
          </a:lnRef>
          <a:fillRef idx="0">
            <a:srgbClr val="FFFFFF"/>
          </a:fillRef>
          <a:effectRef idx="0">
            <a:srgbClr val="FFFFFF"/>
          </a:effectRef>
          <a:fontRef idx="minor">
            <a:schemeClr val="tx1"/>
          </a:fontRef>
        </p:style>
        <p:txBody>
          <a:bodyPr wrap="square" numCol="1" spcCol="36000"/>
          <a:p>
            <a:pPr marL="69850" indent="0" algn="l" fontAlgn="auto">
              <a:lnSpc>
                <a:spcPct val="130000"/>
              </a:lnSpc>
              <a:spcBef>
                <a:spcPts val="0"/>
              </a:spcBef>
              <a:spcAft>
                <a:spcPts val="600"/>
              </a:spcAft>
              <a:buClr>
                <a:schemeClr val="tx2"/>
              </a:buClr>
            </a:pPr>
            <a:r>
              <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不同块放缩程度不同</a:t>
            </a:r>
            <a:endPar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l" fontAlgn="auto">
              <a:lnSpc>
                <a:spcPct val="130000"/>
              </a:lnSpc>
              <a:spcBef>
                <a:spcPts val="0"/>
              </a:spcBef>
              <a:spcAft>
                <a:spcPts val="600"/>
              </a:spcAft>
              <a:buClr>
                <a:schemeClr val="tx2"/>
              </a:buClr>
            </a:pPr>
            <a:r>
              <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低比特量化值无法直接相加</a:t>
            </a:r>
            <a:endPar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l" fontAlgn="auto">
              <a:lnSpc>
                <a:spcPct val="130000"/>
              </a:lnSpc>
              <a:spcBef>
                <a:spcPts val="0"/>
              </a:spcBef>
              <a:spcAft>
                <a:spcPts val="600"/>
              </a:spcAft>
              <a:buClr>
                <a:schemeClr val="tx2"/>
              </a:buClr>
            </a:pPr>
            <a:r>
              <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需要携带元数据</a:t>
            </a:r>
            <a:r>
              <a:rPr lang="en-US" altLang="zh-CN"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(scale)</a:t>
            </a:r>
            <a:endPar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l" fontAlgn="auto">
              <a:lnSpc>
                <a:spcPct val="130000"/>
              </a:lnSpc>
              <a:spcBef>
                <a:spcPts val="0"/>
              </a:spcBef>
              <a:spcAft>
                <a:spcPts val="600"/>
              </a:spcAft>
              <a:buClr>
                <a:schemeClr val="tx2"/>
              </a:buClr>
            </a:pPr>
            <a:r>
              <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反量化产生计算开销</a:t>
            </a:r>
            <a:endParaRPr lang="zh-CN" altLang="en-US" sz="1400" b="0" noProof="0" dirty="0">
              <a:ln w="12700" cmpd="sng">
                <a:noFill/>
                <a:prstDash val="solid"/>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12" name="文本框 11"/>
          <p:cNvSpPr txBox="1"/>
          <p:nvPr/>
        </p:nvSpPr>
        <p:spPr>
          <a:xfrm>
            <a:off x="4312285" y="1884045"/>
            <a:ext cx="4194175" cy="262890"/>
          </a:xfrm>
          <a:prstGeom prst="rect">
            <a:avLst/>
          </a:prstGeom>
          <a:ln>
            <a:noFill/>
          </a:ln>
        </p:spPr>
        <p:txBody>
          <a:bodyPr lIns="0" tIns="0" rIns="0" bIns="0" numCol="1" spcCol="36000"/>
          <a:p>
            <a:pPr marL="69850" indent="0" algn="l" fontAlgn="auto">
              <a:lnSpc>
                <a:spcPct val="130000"/>
              </a:lnSpc>
              <a:spcBef>
                <a:spcPts val="0"/>
              </a:spcBef>
              <a:spcAft>
                <a:spcPts val="600"/>
              </a:spcAft>
              <a:buClr>
                <a:schemeClr val="tx2"/>
              </a:buClr>
            </a:pPr>
            <a:r>
              <a:rPr lang="en-US" altLang="zh-CN"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All-to-All + </a:t>
            </a:r>
            <a:r>
              <a:rPr lang="zh-CN" altLang="en-US"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本地反量化求和</a:t>
            </a:r>
            <a:r>
              <a:rPr lang="en-US" altLang="zh-CN"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 </a:t>
            </a:r>
            <a:r>
              <a:rPr lang="en-US" altLang="zh-CN"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All-Gather </a:t>
            </a:r>
            <a:endParaRPr lang="en-US" altLang="zh-CN" sz="1400" b="1" noProof="0" dirty="0">
              <a:ln>
                <a:noFill/>
              </a:ln>
              <a:solidFill>
                <a:schemeClr val="accent4">
                  <a:lumMod val="75000"/>
                </a:schemeClr>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13" name="圆角矩形 12"/>
          <p:cNvSpPr/>
          <p:nvPr/>
        </p:nvSpPr>
        <p:spPr>
          <a:xfrm>
            <a:off x="3851275" y="1884680"/>
            <a:ext cx="461010" cy="262255"/>
          </a:xfrm>
          <a:prstGeom prst="roundRect">
            <a:avLst/>
          </a:prstGeom>
          <a:noFill/>
          <a:ln w="15875">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solidFill>
                  <a:schemeClr val="accent4">
                    <a:lumMod val="75000"/>
                  </a:schemeClr>
                </a:solidFill>
                <a:latin typeface="Times New Roman" panose="02020603050405020304" pitchFamily="18" charset="0"/>
                <a:cs typeface="Times New Roman" panose="02020603050405020304" pitchFamily="18" charset="0"/>
              </a:rPr>
              <a:t>3.3</a:t>
            </a:r>
            <a:endParaRPr lang="en-US" altLang="zh-CN" sz="1400" b="1">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15" name="同侧圆角矩形 14"/>
          <p:cNvSpPr/>
          <p:nvPr>
            <p:custDataLst>
              <p:tags r:id="rId7"/>
            </p:custDataLst>
          </p:nvPr>
        </p:nvSpPr>
        <p:spPr>
          <a:xfrm>
            <a:off x="3851275" y="2252345"/>
            <a:ext cx="2243455" cy="285750"/>
          </a:xfrm>
          <a:prstGeom prst="round2SameRect">
            <a:avLst>
              <a:gd name="adj1" fmla="val 28266"/>
              <a:gd name="adj2" fmla="val 0"/>
            </a:avLst>
          </a:prstGeom>
          <a:solidFill>
            <a:schemeClr val="accent4">
              <a:lumMod val="20000"/>
              <a:lumOff val="80000"/>
            </a:schemeClr>
          </a:solidFill>
          <a:ln w="15875">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1400" b="1">
                <a:solidFill>
                  <a:schemeClr val="accent4">
                    <a:lumMod val="75000"/>
                  </a:schemeClr>
                </a:solidFill>
              </a:rPr>
              <a:t>①</a:t>
            </a:r>
            <a:r>
              <a:rPr lang="en-US" altLang="zh-CN" sz="1400" b="1">
                <a:solidFill>
                  <a:schemeClr val="accent4">
                    <a:lumMod val="75000"/>
                  </a:schemeClr>
                </a:solidFill>
              </a:rPr>
              <a:t> </a:t>
            </a:r>
            <a:r>
              <a:rPr lang="zh-CN" altLang="en-US" sz="1400" b="1">
                <a:solidFill>
                  <a:schemeClr val="accent4">
                    <a:lumMod val="75000"/>
                  </a:schemeClr>
                </a:solidFill>
              </a:rPr>
              <a:t>发送侧</a:t>
            </a:r>
            <a:endParaRPr lang="zh-CN" altLang="en-US" sz="1400" b="1">
              <a:solidFill>
                <a:schemeClr val="accent4">
                  <a:lumMod val="75000"/>
                </a:schemeClr>
              </a:solidFill>
            </a:endParaRPr>
          </a:p>
        </p:txBody>
      </p:sp>
      <p:sp>
        <p:nvSpPr>
          <p:cNvPr id="16" name="同侧圆角矩形 15"/>
          <p:cNvSpPr/>
          <p:nvPr>
            <p:custDataLst>
              <p:tags r:id="rId8"/>
            </p:custDataLst>
          </p:nvPr>
        </p:nvSpPr>
        <p:spPr>
          <a:xfrm rot="10800000">
            <a:off x="3851275" y="2538095"/>
            <a:ext cx="2243455" cy="2320925"/>
          </a:xfrm>
          <a:prstGeom prst="round2SameRect">
            <a:avLst>
              <a:gd name="adj1" fmla="val 7339"/>
              <a:gd name="adj2" fmla="val 0"/>
            </a:avLst>
          </a:prstGeom>
          <a:noFill/>
          <a:ln w="15875">
            <a:solidFill>
              <a:schemeClr val="accent4">
                <a:lumMod val="75000"/>
              </a:schemeClr>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mc:AlternateContent xmlns:mc="http://schemas.openxmlformats.org/markup-compatibility/2006">
        <mc:Choice xmlns:a14="http://schemas.microsoft.com/office/drawing/2010/main" Requires="a14">
          <p:sp>
            <p:nvSpPr>
              <p:cNvPr id="24" name="文本框 23"/>
              <p:cNvSpPr txBox="1"/>
              <p:nvPr/>
            </p:nvSpPr>
            <p:spPr>
              <a:xfrm>
                <a:off x="3896360" y="2537460"/>
                <a:ext cx="2152650" cy="356235"/>
              </a:xfrm>
              <a:prstGeom prst="rect">
                <a:avLst/>
              </a:prstGeom>
              <a:ln>
                <a:noFill/>
              </a:ln>
            </p:spPr>
            <p:txBody>
              <a:bodyPr wrap="square" lIns="0" tIns="0" rIns="0" bIns="0" numCol="1" spcCol="36000"/>
              <a:p>
                <a:pPr marL="69850" indent="0" algn="just" fontAlgn="auto">
                  <a:lnSpc>
                    <a:spcPct val="130000"/>
                  </a:lnSpc>
                  <a:spcBef>
                    <a:spcPts val="0"/>
                  </a:spcBef>
                  <a:spcAft>
                    <a:spcPts val="600"/>
                  </a:spcAft>
                  <a:buClr>
                    <a:schemeClr val="tx2"/>
                  </a:buClr>
                </a:pP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输入：打包后的</a:t>
                </a:r>
                <a14:m>
                  <m:oMath xmlns:m="http://schemas.openxmlformats.org/officeDocument/2006/math">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2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oMath>
                </a14:m>
                <a:endPar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p:txBody>
          </p:sp>
        </mc:Choice>
        <mc:Fallback>
          <p:sp>
            <p:nvSpPr>
              <p:cNvPr id="24" name="文本框 23"/>
              <p:cNvSpPr txBox="1">
                <a:spLocks noRot="1" noChangeAspect="1" noMove="1" noResize="1" noEditPoints="1" noAdjustHandles="1" noChangeArrowheads="1" noChangeShapeType="1" noTextEdit="1"/>
              </p:cNvSpPr>
              <p:nvPr/>
            </p:nvSpPr>
            <p:spPr>
              <a:xfrm>
                <a:off x="3896360" y="2537460"/>
                <a:ext cx="2152650" cy="356235"/>
              </a:xfrm>
              <a:prstGeom prst="rect">
                <a:avLst/>
              </a:prstGeom>
              <a:blipFill rotWithShape="1">
                <a:blip r:embed="rId9"/>
                <a:stretch>
                  <a:fillRect/>
                </a:stretch>
              </a:blipFill>
              <a:ln>
                <a:noFill/>
              </a:ln>
            </p:spPr>
            <p:txBody>
              <a:bodyPr/>
              <a:lstStyle/>
              <a:p>
                <a:r>
                  <a:rPr lang="zh-CN" altLang="en-US">
                    <a:noFill/>
                  </a:rPr>
                  <a:t> </a:t>
                </a:r>
              </a:p>
            </p:txBody>
          </p:sp>
        </mc:Fallback>
      </mc:AlternateContent>
      <p:sp>
        <p:nvSpPr>
          <p:cNvPr id="25" name="矩形 24"/>
          <p:cNvSpPr/>
          <p:nvPr/>
        </p:nvSpPr>
        <p:spPr>
          <a:xfrm>
            <a:off x="4460875" y="3183890"/>
            <a:ext cx="270510" cy="301625"/>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矩形 25"/>
          <p:cNvSpPr/>
          <p:nvPr/>
        </p:nvSpPr>
        <p:spPr>
          <a:xfrm>
            <a:off x="4818380" y="3183890"/>
            <a:ext cx="270510" cy="301625"/>
          </a:xfrm>
          <a:prstGeom prst="rect">
            <a:avLst/>
          </a:prstGeom>
          <a:solidFill>
            <a:schemeClr val="accent2">
              <a:lumMod val="20000"/>
              <a:lumOff val="80000"/>
            </a:schemeClr>
          </a:solidFill>
          <a:ln>
            <a:solidFill>
              <a:schemeClr val="accent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矩形 33"/>
          <p:cNvSpPr/>
          <p:nvPr/>
        </p:nvSpPr>
        <p:spPr>
          <a:xfrm>
            <a:off x="5175885" y="3183890"/>
            <a:ext cx="270510" cy="301625"/>
          </a:xfrm>
          <a:prstGeom prst="rect">
            <a:avLst/>
          </a:prstGeom>
          <a:solidFill>
            <a:schemeClr val="accent4">
              <a:lumMod val="20000"/>
              <a:lumOff val="80000"/>
            </a:schemeClr>
          </a:solidFill>
          <a:ln>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矩形 34"/>
          <p:cNvSpPr/>
          <p:nvPr/>
        </p:nvSpPr>
        <p:spPr>
          <a:xfrm>
            <a:off x="5533390" y="3177540"/>
            <a:ext cx="453390" cy="301625"/>
          </a:xfrm>
          <a:prstGeom prst="rect">
            <a:avLst/>
          </a:prstGeom>
          <a:solidFill>
            <a:schemeClr val="accent6">
              <a:lumMod val="20000"/>
              <a:lumOff val="8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矩形 35"/>
          <p:cNvSpPr/>
          <p:nvPr/>
        </p:nvSpPr>
        <p:spPr>
          <a:xfrm>
            <a:off x="4460875" y="3612515"/>
            <a:ext cx="270510" cy="301625"/>
          </a:xfrm>
          <a:prstGeom prst="rect">
            <a:avLst/>
          </a:prstGeom>
          <a:solidFill>
            <a:schemeClr val="bg1"/>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7" name="文本框 36"/>
              <p:cNvSpPr txBox="1"/>
              <p:nvPr/>
            </p:nvSpPr>
            <p:spPr>
              <a:xfrm>
                <a:off x="4418330" y="3557905"/>
                <a:ext cx="335280" cy="356235"/>
              </a:xfrm>
              <a:prstGeom prst="rect">
                <a:avLst/>
              </a:prstGeom>
              <a:ln>
                <a:noFill/>
              </a:ln>
            </p:spPr>
            <p:txBody>
              <a:bodyPr wrap="square" lIns="0" tIns="0" rIns="0" bIns="0" numCol="1" spcCol="36000"/>
              <a:p>
                <a:pPr marL="69850" indent="0" algn="just" fontAlgn="auto">
                  <a:lnSpc>
                    <a:spcPct val="130000"/>
                  </a:lnSpc>
                  <a:spcBef>
                    <a:spcPts val="0"/>
                  </a:spcBef>
                  <a:spcAft>
                    <a:spcPts val="600"/>
                  </a:spcAft>
                  <a:buClr>
                    <a:schemeClr val="tx2"/>
                  </a:buClr>
                </a:pPr>
                <a14:m>
                  <m:oMathPara xmlns:m="http://schemas.openxmlformats.org/officeDocument/2006/math">
                    <m:oMathParaPr>
                      <m:jc m:val="left"/>
                    </m:oMathParaPr>
                    <m:oMath xmlns:m="http://schemas.openxmlformats.org/officeDocument/2006/math">
                      <m:sSubSup>
                        <m:sSubSupPr>
                          <m:ctrlP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0</m:t>
                          </m:r>
                        </m:sub>
                        <m:sup>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m:oMathPara>
                </a14:m>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Choice>
        <mc:Fallback>
          <p:sp>
            <p:nvSpPr>
              <p:cNvPr id="37" name="文本框 36"/>
              <p:cNvSpPr txBox="1">
                <a:spLocks noRot="1" noChangeAspect="1" noMove="1" noResize="1" noEditPoints="1" noAdjustHandles="1" noChangeArrowheads="1" noChangeShapeType="1" noTextEdit="1"/>
              </p:cNvSpPr>
              <p:nvPr/>
            </p:nvSpPr>
            <p:spPr>
              <a:xfrm>
                <a:off x="4418330" y="3557905"/>
                <a:ext cx="335280" cy="356235"/>
              </a:xfrm>
              <a:prstGeom prst="rect">
                <a:avLst/>
              </a:prstGeom>
              <a:blipFill rotWithShape="1">
                <a:blip r:embed="rId10"/>
                <a:stretch>
                  <a:fillRect/>
                </a:stretch>
              </a:blipFill>
              <a:ln>
                <a:noFill/>
              </a:ln>
            </p:spPr>
            <p:txBody>
              <a:bodyPr/>
              <a:lstStyle/>
              <a:p>
                <a:r>
                  <a:rPr lang="zh-CN" altLang="en-US">
                    <a:noFill/>
                  </a:rPr>
                  <a:t> </a:t>
                </a:r>
              </a:p>
            </p:txBody>
          </p:sp>
        </mc:Fallback>
      </mc:AlternateContent>
      <p:sp>
        <p:nvSpPr>
          <p:cNvPr id="38" name="矩形 37"/>
          <p:cNvSpPr/>
          <p:nvPr/>
        </p:nvSpPr>
        <p:spPr>
          <a:xfrm>
            <a:off x="4818380" y="3620135"/>
            <a:ext cx="270510" cy="301625"/>
          </a:xfrm>
          <a:prstGeom prst="rect">
            <a:avLst/>
          </a:prstGeom>
          <a:solidFill>
            <a:schemeClr val="bg1"/>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9" name="文本框 38"/>
              <p:cNvSpPr txBox="1"/>
              <p:nvPr/>
            </p:nvSpPr>
            <p:spPr>
              <a:xfrm>
                <a:off x="4775835" y="3565525"/>
                <a:ext cx="335280" cy="356235"/>
              </a:xfrm>
              <a:prstGeom prst="rect">
                <a:avLst/>
              </a:prstGeom>
              <a:ln>
                <a:noFill/>
              </a:ln>
            </p:spPr>
            <p:txBody>
              <a:bodyPr wrap="square" lIns="0" tIns="0" rIns="0" bIns="0" numCol="1" spcCol="36000"/>
              <a:p>
                <a:pPr marL="69850" indent="0" algn="just" fontAlgn="auto">
                  <a:lnSpc>
                    <a:spcPct val="130000"/>
                  </a:lnSpc>
                  <a:spcBef>
                    <a:spcPts val="0"/>
                  </a:spcBef>
                  <a:spcAft>
                    <a:spcPts val="600"/>
                  </a:spcAft>
                  <a:buClr>
                    <a:schemeClr val="tx2"/>
                  </a:buClr>
                </a:pPr>
                <a14:m>
                  <m:oMathPara xmlns:m="http://schemas.openxmlformats.org/officeDocument/2006/math">
                    <m:oMathParaPr>
                      <m:jc m:val="left"/>
                    </m:oMathParaPr>
                    <m:oMath xmlns:m="http://schemas.openxmlformats.org/officeDocument/2006/math">
                      <m:sSubSup>
                        <m:sSubSupPr>
                          <m:ctrlP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sub>
                        <m:sup>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m:oMathPara>
                </a14:m>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Choice>
        <mc:Fallback>
          <p:sp>
            <p:nvSpPr>
              <p:cNvPr id="39" name="文本框 38"/>
              <p:cNvSpPr txBox="1">
                <a:spLocks noRot="1" noChangeAspect="1" noMove="1" noResize="1" noEditPoints="1" noAdjustHandles="1" noChangeArrowheads="1" noChangeShapeType="1" noTextEdit="1"/>
              </p:cNvSpPr>
              <p:nvPr/>
            </p:nvSpPr>
            <p:spPr>
              <a:xfrm>
                <a:off x="4775835" y="3565525"/>
                <a:ext cx="335280" cy="356235"/>
              </a:xfrm>
              <a:prstGeom prst="rect">
                <a:avLst/>
              </a:prstGeom>
              <a:blipFill rotWithShape="1">
                <a:blip r:embed="rId11"/>
                <a:stretch>
                  <a:fillRect/>
                </a:stretch>
              </a:blipFill>
              <a:ln>
                <a:noFill/>
              </a:ln>
            </p:spPr>
            <p:txBody>
              <a:bodyPr/>
              <a:lstStyle/>
              <a:p>
                <a:r>
                  <a:rPr lang="zh-CN" altLang="en-US">
                    <a:noFill/>
                  </a:rPr>
                  <a:t> </a:t>
                </a:r>
              </a:p>
            </p:txBody>
          </p:sp>
        </mc:Fallback>
      </mc:AlternateContent>
      <p:sp>
        <p:nvSpPr>
          <p:cNvPr id="40" name="矩形 39"/>
          <p:cNvSpPr/>
          <p:nvPr/>
        </p:nvSpPr>
        <p:spPr>
          <a:xfrm>
            <a:off x="5175885" y="3620135"/>
            <a:ext cx="270510" cy="301625"/>
          </a:xfrm>
          <a:prstGeom prst="rect">
            <a:avLst/>
          </a:prstGeom>
          <a:solidFill>
            <a:schemeClr val="bg1"/>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文本框 40"/>
          <p:cNvSpPr txBox="1"/>
          <p:nvPr/>
        </p:nvSpPr>
        <p:spPr>
          <a:xfrm>
            <a:off x="5133340" y="3565525"/>
            <a:ext cx="335280" cy="356235"/>
          </a:xfrm>
          <a:prstGeom prst="rect">
            <a:avLst/>
          </a:prstGeom>
          <a:ln>
            <a:noFill/>
          </a:ln>
        </p:spPr>
        <p:txBody>
          <a:bodyPr wrap="square" lIns="0" tIns="0" rIns="0" bIns="0" numCol="1" spcCol="36000"/>
          <a:p>
            <a:pPr marL="69850" indent="0" algn="just" fontAlgn="auto">
              <a:lnSpc>
                <a:spcPct val="130000"/>
              </a:lnSpc>
              <a:spcBef>
                <a:spcPts val="0"/>
              </a:spcBef>
              <a:spcAft>
                <a:spcPts val="600"/>
              </a:spcAft>
              <a:buClr>
                <a:schemeClr val="tx2"/>
              </a:buClr>
            </a:pPr>
            <a:r>
              <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42" name="矩形 41"/>
          <p:cNvSpPr/>
          <p:nvPr/>
        </p:nvSpPr>
        <p:spPr>
          <a:xfrm>
            <a:off x="5533390" y="3620135"/>
            <a:ext cx="452755" cy="301625"/>
          </a:xfrm>
          <a:prstGeom prst="rect">
            <a:avLst/>
          </a:prstGeom>
          <a:solidFill>
            <a:schemeClr val="bg1"/>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43" name="文本框 42"/>
              <p:cNvSpPr txBox="1"/>
              <p:nvPr/>
            </p:nvSpPr>
            <p:spPr>
              <a:xfrm>
                <a:off x="5488940" y="3540125"/>
                <a:ext cx="501650" cy="356235"/>
              </a:xfrm>
              <a:prstGeom prst="rect">
                <a:avLst/>
              </a:prstGeom>
              <a:ln>
                <a:noFill/>
              </a:ln>
            </p:spPr>
            <p:txBody>
              <a:bodyPr wrap="square" lIns="0" tIns="0" rIns="0" bIns="0" numCol="1" spcCol="36000"/>
              <a:p>
                <a:pPr marL="69850" indent="0" algn="just" fontAlgn="auto">
                  <a:lnSpc>
                    <a:spcPct val="130000"/>
                  </a:lnSpc>
                  <a:spcBef>
                    <a:spcPts val="0"/>
                  </a:spcBef>
                  <a:spcAft>
                    <a:spcPts val="600"/>
                  </a:spcAft>
                  <a:buClr>
                    <a:schemeClr val="tx2"/>
                  </a:buClr>
                </a:pPr>
                <a14:m>
                  <m:oMathPara xmlns:m="http://schemas.openxmlformats.org/officeDocument/2006/math">
                    <m:oMathParaPr>
                      <m:jc m:val="left"/>
                    </m:oMathParaPr>
                    <m:oMath xmlns:m="http://schemas.openxmlformats.org/officeDocument/2006/math">
                      <m:sSubSup>
                        <m:sSubSupPr>
                          <m:ctrlP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𝐾</m:t>
                          </m:r>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sub>
                        <m:sup>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m:oMathPara>
                </a14:m>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Choice>
        <mc:Fallback>
          <p:sp>
            <p:nvSpPr>
              <p:cNvPr id="43" name="文本框 42"/>
              <p:cNvSpPr txBox="1">
                <a:spLocks noRot="1" noChangeAspect="1" noMove="1" noResize="1" noEditPoints="1" noAdjustHandles="1" noChangeArrowheads="1" noChangeShapeType="1" noTextEdit="1"/>
              </p:cNvSpPr>
              <p:nvPr/>
            </p:nvSpPr>
            <p:spPr>
              <a:xfrm>
                <a:off x="5488940" y="3540125"/>
                <a:ext cx="501650" cy="356235"/>
              </a:xfrm>
              <a:prstGeom prst="rect">
                <a:avLst/>
              </a:prstGeom>
              <a:blipFill rotWithShape="1">
                <a:blip r:embed="rId12"/>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文本框 43"/>
              <p:cNvSpPr txBox="1"/>
              <p:nvPr/>
            </p:nvSpPr>
            <p:spPr>
              <a:xfrm>
                <a:off x="4460875" y="2875915"/>
                <a:ext cx="269875" cy="254635"/>
              </a:xfrm>
              <a:prstGeom prst="rect">
                <a:avLst/>
              </a:prstGeom>
              <a:ln>
                <a:noFill/>
              </a:ln>
            </p:spPr>
            <p:txBody>
              <a:bodyPr wrap="square" lIns="0" tIns="0" rIns="0" bIns="0" numCol="1" spcCol="36000"/>
              <a:p>
                <a:pPr marL="69850" indent="0" algn="l" fontAlgn="auto">
                  <a:lnSpc>
                    <a:spcPct val="130000"/>
                  </a:lnSpc>
                  <a:spcBef>
                    <a:spcPts val="0"/>
                  </a:spcBef>
                  <a:spcAft>
                    <a:spcPts val="600"/>
                  </a:spcAft>
                  <a:buClr>
                    <a:schemeClr val="tx2"/>
                  </a:buClr>
                </a:pPr>
                <a14:m>
                  <m:oMathPara xmlns:m="http://schemas.openxmlformats.org/officeDocument/2006/math">
                    <m:oMathParaPr>
                      <m:jc m:val="left"/>
                    </m:oMathParaPr>
                    <m:oMath xmlns:m="http://schemas.openxmlformats.org/officeDocument/2006/math">
                      <m:r>
                        <a:rPr lang="en-US" altLang="en-US"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0</m:t>
                      </m:r>
                    </m:oMath>
                  </m:oMathPara>
                </a14:m>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Choice>
        <mc:Fallback>
          <p:sp>
            <p:nvSpPr>
              <p:cNvPr id="44" name="文本框 43"/>
              <p:cNvSpPr txBox="1">
                <a:spLocks noRot="1" noChangeAspect="1" noMove="1" noResize="1" noEditPoints="1" noAdjustHandles="1" noChangeArrowheads="1" noChangeShapeType="1" noTextEdit="1"/>
              </p:cNvSpPr>
              <p:nvPr/>
            </p:nvSpPr>
            <p:spPr>
              <a:xfrm>
                <a:off x="4460875" y="2875915"/>
                <a:ext cx="269875" cy="254635"/>
              </a:xfrm>
              <a:prstGeom prst="rect">
                <a:avLst/>
              </a:prstGeom>
              <a:blipFill rotWithShape="1">
                <a:blip r:embed="rId13"/>
                <a:stretch>
                  <a:fillRect b="-8728"/>
                </a:stretch>
              </a:blipFill>
              <a:ln>
                <a:noFill/>
              </a:ln>
            </p:spPr>
            <p:txBody>
              <a:bodyPr/>
              <a:lstStyle/>
              <a:p>
                <a:r>
                  <a:rPr lang="zh-CN" altLang="en-US">
                    <a:noFill/>
                  </a:rPr>
                  <a:t> </a:t>
                </a:r>
              </a:p>
            </p:txBody>
          </p:sp>
        </mc:Fallback>
      </mc:AlternateContent>
      <p:sp>
        <p:nvSpPr>
          <p:cNvPr id="45" name="文本框 44"/>
          <p:cNvSpPr txBox="1"/>
          <p:nvPr/>
        </p:nvSpPr>
        <p:spPr>
          <a:xfrm>
            <a:off x="4819015" y="2874645"/>
            <a:ext cx="269875" cy="254635"/>
          </a:xfrm>
          <a:prstGeom prst="rect">
            <a:avLst/>
          </a:prstGeom>
          <a:ln>
            <a:noFill/>
          </a:ln>
        </p:spPr>
        <p:txBody>
          <a:bodyPr wrap="square" lIns="0" tIns="0" rIns="0" bIns="0" numCol="1" spcCol="36000"/>
          <a:p>
            <a:pPr marL="69850" indent="0" algn="l" fontAlgn="auto">
              <a:lnSpc>
                <a:spcPct val="130000"/>
              </a:lnSpc>
              <a:spcBef>
                <a:spcPts val="0"/>
              </a:spcBef>
              <a:spcAft>
                <a:spcPts val="600"/>
              </a:spcAft>
              <a:buClr>
                <a:schemeClr val="tx2"/>
              </a:buClr>
            </a:pPr>
            <a:r>
              <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1</a:t>
            </a:r>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46" name="文本框 45"/>
          <p:cNvSpPr txBox="1"/>
          <p:nvPr/>
        </p:nvSpPr>
        <p:spPr>
          <a:xfrm>
            <a:off x="5177155" y="2874645"/>
            <a:ext cx="269875" cy="254635"/>
          </a:xfrm>
          <a:prstGeom prst="rect">
            <a:avLst/>
          </a:prstGeom>
          <a:ln>
            <a:noFill/>
          </a:ln>
        </p:spPr>
        <p:txBody>
          <a:bodyPr wrap="square" lIns="0" tIns="0" rIns="0" bIns="0" numCol="1" spcCol="36000"/>
          <a:p>
            <a:pPr marL="69850" indent="0" algn="l" fontAlgn="auto">
              <a:lnSpc>
                <a:spcPct val="130000"/>
              </a:lnSpc>
              <a:spcBef>
                <a:spcPts val="0"/>
              </a:spcBef>
              <a:spcAft>
                <a:spcPts val="600"/>
              </a:spcAft>
              <a:buClr>
                <a:schemeClr val="tx2"/>
              </a:buClr>
            </a:pPr>
            <a:r>
              <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2...</a:t>
            </a:r>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47" name="文本框 46"/>
          <p:cNvSpPr txBox="1"/>
          <p:nvPr/>
        </p:nvSpPr>
        <p:spPr>
          <a:xfrm>
            <a:off x="5535295" y="2880360"/>
            <a:ext cx="450850" cy="254635"/>
          </a:xfrm>
          <a:prstGeom prst="rect">
            <a:avLst/>
          </a:prstGeom>
          <a:ln>
            <a:noFill/>
          </a:ln>
        </p:spPr>
        <p:txBody>
          <a:bodyPr wrap="square" lIns="0" tIns="0" rIns="0" bIns="0" numCol="1" spcCol="36000"/>
          <a:p>
            <a:pPr marL="69850" indent="0" algn="l" fontAlgn="auto">
              <a:lnSpc>
                <a:spcPct val="130000"/>
              </a:lnSpc>
              <a:spcBef>
                <a:spcPts val="0"/>
              </a:spcBef>
              <a:spcAft>
                <a:spcPts val="600"/>
              </a:spcAft>
              <a:buClr>
                <a:schemeClr val="tx2"/>
              </a:buClr>
            </a:pPr>
            <a:r>
              <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K-1</a:t>
            </a:r>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48" name="文本框 47"/>
          <p:cNvSpPr txBox="1"/>
          <p:nvPr/>
        </p:nvSpPr>
        <p:spPr>
          <a:xfrm>
            <a:off x="3920490" y="2921635"/>
            <a:ext cx="459740" cy="209550"/>
          </a:xfrm>
          <a:prstGeom prst="rect">
            <a:avLst/>
          </a:prstGeom>
          <a:ln>
            <a:noFill/>
          </a:ln>
        </p:spPr>
        <p:txBody>
          <a:bodyPr lIns="0" tIns="0" rIns="0" bIns="0" numCol="1" spcCol="36000"/>
          <a:p>
            <a:pPr marL="69850" indent="0" algn="just" fontAlgn="auto">
              <a:lnSpc>
                <a:spcPct val="130000"/>
              </a:lnSpc>
              <a:spcBef>
                <a:spcPts val="0"/>
              </a:spcBef>
              <a:spcAft>
                <a:spcPts val="600"/>
              </a:spcAft>
              <a:buClr>
                <a:schemeClr val="tx2"/>
              </a:buClr>
            </a:pPr>
            <a:r>
              <a:rPr lang="en-US" altLang="en-US" sz="10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Blocks</a:t>
            </a:r>
            <a:endParaRPr lang="en-US" altLang="en-US" sz="10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49" name="文本框 48"/>
          <p:cNvSpPr txBox="1"/>
          <p:nvPr/>
        </p:nvSpPr>
        <p:spPr>
          <a:xfrm>
            <a:off x="3917950" y="3258185"/>
            <a:ext cx="459740" cy="209550"/>
          </a:xfrm>
          <a:prstGeom prst="rect">
            <a:avLst/>
          </a:prstGeom>
          <a:ln>
            <a:noFill/>
          </a:ln>
        </p:spPr>
        <p:txBody>
          <a:bodyPr lIns="0" tIns="0" rIns="0" bIns="0" numCol="1" spcCol="36000"/>
          <a:p>
            <a:pPr marL="69850" indent="0" algn="just" fontAlgn="auto">
              <a:lnSpc>
                <a:spcPct val="130000"/>
              </a:lnSpc>
              <a:spcBef>
                <a:spcPts val="0"/>
              </a:spcBef>
              <a:spcAft>
                <a:spcPts val="600"/>
              </a:spcAft>
              <a:buClr>
                <a:schemeClr val="tx2"/>
              </a:buClr>
            </a:pPr>
            <a:r>
              <a:rPr lang="en-US" altLang="en-US" sz="10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q (k-bit)</a:t>
            </a:r>
            <a:endParaRPr lang="en-US" altLang="en-US" sz="10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50" name="文本框 49"/>
          <p:cNvSpPr txBox="1"/>
          <p:nvPr/>
        </p:nvSpPr>
        <p:spPr>
          <a:xfrm>
            <a:off x="3936365" y="3620135"/>
            <a:ext cx="459740" cy="209550"/>
          </a:xfrm>
          <a:prstGeom prst="rect">
            <a:avLst/>
          </a:prstGeom>
          <a:ln>
            <a:noFill/>
          </a:ln>
        </p:spPr>
        <p:txBody>
          <a:bodyPr lIns="0" tIns="0" rIns="0" bIns="0" numCol="1" spcCol="36000"/>
          <a:p>
            <a:pPr indent="0" algn="ctr" fontAlgn="auto">
              <a:lnSpc>
                <a:spcPct val="100000"/>
              </a:lnSpc>
              <a:spcBef>
                <a:spcPts val="0"/>
              </a:spcBef>
              <a:spcAft>
                <a:spcPts val="0"/>
              </a:spcAft>
              <a:buClr>
                <a:schemeClr val="tx2"/>
              </a:buClr>
            </a:pPr>
            <a:r>
              <a:rPr lang="en-US" altLang="en-US" sz="10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scale</a:t>
            </a:r>
            <a:endParaRPr lang="en-US" altLang="en-US" sz="10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indent="0" algn="ctr" fontAlgn="auto">
              <a:lnSpc>
                <a:spcPct val="100000"/>
              </a:lnSpc>
              <a:spcBef>
                <a:spcPts val="0"/>
              </a:spcBef>
              <a:spcAft>
                <a:spcPts val="0"/>
              </a:spcAft>
              <a:buClr>
                <a:schemeClr val="tx2"/>
              </a:buClr>
            </a:pPr>
            <a:r>
              <a:rPr lang="en-US" altLang="en-US" sz="10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(FP16)</a:t>
            </a:r>
            <a:endParaRPr lang="en-US" altLang="en-US" sz="10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AlternateContent xmlns:mc="http://schemas.openxmlformats.org/markup-compatibility/2006">
        <mc:Choice xmlns:a14="http://schemas.microsoft.com/office/drawing/2010/main" Requires="a14">
          <p:sp>
            <p:nvSpPr>
              <p:cNvPr id="51" name="文本框 50"/>
              <p:cNvSpPr txBox="1"/>
              <p:nvPr/>
            </p:nvSpPr>
            <p:spPr>
              <a:xfrm>
                <a:off x="3896360" y="4025900"/>
                <a:ext cx="2152650" cy="763270"/>
              </a:xfrm>
              <a:prstGeom prst="rect">
                <a:avLst/>
              </a:prstGeom>
              <a:ln>
                <a:noFill/>
              </a:ln>
            </p:spPr>
            <p:txBody>
              <a:bodyPr wrap="square" lIns="0" tIns="0" rIns="0" bIns="0" numCol="1" spcCol="36000"/>
              <a:p>
                <a:pPr marL="69850" indent="0" algn="just" fontAlgn="auto">
                  <a:lnSpc>
                    <a:spcPct val="100000"/>
                  </a:lnSpc>
                  <a:spcBef>
                    <a:spcPts val="0"/>
                  </a:spcBef>
                  <a:spcAft>
                    <a:spcPts val="600"/>
                  </a:spcAft>
                  <a:buClr>
                    <a:schemeClr val="tx2"/>
                  </a:buClr>
                </a:pP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将每个</a:t>
                </a:r>
                <a:r>
                  <a:rPr lang="en-US" altLang="zh-CN"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Block</a:t>
                </a: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的</a:t>
                </a:r>
                <a:r>
                  <a:rPr lang="en-US" altLang="zh-CN"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k-bit</a:t>
                </a: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值打包</a:t>
                </a:r>
                <a:endPar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00000"/>
                  </a:lnSpc>
                  <a:spcBef>
                    <a:spcPts val="0"/>
                  </a:spcBef>
                  <a:spcAft>
                    <a:spcPts val="600"/>
                  </a:spcAft>
                  <a:buClr>
                    <a:schemeClr val="tx2"/>
                  </a:buClr>
                </a:pPr>
                <a:r>
                  <a:rPr lang="en-US" altLang="zh-CN"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scale</a:t>
                </a: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采用</a:t>
                </a:r>
                <a:r>
                  <a:rPr lang="en-US" altLang="zh-CN"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FP16</a:t>
                </a: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存储</a:t>
                </a:r>
                <a:endPar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00000"/>
                  </a:lnSpc>
                  <a:spcBef>
                    <a:spcPts val="0"/>
                  </a:spcBef>
                  <a:spcAft>
                    <a:spcPts val="600"/>
                  </a:spcAft>
                  <a:buClr>
                    <a:schemeClr val="tx2"/>
                  </a:buClr>
                </a:pP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形成发送缓冲区</a:t>
                </a:r>
                <a14:m>
                  <m:oMath xmlns:m="http://schemas.openxmlformats.org/officeDocument/2006/math">
                    <m:sSub>
                      <m:sSub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𝐵𝑢𝑓</m:t>
                        </m:r>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sub>
                    </m:sSub>
                  </m:oMath>
                </a14:m>
                <a:endPar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p:txBody>
          </p:sp>
        </mc:Choice>
        <mc:Fallback>
          <p:sp>
            <p:nvSpPr>
              <p:cNvPr id="51" name="文本框 50"/>
              <p:cNvSpPr txBox="1">
                <a:spLocks noRot="1" noChangeAspect="1" noMove="1" noResize="1" noEditPoints="1" noAdjustHandles="1" noChangeArrowheads="1" noChangeShapeType="1" noTextEdit="1"/>
              </p:cNvSpPr>
              <p:nvPr/>
            </p:nvSpPr>
            <p:spPr>
              <a:xfrm>
                <a:off x="3896360" y="4025900"/>
                <a:ext cx="2152650" cy="763270"/>
              </a:xfrm>
              <a:prstGeom prst="rect">
                <a:avLst/>
              </a:prstGeom>
              <a:blipFill rotWithShape="1">
                <a:blip r:embed="rId14"/>
                <a:stretch>
                  <a:fillRect t="-1664"/>
                </a:stretch>
              </a:blipFill>
              <a:ln>
                <a:noFill/>
              </a:ln>
            </p:spPr>
            <p:txBody>
              <a:bodyPr/>
              <a:lstStyle/>
              <a:p>
                <a:r>
                  <a:rPr lang="zh-CN" altLang="en-US">
                    <a:noFill/>
                  </a:rPr>
                  <a:t> </a:t>
                </a:r>
              </a:p>
            </p:txBody>
          </p:sp>
        </mc:Fallback>
      </mc:AlternateContent>
      <p:sp>
        <p:nvSpPr>
          <p:cNvPr id="52" name="同侧圆角矩形 51"/>
          <p:cNvSpPr/>
          <p:nvPr>
            <p:custDataLst>
              <p:tags r:id="rId15"/>
            </p:custDataLst>
          </p:nvPr>
        </p:nvSpPr>
        <p:spPr>
          <a:xfrm>
            <a:off x="6176010" y="2252345"/>
            <a:ext cx="2243455" cy="285750"/>
          </a:xfrm>
          <a:prstGeom prst="round2SameRect">
            <a:avLst>
              <a:gd name="adj1" fmla="val 28266"/>
              <a:gd name="adj2" fmla="val 0"/>
            </a:avLst>
          </a:prstGeom>
          <a:solidFill>
            <a:schemeClr val="accent4">
              <a:lumMod val="20000"/>
              <a:lumOff val="80000"/>
            </a:schemeClr>
          </a:solidFill>
          <a:ln w="15875">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1400" b="1">
                <a:solidFill>
                  <a:schemeClr val="accent4">
                    <a:lumMod val="75000"/>
                  </a:schemeClr>
                </a:solidFill>
              </a:rPr>
              <a:t>②</a:t>
            </a:r>
            <a:r>
              <a:rPr lang="en-US" altLang="zh-CN" sz="1400" b="1">
                <a:solidFill>
                  <a:schemeClr val="accent4">
                    <a:lumMod val="75000"/>
                  </a:schemeClr>
                </a:solidFill>
              </a:rPr>
              <a:t> All-to-All </a:t>
            </a:r>
            <a:r>
              <a:rPr lang="zh-CN" altLang="en-US" sz="1400" b="1">
                <a:solidFill>
                  <a:schemeClr val="accent4">
                    <a:lumMod val="75000"/>
                  </a:schemeClr>
                </a:solidFill>
              </a:rPr>
              <a:t>交换</a:t>
            </a:r>
            <a:endParaRPr lang="zh-CN" altLang="en-US" sz="1400" b="1">
              <a:solidFill>
                <a:schemeClr val="accent4">
                  <a:lumMod val="75000"/>
                </a:schemeClr>
              </a:solidFill>
            </a:endParaRPr>
          </a:p>
        </p:txBody>
      </p:sp>
      <p:sp>
        <p:nvSpPr>
          <p:cNvPr id="53" name="同侧圆角矩形 52"/>
          <p:cNvSpPr/>
          <p:nvPr>
            <p:custDataLst>
              <p:tags r:id="rId16"/>
            </p:custDataLst>
          </p:nvPr>
        </p:nvSpPr>
        <p:spPr>
          <a:xfrm rot="10800000">
            <a:off x="6176010" y="2538095"/>
            <a:ext cx="2243455" cy="841375"/>
          </a:xfrm>
          <a:prstGeom prst="round2SameRect">
            <a:avLst>
              <a:gd name="adj1" fmla="val 7339"/>
              <a:gd name="adj2" fmla="val 0"/>
            </a:avLst>
          </a:prstGeom>
          <a:noFill/>
          <a:ln w="15875">
            <a:solidFill>
              <a:schemeClr val="accent4">
                <a:lumMod val="75000"/>
              </a:schemeClr>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mc:AlternateContent xmlns:mc="http://schemas.openxmlformats.org/markup-compatibility/2006">
        <mc:Choice xmlns:a14="http://schemas.microsoft.com/office/drawing/2010/main" Requires="a14">
          <p:sp>
            <p:nvSpPr>
              <p:cNvPr id="54" name="文本框 53"/>
              <p:cNvSpPr txBox="1"/>
              <p:nvPr/>
            </p:nvSpPr>
            <p:spPr>
              <a:xfrm>
                <a:off x="6221095" y="2594610"/>
                <a:ext cx="2152650" cy="739140"/>
              </a:xfrm>
              <a:prstGeom prst="rect">
                <a:avLst/>
              </a:prstGeom>
              <a:ln>
                <a:noFill/>
              </a:ln>
            </p:spPr>
            <p:txBody>
              <a:bodyPr wrap="square" lIns="0" tIns="0" rIns="0" bIns="0" numCol="1" spcCol="36000"/>
              <a:p>
                <a:pPr indent="0" algn="just" fontAlgn="auto">
                  <a:lnSpc>
                    <a:spcPct val="100000"/>
                  </a:lnSpc>
                  <a:spcBef>
                    <a:spcPts val="0"/>
                  </a:spcBef>
                  <a:spcAft>
                    <a:spcPts val="600"/>
                  </a:spcAft>
                  <a:buClr>
                    <a:schemeClr val="tx2"/>
                  </a:buClr>
                </a:pP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向各对端发送自己的</a:t>
                </a:r>
                <a14:m>
                  <m:oMath xmlns:m="http://schemas.openxmlformats.org/officeDocument/2006/math">
                    <m:sSub>
                      <m:sSub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𝐵𝑢𝑓</m:t>
                        </m:r>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sub>
                    </m:sSub>
                  </m:oMath>
                </a14:m>
                <a:endPar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indent="0" algn="just" fontAlgn="auto">
                  <a:lnSpc>
                    <a:spcPct val="100000"/>
                  </a:lnSpc>
                  <a:spcBef>
                    <a:spcPts val="0"/>
                  </a:spcBef>
                  <a:spcAft>
                    <a:spcPts val="600"/>
                  </a:spcAft>
                  <a:buClr>
                    <a:schemeClr val="tx2"/>
                  </a:buClr>
                </a:pP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从各对端接收</a:t>
                </a:r>
                <a14:m>
                  <m:oMath xmlns:m="http://schemas.openxmlformats.org/officeDocument/2006/math">
                    <m:sSub>
                      <m:sSub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𝐵𝑢𝑓</m:t>
                        </m:r>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sub>
                    </m:sSub>
                  </m:oMath>
                </a14:m>
                <a:endPar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indent="0" algn="just" fontAlgn="auto">
                  <a:lnSpc>
                    <a:spcPct val="100000"/>
                  </a:lnSpc>
                  <a:spcBef>
                    <a:spcPts val="0"/>
                  </a:spcBef>
                  <a:spcAft>
                    <a:spcPts val="600"/>
                  </a:spcAft>
                  <a:buClr>
                    <a:schemeClr val="tx2"/>
                  </a:buClr>
                </a:pP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复杂度与</a:t>
                </a:r>
                <a:r>
                  <a:rPr lang="en-US" altLang="zh-CN"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Reduce-Scatter</a:t>
                </a: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相当</a:t>
                </a:r>
                <a:endPar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Choice>
        <mc:Fallback>
          <p:sp>
            <p:nvSpPr>
              <p:cNvPr id="54" name="文本框 53"/>
              <p:cNvSpPr txBox="1">
                <a:spLocks noRot="1" noChangeAspect="1" noMove="1" noResize="1" noEditPoints="1" noAdjustHandles="1" noChangeArrowheads="1" noChangeShapeType="1" noTextEdit="1"/>
              </p:cNvSpPr>
              <p:nvPr/>
            </p:nvSpPr>
            <p:spPr>
              <a:xfrm>
                <a:off x="6221095" y="2594610"/>
                <a:ext cx="2152650" cy="739140"/>
              </a:xfrm>
              <a:prstGeom prst="rect">
                <a:avLst/>
              </a:prstGeom>
              <a:blipFill rotWithShape="1">
                <a:blip r:embed="rId17"/>
                <a:stretch>
                  <a:fillRect t="-1718"/>
                </a:stretch>
              </a:blipFill>
              <a:ln>
                <a:noFill/>
              </a:ln>
            </p:spPr>
            <p:txBody>
              <a:bodyPr/>
              <a:lstStyle/>
              <a:p>
                <a:r>
                  <a:rPr lang="zh-CN" altLang="en-US">
                    <a:noFill/>
                  </a:rPr>
                  <a:t> </a:t>
                </a:r>
              </a:p>
            </p:txBody>
          </p:sp>
        </mc:Fallback>
      </mc:AlternateContent>
      <p:sp>
        <p:nvSpPr>
          <p:cNvPr id="55" name="同侧圆角矩形 54"/>
          <p:cNvSpPr/>
          <p:nvPr>
            <p:custDataLst>
              <p:tags r:id="rId18"/>
            </p:custDataLst>
          </p:nvPr>
        </p:nvSpPr>
        <p:spPr>
          <a:xfrm>
            <a:off x="6176010" y="3425825"/>
            <a:ext cx="2243455" cy="285750"/>
          </a:xfrm>
          <a:prstGeom prst="round2SameRect">
            <a:avLst>
              <a:gd name="adj1" fmla="val 28266"/>
              <a:gd name="adj2" fmla="val 0"/>
            </a:avLst>
          </a:prstGeom>
          <a:solidFill>
            <a:schemeClr val="accent4">
              <a:lumMod val="20000"/>
              <a:lumOff val="80000"/>
            </a:schemeClr>
          </a:solidFill>
          <a:ln w="15875">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1400" b="1">
                <a:solidFill>
                  <a:schemeClr val="accent4">
                    <a:lumMod val="75000"/>
                  </a:schemeClr>
                </a:solidFill>
              </a:rPr>
              <a:t>③</a:t>
            </a:r>
            <a:r>
              <a:rPr lang="en-US" altLang="zh-CN" sz="1400" b="1">
                <a:solidFill>
                  <a:schemeClr val="accent4">
                    <a:lumMod val="75000"/>
                  </a:schemeClr>
                </a:solidFill>
              </a:rPr>
              <a:t> </a:t>
            </a:r>
            <a:r>
              <a:rPr lang="zh-CN" altLang="en-US" sz="1400" b="1">
                <a:solidFill>
                  <a:schemeClr val="accent4">
                    <a:lumMod val="75000"/>
                  </a:schemeClr>
                </a:solidFill>
              </a:rPr>
              <a:t>接收与</a:t>
            </a:r>
            <a:r>
              <a:rPr lang="zh-CN" altLang="en-US" sz="1400" b="1">
                <a:solidFill>
                  <a:schemeClr val="accent4">
                    <a:lumMod val="75000"/>
                  </a:schemeClr>
                </a:solidFill>
              </a:rPr>
              <a:t>反量化</a:t>
            </a:r>
            <a:endParaRPr lang="zh-CN" altLang="en-US" sz="1400" b="1">
              <a:solidFill>
                <a:schemeClr val="accent4">
                  <a:lumMod val="75000"/>
                </a:schemeClr>
              </a:solidFill>
            </a:endParaRPr>
          </a:p>
        </p:txBody>
      </p:sp>
      <p:sp>
        <p:nvSpPr>
          <p:cNvPr id="56" name="同侧圆角矩形 55"/>
          <p:cNvSpPr/>
          <p:nvPr>
            <p:custDataLst>
              <p:tags r:id="rId19"/>
            </p:custDataLst>
          </p:nvPr>
        </p:nvSpPr>
        <p:spPr>
          <a:xfrm rot="10800000">
            <a:off x="6176010" y="3711575"/>
            <a:ext cx="2243455" cy="1153160"/>
          </a:xfrm>
          <a:prstGeom prst="round2SameRect">
            <a:avLst>
              <a:gd name="adj1" fmla="val 7339"/>
              <a:gd name="adj2" fmla="val 0"/>
            </a:avLst>
          </a:prstGeom>
          <a:noFill/>
          <a:ln w="15875">
            <a:solidFill>
              <a:schemeClr val="accent4">
                <a:lumMod val="75000"/>
              </a:schemeClr>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mc:AlternateContent xmlns:mc="http://schemas.openxmlformats.org/markup-compatibility/2006">
        <mc:Choice xmlns:a14="http://schemas.microsoft.com/office/drawing/2010/main" Requires="a14">
          <p:sp>
            <p:nvSpPr>
              <p:cNvPr id="57" name="文本框 56"/>
              <p:cNvSpPr txBox="1"/>
              <p:nvPr/>
            </p:nvSpPr>
            <p:spPr>
              <a:xfrm>
                <a:off x="6221095" y="3768090"/>
                <a:ext cx="2152650" cy="333375"/>
              </a:xfrm>
              <a:prstGeom prst="rect">
                <a:avLst/>
              </a:prstGeom>
              <a:ln>
                <a:noFill/>
              </a:ln>
            </p:spPr>
            <p:txBody>
              <a:bodyPr wrap="square" lIns="0" tIns="0" rIns="0" bIns="0" numCol="1" spcCol="36000"/>
              <a:p>
                <a:pPr indent="0" algn="just" fontAlgn="auto">
                  <a:lnSpc>
                    <a:spcPct val="100000"/>
                  </a:lnSpc>
                  <a:spcBef>
                    <a:spcPts val="0"/>
                  </a:spcBef>
                  <a:spcAft>
                    <a:spcPts val="600"/>
                  </a:spcAft>
                  <a:buClr>
                    <a:schemeClr val="tx2"/>
                  </a:buClr>
                </a:pPr>
                <a:r>
                  <a:rPr lang="zh-CN" altLang="en-US" sz="12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输入：收到的</a:t>
                </a:r>
                <a14:m>
                  <m:oMath xmlns:m="http://schemas.openxmlformats.org/officeDocument/2006/math">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oMath>
                </a14:m>
                <a:endParaRPr lang="zh-CN" altLang="en-US" sz="1200" b="0" i="1"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indent="0" algn="just" fontAlgn="auto">
                  <a:lnSpc>
                    <a:spcPct val="100000"/>
                  </a:lnSpc>
                  <a:spcBef>
                    <a:spcPts val="0"/>
                  </a:spcBef>
                  <a:spcAft>
                    <a:spcPts val="600"/>
                  </a:spcAft>
                  <a:buClr>
                    <a:schemeClr val="tx2"/>
                  </a:buClr>
                </a:pPr>
                <a:endParaRPr lang="zh-CN" altLang="en-US" sz="1200" b="0" i="1"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Choice>
        <mc:Fallback>
          <p:sp>
            <p:nvSpPr>
              <p:cNvPr id="57" name="文本框 56"/>
              <p:cNvSpPr txBox="1">
                <a:spLocks noRot="1" noChangeAspect="1" noMove="1" noResize="1" noEditPoints="1" noAdjustHandles="1" noChangeArrowheads="1" noChangeShapeType="1" noTextEdit="1"/>
              </p:cNvSpPr>
              <p:nvPr/>
            </p:nvSpPr>
            <p:spPr>
              <a:xfrm>
                <a:off x="6221095" y="3768090"/>
                <a:ext cx="2152650" cy="333375"/>
              </a:xfrm>
              <a:prstGeom prst="rect">
                <a:avLst/>
              </a:prstGeom>
              <a:blipFill rotWithShape="1">
                <a:blip r:embed="rId20"/>
                <a:stretch>
                  <a:fillRect b="-56000"/>
                </a:stretch>
              </a:blipFill>
              <a:ln>
                <a:noFill/>
              </a:ln>
            </p:spPr>
            <p:txBody>
              <a:bodyPr/>
              <a:lstStyle/>
              <a:p>
                <a:r>
                  <a:rPr lang="zh-CN" altLang="en-US">
                    <a:noFill/>
                  </a:rPr>
                  <a:t> </a:t>
                </a:r>
              </a:p>
            </p:txBody>
          </p:sp>
        </mc:Fallback>
      </mc:AlternateContent>
      <p:sp>
        <p:nvSpPr>
          <p:cNvPr id="58" name="矩形 57"/>
          <p:cNvSpPr/>
          <p:nvPr/>
        </p:nvSpPr>
        <p:spPr>
          <a:xfrm>
            <a:off x="6274435" y="4111625"/>
            <a:ext cx="270510" cy="301625"/>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6274435" y="4048125"/>
                <a:ext cx="269875" cy="381635"/>
              </a:xfrm>
              <a:prstGeom prst="rect">
                <a:avLst/>
              </a:prstGeom>
              <a:ln>
                <a:noFill/>
              </a:ln>
            </p:spPr>
            <p:txBody>
              <a:bodyPr wrap="square" lIns="0" tIns="0" rIns="0" bIns="0" numCol="1" spcCol="0" anchor="t">
                <a:noAutofit/>
              </a:bodyPr>
              <a:p>
                <a:pPr indent="0" algn="just" fontAlgn="auto">
                  <a:lnSpc>
                    <a:spcPct val="130000"/>
                  </a:lnSpc>
                  <a:spcBef>
                    <a:spcPts val="0"/>
                  </a:spcBef>
                  <a:spcAft>
                    <a:spcPts val="0"/>
                  </a:spcAft>
                  <a:buClr>
                    <a:schemeClr val="tx2"/>
                  </a:buClr>
                </a:pPr>
                <a14:m>
                  <m:oMathPara xmlns:m="http://schemas.openxmlformats.org/officeDocument/2006/math">
                    <m:oMathParaPr>
                      <m:jc m:val="center"/>
                    </m:oMathParaPr>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m:oMathPara>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p:txBody>
          </p:sp>
        </mc:Choice>
        <mc:Fallback>
          <p:sp>
            <p:nvSpPr>
              <p:cNvPr id="59" name="文本框 58"/>
              <p:cNvSpPr txBox="1">
                <a:spLocks noRot="1" noChangeAspect="1" noMove="1" noResize="1" noEditPoints="1" noAdjustHandles="1" noChangeArrowheads="1" noChangeShapeType="1" noTextEdit="1"/>
              </p:cNvSpPr>
              <p:nvPr/>
            </p:nvSpPr>
            <p:spPr>
              <a:xfrm>
                <a:off x="6274435" y="4048125"/>
                <a:ext cx="269875" cy="381635"/>
              </a:xfrm>
              <a:prstGeom prst="rect">
                <a:avLst/>
              </a:prstGeom>
              <a:blipFill rotWithShape="1">
                <a:blip r:embed="rId21"/>
                <a:stretch>
                  <a:fillRect l="-2353" r="-2118"/>
                </a:stretch>
              </a:blipFill>
              <a:ln>
                <a:noFill/>
              </a:ln>
            </p:spPr>
            <p:txBody>
              <a:bodyPr/>
              <a:lstStyle/>
              <a:p>
                <a:r>
                  <a:rPr lang="zh-CN" altLang="en-US">
                    <a:noFill/>
                  </a:rPr>
                  <a:t> </a:t>
                </a:r>
              </a:p>
            </p:txBody>
          </p:sp>
        </mc:Fallback>
      </mc:AlternateContent>
      <p:sp>
        <p:nvSpPr>
          <p:cNvPr id="62" name="文本框 61"/>
          <p:cNvSpPr txBox="1"/>
          <p:nvPr/>
        </p:nvSpPr>
        <p:spPr>
          <a:xfrm>
            <a:off x="6544945" y="4067175"/>
            <a:ext cx="233680" cy="356235"/>
          </a:xfrm>
          <a:prstGeom prst="rect">
            <a:avLst/>
          </a:prstGeom>
          <a:ln>
            <a:noFill/>
          </a:ln>
        </p:spPr>
        <p:txBody>
          <a:bodyPr wrap="square" lIns="0" tIns="0" rIns="0" bIns="0" numCol="1" spcCol="0"/>
          <a:p>
            <a:pPr indent="0" algn="ctr" fontAlgn="auto">
              <a:lnSpc>
                <a:spcPct val="130000"/>
              </a:lnSpc>
              <a:spcBef>
                <a:spcPts val="0"/>
              </a:spcBef>
              <a:spcAft>
                <a:spcPts val="0"/>
              </a:spcAft>
              <a:buClr>
                <a:schemeClr val="tx2"/>
              </a:buClr>
            </a:pPr>
            <a:r>
              <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63" name="矩形 62"/>
          <p:cNvSpPr/>
          <p:nvPr/>
        </p:nvSpPr>
        <p:spPr>
          <a:xfrm>
            <a:off x="6778625" y="4121785"/>
            <a:ext cx="270510" cy="301625"/>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64" name="文本框 63"/>
              <p:cNvSpPr txBox="1"/>
              <p:nvPr/>
            </p:nvSpPr>
            <p:spPr>
              <a:xfrm>
                <a:off x="6778625" y="4060825"/>
                <a:ext cx="269875" cy="381635"/>
              </a:xfrm>
              <a:prstGeom prst="rect">
                <a:avLst/>
              </a:prstGeom>
              <a:ln>
                <a:noFill/>
              </a:ln>
            </p:spPr>
            <p:txBody>
              <a:bodyPr wrap="square" lIns="0" tIns="0" rIns="0" bIns="0" numCol="1" spcCol="0" anchor="t">
                <a:noAutofit/>
              </a:bodyPr>
              <a:p>
                <a:pPr indent="0" algn="just" fontAlgn="auto">
                  <a:lnSpc>
                    <a:spcPct val="130000"/>
                  </a:lnSpc>
                  <a:spcBef>
                    <a:spcPts val="0"/>
                  </a:spcBef>
                  <a:spcAft>
                    <a:spcPts val="0"/>
                  </a:spcAft>
                  <a:buClr>
                    <a:schemeClr val="tx2"/>
                  </a:buClr>
                </a:pPr>
                <a14:m>
                  <m:oMathPara xmlns:m="http://schemas.openxmlformats.org/officeDocument/2006/math">
                    <m:oMathParaPr>
                      <m:jc m:val="center"/>
                    </m:oMathParaPr>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𝑁</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m:oMathPara>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p:txBody>
          </p:sp>
        </mc:Choice>
        <mc:Fallback>
          <p:sp>
            <p:nvSpPr>
              <p:cNvPr id="64" name="文本框 63"/>
              <p:cNvSpPr txBox="1">
                <a:spLocks noRot="1" noChangeAspect="1" noMove="1" noResize="1" noEditPoints="1" noAdjustHandles="1" noChangeArrowheads="1" noChangeShapeType="1" noTextEdit="1"/>
              </p:cNvSpPr>
              <p:nvPr/>
            </p:nvSpPr>
            <p:spPr>
              <a:xfrm>
                <a:off x="6778625" y="4060825"/>
                <a:ext cx="269875" cy="381635"/>
              </a:xfrm>
              <a:prstGeom prst="rect">
                <a:avLst/>
              </a:prstGeom>
              <a:blipFill rotWithShape="1">
                <a:blip r:embed="rId22"/>
                <a:stretch>
                  <a:fillRect l="-6353" r="-6353"/>
                </a:stretch>
              </a:blipFill>
              <a:ln>
                <a:noFill/>
              </a:ln>
            </p:spPr>
            <p:txBody>
              <a:bodyPr/>
              <a:lstStyle/>
              <a:p>
                <a:r>
                  <a:rPr lang="zh-CN" altLang="en-US">
                    <a:noFill/>
                  </a:rPr>
                  <a:t> </a:t>
                </a:r>
              </a:p>
            </p:txBody>
          </p:sp>
        </mc:Fallback>
      </mc:AlternateContent>
      <p:sp>
        <p:nvSpPr>
          <p:cNvPr id="70" name="矩形 69"/>
          <p:cNvSpPr/>
          <p:nvPr/>
        </p:nvSpPr>
        <p:spPr>
          <a:xfrm>
            <a:off x="7127875" y="4121785"/>
            <a:ext cx="473710" cy="301625"/>
          </a:xfrm>
          <a:prstGeom prst="rect">
            <a:avLst/>
          </a:prstGeom>
          <a:solidFill>
            <a:schemeClr val="accent4">
              <a:lumMod val="20000"/>
              <a:lumOff val="80000"/>
            </a:schemeClr>
          </a:solidFill>
          <a:ln>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71" name="文本框 70"/>
              <p:cNvSpPr txBox="1"/>
              <p:nvPr/>
            </p:nvSpPr>
            <p:spPr>
              <a:xfrm>
                <a:off x="7127875" y="4058285"/>
                <a:ext cx="472440" cy="381635"/>
              </a:xfrm>
              <a:prstGeom prst="rect">
                <a:avLst/>
              </a:prstGeom>
              <a:ln>
                <a:noFill/>
              </a:ln>
            </p:spPr>
            <p:txBody>
              <a:bodyPr wrap="square" lIns="0" tIns="0" rIns="0" bIns="0" numCol="1" spcCol="0" anchor="t">
                <a:noAutofit/>
              </a:bodyPr>
              <a:p>
                <a:pPr indent="0" algn="just" fontAlgn="auto">
                  <a:lnSpc>
                    <a:spcPct val="130000"/>
                  </a:lnSpc>
                  <a:spcBef>
                    <a:spcPts val="0"/>
                  </a:spcBef>
                  <a:spcAft>
                    <a:spcPts val="0"/>
                  </a:spcAft>
                  <a:buClr>
                    <a:schemeClr val="tx2"/>
                  </a:buClr>
                </a:pPr>
                <a14:m>
                  <m:oMathPara xmlns:m="http://schemas.openxmlformats.org/officeDocument/2006/math">
                    <m:oMathParaPr>
                      <m:jc m:val="center"/>
                    </m:oMathParaPr>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1</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m:oMathPara>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p:txBody>
          </p:sp>
        </mc:Choice>
        <mc:Fallback>
          <p:sp>
            <p:nvSpPr>
              <p:cNvPr id="71" name="文本框 70"/>
              <p:cNvSpPr txBox="1">
                <a:spLocks noRot="1" noChangeAspect="1" noMove="1" noResize="1" noEditPoints="1" noAdjustHandles="1" noChangeArrowheads="1" noChangeShapeType="1" noTextEdit="1"/>
              </p:cNvSpPr>
              <p:nvPr/>
            </p:nvSpPr>
            <p:spPr>
              <a:xfrm>
                <a:off x="7127875" y="4058285"/>
                <a:ext cx="472440" cy="381635"/>
              </a:xfrm>
              <a:prstGeom prst="rect">
                <a:avLst/>
              </a:prstGeom>
              <a:blipFill rotWithShape="1">
                <a:blip r:embed="rId23"/>
                <a:stretch>
                  <a:fillRect/>
                </a:stretch>
              </a:blipFill>
              <a:ln>
                <a:noFill/>
              </a:ln>
            </p:spPr>
            <p:txBody>
              <a:bodyPr/>
              <a:lstStyle/>
              <a:p>
                <a:r>
                  <a:rPr lang="zh-CN" altLang="en-US">
                    <a:noFill/>
                  </a:rPr>
                  <a:t> </a:t>
                </a:r>
              </a:p>
            </p:txBody>
          </p:sp>
        </mc:Fallback>
      </mc:AlternateContent>
      <p:sp>
        <p:nvSpPr>
          <p:cNvPr id="72" name="文本框 71"/>
          <p:cNvSpPr txBox="1"/>
          <p:nvPr/>
        </p:nvSpPr>
        <p:spPr>
          <a:xfrm>
            <a:off x="7600315" y="4077335"/>
            <a:ext cx="213360" cy="356235"/>
          </a:xfrm>
          <a:prstGeom prst="rect">
            <a:avLst/>
          </a:prstGeom>
          <a:ln>
            <a:noFill/>
          </a:ln>
        </p:spPr>
        <p:txBody>
          <a:bodyPr wrap="square" lIns="0" tIns="0" rIns="0" bIns="0" numCol="1" spcCol="0"/>
          <a:p>
            <a:pPr indent="0" algn="ctr" fontAlgn="auto">
              <a:lnSpc>
                <a:spcPct val="130000"/>
              </a:lnSpc>
              <a:spcBef>
                <a:spcPts val="0"/>
              </a:spcBef>
              <a:spcAft>
                <a:spcPts val="0"/>
              </a:spcAft>
              <a:buClr>
                <a:schemeClr val="tx2"/>
              </a:buClr>
            </a:pPr>
            <a:r>
              <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endParaRPr lang="en-US"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p:sp>
        <p:nvSpPr>
          <p:cNvPr id="73" name="矩形 72"/>
          <p:cNvSpPr/>
          <p:nvPr/>
        </p:nvSpPr>
        <p:spPr>
          <a:xfrm>
            <a:off x="7832725" y="4121785"/>
            <a:ext cx="473710" cy="301625"/>
          </a:xfrm>
          <a:prstGeom prst="rect">
            <a:avLst/>
          </a:prstGeom>
          <a:solidFill>
            <a:schemeClr val="accent4">
              <a:lumMod val="20000"/>
              <a:lumOff val="80000"/>
            </a:schemeClr>
          </a:solidFill>
          <a:ln>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74" name="文本框 73"/>
              <p:cNvSpPr txBox="1"/>
              <p:nvPr/>
            </p:nvSpPr>
            <p:spPr>
              <a:xfrm>
                <a:off x="7832725" y="4060825"/>
                <a:ext cx="472440" cy="381635"/>
              </a:xfrm>
              <a:prstGeom prst="rect">
                <a:avLst/>
              </a:prstGeom>
              <a:ln>
                <a:noFill/>
              </a:ln>
            </p:spPr>
            <p:txBody>
              <a:bodyPr wrap="square" lIns="0" tIns="0" rIns="0" bIns="0" numCol="1" spcCol="0" anchor="t">
                <a:noAutofit/>
              </a:bodyPr>
              <a:p>
                <a:pPr indent="0" algn="just" fontAlgn="auto">
                  <a:lnSpc>
                    <a:spcPct val="130000"/>
                  </a:lnSpc>
                  <a:spcBef>
                    <a:spcPts val="0"/>
                  </a:spcBef>
                  <a:spcAft>
                    <a:spcPts val="0"/>
                  </a:spcAft>
                  <a:buClr>
                    <a:schemeClr val="tx2"/>
                  </a:buClr>
                </a:pPr>
                <a14:m>
                  <m:oMathPara xmlns:m="http://schemas.openxmlformats.org/officeDocument/2006/math">
                    <m:oMathParaPr>
                      <m:jc m:val="center"/>
                    </m:oMathParaPr>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1</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𝑁</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m:oMathPara>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p:txBody>
          </p:sp>
        </mc:Choice>
        <mc:Fallback>
          <p:sp>
            <p:nvSpPr>
              <p:cNvPr id="74" name="文本框 73"/>
              <p:cNvSpPr txBox="1">
                <a:spLocks noRot="1" noChangeAspect="1" noMove="1" noResize="1" noEditPoints="1" noAdjustHandles="1" noChangeArrowheads="1" noChangeShapeType="1" noTextEdit="1"/>
              </p:cNvSpPr>
              <p:nvPr/>
            </p:nvSpPr>
            <p:spPr>
              <a:xfrm>
                <a:off x="7832725" y="4060825"/>
                <a:ext cx="472440" cy="381635"/>
              </a:xfrm>
              <a:prstGeom prst="rect">
                <a:avLst/>
              </a:prstGeom>
              <a:blipFill rotWithShape="1">
                <a:blip r:embed="rId24"/>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5" name="文本框 74"/>
              <p:cNvSpPr txBox="1"/>
              <p:nvPr/>
            </p:nvSpPr>
            <p:spPr>
              <a:xfrm>
                <a:off x="6221095" y="4531360"/>
                <a:ext cx="2152650" cy="333375"/>
              </a:xfrm>
              <a:prstGeom prst="rect">
                <a:avLst/>
              </a:prstGeom>
              <a:ln>
                <a:noFill/>
              </a:ln>
            </p:spPr>
            <p:txBody>
              <a:bodyPr wrap="square" lIns="0" tIns="0" rIns="0" bIns="0" numCol="1" spcCol="36000"/>
              <a:p>
                <a:pPr indent="0" algn="just" fontAlgn="auto">
                  <a:lnSpc>
                    <a:spcPct val="100000"/>
                  </a:lnSpc>
                  <a:spcBef>
                    <a:spcPts val="0"/>
                  </a:spcBef>
                  <a:spcAft>
                    <a:spcPts val="600"/>
                  </a:spcAft>
                  <a:buClr>
                    <a:schemeClr val="tx2"/>
                  </a:buClr>
                </a:pPr>
                <a14:m>
                  <m:oMathPara xmlns:m="http://schemas.openxmlformats.org/officeDocument/2006/math">
                    <m:oMathParaPr>
                      <m:jc m:val="centerGroup"/>
                    </m:oMathParaPr>
                    <m:oMath xmlns:m="http://schemas.openxmlformats.org/officeDocument/2006/math">
                      <m:sSubSup>
                        <m:sSubSup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𝑑𝑒𝑞𝑢𝑎𝑛𝑡</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2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oMath>
                  </m:oMathPara>
                </a14:m>
                <a:endParaRPr lang="zh-CN" altLang="en-US" sz="1200" b="0" i="1"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Choice>
        <mc:Fallback>
          <p:sp>
            <p:nvSpPr>
              <p:cNvPr id="75" name="文本框 74"/>
              <p:cNvSpPr txBox="1">
                <a:spLocks noRot="1" noChangeAspect="1" noMove="1" noResize="1" noEditPoints="1" noAdjustHandles="1" noChangeArrowheads="1" noChangeShapeType="1" noTextEdit="1"/>
              </p:cNvSpPr>
              <p:nvPr/>
            </p:nvSpPr>
            <p:spPr>
              <a:xfrm>
                <a:off x="6221095" y="4531360"/>
                <a:ext cx="2152650" cy="333375"/>
              </a:xfrm>
              <a:prstGeom prst="rect">
                <a:avLst/>
              </a:prstGeom>
              <a:blipFill rotWithShape="1">
                <a:blip r:embed="rId25"/>
                <a:stretch>
                  <a:fillRect/>
                </a:stretch>
              </a:blipFill>
              <a:ln>
                <a:noFill/>
              </a:ln>
            </p:spPr>
            <p:txBody>
              <a:bodyPr/>
              <a:lstStyle/>
              <a:p>
                <a:r>
                  <a:rPr lang="zh-CN" altLang="en-US">
                    <a:noFill/>
                  </a:rPr>
                  <a:t> </a:t>
                </a:r>
              </a:p>
            </p:txBody>
          </p:sp>
        </mc:Fallback>
      </mc:AlternateContent>
      <p:sp>
        <p:nvSpPr>
          <p:cNvPr id="76" name="同侧圆角矩形 75"/>
          <p:cNvSpPr/>
          <p:nvPr>
            <p:custDataLst>
              <p:tags r:id="rId26"/>
            </p:custDataLst>
          </p:nvPr>
        </p:nvSpPr>
        <p:spPr>
          <a:xfrm>
            <a:off x="3851275" y="4958715"/>
            <a:ext cx="4568190" cy="285750"/>
          </a:xfrm>
          <a:prstGeom prst="round2SameRect">
            <a:avLst>
              <a:gd name="adj1" fmla="val 28266"/>
              <a:gd name="adj2" fmla="val 0"/>
            </a:avLst>
          </a:prstGeom>
          <a:solidFill>
            <a:schemeClr val="accent4">
              <a:lumMod val="20000"/>
              <a:lumOff val="80000"/>
            </a:schemeClr>
          </a:solidFill>
          <a:ln w="15875">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1400" b="1">
                <a:solidFill>
                  <a:schemeClr val="accent4">
                    <a:lumMod val="75000"/>
                  </a:schemeClr>
                </a:solidFill>
              </a:rPr>
              <a:t>④</a:t>
            </a:r>
            <a:r>
              <a:rPr lang="en-US" altLang="zh-CN" sz="1400" b="1">
                <a:solidFill>
                  <a:schemeClr val="accent4">
                    <a:lumMod val="75000"/>
                  </a:schemeClr>
                </a:solidFill>
              </a:rPr>
              <a:t> </a:t>
            </a:r>
            <a:r>
              <a:rPr lang="zh-CN" altLang="en-US" sz="1400" b="1">
                <a:solidFill>
                  <a:schemeClr val="accent4">
                    <a:lumMod val="75000"/>
                  </a:schemeClr>
                </a:solidFill>
              </a:rPr>
              <a:t>本地求和与结果</a:t>
            </a:r>
            <a:r>
              <a:rPr lang="zh-CN" altLang="en-US" sz="1400" b="1">
                <a:solidFill>
                  <a:schemeClr val="accent4">
                    <a:lumMod val="75000"/>
                  </a:schemeClr>
                </a:solidFill>
              </a:rPr>
              <a:t>广播</a:t>
            </a:r>
            <a:endParaRPr lang="zh-CN" altLang="en-US" sz="1400" b="1">
              <a:solidFill>
                <a:schemeClr val="accent4">
                  <a:lumMod val="75000"/>
                </a:schemeClr>
              </a:solidFill>
            </a:endParaRPr>
          </a:p>
        </p:txBody>
      </p:sp>
      <p:sp>
        <p:nvSpPr>
          <p:cNvPr id="77" name="同侧圆角矩形 76"/>
          <p:cNvSpPr/>
          <p:nvPr>
            <p:custDataLst>
              <p:tags r:id="rId27"/>
            </p:custDataLst>
          </p:nvPr>
        </p:nvSpPr>
        <p:spPr>
          <a:xfrm rot="10800000">
            <a:off x="3851275" y="5244465"/>
            <a:ext cx="4568190" cy="811530"/>
          </a:xfrm>
          <a:prstGeom prst="round2SameRect">
            <a:avLst>
              <a:gd name="adj1" fmla="val 7339"/>
              <a:gd name="adj2" fmla="val 0"/>
            </a:avLst>
          </a:prstGeom>
          <a:noFill/>
          <a:ln w="15875">
            <a:solidFill>
              <a:schemeClr val="accent4">
                <a:lumMod val="75000"/>
              </a:schemeClr>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mc:AlternateContent xmlns:mc="http://schemas.openxmlformats.org/markup-compatibility/2006">
        <mc:Choice xmlns:a14="http://schemas.microsoft.com/office/drawing/2010/main" Requires="a14">
          <p:sp>
            <p:nvSpPr>
              <p:cNvPr id="78" name="文本框 77"/>
              <p:cNvSpPr txBox="1"/>
              <p:nvPr/>
            </p:nvSpPr>
            <p:spPr>
              <a:xfrm>
                <a:off x="3918585" y="5335905"/>
                <a:ext cx="4455160" cy="914400"/>
              </a:xfrm>
              <a:prstGeom prst="rect">
                <a:avLst/>
              </a:prstGeom>
              <a:ln>
                <a:noFill/>
              </a:ln>
            </p:spPr>
            <p:txBody>
              <a:bodyPr wrap="square" lIns="0" tIns="0" rIns="0" bIns="0" numCol="2" spcCol="36000"/>
              <a:p>
                <a:pPr indent="0" algn="l" fontAlgn="auto">
                  <a:lnSpc>
                    <a:spcPct val="100000"/>
                  </a:lnSpc>
                  <a:spcBef>
                    <a:spcPts val="0"/>
                  </a:spcBef>
                  <a:spcAft>
                    <a:spcPts val="600"/>
                  </a:spcAft>
                  <a:buClr>
                    <a:schemeClr val="tx2"/>
                  </a:buClr>
                </a:pP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对同一块</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k</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聚合全部</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来源：</a:t>
                </a:r>
                <a:endPar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indent="0" algn="l" fontAlgn="auto">
                  <a:lnSpc>
                    <a:spcPct val="100000"/>
                  </a:lnSpc>
                  <a:spcBef>
                    <a:spcPts val="0"/>
                  </a:spcBef>
                  <a:spcAft>
                    <a:spcPts val="600"/>
                  </a:spcAft>
                  <a:buClr>
                    <a:schemeClr val="tx2"/>
                  </a:buClr>
                </a:pPr>
                <a14:m>
                  <m:oMathPara xmlns:m="http://schemas.openxmlformats.org/officeDocument/2006/math">
                    <m:oMathParaPr>
                      <m:jc m:val="centerGroup"/>
                    </m:oMathParaPr>
                    <m:oMath xmlns:m="http://schemas.openxmlformats.org/officeDocument/2006/math">
                      <m:sSub>
                        <m:sSub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acc>
                            <m:accPr>
                              <m:chr m:val="̅"/>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nary>
                        <m:naryPr>
                          <m:chr m:val="∑"/>
                          <m:limLoc m:val="undOvr"/>
                          <m:subHide m:val="on"/>
                          <m:supHide m:val="on"/>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naryPr>
                        <m:sub/>
                        <m:sup/>
                        <m:e>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e>
                      </m:nary>
                    </m:oMath>
                  </m:oMathPara>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indent="0" algn="l" fontAlgn="auto">
                  <a:lnSpc>
                    <a:spcPct val="100000"/>
                  </a:lnSpc>
                  <a:spcBef>
                    <a:spcPts val="0"/>
                  </a:spcBef>
                  <a:spcAft>
                    <a:spcPts val="600"/>
                  </a:spcAft>
                  <a:buClr>
                    <a:schemeClr val="tx2"/>
                  </a:buClr>
                </a:pP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将各自持有的</a:t>
                </a:r>
                <a14:m>
                  <m:oMath xmlns:m="http://schemas.openxmlformats.org/officeDocument/2006/math">
                    <m:sSub>
                      <m:sSub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acc>
                          <m:accPr>
                            <m:chr m:val="̅"/>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Sub>
                  </m:oMath>
                </a14:m>
                <a:r>
                  <a:rPr lang="zh-CN" altLang="en-US" sz="1400"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a:t>广播给所有卡，从而获得完整的</a:t>
                </a:r>
                <a14:m>
                  <m:oMath xmlns:m="http://schemas.openxmlformats.org/officeDocument/2006/math">
                    <m:sSub>
                      <m:sSub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acc>
                          <m:accPr>
                            <m:chr m:val="̅"/>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Sub>
                  </m:oMath>
                </a14:m>
                <a:endParaRPr lang="zh-CN" altLang="en-US" sz="1400"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p:txBody>
          </p:sp>
        </mc:Choice>
        <mc:Fallback>
          <p:sp>
            <p:nvSpPr>
              <p:cNvPr id="78" name="文本框 77"/>
              <p:cNvSpPr txBox="1">
                <a:spLocks noRot="1" noChangeAspect="1" noMove="1" noResize="1" noEditPoints="1" noAdjustHandles="1" noChangeArrowheads="1" noChangeShapeType="1" noTextEdit="1"/>
              </p:cNvSpPr>
              <p:nvPr/>
            </p:nvSpPr>
            <p:spPr>
              <a:xfrm>
                <a:off x="3918585" y="5335905"/>
                <a:ext cx="4455160" cy="914400"/>
              </a:xfrm>
              <a:prstGeom prst="rect">
                <a:avLst/>
              </a:prstGeom>
              <a:blipFill rotWithShape="1">
                <a:blip r:embed="rId28"/>
                <a:stretch>
                  <a:fillRect t="-1597" b="-11042"/>
                </a:stretch>
              </a:blipFill>
              <a:ln>
                <a:noFill/>
              </a:ln>
            </p:spPr>
            <p:txBody>
              <a:bodyPr/>
              <a:lstStyle/>
              <a:p>
                <a:r>
                  <a:rPr lang="zh-CN" altLang="en-US">
                    <a:noFill/>
                  </a:rPr>
                  <a:t> </a:t>
                </a:r>
              </a:p>
            </p:txBody>
          </p:sp>
        </mc:Fallback>
      </mc:AlternateContent>
    </p:spTree>
    <p:custDataLst>
      <p:tags r:id="rId29"/>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7070" y="262890"/>
            <a:ext cx="7920355" cy="521970"/>
          </a:xfrm>
        </p:spPr>
        <p:txBody>
          <a:bodyPr>
            <a:normAutofit fontScale="90000"/>
          </a:bodyPr>
          <a:lstStyle/>
          <a:p>
            <a:r>
              <a:rPr dirty="0"/>
              <a:t>核心技术</a:t>
            </a:r>
            <a:r>
              <a:rPr lang="en-US" altLang="zh-CN" dirty="0"/>
              <a:t>-</a:t>
            </a:r>
            <a:r>
              <a:rPr sz="2200">
                <a:sym typeface="+mn-ea"/>
              </a:rPr>
              <a:t>分布式优化器低比特量化方法</a:t>
            </a:r>
            <a:endParaRPr sz="2200">
              <a:sym typeface="+mn-ea"/>
            </a:endParaRPr>
          </a:p>
        </p:txBody>
      </p:sp>
      <p:pic>
        <p:nvPicPr>
          <p:cNvPr id="4" name="图片 3"/>
          <p:cNvPicPr>
            <a:picLocks noChangeAspect="1"/>
          </p:cNvPicPr>
          <p:nvPr/>
        </p:nvPicPr>
        <p:blipFill>
          <a:blip r:embed="rId1"/>
          <a:stretch>
            <a:fillRect/>
          </a:stretch>
        </p:blipFill>
        <p:spPr>
          <a:xfrm>
            <a:off x="4251325" y="1183005"/>
            <a:ext cx="4471670" cy="2661285"/>
          </a:xfrm>
          <a:prstGeom prst="rect">
            <a:avLst/>
          </a:prstGeom>
        </p:spPr>
      </p:pic>
      <p:graphicFrame>
        <p:nvGraphicFramePr>
          <p:cNvPr id="8" name="对象 7">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4514850" y="3321050"/>
                        <a:ext cx="114300" cy="215900"/>
                      </a:xfrm>
                      <a:prstGeom prst="rect">
                        <a:avLst/>
                      </a:prstGeom>
                    </p:spPr>
                  </p:pic>
                </p:oleObj>
              </mc:Fallback>
            </mc:AlternateContent>
          </a:graphicData>
        </a:graphic>
      </p:graphicFrame>
      <p:grpSp>
        <p:nvGrpSpPr>
          <p:cNvPr id="27" name="组合 26"/>
          <p:cNvGrpSpPr/>
          <p:nvPr>
            <p:custDataLst>
              <p:tags r:id="rId4"/>
            </p:custDataLst>
          </p:nvPr>
        </p:nvGrpSpPr>
        <p:grpSpPr>
          <a:xfrm>
            <a:off x="326390" y="1183005"/>
            <a:ext cx="3815080" cy="2635885"/>
            <a:chOff x="514" y="1863"/>
            <a:chExt cx="6008" cy="4151"/>
          </a:xfrm>
        </p:grpSpPr>
        <p:sp>
          <p:nvSpPr>
            <p:cNvPr id="17" name="同侧圆角矩形 16"/>
            <p:cNvSpPr/>
            <p:nvPr>
              <p:custDataLst>
                <p:tags r:id="rId5"/>
              </p:custDataLst>
            </p:nvPr>
          </p:nvSpPr>
          <p:spPr>
            <a:xfrm>
              <a:off x="514" y="1863"/>
              <a:ext cx="6008" cy="750"/>
            </a:xfrm>
            <a:prstGeom prst="round2SameRect">
              <a:avLst>
                <a:gd name="adj1" fmla="val 28266"/>
                <a:gd name="adj2" fmla="val 0"/>
              </a:avLst>
            </a:prstGeom>
            <a:solidFill>
              <a:schemeClr val="accent1">
                <a:lumMod val="20000"/>
                <a:lumOff val="80000"/>
              </a:schemeClr>
            </a:solidFill>
            <a:ln w="1905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同侧圆角矩形 17"/>
            <p:cNvSpPr/>
            <p:nvPr>
              <p:custDataLst>
                <p:tags r:id="rId6"/>
              </p:custDataLst>
            </p:nvPr>
          </p:nvSpPr>
          <p:spPr>
            <a:xfrm rot="10800000">
              <a:off x="514" y="2613"/>
              <a:ext cx="6008" cy="3401"/>
            </a:xfrm>
            <a:prstGeom prst="round2SameRect">
              <a:avLst>
                <a:gd name="adj1" fmla="val 7339"/>
                <a:gd name="adj2" fmla="val 0"/>
              </a:avLst>
            </a:prstGeom>
            <a:noFill/>
            <a:ln w="19050">
              <a:solidFill>
                <a:schemeClr val="accent1"/>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9" name="Овал 64"/>
            <p:cNvSpPr/>
            <p:nvPr>
              <p:custDataLst>
                <p:tags r:id="rId7"/>
              </p:custDataLst>
            </p:nvPr>
          </p:nvSpPr>
          <p:spPr>
            <a:xfrm>
              <a:off x="668" y="2034"/>
              <a:ext cx="446" cy="435"/>
            </a:xfrm>
            <a:prstGeom prst="ellipse">
              <a:avLst/>
            </a:prstGeom>
            <a:solidFill>
              <a:schemeClr val="accent1">
                <a:lumMod val="75000"/>
              </a:schemeClr>
            </a:solidFill>
            <a:ln w="25400" cap="flat" cmpd="sng" algn="ctr">
              <a:solidFill>
                <a:schemeClr val="accent1">
                  <a:lumMod val="75000"/>
                </a:schemeClr>
              </a:solid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1</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sp>
          <p:nvSpPr>
            <p:cNvPr id="20" name="文本框 2"/>
            <p:cNvSpPr txBox="1"/>
            <p:nvPr>
              <p:custDataLst>
                <p:tags r:id="rId8"/>
              </p:custDataLst>
            </p:nvPr>
          </p:nvSpPr>
          <p:spPr>
            <a:xfrm>
              <a:off x="1114" y="1953"/>
              <a:ext cx="5260" cy="580"/>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dirty="0">
                  <a:solidFill>
                    <a:schemeClr val="accent1">
                      <a:lumMod val="75000"/>
                    </a:schemeClr>
                  </a:solidFill>
                  <a:latin typeface="Times New Roman" panose="02020603050405020304" pitchFamily="18" charset="0"/>
                  <a:ea typeface="Microsoft YaHei" panose="020B0503020204020204" charset="-122"/>
                  <a:cs typeface="Times New Roman" panose="02020603050405020304" pitchFamily="18" charset="0"/>
                </a:rPr>
                <a:t>问题分析</a:t>
              </a:r>
              <a:r>
                <a:rPr lang="en-US" altLang="zh-CN" sz="1800" dirty="0">
                  <a:solidFill>
                    <a:schemeClr val="accent1">
                      <a:lumMod val="75000"/>
                    </a:schemeClr>
                  </a:solidFill>
                  <a:latin typeface="Times New Roman" panose="02020603050405020304" pitchFamily="18" charset="0"/>
                  <a:ea typeface="Microsoft YaHei" panose="020B0503020204020204" charset="-122"/>
                  <a:cs typeface="Times New Roman" panose="02020603050405020304" pitchFamily="18" charset="0"/>
                </a:rPr>
                <a:t>  </a:t>
              </a:r>
              <a:r>
                <a:rPr lang="zh-CN" altLang="en-US" sz="120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作用：降低动态范围</a:t>
              </a:r>
              <a:endParaRPr lang="zh-CN" altLang="en-US" sz="120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p:txBody>
        </p:sp>
        <mc:AlternateContent xmlns:mc="http://schemas.openxmlformats.org/markup-compatibility/2006">
          <mc:Choice xmlns:a14="http://schemas.microsoft.com/office/drawing/2010/main" Requires="a14">
            <p:sp>
              <p:nvSpPr>
                <p:cNvPr id="22" name="Текст 12"/>
                <p:cNvSpPr txBox="1"/>
                <p:nvPr>
                  <p:custDataLst>
                    <p:tags r:id="rId9"/>
                  </p:custDataLst>
                </p:nvPr>
              </p:nvSpPr>
              <p:spPr>
                <a:xfrm>
                  <a:off x="667" y="2613"/>
                  <a:ext cx="5706" cy="3288"/>
                </a:xfrm>
                <a:prstGeom prst="rect">
                  <a:avLst/>
                </a:prstGeom>
                <a:ln>
                  <a:noFill/>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(1)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维护高精度梯度</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与量化误差</a:t>
                  </a:r>
                  <a14:m>
                    <m:oMath xmlns:m="http://schemas.openxmlformats.org/officeDocument/2006/math">
                      <m:r>
                        <a:rPr lang="en-US" altLang="zh-CN" sz="1400" b="0"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 </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𝑒</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endPar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(2)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构造传输数据：</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𝑔</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𝑒</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(3) EF21+</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更新：</a:t>
                  </a:r>
                  <a:endPar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ctr" fontAlgn="auto">
                    <a:lnSpc>
                      <a:spcPct val="130000"/>
                    </a:lnSpc>
                    <a:spcBef>
                      <a:spcPts val="0"/>
                    </a:spcBef>
                    <a:spcAft>
                      <a:spcPts val="600"/>
                    </a:spcAft>
                    <a:buClr>
                      <a:schemeClr val="tx2"/>
                    </a:buClr>
                  </a:pP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ℎ</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hr m:val="̃"/>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r>
                    <a:rPr lang="zh-CN" altLang="en-US" sz="1400"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a:t>，</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𝑒</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endPar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endParaRPr lang="en-US" altLang="zh-CN" sz="1600" b="0" i="1"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endParaRPr lang="zh-CN" altLang="en-US" sz="1600" b="0" noProof="0" dirty="0">
                    <a:ln>
                      <a:noFill/>
                    </a:ln>
                    <a:solidFill>
                      <a:schemeClr val="tx1"/>
                    </a:solidFill>
                    <a:effectLst/>
                    <a:uLnTx/>
                    <a:uFillTx/>
                    <a:latin typeface="Microsoft YaHei" panose="020B0503020204020204" charset="-122"/>
                    <a:ea typeface="Microsoft YaHei" panose="020B0503020204020204" charset="-122"/>
                    <a:cs typeface="Times New Roman" panose="02020603050405020304" pitchFamily="18" charset="0"/>
                    <a:sym typeface="+mn-ea"/>
                  </a:endParaRPr>
                </a:p>
                <a:p>
                  <a:pPr marL="69850" indent="457200" algn="just" fontAlgn="auto">
                    <a:lnSpc>
                      <a:spcPct val="130000"/>
                    </a:lnSpc>
                    <a:spcBef>
                      <a:spcPts val="0"/>
                    </a:spcBef>
                    <a:spcAft>
                      <a:spcPts val="600"/>
                    </a:spcAft>
                    <a:buClr>
                      <a:schemeClr val="tx2"/>
                    </a:buClr>
                  </a:pPr>
                  <a:r>
                    <a:rPr lang="en-US" altLang="zh-CN" sz="1600" b="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sym typeface="+mn-ea"/>
                    </a:rPr>
                    <a:t>1</a:t>
                  </a:r>
                  <a:endParaRPr lang="en-US" altLang="zh-CN" sz="1600" b="0" dirty="0">
                    <a:latin typeface="Microsoft YaHei" panose="020B0503020204020204" charset="-122"/>
                    <a:ea typeface="Microsoft YaHei" panose="020B0503020204020204" charset="-122"/>
                  </a:endParaRPr>
                </a:p>
              </p:txBody>
            </p:sp>
          </mc:Choice>
          <mc:Fallback>
            <p:sp>
              <p:nvSpPr>
                <p:cNvPr id="22" name="Текст 12"/>
                <p:cNvSpPr txBox="1">
                  <a:spLocks noRot="1" noChangeAspect="1" noMove="1" noResize="1" noEditPoints="1" noAdjustHandles="1" noChangeArrowheads="1" noChangeShapeType="1" noTextEdit="1"/>
                </p:cNvSpPr>
                <p:nvPr>
                  <p:custDataLst>
                    <p:tags r:id="rId10"/>
                  </p:custDataLst>
                </p:nvPr>
              </p:nvSpPr>
              <p:spPr>
                <a:xfrm>
                  <a:off x="667" y="2613"/>
                  <a:ext cx="5706" cy="3288"/>
                </a:xfrm>
                <a:prstGeom prst="rect">
                  <a:avLst/>
                </a:prstGeom>
                <a:blipFill rotWithShape="1">
                  <a:blip r:embed="rId11"/>
                </a:blipFill>
                <a:ln>
                  <a:noFill/>
                </a:ln>
              </p:spPr>
              <p:txBody>
                <a:bodyPr/>
                <a:lstStyle/>
                <a:p>
                  <a:r>
                    <a:rPr lang="zh-CN" altLang="en-US">
                      <a:noFill/>
                    </a:rPr>
                    <a:t> </a:t>
                  </a:r>
                </a:p>
              </p:txBody>
            </p:sp>
          </mc:Fallback>
        </mc:AlternateContent>
      </p:grpSp>
      <p:grpSp>
        <p:nvGrpSpPr>
          <p:cNvPr id="28" name="组合 27"/>
          <p:cNvGrpSpPr/>
          <p:nvPr>
            <p:custDataLst>
              <p:tags r:id="rId12"/>
            </p:custDataLst>
          </p:nvPr>
        </p:nvGrpSpPr>
        <p:grpSpPr>
          <a:xfrm>
            <a:off x="326390" y="3945255"/>
            <a:ext cx="8396605" cy="2635885"/>
            <a:chOff x="514" y="1863"/>
            <a:chExt cx="13223" cy="4151"/>
          </a:xfrm>
        </p:grpSpPr>
        <p:sp>
          <p:nvSpPr>
            <p:cNvPr id="29" name="同侧圆角矩形 28"/>
            <p:cNvSpPr/>
            <p:nvPr>
              <p:custDataLst>
                <p:tags r:id="rId13"/>
              </p:custDataLst>
            </p:nvPr>
          </p:nvSpPr>
          <p:spPr>
            <a:xfrm>
              <a:off x="514" y="1863"/>
              <a:ext cx="13223" cy="750"/>
            </a:xfrm>
            <a:prstGeom prst="round2SameRect">
              <a:avLst>
                <a:gd name="adj1" fmla="val 28266"/>
                <a:gd name="adj2" fmla="val 0"/>
              </a:avLst>
            </a:prstGeom>
            <a:solidFill>
              <a:schemeClr val="accent6">
                <a:lumMod val="20000"/>
                <a:lumOff val="80000"/>
              </a:schemeClr>
            </a:solidFill>
            <a:ln w="19050">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同侧圆角矩形 29"/>
            <p:cNvSpPr/>
            <p:nvPr>
              <p:custDataLst>
                <p:tags r:id="rId14"/>
              </p:custDataLst>
            </p:nvPr>
          </p:nvSpPr>
          <p:spPr>
            <a:xfrm rot="10800000">
              <a:off x="514" y="2613"/>
              <a:ext cx="13223" cy="3401"/>
            </a:xfrm>
            <a:prstGeom prst="round2SameRect">
              <a:avLst>
                <a:gd name="adj1" fmla="val 7339"/>
                <a:gd name="adj2" fmla="val 0"/>
              </a:avLst>
            </a:prstGeom>
            <a:noFill/>
            <a:ln w="19050">
              <a:solidFill>
                <a:schemeClr val="accent6"/>
              </a:solidFill>
            </a:ln>
            <a:extLst>
              <a:ext uri="{909E8E84-426E-40DD-AFC4-6F175D3DCCD1}">
                <a14:hiddenFill xmlns:a14="http://schemas.microsoft.com/office/drawing/2010/main">
                  <a:solidFill>
                    <a:schemeClr val="accent1">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31" name="Овал 64"/>
            <p:cNvSpPr/>
            <p:nvPr>
              <p:custDataLst>
                <p:tags r:id="rId15"/>
              </p:custDataLst>
            </p:nvPr>
          </p:nvSpPr>
          <p:spPr>
            <a:xfrm>
              <a:off x="668" y="2034"/>
              <a:ext cx="446" cy="435"/>
            </a:xfrm>
            <a:prstGeom prst="ellipse">
              <a:avLst/>
            </a:prstGeom>
            <a:solidFill>
              <a:schemeClr val="accent6">
                <a:lumMod val="50000"/>
              </a:schemeClr>
            </a:solidFill>
            <a:ln w="25400" cap="flat" cmpd="sng" algn="ctr">
              <a:solidFill>
                <a:schemeClr val="accent6">
                  <a:lumMod val="50000"/>
                </a:schemeClr>
              </a:solid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2</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sp>
          <p:nvSpPr>
            <p:cNvPr id="32" name="文本框 2"/>
            <p:cNvSpPr txBox="1"/>
            <p:nvPr>
              <p:custDataLst>
                <p:tags r:id="rId16"/>
              </p:custDataLst>
            </p:nvPr>
          </p:nvSpPr>
          <p:spPr>
            <a:xfrm>
              <a:off x="1114" y="1953"/>
              <a:ext cx="12441" cy="580"/>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rPr>
                <a:t>解决方案</a:t>
              </a:r>
              <a:r>
                <a:rPr lang="en-US" altLang="zh-CN" sz="18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rPr>
                <a:t>   </a:t>
              </a:r>
              <a:r>
                <a:rPr lang="zh-CN" altLang="en-US" sz="12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rPr>
                <a:t>作用：令量化值统计上无偏</a:t>
              </a:r>
              <a:endParaRPr lang="zh-CN" altLang="en-US" sz="1200" dirty="0">
                <a:solidFill>
                  <a:schemeClr val="accent6">
                    <a:lumMod val="50000"/>
                  </a:schemeClr>
                </a:solidFill>
                <a:latin typeface="Times New Roman" panose="02020603050405020304" pitchFamily="18" charset="0"/>
                <a:ea typeface="Microsoft YaHei" panose="020B050302020402020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3" name="Текст 12"/>
                <p:cNvSpPr txBox="1"/>
                <p:nvPr>
                  <p:custDataLst>
                    <p:tags r:id="rId17"/>
                  </p:custDataLst>
                </p:nvPr>
              </p:nvSpPr>
              <p:spPr>
                <a:xfrm>
                  <a:off x="667" y="2613"/>
                  <a:ext cx="12888" cy="3228"/>
                </a:xfrm>
                <a:prstGeom prst="rect">
                  <a:avLst/>
                </a:prstGeom>
                <a:ln>
                  <a:noFill/>
                </a:ln>
              </p:spPr>
              <p:txBody>
                <a:bodyPr wrap="square" numCol="2" spcCol="36000">
                  <a:no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0" algn="just" fontAlgn="auto">
                    <a:lnSpc>
                      <a:spcPct val="130000"/>
                    </a:lnSpc>
                    <a:spcBef>
                      <a:spcPts val="0"/>
                    </a:spcBef>
                    <a:spcAft>
                      <a:spcPts val="600"/>
                    </a:spcAft>
                    <a:buClr>
                      <a:schemeClr val="tx2"/>
                    </a:buClr>
                  </a:pPr>
                  <a:r>
                    <a:rPr 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(1)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块划分：将</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oMath>
                  </a14:m>
                  <a:r>
                    <a:rPr lang="en-US" altLang="zh-CN"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按大小</a:t>
                  </a:r>
                  <a:r>
                    <a:rPr lang="en-US" altLang="zh-CN"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B</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划分为</a:t>
                  </a:r>
                  <a14:m>
                    <m:oMath xmlns:m="http://schemas.openxmlformats.org/officeDocument/2006/math">
                      <m:sSubSup>
                        <m:sSubSupPr>
                          <m:ctrlP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effectLst/>
                              <a:uLnTx/>
                              <a:uFillTx/>
                              <a:latin typeface="Cambria Math" panose="02040503050406030204" charset="0"/>
                              <a:ea typeface="Microsoft YaHei" panose="020B0503020204020204" charset="-122"/>
                              <a:cs typeface="Cambria Math" panose="02040503050406030204" charset="0"/>
                              <a:sym typeface="+mn-ea"/>
                            </a:rPr>
                            <m:t>)</m:t>
                          </m:r>
                        </m:sup>
                      </m:sSubSup>
                    </m:oMath>
                  </a14:m>
                  <a:endPar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(2)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每块以</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f>
                        <m:f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fPr>
                        <m:num>
                          <m:sSub>
                            <m:sSub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𝑚𝑎𝑥</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num>
                        <m:den>
                          <m:sSup>
                            <m:s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2</m:t>
                              </m:r>
                            </m:e>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p>
                          </m:s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1</m:t>
                          </m:r>
                        </m:den>
                      </m:f>
                    </m:oMath>
                  </a14:m>
                  <a:r>
                    <a:rPr lang="en-US" altLang="zh-CN"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的</a:t>
                  </a:r>
                  <a:r>
                    <a:rPr lang="zh-CN" altLang="en-US" sz="1400" noProof="0" dirty="0">
                      <a:ln>
                        <a:noFill/>
                      </a:ln>
                      <a:effectLst/>
                      <a:uLnTx/>
                      <a:uFillTx/>
                      <a:latin typeface="Times New Roman" panose="02020603050405020304" pitchFamily="18" charset="0"/>
                      <a:ea typeface="Microsoft YaHei" panose="020B0503020204020204" charset="-122"/>
                      <a:cs typeface="Times New Roman" panose="02020603050405020304" pitchFamily="18" charset="0"/>
                      <a:sym typeface="+mn-ea"/>
                    </a:rPr>
                    <a:t>因子独立进行放缩</a:t>
                  </a:r>
                  <a:endPar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(3)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归一化：</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𝑢</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f>
                        <m:f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fPr>
                        <m:num>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num>
                        <m:den>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𝑠</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den>
                      </m:f>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(4)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划分小数部分：</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d>
                        <m:dPr>
                          <m:begChr m:val="⌊"/>
                          <m:endChr m:val="⌋"/>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dPr>
                        <m:e>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𝑢</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e>
                      </m:d>
                    </m:oMath>
                  </a14:m>
                  <a:r>
                    <a:rPr lang="zh-CN" altLang="en-US" sz="1400" noProof="0" dirty="0">
                      <a:ln>
                        <a:noFill/>
                      </a:ln>
                      <a:effectLst/>
                      <a:uLnTx/>
                      <a:uFillTx/>
                      <a:latin typeface="Cambria Math" panose="02040503050406030204" charset="0"/>
                      <a:ea typeface="Microsoft YaHei" panose="020B0503020204020204" charset="-122"/>
                      <a:cs typeface="Cambria Math" panose="02040503050406030204" charset="0"/>
                      <a:sym typeface="+mn-ea"/>
                    </a:rPr>
                    <a:t>，</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𝑝</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𝑢</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endPar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(4)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随机舍入：</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𝐵𝑒𝑟𝑛𝑜𝑢𝑙𝑙𝑖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𝑝</m:t>
                          </m:r>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(5) </a:t>
                  </a:r>
                  <a:r>
                    <a:rPr lang="zh-CN" alt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反量化重构：</a:t>
                  </a:r>
                  <a:r>
                    <a:rPr lang="en-US" altLang="zh-CN"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rPr>
                    <a:t> </a:t>
                  </a:r>
                  <a14:m>
                    <m:oMath xmlns:m="http://schemas.openxmlformats.org/officeDocument/2006/math">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𝑠𝑖𝑔𝑛</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ctrlPr>
                        </m:sSubSupPr>
                        <m:e>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𝑑</m:t>
                          </m:r>
                        </m:e>
                        <m:sub>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ctrlPr>
                        </m:sSubSupPr>
                        <m:e>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𝑠</m:t>
                          </m:r>
                        </m:e>
                        <m:sub>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𝑡</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sub>
                        <m:sup>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𝑞</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𝑗</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oMath>
                  </a14:m>
                  <a:r>
                    <a:rPr lang="zh-CN" altLang="en-US" sz="1400"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a:t>，</a:t>
                  </a:r>
                  <a14:m>
                    <m:oMath xmlns:m="http://schemas.openxmlformats.org/officeDocument/2006/math">
                      <m:sSubSup>
                        <m:sSubSup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hr m:val="̃"/>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sub>
                        <m: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
                        <m:sSubPr>
                          <m:ctrlP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Pr>
                        <m:e>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𝑐𝑜𝑛𝑐𝑎𝑡</m:t>
                          </m:r>
                        </m:e>
                        <m: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𝑘</m:t>
                          </m:r>
                        </m:sub>
                      </m:sSub>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SubSup>
                        <m:sSubSup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sSubSupPr>
                        <m:e>
                          <m:acc>
                            <m:accPr>
                              <m:ctrlP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ctrlPr>
                            </m:accPr>
                            <m:e>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𝑑</m:t>
                              </m:r>
                            </m:e>
                          </m:acc>
                        </m:e>
                        <m:sub>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𝑡</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S Mincho" charset="0"/>
                              <a:cs typeface="Cambria Math" panose="02040503050406030204" charset="0"/>
                              <a:sym typeface="+mn-ea"/>
                            </a:rPr>
                            <m:t>𝑘</m:t>
                          </m:r>
                        </m:sub>
                        <m:sup>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𝑖</m:t>
                          </m:r>
                          <m:r>
                            <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sup>
                      </m:sSubSup>
                      <m:r>
                        <a:rPr lang="en-US" altLang="zh-CN" sz="140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rPr>
                        <m:t>)</m:t>
                      </m:r>
                    </m:oMath>
                  </a14:m>
                  <a:endParaRPr lang="en-US" altLang="zh-CN" sz="1400" b="0" i="1" noProof="0" dirty="0">
                    <a:ln>
                      <a:noFill/>
                    </a:ln>
                    <a:solidFill>
                      <a:schemeClr val="tx1"/>
                    </a:solidFill>
                    <a:effectLst/>
                    <a:uLnTx/>
                    <a:uFillTx/>
                    <a:latin typeface="Cambria Math" panose="02040503050406030204" charset="0"/>
                    <a:ea typeface="Microsoft YaHei" panose="020B0503020204020204" charset="-122"/>
                    <a:cs typeface="Cambria Math" panose="02040503050406030204" charset="0"/>
                    <a:sym typeface="+mn-ea"/>
                  </a:endParaRPr>
                </a:p>
                <a:p>
                  <a:pPr marL="69850" indent="0" algn="just" fontAlgn="auto">
                    <a:lnSpc>
                      <a:spcPct val="130000"/>
                    </a:lnSpc>
                    <a:spcBef>
                      <a:spcPts val="0"/>
                    </a:spcBef>
                    <a:spcAft>
                      <a:spcPts val="600"/>
                    </a:spcAft>
                    <a:buClr>
                      <a:schemeClr val="tx2"/>
                    </a:buClr>
                  </a:pPr>
                  <a:endParaRPr lang="en-US" altLang="zh-CN" sz="1600" b="0" i="1"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endParaRPr>
                </a:p>
                <a:p>
                  <a:pPr marL="69850" indent="0" algn="just" fontAlgn="auto">
                    <a:lnSpc>
                      <a:spcPct val="130000"/>
                    </a:lnSpc>
                    <a:spcBef>
                      <a:spcPts val="0"/>
                    </a:spcBef>
                    <a:spcAft>
                      <a:spcPts val="600"/>
                    </a:spcAft>
                    <a:buClr>
                      <a:schemeClr val="tx2"/>
                    </a:buClr>
                  </a:pPr>
                  <a:endParaRPr lang="zh-CN" altLang="en-US" sz="1600" b="0" noProof="0" dirty="0">
                    <a:ln>
                      <a:noFill/>
                    </a:ln>
                    <a:solidFill>
                      <a:schemeClr val="tx1"/>
                    </a:solidFill>
                    <a:effectLst/>
                    <a:uLnTx/>
                    <a:uFillTx/>
                    <a:latin typeface="Microsoft YaHei" panose="020B0503020204020204" charset="-122"/>
                    <a:ea typeface="Microsoft YaHei" panose="020B0503020204020204" charset="-122"/>
                    <a:cs typeface="Times New Roman" panose="02020603050405020304" pitchFamily="18" charset="0"/>
                    <a:sym typeface="+mn-ea"/>
                  </a:endParaRPr>
                </a:p>
                <a:p>
                  <a:pPr marL="69850" indent="457200" algn="just" fontAlgn="auto">
                    <a:lnSpc>
                      <a:spcPct val="130000"/>
                    </a:lnSpc>
                    <a:spcBef>
                      <a:spcPts val="0"/>
                    </a:spcBef>
                    <a:spcAft>
                      <a:spcPts val="600"/>
                    </a:spcAft>
                    <a:buClr>
                      <a:schemeClr val="tx2"/>
                    </a:buClr>
                  </a:pPr>
                  <a:r>
                    <a:rPr lang="en-US" altLang="zh-CN" sz="1600" b="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sym typeface="+mn-ea"/>
                    </a:rPr>
                    <a:t>1</a:t>
                  </a:r>
                  <a:endParaRPr lang="en-US" altLang="zh-CN" sz="1600" b="0" dirty="0">
                    <a:latin typeface="Microsoft YaHei" panose="020B0503020204020204" charset="-122"/>
                    <a:ea typeface="Microsoft YaHei" panose="020B0503020204020204" charset="-122"/>
                  </a:endParaRPr>
                </a:p>
              </p:txBody>
            </p:sp>
          </mc:Choice>
          <mc:Fallback>
            <p:sp>
              <p:nvSpPr>
                <p:cNvPr id="33" name="Текст 12"/>
                <p:cNvSpPr txBox="1">
                  <a:spLocks noRot="1" noChangeAspect="1" noMove="1" noResize="1" noEditPoints="1" noAdjustHandles="1" noChangeArrowheads="1" noChangeShapeType="1" noTextEdit="1"/>
                </p:cNvSpPr>
                <p:nvPr>
                  <p:custDataLst>
                    <p:tags r:id="rId18"/>
                  </p:custDataLst>
                </p:nvPr>
              </p:nvSpPr>
              <p:spPr>
                <a:xfrm>
                  <a:off x="667" y="2613"/>
                  <a:ext cx="12888" cy="3228"/>
                </a:xfrm>
                <a:prstGeom prst="rect">
                  <a:avLst/>
                </a:prstGeom>
                <a:blipFill rotWithShape="1">
                  <a:blip r:embed="rId19"/>
                </a:blipFill>
                <a:ln>
                  <a:noFill/>
                </a:ln>
              </p:spPr>
              <p:txBody>
                <a:bodyPr/>
                <a:lstStyle/>
                <a:p>
                  <a:r>
                    <a:rPr lang="zh-CN" altLang="en-US">
                      <a:noFill/>
                    </a:rPr>
                    <a:t> </a:t>
                  </a:r>
                </a:p>
              </p:txBody>
            </p:sp>
          </mc:Fallback>
        </mc:AlternateContent>
      </p:grpSp>
    </p:spTree>
    <p:custDataLst>
      <p:tags r:id="rId2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7070" y="262890"/>
            <a:ext cx="7920355" cy="521970"/>
          </a:xfrm>
        </p:spPr>
        <p:txBody>
          <a:bodyPr>
            <a:normAutofit fontScale="90000"/>
          </a:bodyPr>
          <a:lstStyle/>
          <a:p>
            <a:r>
              <a:rPr dirty="0"/>
              <a:t>核心技术</a:t>
            </a:r>
            <a:r>
              <a:rPr lang="en-US" altLang="zh-CN" dirty="0"/>
              <a:t>-</a:t>
            </a:r>
            <a:r>
              <a:rPr sz="2200">
                <a:sym typeface="+mn-ea"/>
              </a:rPr>
              <a:t>层次化梯度流水通信调度策略</a:t>
            </a:r>
            <a:endParaRPr lang="en-US" altLang="zh-CN" sz="2200">
              <a:sym typeface="+mn-ea"/>
            </a:endParaRPr>
          </a:p>
        </p:txBody>
      </p:sp>
      <p:grpSp>
        <p:nvGrpSpPr>
          <p:cNvPr id="18" name="组合 22"/>
          <p:cNvGrpSpPr/>
          <p:nvPr>
            <p:custDataLst>
              <p:tags r:id="rId1"/>
            </p:custDataLst>
          </p:nvPr>
        </p:nvGrpSpPr>
        <p:grpSpPr>
          <a:xfrm>
            <a:off x="159385" y="4644390"/>
            <a:ext cx="2936240" cy="2045335"/>
            <a:chOff x="6037833" y="3187520"/>
            <a:chExt cx="1327431" cy="2869565"/>
          </a:xfrm>
        </p:grpSpPr>
        <p:sp>
          <p:nvSpPr>
            <p:cNvPr id="19" name="Текст 12"/>
            <p:cNvSpPr txBox="1"/>
            <p:nvPr>
              <p:custDataLst>
                <p:tags r:id="rId2"/>
              </p:custDataLst>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在不同网络域中传输</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将较大的张量分块进行传输</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从而能够对不同的张量块进行更好的通信调度</a:t>
              </a:r>
              <a:endParaRPr lang="en-US" altLang="zh-CN" sz="1600" dirty="0">
                <a:latin typeface="Microsoft YaHei" panose="020B0503020204020204" charset="-122"/>
                <a:ea typeface="Microsoft YaHei" panose="020B0503020204020204" charset="-122"/>
                <a:sym typeface="+mn-ea"/>
              </a:endParaRPr>
            </a:p>
          </p:txBody>
        </p:sp>
        <p:sp>
          <p:nvSpPr>
            <p:cNvPr id="21" name="Овал 67"/>
            <p:cNvSpPr/>
            <p:nvPr>
              <p:custDataLst>
                <p:tags r:id="rId3"/>
              </p:custDataLst>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1</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22" name="文本框 28"/>
          <p:cNvSpPr txBox="1"/>
          <p:nvPr>
            <p:custDataLst>
              <p:tags r:id="rId4"/>
            </p:custDataLst>
          </p:nvPr>
        </p:nvSpPr>
        <p:spPr>
          <a:xfrm>
            <a:off x="636610" y="4645047"/>
            <a:ext cx="15544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张量分块</a:t>
            </a:r>
            <a:r>
              <a:rPr lang="zh-CN" altLang="en-US" sz="1800" b="0" dirty="0">
                <a:solidFill>
                  <a:srgbClr val="436D9F"/>
                </a:solidFill>
                <a:latin typeface="Microsoft YaHei" panose="020B0503020204020204" charset="-122"/>
                <a:ea typeface="Microsoft YaHei" panose="020B0503020204020204" charset="-122"/>
              </a:rPr>
              <a:t>传输</a:t>
            </a:r>
            <a:endParaRPr lang="zh-CN" altLang="en-US" sz="1800" b="0" dirty="0">
              <a:solidFill>
                <a:srgbClr val="436D9F"/>
              </a:solidFill>
              <a:latin typeface="Microsoft YaHei" panose="020B0503020204020204" charset="-122"/>
              <a:ea typeface="Microsoft YaHei" panose="020B0503020204020204" charset="-122"/>
            </a:endParaRPr>
          </a:p>
        </p:txBody>
      </p:sp>
      <p:grpSp>
        <p:nvGrpSpPr>
          <p:cNvPr id="27" name="组合 22"/>
          <p:cNvGrpSpPr/>
          <p:nvPr>
            <p:custDataLst>
              <p:tags r:id="rId5"/>
            </p:custDataLst>
          </p:nvPr>
        </p:nvGrpSpPr>
        <p:grpSpPr>
          <a:xfrm>
            <a:off x="3179445" y="4644390"/>
            <a:ext cx="2936240" cy="2045335"/>
            <a:chOff x="6037833" y="3187520"/>
            <a:chExt cx="1327431" cy="2869565"/>
          </a:xfrm>
        </p:grpSpPr>
        <p:sp>
          <p:nvSpPr>
            <p:cNvPr id="28" name="Текст 12"/>
            <p:cNvSpPr txBox="1"/>
            <p:nvPr>
              <p:custDataLst>
                <p:tags r:id="rId6"/>
              </p:custDataLst>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不同张量块间没有依赖关系</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因此可以在不同的机器上可以开多个流进行通信</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进行不同网络域间的通信重叠</a:t>
              </a:r>
              <a:endParaRPr lang="en-US" altLang="zh-CN" sz="1600" dirty="0">
                <a:latin typeface="Microsoft YaHei" panose="020B0503020204020204" charset="-122"/>
                <a:ea typeface="Microsoft YaHei" panose="020B0503020204020204" charset="-122"/>
                <a:sym typeface="+mn-ea"/>
              </a:endParaRPr>
            </a:p>
          </p:txBody>
        </p:sp>
        <p:sp>
          <p:nvSpPr>
            <p:cNvPr id="29" name="Овал 67"/>
            <p:cNvSpPr/>
            <p:nvPr>
              <p:custDataLst>
                <p:tags r:id="rId7"/>
              </p:custDataLst>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2</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30" name="文本框 28"/>
          <p:cNvSpPr txBox="1"/>
          <p:nvPr>
            <p:custDataLst>
              <p:tags r:id="rId8"/>
            </p:custDataLst>
          </p:nvPr>
        </p:nvSpPr>
        <p:spPr>
          <a:xfrm>
            <a:off x="3656670" y="4645047"/>
            <a:ext cx="13258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通信流</a:t>
            </a:r>
            <a:r>
              <a:rPr lang="zh-CN" altLang="en-US" sz="1800" b="0" dirty="0">
                <a:solidFill>
                  <a:srgbClr val="436D9F"/>
                </a:solidFill>
                <a:latin typeface="Microsoft YaHei" panose="020B0503020204020204" charset="-122"/>
                <a:ea typeface="Microsoft YaHei" panose="020B0503020204020204" charset="-122"/>
              </a:rPr>
              <a:t>重叠</a:t>
            </a:r>
            <a:endParaRPr lang="zh-CN" altLang="en-US" sz="1800" b="0" dirty="0">
              <a:solidFill>
                <a:srgbClr val="436D9F"/>
              </a:solidFill>
              <a:latin typeface="Microsoft YaHei" panose="020B0503020204020204" charset="-122"/>
              <a:ea typeface="Microsoft YaHei" panose="020B0503020204020204" charset="-122"/>
            </a:endParaRPr>
          </a:p>
        </p:txBody>
      </p:sp>
      <p:grpSp>
        <p:nvGrpSpPr>
          <p:cNvPr id="31" name="组合 22"/>
          <p:cNvGrpSpPr/>
          <p:nvPr>
            <p:custDataLst>
              <p:tags r:id="rId9"/>
            </p:custDataLst>
          </p:nvPr>
        </p:nvGrpSpPr>
        <p:grpSpPr>
          <a:xfrm>
            <a:off x="6115685" y="4645025"/>
            <a:ext cx="2936240" cy="2045335"/>
            <a:chOff x="6037833" y="3187520"/>
            <a:chExt cx="1327431" cy="2869565"/>
          </a:xfrm>
        </p:grpSpPr>
        <p:sp>
          <p:nvSpPr>
            <p:cNvPr id="32" name="Текст 12"/>
            <p:cNvSpPr txBox="1"/>
            <p:nvPr>
              <p:custDataLst>
                <p:tags r:id="rId10"/>
              </p:custDataLst>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针对顶层网路域的低带宽环境所带来的网络限制</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通过压缩低带宽链路上的数据来减少通信流中的空泡</a:t>
              </a:r>
              <a:endParaRPr lang="en-US" altLang="zh-CN" sz="1600" dirty="0">
                <a:latin typeface="Microsoft YaHei" panose="020B0503020204020204" charset="-122"/>
                <a:ea typeface="Microsoft YaHei" panose="020B0503020204020204" charset="-122"/>
                <a:sym typeface="+mn-ea"/>
              </a:endParaRPr>
            </a:p>
          </p:txBody>
        </p:sp>
        <p:sp>
          <p:nvSpPr>
            <p:cNvPr id="33" name="Овал 67"/>
            <p:cNvSpPr/>
            <p:nvPr>
              <p:custDataLst>
                <p:tags r:id="rId11"/>
              </p:custDataLst>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3</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34" name="文本框 28"/>
          <p:cNvSpPr txBox="1"/>
          <p:nvPr>
            <p:custDataLst>
              <p:tags r:id="rId12"/>
            </p:custDataLst>
          </p:nvPr>
        </p:nvSpPr>
        <p:spPr>
          <a:xfrm>
            <a:off x="6676730" y="4645682"/>
            <a:ext cx="22402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通信关键路径的</a:t>
            </a:r>
            <a:r>
              <a:rPr lang="zh-CN" altLang="en-US" sz="1800" b="0" dirty="0">
                <a:solidFill>
                  <a:srgbClr val="436D9F"/>
                </a:solidFill>
                <a:latin typeface="Microsoft YaHei" panose="020B0503020204020204" charset="-122"/>
                <a:ea typeface="Microsoft YaHei" panose="020B0503020204020204" charset="-122"/>
              </a:rPr>
              <a:t>压缩</a:t>
            </a:r>
            <a:endParaRPr lang="zh-CN" altLang="en-US" sz="1800" b="0" dirty="0">
              <a:solidFill>
                <a:srgbClr val="436D9F"/>
              </a:solidFill>
              <a:latin typeface="Microsoft YaHei" panose="020B0503020204020204" charset="-122"/>
              <a:ea typeface="Microsoft YaHei" panose="020B0503020204020204" charset="-122"/>
            </a:endParaRPr>
          </a:p>
        </p:txBody>
      </p:sp>
      <p:pic>
        <p:nvPicPr>
          <p:cNvPr id="3" name="图片 2"/>
          <p:cNvPicPr>
            <a:picLocks noChangeAspect="1"/>
          </p:cNvPicPr>
          <p:nvPr/>
        </p:nvPicPr>
        <p:blipFill>
          <a:blip r:embed="rId13"/>
          <a:stretch>
            <a:fillRect/>
          </a:stretch>
        </p:blipFill>
        <p:spPr>
          <a:xfrm>
            <a:off x="857885" y="994410"/>
            <a:ext cx="7578090" cy="4136390"/>
          </a:xfrm>
          <a:prstGeom prst="rect">
            <a:avLst/>
          </a:prstGeom>
        </p:spPr>
      </p:pic>
    </p:spTree>
    <p:custDataLst>
      <p:tags r:id="rId1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7070" y="262890"/>
            <a:ext cx="7920355" cy="521970"/>
          </a:xfrm>
        </p:spPr>
        <p:txBody>
          <a:bodyPr>
            <a:normAutofit fontScale="90000"/>
          </a:bodyPr>
          <a:lstStyle/>
          <a:p>
            <a:r>
              <a:rPr dirty="0"/>
              <a:t>核心技术</a:t>
            </a:r>
            <a:r>
              <a:rPr lang="en-US" altLang="zh-CN" dirty="0"/>
              <a:t>-</a:t>
            </a:r>
            <a:r>
              <a:rPr sz="2200">
                <a:sym typeface="+mn-ea"/>
              </a:rPr>
              <a:t>层次化梯度流水通信调度策略</a:t>
            </a:r>
            <a:endParaRPr lang="en-US" altLang="zh-CN" sz="2200">
              <a:sym typeface="+mn-ea"/>
            </a:endParaRPr>
          </a:p>
        </p:txBody>
      </p:sp>
      <p:pic>
        <p:nvPicPr>
          <p:cNvPr id="9" name="Picture 8" descr="HierarchyReduce.drawio"/>
          <p:cNvPicPr>
            <a:picLocks noChangeAspect="1"/>
          </p:cNvPicPr>
          <p:nvPr/>
        </p:nvPicPr>
        <p:blipFill>
          <a:blip r:embed="rId1"/>
          <a:stretch>
            <a:fillRect/>
          </a:stretch>
        </p:blipFill>
        <p:spPr>
          <a:xfrm>
            <a:off x="0" y="1028700"/>
            <a:ext cx="9144000" cy="3388995"/>
          </a:xfrm>
          <a:prstGeom prst="rect">
            <a:avLst/>
          </a:prstGeom>
        </p:spPr>
      </p:pic>
      <p:grpSp>
        <p:nvGrpSpPr>
          <p:cNvPr id="18" name="组合 22"/>
          <p:cNvGrpSpPr/>
          <p:nvPr/>
        </p:nvGrpSpPr>
        <p:grpSpPr>
          <a:xfrm>
            <a:off x="159385" y="4644390"/>
            <a:ext cx="2936240" cy="2045335"/>
            <a:chOff x="6037833" y="3187520"/>
            <a:chExt cx="1327431" cy="2869565"/>
          </a:xfrm>
        </p:grpSpPr>
        <p:sp>
          <p:nvSpPr>
            <p:cNvPr id="19" name="Текст 12"/>
            <p:cNvSpPr txBox="1"/>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在不同网络域中传输</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将较大的张量分块进行传输</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从而能够对不同的张量块进行更好的通信调度</a:t>
              </a:r>
              <a:endParaRPr lang="en-US" altLang="zh-CN" sz="1600" dirty="0">
                <a:latin typeface="Microsoft YaHei" panose="020B0503020204020204" charset="-122"/>
                <a:ea typeface="Microsoft YaHei" panose="020B0503020204020204" charset="-122"/>
                <a:sym typeface="+mn-ea"/>
              </a:endParaRPr>
            </a:p>
          </p:txBody>
        </p:sp>
        <p:sp>
          <p:nvSpPr>
            <p:cNvPr id="21" name="Овал 67"/>
            <p:cNvSpPr/>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1</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22" name="文本框 28"/>
          <p:cNvSpPr txBox="1"/>
          <p:nvPr>
            <p:custDataLst>
              <p:tags r:id="rId2"/>
            </p:custDataLst>
          </p:nvPr>
        </p:nvSpPr>
        <p:spPr>
          <a:xfrm>
            <a:off x="636610" y="4645047"/>
            <a:ext cx="15544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张量分块</a:t>
            </a:r>
            <a:r>
              <a:rPr lang="zh-CN" altLang="en-US" sz="1800" b="0" dirty="0">
                <a:solidFill>
                  <a:srgbClr val="436D9F"/>
                </a:solidFill>
                <a:latin typeface="Microsoft YaHei" panose="020B0503020204020204" charset="-122"/>
                <a:ea typeface="Microsoft YaHei" panose="020B0503020204020204" charset="-122"/>
              </a:rPr>
              <a:t>传输</a:t>
            </a:r>
            <a:endParaRPr lang="zh-CN" altLang="en-US" sz="1800" b="0" dirty="0">
              <a:solidFill>
                <a:srgbClr val="436D9F"/>
              </a:solidFill>
              <a:latin typeface="Microsoft YaHei" panose="020B0503020204020204" charset="-122"/>
              <a:ea typeface="Microsoft YaHei" panose="020B0503020204020204" charset="-122"/>
            </a:endParaRPr>
          </a:p>
        </p:txBody>
      </p:sp>
      <p:grpSp>
        <p:nvGrpSpPr>
          <p:cNvPr id="27" name="组合 22"/>
          <p:cNvGrpSpPr/>
          <p:nvPr/>
        </p:nvGrpSpPr>
        <p:grpSpPr>
          <a:xfrm>
            <a:off x="3179445" y="4644390"/>
            <a:ext cx="2936240" cy="2045335"/>
            <a:chOff x="6037833" y="3187520"/>
            <a:chExt cx="1327431" cy="2869565"/>
          </a:xfrm>
        </p:grpSpPr>
        <p:sp>
          <p:nvSpPr>
            <p:cNvPr id="28" name="Текст 12"/>
            <p:cNvSpPr txBox="1"/>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不同张量块间没有依赖关系</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因此可以在不同的机器上可以开多个流进行通信</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进行不同网络域间的通信重叠</a:t>
              </a:r>
              <a:endParaRPr lang="en-US" altLang="zh-CN" sz="1600" dirty="0">
                <a:latin typeface="Microsoft YaHei" panose="020B0503020204020204" charset="-122"/>
                <a:ea typeface="Microsoft YaHei" panose="020B0503020204020204" charset="-122"/>
                <a:sym typeface="+mn-ea"/>
              </a:endParaRPr>
            </a:p>
          </p:txBody>
        </p:sp>
        <p:sp>
          <p:nvSpPr>
            <p:cNvPr id="29" name="Овал 67"/>
            <p:cNvSpPr/>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2</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30" name="文本框 28"/>
          <p:cNvSpPr txBox="1"/>
          <p:nvPr>
            <p:custDataLst>
              <p:tags r:id="rId3"/>
            </p:custDataLst>
          </p:nvPr>
        </p:nvSpPr>
        <p:spPr>
          <a:xfrm>
            <a:off x="3656670" y="4645047"/>
            <a:ext cx="13258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通信流</a:t>
            </a:r>
            <a:r>
              <a:rPr lang="zh-CN" altLang="en-US" sz="1800" b="0" dirty="0">
                <a:solidFill>
                  <a:srgbClr val="436D9F"/>
                </a:solidFill>
                <a:latin typeface="Microsoft YaHei" panose="020B0503020204020204" charset="-122"/>
                <a:ea typeface="Microsoft YaHei" panose="020B0503020204020204" charset="-122"/>
              </a:rPr>
              <a:t>重叠</a:t>
            </a:r>
            <a:endParaRPr lang="zh-CN" altLang="en-US" sz="1800" b="0" dirty="0">
              <a:solidFill>
                <a:srgbClr val="436D9F"/>
              </a:solidFill>
              <a:latin typeface="Microsoft YaHei" panose="020B0503020204020204" charset="-122"/>
              <a:ea typeface="Microsoft YaHei" panose="020B0503020204020204" charset="-122"/>
            </a:endParaRPr>
          </a:p>
        </p:txBody>
      </p:sp>
      <p:grpSp>
        <p:nvGrpSpPr>
          <p:cNvPr id="31" name="组合 22"/>
          <p:cNvGrpSpPr/>
          <p:nvPr/>
        </p:nvGrpSpPr>
        <p:grpSpPr>
          <a:xfrm>
            <a:off x="6115685" y="4645025"/>
            <a:ext cx="2936240" cy="2045335"/>
            <a:chOff x="6037833" y="3187520"/>
            <a:chExt cx="1327431" cy="2869565"/>
          </a:xfrm>
        </p:grpSpPr>
        <p:sp>
          <p:nvSpPr>
            <p:cNvPr id="32" name="Текст 12"/>
            <p:cNvSpPr txBox="1"/>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针对顶层网路域的低带宽环境所带来的网络限制</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通过压缩低带宽链路上的数据来减少通信流中的空泡</a:t>
              </a:r>
              <a:endParaRPr lang="en-US" altLang="zh-CN" sz="1600" dirty="0">
                <a:latin typeface="Microsoft YaHei" panose="020B0503020204020204" charset="-122"/>
                <a:ea typeface="Microsoft YaHei" panose="020B0503020204020204" charset="-122"/>
                <a:sym typeface="+mn-ea"/>
              </a:endParaRPr>
            </a:p>
          </p:txBody>
        </p:sp>
        <p:sp>
          <p:nvSpPr>
            <p:cNvPr id="33" name="Овал 67"/>
            <p:cNvSpPr/>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3</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34" name="文本框 28"/>
          <p:cNvSpPr txBox="1"/>
          <p:nvPr>
            <p:custDataLst>
              <p:tags r:id="rId4"/>
            </p:custDataLst>
          </p:nvPr>
        </p:nvSpPr>
        <p:spPr>
          <a:xfrm>
            <a:off x="6676730" y="4645682"/>
            <a:ext cx="22402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通信关键路径的</a:t>
            </a:r>
            <a:r>
              <a:rPr lang="zh-CN" altLang="en-US" sz="1800" b="0" dirty="0">
                <a:solidFill>
                  <a:srgbClr val="436D9F"/>
                </a:solidFill>
                <a:latin typeface="Microsoft YaHei" panose="020B0503020204020204" charset="-122"/>
                <a:ea typeface="Microsoft YaHei" panose="020B0503020204020204" charset="-122"/>
              </a:rPr>
              <a:t>压缩</a:t>
            </a:r>
            <a:endParaRPr lang="zh-CN" altLang="en-US" sz="1800" b="0" dirty="0">
              <a:solidFill>
                <a:srgbClr val="436D9F"/>
              </a:solidFill>
              <a:latin typeface="Microsoft YaHei" panose="020B0503020204020204" charset="-122"/>
              <a:ea typeface="Microsoft YaHei" panose="020B0503020204020204" charset="-122"/>
            </a:endParaRPr>
          </a:p>
        </p:txBody>
      </p:sp>
    </p:spTree>
    <p:custDataLst>
      <p:tags r:id="rId5"/>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7070" y="262890"/>
            <a:ext cx="7920355" cy="521970"/>
          </a:xfrm>
        </p:spPr>
        <p:txBody>
          <a:bodyPr>
            <a:normAutofit fontScale="90000"/>
          </a:bodyPr>
          <a:lstStyle/>
          <a:p>
            <a:r>
              <a:rPr dirty="0"/>
              <a:t>核心技术</a:t>
            </a:r>
            <a:r>
              <a:rPr lang="en-US" altLang="zh-CN" dirty="0"/>
              <a:t>-</a:t>
            </a:r>
            <a:r>
              <a:rPr sz="2200">
                <a:sym typeface="+mn-ea"/>
              </a:rPr>
              <a:t>通信受限场景下的</a:t>
            </a:r>
            <a:r>
              <a:rPr sz="2200">
                <a:sym typeface="+mn-ea"/>
              </a:rPr>
              <a:t>计算通信掩盖策略</a:t>
            </a:r>
            <a:endParaRPr lang="en-US" altLang="zh-CN" sz="2200" dirty="0">
              <a:solidFill>
                <a:srgbClr val="004578"/>
              </a:solidFill>
              <a:sym typeface="+mn-ea"/>
            </a:endParaRPr>
          </a:p>
        </p:txBody>
      </p:sp>
      <p:pic>
        <p:nvPicPr>
          <p:cNvPr id="5" name="Picture 4" descr="overview"/>
          <p:cNvPicPr>
            <a:picLocks noChangeAspect="1"/>
          </p:cNvPicPr>
          <p:nvPr/>
        </p:nvPicPr>
        <p:blipFill>
          <a:blip r:embed="rId1"/>
          <a:stretch>
            <a:fillRect/>
          </a:stretch>
        </p:blipFill>
        <p:spPr>
          <a:xfrm>
            <a:off x="240665" y="1177925"/>
            <a:ext cx="5805805" cy="3296920"/>
          </a:xfrm>
          <a:prstGeom prst="rect">
            <a:avLst/>
          </a:prstGeom>
        </p:spPr>
      </p:pic>
      <p:grpSp>
        <p:nvGrpSpPr>
          <p:cNvPr id="8" name="组合 22"/>
          <p:cNvGrpSpPr/>
          <p:nvPr/>
        </p:nvGrpSpPr>
        <p:grpSpPr>
          <a:xfrm>
            <a:off x="3179445" y="4644390"/>
            <a:ext cx="2936240" cy="2045335"/>
            <a:chOff x="6037833" y="3187520"/>
            <a:chExt cx="1327431" cy="2869565"/>
          </a:xfrm>
        </p:grpSpPr>
        <p:sp>
          <p:nvSpPr>
            <p:cNvPr id="9" name="Текст 12"/>
            <p:cNvSpPr txBox="1"/>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根据更新模型参数时</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模型计算按层级反向传播的特征</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在模型分片时</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按层级参数量进行</a:t>
              </a:r>
              <a:r>
                <a:rPr lang="zh-CN" altLang="en-US" sz="1600" dirty="0">
                  <a:latin typeface="Microsoft YaHei" panose="020B0503020204020204" charset="-122"/>
                  <a:ea typeface="Microsoft YaHei" panose="020B0503020204020204" charset="-122"/>
                  <a:sym typeface="+mn-ea"/>
                </a:rPr>
                <a:t>均分</a:t>
              </a:r>
              <a:endParaRPr lang="zh-CN" altLang="en-US" sz="1600" dirty="0">
                <a:latin typeface="Microsoft YaHei" panose="020B0503020204020204" charset="-122"/>
                <a:ea typeface="Microsoft YaHei" panose="020B0503020204020204" charset="-122"/>
                <a:sym typeface="+mn-ea"/>
              </a:endParaRPr>
            </a:p>
          </p:txBody>
        </p:sp>
        <p:sp>
          <p:nvSpPr>
            <p:cNvPr id="10" name="Овал 67"/>
            <p:cNvSpPr/>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2</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17" name="文本框 28"/>
          <p:cNvSpPr txBox="1"/>
          <p:nvPr>
            <p:custDataLst>
              <p:tags r:id="rId2"/>
            </p:custDataLst>
          </p:nvPr>
        </p:nvSpPr>
        <p:spPr>
          <a:xfrm>
            <a:off x="3656670" y="4645047"/>
            <a:ext cx="15544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模型参数</a:t>
            </a:r>
            <a:r>
              <a:rPr lang="zh-CN" altLang="en-US" sz="1800" b="0" dirty="0">
                <a:solidFill>
                  <a:srgbClr val="436D9F"/>
                </a:solidFill>
                <a:latin typeface="Microsoft YaHei" panose="020B0503020204020204" charset="-122"/>
                <a:ea typeface="Microsoft YaHei" panose="020B0503020204020204" charset="-122"/>
              </a:rPr>
              <a:t>分区</a:t>
            </a:r>
            <a:endParaRPr lang="zh-CN" altLang="en-US" sz="1800" b="0" dirty="0">
              <a:solidFill>
                <a:srgbClr val="436D9F"/>
              </a:solidFill>
              <a:latin typeface="Microsoft YaHei" panose="020B0503020204020204" charset="-122"/>
              <a:ea typeface="Microsoft YaHei" panose="020B0503020204020204" charset="-122"/>
            </a:endParaRPr>
          </a:p>
        </p:txBody>
      </p:sp>
      <p:grpSp>
        <p:nvGrpSpPr>
          <p:cNvPr id="18" name="组合 22"/>
          <p:cNvGrpSpPr/>
          <p:nvPr/>
        </p:nvGrpSpPr>
        <p:grpSpPr>
          <a:xfrm>
            <a:off x="159385" y="4644390"/>
            <a:ext cx="2936240" cy="2045335"/>
            <a:chOff x="6037833" y="3187520"/>
            <a:chExt cx="1327431" cy="2869565"/>
          </a:xfrm>
        </p:grpSpPr>
        <p:sp>
          <p:nvSpPr>
            <p:cNvPr id="19" name="Текст 12"/>
            <p:cNvSpPr txBox="1"/>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为减少模型通信频次、减少模型通信量</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节点本地进行多次更新后进行全局更新</a:t>
              </a:r>
              <a:r>
                <a:rPr lang="en-US" altLang="zh-CN" sz="1600" dirty="0">
                  <a:latin typeface="Microsoft YaHei" panose="020B0503020204020204" charset="-122"/>
                  <a:ea typeface="Microsoft YaHei" panose="020B0503020204020204" charset="-122"/>
                  <a:sym typeface="+mn-ea"/>
                </a:rPr>
                <a:t>。</a:t>
              </a:r>
              <a:endParaRPr lang="en-US" altLang="zh-CN" sz="1600" dirty="0">
                <a:latin typeface="Microsoft YaHei" panose="020B0503020204020204" charset="-122"/>
                <a:ea typeface="Microsoft YaHei" panose="020B0503020204020204" charset="-122"/>
                <a:sym typeface="+mn-ea"/>
              </a:endParaRPr>
            </a:p>
          </p:txBody>
        </p:sp>
        <p:sp>
          <p:nvSpPr>
            <p:cNvPr id="21" name="Овал 67"/>
            <p:cNvSpPr/>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1</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22" name="文本框 28"/>
          <p:cNvSpPr txBox="1"/>
          <p:nvPr>
            <p:custDataLst>
              <p:tags r:id="rId3"/>
            </p:custDataLst>
          </p:nvPr>
        </p:nvSpPr>
        <p:spPr>
          <a:xfrm>
            <a:off x="636610" y="4645047"/>
            <a:ext cx="15544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本地多步</a:t>
            </a:r>
            <a:r>
              <a:rPr lang="zh-CN" altLang="en-US" sz="1800" b="0" dirty="0">
                <a:solidFill>
                  <a:srgbClr val="436D9F"/>
                </a:solidFill>
                <a:latin typeface="Microsoft YaHei" panose="020B0503020204020204" charset="-122"/>
                <a:ea typeface="Microsoft YaHei" panose="020B0503020204020204" charset="-122"/>
              </a:rPr>
              <a:t>更新</a:t>
            </a:r>
            <a:endParaRPr lang="zh-CN" altLang="en-US" sz="1800" b="0" dirty="0">
              <a:solidFill>
                <a:srgbClr val="436D9F"/>
              </a:solidFill>
              <a:latin typeface="Microsoft YaHei" panose="020B0503020204020204" charset="-122"/>
              <a:ea typeface="Microsoft YaHei" panose="020B0503020204020204" charset="-122"/>
            </a:endParaRPr>
          </a:p>
        </p:txBody>
      </p:sp>
      <p:grpSp>
        <p:nvGrpSpPr>
          <p:cNvPr id="26" name="组合 22"/>
          <p:cNvGrpSpPr/>
          <p:nvPr/>
        </p:nvGrpSpPr>
        <p:grpSpPr>
          <a:xfrm>
            <a:off x="6115685" y="4645025"/>
            <a:ext cx="2936240" cy="2045335"/>
            <a:chOff x="6037833" y="3187520"/>
            <a:chExt cx="1327431" cy="2869565"/>
          </a:xfrm>
        </p:grpSpPr>
        <p:sp>
          <p:nvSpPr>
            <p:cNvPr id="27" name="Текст 12"/>
            <p:cNvSpPr txBox="1"/>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提前传输梯度</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通过应用梯度预测机制</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保证训练收敛性</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并根据后续实际计算梯度数据累计本地误差</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在下一轮更新中</a:t>
              </a:r>
              <a:r>
                <a:rPr lang="zh-CN" altLang="en-US" sz="1600" dirty="0">
                  <a:latin typeface="Microsoft YaHei" panose="020B0503020204020204" charset="-122"/>
                  <a:ea typeface="Microsoft YaHei" panose="020B0503020204020204" charset="-122"/>
                  <a:sym typeface="+mn-ea"/>
                </a:rPr>
                <a:t>补偿</a:t>
              </a:r>
              <a:endParaRPr lang="zh-CN" altLang="en-US" sz="1600" dirty="0">
                <a:latin typeface="Microsoft YaHei" panose="020B0503020204020204" charset="-122"/>
                <a:ea typeface="Microsoft YaHei" panose="020B0503020204020204" charset="-122"/>
                <a:sym typeface="+mn-ea"/>
              </a:endParaRPr>
            </a:p>
          </p:txBody>
        </p:sp>
        <p:sp>
          <p:nvSpPr>
            <p:cNvPr id="28" name="Овал 67"/>
            <p:cNvSpPr/>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3</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29" name="文本框 28"/>
          <p:cNvSpPr txBox="1"/>
          <p:nvPr>
            <p:custDataLst>
              <p:tags r:id="rId4"/>
            </p:custDataLst>
          </p:nvPr>
        </p:nvSpPr>
        <p:spPr>
          <a:xfrm>
            <a:off x="6676730" y="4645682"/>
            <a:ext cx="15544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梯度数据</a:t>
            </a:r>
            <a:r>
              <a:rPr lang="zh-CN" altLang="en-US" sz="1800" b="0" dirty="0">
                <a:solidFill>
                  <a:srgbClr val="436D9F"/>
                </a:solidFill>
                <a:latin typeface="Microsoft YaHei" panose="020B0503020204020204" charset="-122"/>
                <a:ea typeface="Microsoft YaHei" panose="020B0503020204020204" charset="-122"/>
              </a:rPr>
              <a:t>预测</a:t>
            </a:r>
            <a:endParaRPr lang="zh-CN" altLang="en-US" sz="1800" b="0" dirty="0">
              <a:solidFill>
                <a:srgbClr val="436D9F"/>
              </a:solidFill>
              <a:latin typeface="Microsoft YaHei" panose="020B0503020204020204" charset="-122"/>
              <a:ea typeface="Microsoft YaHei" panose="020B0503020204020204" charset="-122"/>
            </a:endParaRPr>
          </a:p>
        </p:txBody>
      </p:sp>
      <p:pic>
        <p:nvPicPr>
          <p:cNvPr id="32" name="Picture 31"/>
          <p:cNvPicPr>
            <a:picLocks noChangeAspect="1"/>
          </p:cNvPicPr>
          <p:nvPr/>
        </p:nvPicPr>
        <p:blipFill>
          <a:blip r:embed="rId5"/>
          <a:stretch>
            <a:fillRect/>
          </a:stretch>
        </p:blipFill>
        <p:spPr>
          <a:xfrm>
            <a:off x="6204585" y="3214370"/>
            <a:ext cx="2939415" cy="1119505"/>
          </a:xfrm>
          <a:prstGeom prst="rect">
            <a:avLst/>
          </a:prstGeom>
        </p:spPr>
      </p:pic>
      <p:pic>
        <p:nvPicPr>
          <p:cNvPr id="33" name="Picture 32"/>
          <p:cNvPicPr>
            <a:picLocks noChangeAspect="1"/>
          </p:cNvPicPr>
          <p:nvPr/>
        </p:nvPicPr>
        <p:blipFill>
          <a:blip r:embed="rId6"/>
          <a:stretch>
            <a:fillRect/>
          </a:stretch>
        </p:blipFill>
        <p:spPr>
          <a:xfrm>
            <a:off x="6204585" y="1096010"/>
            <a:ext cx="2939415" cy="2118360"/>
          </a:xfrm>
          <a:prstGeom prst="rect">
            <a:avLst/>
          </a:prstGeom>
        </p:spPr>
      </p:pic>
    </p:spTree>
    <p:custDataLst>
      <p:tags r:id="rId7"/>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7070" y="262890"/>
            <a:ext cx="7920355" cy="521970"/>
          </a:xfrm>
        </p:spPr>
        <p:txBody>
          <a:bodyPr>
            <a:normAutofit fontScale="90000"/>
          </a:bodyPr>
          <a:lstStyle/>
          <a:p>
            <a:r>
              <a:rPr dirty="0"/>
              <a:t>实验结果</a:t>
            </a:r>
            <a:r>
              <a:rPr lang="en-US" altLang="zh-CN" dirty="0"/>
              <a:t>-</a:t>
            </a:r>
            <a:r>
              <a:rPr sz="2200">
                <a:sym typeface="+mn-ea"/>
              </a:rPr>
              <a:t>通信受限场景下的</a:t>
            </a:r>
            <a:r>
              <a:rPr sz="2200">
                <a:sym typeface="+mn-ea"/>
              </a:rPr>
              <a:t>计算通信掩盖策略</a:t>
            </a:r>
            <a:endParaRPr lang="en-US" altLang="zh-CN" sz="2200" dirty="0">
              <a:solidFill>
                <a:srgbClr val="004578"/>
              </a:solidFill>
              <a:sym typeface="+mn-ea"/>
            </a:endParaRPr>
          </a:p>
        </p:txBody>
      </p:sp>
      <p:pic>
        <p:nvPicPr>
          <p:cNvPr id="5" name="Picture 4" descr="overview"/>
          <p:cNvPicPr>
            <a:picLocks noChangeAspect="1"/>
          </p:cNvPicPr>
          <p:nvPr/>
        </p:nvPicPr>
        <p:blipFill>
          <a:blip r:embed="rId1"/>
          <a:stretch>
            <a:fillRect/>
          </a:stretch>
        </p:blipFill>
        <p:spPr>
          <a:xfrm>
            <a:off x="240665" y="1177925"/>
            <a:ext cx="5805805" cy="3296920"/>
          </a:xfrm>
          <a:prstGeom prst="rect">
            <a:avLst/>
          </a:prstGeom>
        </p:spPr>
      </p:pic>
      <p:grpSp>
        <p:nvGrpSpPr>
          <p:cNvPr id="8" name="组合 22"/>
          <p:cNvGrpSpPr/>
          <p:nvPr/>
        </p:nvGrpSpPr>
        <p:grpSpPr>
          <a:xfrm>
            <a:off x="3179445" y="4644390"/>
            <a:ext cx="2936240" cy="2045335"/>
            <a:chOff x="6037833" y="3187520"/>
            <a:chExt cx="1327431" cy="2869565"/>
          </a:xfrm>
        </p:grpSpPr>
        <p:sp>
          <p:nvSpPr>
            <p:cNvPr id="9" name="Текст 12"/>
            <p:cNvSpPr txBox="1"/>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根据更新模型参数时</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模型计算按层级反向传播的特征</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在模型分片时</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按层级参数量进行</a:t>
              </a:r>
              <a:r>
                <a:rPr lang="zh-CN" altLang="en-US" sz="1600" dirty="0">
                  <a:latin typeface="Microsoft YaHei" panose="020B0503020204020204" charset="-122"/>
                  <a:ea typeface="Microsoft YaHei" panose="020B0503020204020204" charset="-122"/>
                  <a:sym typeface="+mn-ea"/>
                </a:rPr>
                <a:t>均分</a:t>
              </a:r>
              <a:endParaRPr lang="zh-CN" altLang="en-US" sz="1600" dirty="0">
                <a:latin typeface="Microsoft YaHei" panose="020B0503020204020204" charset="-122"/>
                <a:ea typeface="Microsoft YaHei" panose="020B0503020204020204" charset="-122"/>
                <a:sym typeface="+mn-ea"/>
              </a:endParaRPr>
            </a:p>
          </p:txBody>
        </p:sp>
        <p:sp>
          <p:nvSpPr>
            <p:cNvPr id="10" name="Овал 67"/>
            <p:cNvSpPr/>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2</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17" name="文本框 28"/>
          <p:cNvSpPr txBox="1"/>
          <p:nvPr>
            <p:custDataLst>
              <p:tags r:id="rId2"/>
            </p:custDataLst>
          </p:nvPr>
        </p:nvSpPr>
        <p:spPr>
          <a:xfrm>
            <a:off x="3656670" y="4645047"/>
            <a:ext cx="15544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模型参数</a:t>
            </a:r>
            <a:r>
              <a:rPr lang="zh-CN" altLang="en-US" sz="1800" b="0" dirty="0">
                <a:solidFill>
                  <a:srgbClr val="436D9F"/>
                </a:solidFill>
                <a:latin typeface="Microsoft YaHei" panose="020B0503020204020204" charset="-122"/>
                <a:ea typeface="Microsoft YaHei" panose="020B0503020204020204" charset="-122"/>
              </a:rPr>
              <a:t>分区</a:t>
            </a:r>
            <a:endParaRPr lang="zh-CN" altLang="en-US" sz="1800" b="0" dirty="0">
              <a:solidFill>
                <a:srgbClr val="436D9F"/>
              </a:solidFill>
              <a:latin typeface="Microsoft YaHei" panose="020B0503020204020204" charset="-122"/>
              <a:ea typeface="Microsoft YaHei" panose="020B0503020204020204" charset="-122"/>
            </a:endParaRPr>
          </a:p>
        </p:txBody>
      </p:sp>
      <p:grpSp>
        <p:nvGrpSpPr>
          <p:cNvPr id="18" name="组合 22"/>
          <p:cNvGrpSpPr/>
          <p:nvPr/>
        </p:nvGrpSpPr>
        <p:grpSpPr>
          <a:xfrm>
            <a:off x="159385" y="4644390"/>
            <a:ext cx="2936240" cy="2045335"/>
            <a:chOff x="6037833" y="3187520"/>
            <a:chExt cx="1327431" cy="2869565"/>
          </a:xfrm>
        </p:grpSpPr>
        <p:sp>
          <p:nvSpPr>
            <p:cNvPr id="19" name="Текст 12"/>
            <p:cNvSpPr txBox="1"/>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为减少模型通信频次、减少模型通信量</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节点本地进行多次更新后进行全局更新</a:t>
              </a:r>
              <a:r>
                <a:rPr lang="en-US" altLang="zh-CN" sz="1600" dirty="0">
                  <a:latin typeface="Microsoft YaHei" panose="020B0503020204020204" charset="-122"/>
                  <a:ea typeface="Microsoft YaHei" panose="020B0503020204020204" charset="-122"/>
                  <a:sym typeface="+mn-ea"/>
                </a:rPr>
                <a:t>。</a:t>
              </a:r>
              <a:endParaRPr lang="en-US" altLang="zh-CN" sz="1600" dirty="0">
                <a:latin typeface="Microsoft YaHei" panose="020B0503020204020204" charset="-122"/>
                <a:ea typeface="Microsoft YaHei" panose="020B0503020204020204" charset="-122"/>
                <a:sym typeface="+mn-ea"/>
              </a:endParaRPr>
            </a:p>
          </p:txBody>
        </p:sp>
        <p:sp>
          <p:nvSpPr>
            <p:cNvPr id="21" name="Овал 67"/>
            <p:cNvSpPr/>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1</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22" name="文本框 28"/>
          <p:cNvSpPr txBox="1"/>
          <p:nvPr>
            <p:custDataLst>
              <p:tags r:id="rId3"/>
            </p:custDataLst>
          </p:nvPr>
        </p:nvSpPr>
        <p:spPr>
          <a:xfrm>
            <a:off x="636610" y="4645047"/>
            <a:ext cx="15544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本地多步</a:t>
            </a:r>
            <a:r>
              <a:rPr lang="zh-CN" altLang="en-US" sz="1800" b="0" dirty="0">
                <a:solidFill>
                  <a:srgbClr val="436D9F"/>
                </a:solidFill>
                <a:latin typeface="Microsoft YaHei" panose="020B0503020204020204" charset="-122"/>
                <a:ea typeface="Microsoft YaHei" panose="020B0503020204020204" charset="-122"/>
              </a:rPr>
              <a:t>更新</a:t>
            </a:r>
            <a:endParaRPr lang="zh-CN" altLang="en-US" sz="1800" b="0" dirty="0">
              <a:solidFill>
                <a:srgbClr val="436D9F"/>
              </a:solidFill>
              <a:latin typeface="Microsoft YaHei" panose="020B0503020204020204" charset="-122"/>
              <a:ea typeface="Microsoft YaHei" panose="020B0503020204020204" charset="-122"/>
            </a:endParaRPr>
          </a:p>
        </p:txBody>
      </p:sp>
      <p:grpSp>
        <p:nvGrpSpPr>
          <p:cNvPr id="26" name="组合 22"/>
          <p:cNvGrpSpPr/>
          <p:nvPr/>
        </p:nvGrpSpPr>
        <p:grpSpPr>
          <a:xfrm>
            <a:off x="6115685" y="4645025"/>
            <a:ext cx="2936240" cy="2045335"/>
            <a:chOff x="6037833" y="3187520"/>
            <a:chExt cx="1327431" cy="2869565"/>
          </a:xfrm>
        </p:grpSpPr>
        <p:sp>
          <p:nvSpPr>
            <p:cNvPr id="27" name="Текст 12"/>
            <p:cNvSpPr txBox="1"/>
            <p:nvPr/>
          </p:nvSpPr>
          <p:spPr>
            <a:xfrm>
              <a:off x="6037833" y="3784418"/>
              <a:ext cx="1327431" cy="2272667"/>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57594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115189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72847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2304415"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88036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3456305"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403225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4608830" algn="l" defTabSz="115189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69850" indent="457200" algn="just" fontAlgn="auto">
                <a:lnSpc>
                  <a:spcPct val="130000"/>
                </a:lnSpc>
                <a:spcBef>
                  <a:spcPts val="0"/>
                </a:spcBef>
                <a:spcAft>
                  <a:spcPts val="600"/>
                </a:spcAft>
                <a:buClr>
                  <a:schemeClr val="tx2"/>
                </a:buClr>
              </a:pPr>
              <a:r>
                <a:rPr lang="zh-CN" altLang="en-US" sz="1600" dirty="0">
                  <a:latin typeface="Microsoft YaHei" panose="020B0503020204020204" charset="-122"/>
                  <a:ea typeface="Microsoft YaHei" panose="020B0503020204020204" charset="-122"/>
                  <a:sym typeface="+mn-ea"/>
                </a:rPr>
                <a:t>提前传输梯度</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通过应用梯度预测机制</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保证训练收敛性</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并根据后续实际计算梯度数据累计本地误差</a:t>
              </a:r>
              <a:r>
                <a:rPr lang="en-US" altLang="zh-CN" sz="1600" dirty="0">
                  <a:latin typeface="Microsoft YaHei" panose="020B0503020204020204" charset="-122"/>
                  <a:ea typeface="Microsoft YaHei" panose="020B0503020204020204" charset="-122"/>
                  <a:sym typeface="+mn-ea"/>
                </a:rPr>
                <a:t>，</a:t>
              </a:r>
              <a:r>
                <a:rPr lang="zh-CN" altLang="en-US" sz="1600" dirty="0">
                  <a:latin typeface="Microsoft YaHei" panose="020B0503020204020204" charset="-122"/>
                  <a:ea typeface="Microsoft YaHei" panose="020B0503020204020204" charset="-122"/>
                  <a:sym typeface="+mn-ea"/>
                </a:rPr>
                <a:t>在下一轮更新中</a:t>
              </a:r>
              <a:r>
                <a:rPr lang="zh-CN" altLang="en-US" sz="1600" dirty="0">
                  <a:latin typeface="Microsoft YaHei" panose="020B0503020204020204" charset="-122"/>
                  <a:ea typeface="Microsoft YaHei" panose="020B0503020204020204" charset="-122"/>
                  <a:sym typeface="+mn-ea"/>
                </a:rPr>
                <a:t>补偿</a:t>
              </a:r>
              <a:endParaRPr lang="zh-CN" altLang="en-US" sz="1600" dirty="0">
                <a:latin typeface="Microsoft YaHei" panose="020B0503020204020204" charset="-122"/>
                <a:ea typeface="Microsoft YaHei" panose="020B0503020204020204" charset="-122"/>
                <a:sym typeface="+mn-ea"/>
              </a:endParaRPr>
            </a:p>
          </p:txBody>
        </p:sp>
        <p:sp>
          <p:nvSpPr>
            <p:cNvPr id="28" name="Овал 67"/>
            <p:cNvSpPr/>
            <p:nvPr/>
          </p:nvSpPr>
          <p:spPr>
            <a:xfrm>
              <a:off x="6037833" y="3187520"/>
              <a:ext cx="174254" cy="517609"/>
            </a:xfrm>
            <a:prstGeom prst="ellipse">
              <a:avLst/>
            </a:prstGeom>
            <a:solidFill>
              <a:srgbClr val="436D9F"/>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575945" algn="l" rtl="0" fontAlgn="base">
                <a:spcBef>
                  <a:spcPct val="0"/>
                </a:spcBef>
                <a:spcAft>
                  <a:spcPct val="0"/>
                </a:spcAft>
                <a:defRPr kern="1200">
                  <a:solidFill>
                    <a:schemeClr val="lt1"/>
                  </a:solidFill>
                  <a:latin typeface="+mn-lt"/>
                  <a:ea typeface="+mn-ea"/>
                  <a:cs typeface="+mn-cs"/>
                </a:defRPr>
              </a:lvl2pPr>
              <a:lvl3pPr marL="1151890" algn="l" rtl="0" fontAlgn="base">
                <a:spcBef>
                  <a:spcPct val="0"/>
                </a:spcBef>
                <a:spcAft>
                  <a:spcPct val="0"/>
                </a:spcAft>
                <a:defRPr kern="1200">
                  <a:solidFill>
                    <a:schemeClr val="lt1"/>
                  </a:solidFill>
                  <a:latin typeface="+mn-lt"/>
                  <a:ea typeface="+mn-ea"/>
                  <a:cs typeface="+mn-cs"/>
                </a:defRPr>
              </a:lvl3pPr>
              <a:lvl4pPr marL="1728470" algn="l" rtl="0" fontAlgn="base">
                <a:spcBef>
                  <a:spcPct val="0"/>
                </a:spcBef>
                <a:spcAft>
                  <a:spcPct val="0"/>
                </a:spcAft>
                <a:defRPr kern="1200">
                  <a:solidFill>
                    <a:schemeClr val="lt1"/>
                  </a:solidFill>
                  <a:latin typeface="+mn-lt"/>
                  <a:ea typeface="+mn-ea"/>
                  <a:cs typeface="+mn-cs"/>
                </a:defRPr>
              </a:lvl4pPr>
              <a:lvl5pPr marL="2304415" algn="l" rtl="0" fontAlgn="base">
                <a:spcBef>
                  <a:spcPct val="0"/>
                </a:spcBef>
                <a:spcAft>
                  <a:spcPct val="0"/>
                </a:spcAft>
                <a:defRPr kern="1200">
                  <a:solidFill>
                    <a:schemeClr val="lt1"/>
                  </a:solidFill>
                  <a:latin typeface="+mn-lt"/>
                  <a:ea typeface="+mn-ea"/>
                  <a:cs typeface="+mn-cs"/>
                </a:defRPr>
              </a:lvl5pPr>
              <a:lvl6pPr marL="2880360" algn="l" defTabSz="1151890" rtl="0" eaLnBrk="1" latinLnBrk="0" hangingPunct="1">
                <a:defRPr kern="1200">
                  <a:solidFill>
                    <a:schemeClr val="lt1"/>
                  </a:solidFill>
                  <a:latin typeface="+mn-lt"/>
                  <a:ea typeface="+mn-ea"/>
                  <a:cs typeface="+mn-cs"/>
                </a:defRPr>
              </a:lvl6pPr>
              <a:lvl7pPr marL="3456305" algn="l" defTabSz="1151890" rtl="0" eaLnBrk="1" latinLnBrk="0" hangingPunct="1">
                <a:defRPr kern="1200">
                  <a:solidFill>
                    <a:schemeClr val="lt1"/>
                  </a:solidFill>
                  <a:latin typeface="+mn-lt"/>
                  <a:ea typeface="+mn-ea"/>
                  <a:cs typeface="+mn-cs"/>
                </a:defRPr>
              </a:lvl7pPr>
              <a:lvl8pPr marL="4032250" algn="l" defTabSz="1151890" rtl="0" eaLnBrk="1" latinLnBrk="0" hangingPunct="1">
                <a:defRPr kern="1200">
                  <a:solidFill>
                    <a:schemeClr val="lt1"/>
                  </a:solidFill>
                  <a:latin typeface="+mn-lt"/>
                  <a:ea typeface="+mn-ea"/>
                  <a:cs typeface="+mn-cs"/>
                </a:defRPr>
              </a:lvl8pPr>
              <a:lvl9pPr marL="4608830" algn="l" defTabSz="115189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rPr>
                <a:t>3</a:t>
              </a:r>
              <a:endParaRPr kumimoji="0" lang="en-US" altLang="zh-CN" sz="1800" i="0" u="none" strike="noStrike" kern="1200" cap="none" spc="0" normalizeH="0" baseline="0" noProof="0" dirty="0">
                <a:ln>
                  <a:noFill/>
                </a:ln>
                <a:solidFill>
                  <a:srgbClr val="FFFFFF"/>
                </a:solidFill>
                <a:effectLst/>
                <a:uLnTx/>
                <a:uFillTx/>
                <a:latin typeface="Times New Roman" panose="02020603050405020304" pitchFamily="18" charset="0"/>
                <a:ea typeface="DengXian Light" panose="02010600030101010101" pitchFamily="2" charset="-122"/>
                <a:cs typeface="Times New Roman" panose="02020603050405020304" pitchFamily="18" charset="0"/>
              </a:endParaRPr>
            </a:p>
          </p:txBody>
        </p:sp>
      </p:grpSp>
      <p:sp>
        <p:nvSpPr>
          <p:cNvPr id="29" name="文本框 28"/>
          <p:cNvSpPr txBox="1"/>
          <p:nvPr>
            <p:custDataLst>
              <p:tags r:id="rId4"/>
            </p:custDataLst>
          </p:nvPr>
        </p:nvSpPr>
        <p:spPr>
          <a:xfrm>
            <a:off x="6676730" y="4645682"/>
            <a:ext cx="1554480" cy="368300"/>
          </a:xfrm>
          <a:prstGeom prst="rect">
            <a:avLst/>
          </a:prstGeom>
          <a:noFill/>
        </p:spPr>
        <p:txBody>
          <a:bodyPr wrap="none" rtlCol="0">
            <a:spAutoFit/>
          </a:bodyPr>
          <a:lstStyle>
            <a:defPPr>
              <a:defRPr lang="en-US"/>
            </a:defPPr>
            <a:lvl1pPr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1pPr>
            <a:lvl2pPr marL="4572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2pPr>
            <a:lvl3pPr marL="9144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3pPr>
            <a:lvl4pPr marL="13716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4pPr>
            <a:lvl5pPr marL="1828800" algn="l" rtl="0" eaLnBrk="0" fontAlgn="base" hangingPunct="0">
              <a:spcBef>
                <a:spcPct val="0"/>
              </a:spcBef>
              <a:spcAft>
                <a:spcPct val="0"/>
              </a:spcAft>
              <a:defRPr sz="2000" b="1" kern="1200">
                <a:solidFill>
                  <a:srgbClr val="000000"/>
                </a:solidFill>
                <a:latin typeface="华文细黑" panose="02010600040101010101" pitchFamily="2" charset="-122"/>
                <a:ea typeface="SimSun" panose="02010600030101010101" pitchFamily="2" charset="-122"/>
                <a:cs typeface="+mn-cs"/>
              </a:defRPr>
            </a:lvl5pPr>
            <a:lvl6pPr marL="22860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6pPr>
            <a:lvl7pPr marL="27432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7pPr>
            <a:lvl8pPr marL="32004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8pPr>
            <a:lvl9pPr marL="3657600" algn="l" defTabSz="914400" rtl="0" eaLnBrk="1" latinLnBrk="0" hangingPunct="1">
              <a:defRPr sz="2000" b="1" kern="1200">
                <a:solidFill>
                  <a:srgbClr val="000000"/>
                </a:solidFill>
                <a:latin typeface="华文细黑" panose="02010600040101010101" pitchFamily="2" charset="-122"/>
                <a:ea typeface="SimSun" panose="02010600030101010101" pitchFamily="2" charset="-122"/>
                <a:cs typeface="+mn-cs"/>
              </a:defRPr>
            </a:lvl9pPr>
          </a:lstStyle>
          <a:p>
            <a:r>
              <a:rPr lang="zh-CN" altLang="en-US" sz="1800" b="0" dirty="0">
                <a:solidFill>
                  <a:srgbClr val="436D9F"/>
                </a:solidFill>
                <a:latin typeface="Microsoft YaHei" panose="020B0503020204020204" charset="-122"/>
                <a:ea typeface="Microsoft YaHei" panose="020B0503020204020204" charset="-122"/>
              </a:rPr>
              <a:t>梯度数据</a:t>
            </a:r>
            <a:r>
              <a:rPr lang="zh-CN" altLang="en-US" sz="1800" b="0" dirty="0">
                <a:solidFill>
                  <a:srgbClr val="436D9F"/>
                </a:solidFill>
                <a:latin typeface="Microsoft YaHei" panose="020B0503020204020204" charset="-122"/>
                <a:ea typeface="Microsoft YaHei" panose="020B0503020204020204" charset="-122"/>
              </a:rPr>
              <a:t>预测</a:t>
            </a:r>
            <a:endParaRPr lang="zh-CN" altLang="en-US" sz="1800" b="0" dirty="0">
              <a:solidFill>
                <a:srgbClr val="436D9F"/>
              </a:solidFill>
              <a:latin typeface="Microsoft YaHei" panose="020B0503020204020204" charset="-122"/>
              <a:ea typeface="Microsoft YaHei" panose="020B0503020204020204" charset="-122"/>
            </a:endParaRPr>
          </a:p>
        </p:txBody>
      </p:sp>
      <p:pic>
        <p:nvPicPr>
          <p:cNvPr id="32" name="Picture 31"/>
          <p:cNvPicPr>
            <a:picLocks noChangeAspect="1"/>
          </p:cNvPicPr>
          <p:nvPr/>
        </p:nvPicPr>
        <p:blipFill>
          <a:blip r:embed="rId5"/>
          <a:stretch>
            <a:fillRect/>
          </a:stretch>
        </p:blipFill>
        <p:spPr>
          <a:xfrm>
            <a:off x="6204585" y="3214370"/>
            <a:ext cx="2939415" cy="1119505"/>
          </a:xfrm>
          <a:prstGeom prst="rect">
            <a:avLst/>
          </a:prstGeom>
        </p:spPr>
      </p:pic>
      <p:pic>
        <p:nvPicPr>
          <p:cNvPr id="33" name="Picture 32"/>
          <p:cNvPicPr>
            <a:picLocks noChangeAspect="1"/>
          </p:cNvPicPr>
          <p:nvPr/>
        </p:nvPicPr>
        <p:blipFill>
          <a:blip r:embed="rId6"/>
          <a:stretch>
            <a:fillRect/>
          </a:stretch>
        </p:blipFill>
        <p:spPr>
          <a:xfrm>
            <a:off x="6204585" y="1096010"/>
            <a:ext cx="2939415" cy="2118360"/>
          </a:xfrm>
          <a:prstGeom prst="rect">
            <a:avLst/>
          </a:prstGeom>
        </p:spPr>
      </p:pic>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标题 2"/>
          <p:cNvSpPr>
            <a:spLocks noGrp="1"/>
          </p:cNvSpPr>
          <p:nvPr>
            <p:ph type="title"/>
          </p:nvPr>
        </p:nvSpPr>
        <p:spPr/>
        <p:txBody>
          <a:bodyPr>
            <a:normAutofit fontScale="90000"/>
          </a:bodyPr>
          <a:lstStyle/>
          <a:p>
            <a:r>
              <a:rPr lang="zh-CN" altLang="en-US" dirty="0"/>
              <a:t>预期成果</a:t>
            </a:r>
            <a:endParaRPr lang="zh-CN" altLang="en-US" dirty="0"/>
          </a:p>
        </p:txBody>
      </p:sp>
      <p:sp>
        <p:nvSpPr>
          <p:cNvPr id="4" name="文本框 3"/>
          <p:cNvSpPr txBox="1"/>
          <p:nvPr/>
        </p:nvSpPr>
        <p:spPr>
          <a:xfrm>
            <a:off x="220638" y="1231030"/>
            <a:ext cx="8702723" cy="4477385"/>
          </a:xfrm>
          <a:prstGeom prst="rect">
            <a:avLst/>
          </a:prstGeom>
          <a:noFill/>
        </p:spPr>
        <p:txBody>
          <a:bodyPr wrap="square" rtlCol="0">
            <a:spAutoFit/>
          </a:bodyPr>
          <a:lstStyle/>
          <a:p>
            <a:pPr marL="342900" indent="-342900" algn="just">
              <a:lnSpc>
                <a:spcPct val="120000"/>
              </a:lnSpc>
              <a:spcAft>
                <a:spcPts val="600"/>
              </a:spcAft>
              <a:buFont typeface="Wingdings" panose="05000000000000000000" pitchFamily="2" charset="2"/>
              <a:buChar char="Ø"/>
            </a:pPr>
            <a:r>
              <a:rPr lang="zh-CN" altLang="en-US" sz="2000" b="1" dirty="0"/>
              <a:t>技术成果</a:t>
            </a:r>
            <a:endParaRPr lang="en-US" altLang="zh-CN" sz="2000" b="1" dirty="0"/>
          </a:p>
          <a:p>
            <a:pPr marL="800100" lvl="1" indent="-342900" algn="just">
              <a:lnSpc>
                <a:spcPct val="120000"/>
              </a:lnSpc>
              <a:spcAft>
                <a:spcPts val="600"/>
              </a:spcAft>
              <a:buFont typeface="Wingdings" panose="05000000000000000000" pitchFamily="2" charset="2"/>
              <a:buChar char="l"/>
            </a:pPr>
            <a:r>
              <a:rPr lang="zh-CN" altLang="en-US" sz="2000" dirty="0"/>
              <a:t>建立一种</a:t>
            </a:r>
            <a:r>
              <a:rPr lang="zh-CN" altLang="en-US" sz="2000" dirty="0">
                <a:uFillTx/>
                <a:sym typeface="+mn-ea"/>
              </a:rPr>
              <a:t>基于差分传输与模型感知的</a:t>
            </a:r>
            <a:r>
              <a:rPr lang="zh-CN" altLang="en-US" sz="2000" dirty="0">
                <a:sym typeface="+mn-ea"/>
              </a:rPr>
              <a:t>梯度与参数压缩策略</a:t>
            </a:r>
            <a:endParaRPr lang="zh-CN" altLang="en-US" sz="2000" dirty="0"/>
          </a:p>
          <a:p>
            <a:pPr marL="800100" lvl="1" indent="-342900" algn="just">
              <a:lnSpc>
                <a:spcPct val="120000"/>
              </a:lnSpc>
              <a:spcAft>
                <a:spcPts val="600"/>
              </a:spcAft>
              <a:buFont typeface="Wingdings" panose="05000000000000000000" pitchFamily="2" charset="2"/>
              <a:buChar char="l"/>
            </a:pPr>
            <a:r>
              <a:rPr lang="zh-CN" altLang="en-US" sz="2000" dirty="0"/>
              <a:t>建立一种基于混合精度的云边端跨域自适应优化器方法</a:t>
            </a:r>
            <a:endParaRPr lang="en-US" altLang="zh-CN" sz="2000" dirty="0"/>
          </a:p>
          <a:p>
            <a:pPr marL="800100" lvl="1" indent="-342900" algn="just">
              <a:lnSpc>
                <a:spcPct val="120000"/>
              </a:lnSpc>
              <a:spcAft>
                <a:spcPts val="600"/>
              </a:spcAft>
              <a:buFont typeface="Wingdings" panose="05000000000000000000" pitchFamily="2" charset="2"/>
              <a:buChar char="l"/>
            </a:pPr>
            <a:r>
              <a:rPr lang="zh-CN" altLang="en-US" sz="2000" dirty="0"/>
              <a:t>建立一种基于并行策略与网络状态感知的</a:t>
            </a:r>
            <a:r>
              <a:rPr lang="zh-CN" altLang="en-US" sz="2000" dirty="0"/>
              <a:t>跨域集合通信方法</a:t>
            </a:r>
            <a:endParaRPr lang="en-US" altLang="zh-CN" sz="2000" b="1" dirty="0"/>
          </a:p>
          <a:p>
            <a:pPr marL="800100" lvl="1" indent="-342900" algn="just">
              <a:lnSpc>
                <a:spcPct val="120000"/>
              </a:lnSpc>
              <a:spcAft>
                <a:spcPts val="600"/>
              </a:spcAft>
              <a:buFont typeface="Wingdings" panose="05000000000000000000" pitchFamily="2" charset="2"/>
              <a:buChar char="l"/>
            </a:pPr>
            <a:endParaRPr lang="en-US" altLang="zh-CN" sz="2000" b="1" dirty="0"/>
          </a:p>
          <a:p>
            <a:pPr marL="342900" indent="-342900" algn="just">
              <a:lnSpc>
                <a:spcPct val="120000"/>
              </a:lnSpc>
              <a:spcAft>
                <a:spcPts val="600"/>
              </a:spcAft>
              <a:buFont typeface="Wingdings" panose="05000000000000000000" pitchFamily="2" charset="2"/>
              <a:buChar char="Ø"/>
            </a:pPr>
            <a:r>
              <a:rPr lang="zh-CN" altLang="en-US" sz="2000" b="1" dirty="0"/>
              <a:t>学术成果</a:t>
            </a:r>
            <a:endParaRPr lang="en-US" altLang="zh-CN" sz="2000" b="1" dirty="0"/>
          </a:p>
          <a:p>
            <a:pPr marL="800100" lvl="1" indent="-342900" algn="just">
              <a:lnSpc>
                <a:spcPct val="120000"/>
              </a:lnSpc>
              <a:spcAft>
                <a:spcPts val="600"/>
              </a:spcAft>
              <a:buFont typeface="Wingdings" panose="05000000000000000000" pitchFamily="2" charset="2"/>
              <a:buChar char="l"/>
            </a:pPr>
            <a:r>
              <a:rPr lang="zh-CN" altLang="en-US" sz="2000" dirty="0"/>
              <a:t>发表论文一篇</a:t>
            </a:r>
            <a:endParaRPr lang="zh-CN" altLang="en-US" sz="2000" dirty="0"/>
          </a:p>
          <a:p>
            <a:pPr marL="800100" lvl="1" indent="-342900" algn="just">
              <a:lnSpc>
                <a:spcPct val="120000"/>
              </a:lnSpc>
              <a:spcAft>
                <a:spcPts val="600"/>
              </a:spcAft>
              <a:buFont typeface="Wingdings" panose="05000000000000000000" pitchFamily="2" charset="2"/>
              <a:buChar char="l"/>
            </a:pPr>
            <a:r>
              <a:rPr lang="zh-CN" altLang="en-US" sz="2000" dirty="0"/>
              <a:t>硕士学位论文</a:t>
            </a:r>
            <a:r>
              <a:rPr lang="zh-CN" altLang="en-US" sz="2000" dirty="0"/>
              <a:t>一篇</a:t>
            </a:r>
            <a:endParaRPr lang="zh-CN" altLang="en-US" sz="2000" dirty="0"/>
          </a:p>
          <a:p>
            <a:pPr marL="800100" lvl="1" indent="-342900" algn="just">
              <a:lnSpc>
                <a:spcPct val="120000"/>
              </a:lnSpc>
              <a:spcAft>
                <a:spcPts val="600"/>
              </a:spcAft>
              <a:buFont typeface="Wingdings" panose="05000000000000000000" pitchFamily="2" charset="2"/>
              <a:buChar char="l"/>
            </a:pPr>
            <a:r>
              <a:rPr lang="zh-CN" altLang="en-US" sz="2000" dirty="0"/>
              <a:t>申请</a:t>
            </a:r>
            <a:r>
              <a:rPr lang="zh-CN" altLang="en-US" sz="2000" dirty="0"/>
              <a:t>一项发明专利</a:t>
            </a:r>
            <a:endParaRPr lang="zh-CN" altLang="en-US" sz="2000" dirty="0"/>
          </a:p>
          <a:p>
            <a:pPr marL="800100" lvl="1" indent="-342900" algn="just">
              <a:lnSpc>
                <a:spcPct val="120000"/>
              </a:lnSpc>
              <a:spcAft>
                <a:spcPts val="600"/>
              </a:spcAft>
              <a:buFont typeface="Wingdings" panose="05000000000000000000" pitchFamily="2" charset="2"/>
              <a:buChar char="l"/>
            </a:pPr>
            <a:r>
              <a:rPr lang="zh-CN" altLang="en-US" sz="2000" dirty="0"/>
              <a:t>将研究内容应用到研究项目中</a:t>
            </a:r>
            <a:endParaRPr lang="zh-CN" alt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标题 2"/>
          <p:cNvSpPr>
            <a:spLocks noGrp="1"/>
          </p:cNvSpPr>
          <p:nvPr>
            <p:ph type="title"/>
          </p:nvPr>
        </p:nvSpPr>
        <p:spPr/>
        <p:txBody>
          <a:bodyPr>
            <a:normAutofit fontScale="90000"/>
          </a:bodyPr>
          <a:lstStyle/>
          <a:p>
            <a:r>
              <a:rPr lang="zh-CN" altLang="en-US" dirty="0"/>
              <a:t>尚未完成的</a:t>
            </a:r>
            <a:r>
              <a:rPr lang="zh-CN" altLang="en-US" dirty="0"/>
              <a:t>工作</a:t>
            </a:r>
            <a:endParaRPr lang="zh-CN" altLang="en-US" dirty="0"/>
          </a:p>
        </p:txBody>
      </p:sp>
      <p:sp>
        <p:nvSpPr>
          <p:cNvPr id="4" name="文本框 3"/>
          <p:cNvSpPr txBox="1"/>
          <p:nvPr/>
        </p:nvSpPr>
        <p:spPr>
          <a:xfrm>
            <a:off x="220638" y="1231030"/>
            <a:ext cx="8702723" cy="4030980"/>
          </a:xfrm>
          <a:prstGeom prst="rect">
            <a:avLst/>
          </a:prstGeom>
          <a:noFill/>
        </p:spPr>
        <p:txBody>
          <a:bodyPr wrap="square" rtlCol="0">
            <a:spAutoFit/>
          </a:bodyPr>
          <a:lstStyle/>
          <a:p>
            <a:pPr marL="342900" indent="-342900" algn="just">
              <a:lnSpc>
                <a:spcPct val="120000"/>
              </a:lnSpc>
              <a:spcAft>
                <a:spcPts val="600"/>
              </a:spcAft>
              <a:buFont typeface="Wingdings" panose="05000000000000000000" pitchFamily="2" charset="2"/>
              <a:buChar char="Ø"/>
            </a:pPr>
            <a:r>
              <a:rPr lang="zh-CN" altLang="en-US" sz="2000" b="1" dirty="0"/>
              <a:t>技术成果</a:t>
            </a:r>
            <a:endParaRPr lang="en-US" altLang="zh-CN" sz="2000" b="1" dirty="0"/>
          </a:p>
          <a:p>
            <a:pPr marL="800100" lvl="1" indent="-342900" algn="just">
              <a:lnSpc>
                <a:spcPct val="120000"/>
              </a:lnSpc>
              <a:spcAft>
                <a:spcPts val="600"/>
              </a:spcAft>
              <a:buFont typeface="Wingdings" panose="05000000000000000000" pitchFamily="2" charset="2"/>
              <a:buChar char="l"/>
            </a:pPr>
            <a:r>
              <a:rPr lang="zh-CN" altLang="en-US" sz="2000" dirty="0"/>
              <a:t>实现基于网络状态感知的跨域集合通信调度</a:t>
            </a:r>
            <a:r>
              <a:rPr lang="zh-CN" altLang="en-US" sz="2000" dirty="0"/>
              <a:t>方法</a:t>
            </a:r>
            <a:endParaRPr lang="zh-CN" altLang="en-US" sz="2000" dirty="0"/>
          </a:p>
          <a:p>
            <a:pPr marL="800100" lvl="1" indent="-342900" algn="just">
              <a:lnSpc>
                <a:spcPct val="120000"/>
              </a:lnSpc>
              <a:spcAft>
                <a:spcPts val="600"/>
              </a:spcAft>
              <a:buFont typeface="Wingdings" panose="05000000000000000000" pitchFamily="2" charset="2"/>
              <a:buChar char="l"/>
            </a:pPr>
            <a:r>
              <a:rPr lang="zh-CN" altLang="en-US" sz="2000" dirty="0"/>
              <a:t>设计并实现基于参数预测的多节点跨域参数同步方法</a:t>
            </a:r>
            <a:endParaRPr lang="zh-CN" altLang="en-US" sz="2000" dirty="0"/>
          </a:p>
          <a:p>
            <a:pPr marL="800100" lvl="1" indent="-342900" algn="just">
              <a:lnSpc>
                <a:spcPct val="120000"/>
              </a:lnSpc>
              <a:spcAft>
                <a:spcPts val="600"/>
              </a:spcAft>
              <a:buFont typeface="Wingdings" panose="05000000000000000000" pitchFamily="2" charset="2"/>
              <a:buChar char="l"/>
            </a:pPr>
            <a:r>
              <a:rPr lang="zh-CN" altLang="en-US" sz="2000" dirty="0"/>
              <a:t>将研究成果应用到项目中</a:t>
            </a:r>
            <a:endParaRPr lang="en-US" altLang="zh-CN" sz="2000" b="1" dirty="0"/>
          </a:p>
          <a:p>
            <a:pPr marL="800100" lvl="1" indent="-342900" algn="just">
              <a:lnSpc>
                <a:spcPct val="120000"/>
              </a:lnSpc>
              <a:spcAft>
                <a:spcPts val="600"/>
              </a:spcAft>
              <a:buFont typeface="Wingdings" panose="05000000000000000000" pitchFamily="2" charset="2"/>
              <a:buChar char="l"/>
            </a:pPr>
            <a:endParaRPr lang="en-US" altLang="zh-CN" sz="2000" b="1" dirty="0"/>
          </a:p>
          <a:p>
            <a:pPr marL="342900" indent="-342900" algn="just">
              <a:lnSpc>
                <a:spcPct val="120000"/>
              </a:lnSpc>
              <a:spcAft>
                <a:spcPts val="600"/>
              </a:spcAft>
              <a:buFont typeface="Wingdings" panose="05000000000000000000" pitchFamily="2" charset="2"/>
              <a:buChar char="Ø"/>
            </a:pPr>
            <a:r>
              <a:rPr lang="zh-CN" altLang="en-US" sz="2000" b="1" dirty="0"/>
              <a:t>学术成果</a:t>
            </a:r>
            <a:endParaRPr lang="en-US" altLang="zh-CN" sz="2000" b="1" dirty="0"/>
          </a:p>
          <a:p>
            <a:pPr marL="800100" lvl="1" indent="-342900" algn="just">
              <a:lnSpc>
                <a:spcPct val="120000"/>
              </a:lnSpc>
              <a:spcAft>
                <a:spcPts val="600"/>
              </a:spcAft>
              <a:buFont typeface="Wingdings" panose="05000000000000000000" pitchFamily="2" charset="2"/>
              <a:buChar char="l"/>
            </a:pPr>
            <a:r>
              <a:rPr lang="zh-CN" altLang="en-US" sz="2000" dirty="0"/>
              <a:t>发表论文一篇</a:t>
            </a:r>
            <a:endParaRPr lang="zh-CN" altLang="en-US" sz="2000" dirty="0"/>
          </a:p>
          <a:p>
            <a:pPr marL="800100" lvl="1" indent="-342900" algn="just">
              <a:lnSpc>
                <a:spcPct val="120000"/>
              </a:lnSpc>
              <a:spcAft>
                <a:spcPts val="600"/>
              </a:spcAft>
              <a:buFont typeface="Wingdings" panose="05000000000000000000" pitchFamily="2" charset="2"/>
              <a:buChar char="l"/>
            </a:pPr>
            <a:r>
              <a:rPr lang="zh-CN" altLang="en-US" sz="2000" dirty="0"/>
              <a:t>硕士学位论文</a:t>
            </a:r>
            <a:r>
              <a:rPr lang="zh-CN" altLang="en-US" sz="2000" dirty="0"/>
              <a:t>一篇</a:t>
            </a:r>
            <a:endParaRPr lang="zh-CN" altLang="en-US" sz="2000" dirty="0"/>
          </a:p>
          <a:p>
            <a:pPr marL="800100" lvl="1" indent="-342900" algn="just">
              <a:lnSpc>
                <a:spcPct val="120000"/>
              </a:lnSpc>
              <a:spcAft>
                <a:spcPts val="600"/>
              </a:spcAft>
              <a:buFont typeface="Wingdings" panose="05000000000000000000" pitchFamily="2" charset="2"/>
              <a:buChar char="l"/>
            </a:pPr>
            <a:r>
              <a:rPr lang="zh-CN" altLang="en-US" sz="2000" dirty="0"/>
              <a:t>申请</a:t>
            </a:r>
            <a:r>
              <a:rPr lang="zh-CN" altLang="en-US" sz="2000" dirty="0"/>
              <a:t>一项发明专利</a:t>
            </a:r>
            <a:endParaRPr lang="zh-CN"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研究计划</a:t>
            </a:r>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aphicFrame>
        <p:nvGraphicFramePr>
          <p:cNvPr id="4" name="表格 3"/>
          <p:cNvGraphicFramePr/>
          <p:nvPr>
            <p:custDataLst>
              <p:tags r:id="rId1"/>
            </p:custDataLst>
          </p:nvPr>
        </p:nvGraphicFramePr>
        <p:xfrm>
          <a:off x="315595" y="1093128"/>
          <a:ext cx="8512810" cy="5221272"/>
        </p:xfrm>
        <a:graphic>
          <a:graphicData uri="http://schemas.openxmlformats.org/drawingml/2006/table">
            <a:tbl>
              <a:tblPr firstRow="1" bandRow="1">
                <a:tableStyleId>{5C22544A-7EE6-4342-B048-85BDC9FD1C3A}</a:tableStyleId>
              </a:tblPr>
              <a:tblGrid>
                <a:gridCol w="1381277"/>
                <a:gridCol w="2880306"/>
                <a:gridCol w="2966113"/>
                <a:gridCol w="1285114"/>
              </a:tblGrid>
              <a:tr h="484974">
                <a:tc>
                  <a:txBody>
                    <a:bodyPr/>
                    <a:lstStyle/>
                    <a:p>
                      <a:pPr algn="ctr">
                        <a:buNone/>
                      </a:pPr>
                      <a:r>
                        <a:rPr lang="zh-CN" altLang="en-US" sz="1600" dirty="0">
                          <a:latin typeface="Times New Roman" panose="02020603050405020304" pitchFamily="18" charset="0"/>
                        </a:rPr>
                        <a:t>时间</a:t>
                      </a:r>
                      <a:endParaRPr lang="zh-CN" altLang="en-US" sz="1600" dirty="0">
                        <a:latin typeface="Times New Roman" panose="02020603050405020304" pitchFamily="18" charset="0"/>
                      </a:endParaRPr>
                    </a:p>
                  </a:txBody>
                  <a:tcPr anchor="ctr">
                    <a:solidFill>
                      <a:srgbClr val="004578"/>
                    </a:solidFill>
                  </a:tcPr>
                </a:tc>
                <a:tc>
                  <a:txBody>
                    <a:bodyPr/>
                    <a:lstStyle/>
                    <a:p>
                      <a:pPr algn="ctr">
                        <a:buNone/>
                      </a:pPr>
                      <a:r>
                        <a:rPr lang="zh-CN" altLang="en-US" sz="1600" dirty="0">
                          <a:latin typeface="Times New Roman" panose="02020603050405020304" pitchFamily="18" charset="0"/>
                        </a:rPr>
                        <a:t>研究计划</a:t>
                      </a:r>
                      <a:endParaRPr lang="zh-CN" altLang="en-US" sz="1600" dirty="0">
                        <a:latin typeface="Times New Roman" panose="02020603050405020304" pitchFamily="18" charset="0"/>
                      </a:endParaRPr>
                    </a:p>
                  </a:txBody>
                  <a:tcPr anchor="ctr">
                    <a:solidFill>
                      <a:srgbClr val="004578"/>
                    </a:solidFill>
                  </a:tcPr>
                </a:tc>
                <a:tc>
                  <a:txBody>
                    <a:bodyPr/>
                    <a:lstStyle/>
                    <a:p>
                      <a:pPr algn="ctr">
                        <a:buNone/>
                      </a:pPr>
                      <a:r>
                        <a:rPr lang="zh-CN" altLang="en-US" sz="1600" dirty="0">
                          <a:latin typeface="Times New Roman" panose="02020603050405020304" pitchFamily="18" charset="0"/>
                        </a:rPr>
                        <a:t>当前进展情况</a:t>
                      </a:r>
                      <a:endParaRPr lang="zh-CN" altLang="en-US" sz="1600" dirty="0">
                        <a:latin typeface="Times New Roman" panose="02020603050405020304" pitchFamily="18" charset="0"/>
                      </a:endParaRPr>
                    </a:p>
                  </a:txBody>
                  <a:tcPr anchor="ctr">
                    <a:solidFill>
                      <a:srgbClr val="004578"/>
                    </a:solidFill>
                  </a:tcPr>
                </a:tc>
                <a:tc>
                  <a:txBody>
                    <a:bodyPr/>
                    <a:lstStyle/>
                    <a:p>
                      <a:pPr algn="ctr">
                        <a:buNone/>
                      </a:pPr>
                      <a:r>
                        <a:rPr lang="zh-CN" altLang="en-US" sz="1600" dirty="0">
                          <a:latin typeface="Times New Roman" panose="02020603050405020304" pitchFamily="18" charset="0"/>
                        </a:rPr>
                        <a:t>完成状态</a:t>
                      </a:r>
                      <a:endParaRPr lang="zh-CN" altLang="en-US" sz="1600" dirty="0">
                        <a:latin typeface="Times New Roman" panose="02020603050405020304" pitchFamily="18" charset="0"/>
                      </a:endParaRPr>
                    </a:p>
                  </a:txBody>
                  <a:tcPr anchor="ctr">
                    <a:solidFill>
                      <a:srgbClr val="004578"/>
                    </a:solidFill>
                  </a:tcPr>
                </a:tc>
              </a:tr>
              <a:tr h="789383">
                <a:tc>
                  <a:txBody>
                    <a:bodyPr/>
                    <a:lstStyle/>
                    <a:p>
                      <a:pPr algn="ctr">
                        <a:buNone/>
                      </a:pPr>
                      <a:r>
                        <a:rPr lang="en-US" altLang="zh-CN" sz="1400" dirty="0"/>
                        <a:t>2024</a:t>
                      </a:r>
                      <a:r>
                        <a:rPr lang="zh-CN" altLang="en-US" sz="1400" dirty="0"/>
                        <a:t>年</a:t>
                      </a:r>
                      <a:r>
                        <a:rPr lang="en-US" altLang="zh-CN" sz="1400" dirty="0"/>
                        <a:t>1</a:t>
                      </a:r>
                      <a:r>
                        <a:rPr lang="zh-CN" altLang="en-US" sz="1400" dirty="0"/>
                        <a:t>月</a:t>
                      </a:r>
                      <a:r>
                        <a:rPr lang="en-US" altLang="zh-CN" sz="1400" dirty="0"/>
                        <a:t>-</a:t>
                      </a:r>
                      <a:endParaRPr lang="en-US" altLang="zh-CN" sz="1400" dirty="0"/>
                    </a:p>
                    <a:p>
                      <a:pPr algn="ctr">
                        <a:buNone/>
                      </a:pPr>
                      <a:r>
                        <a:rPr lang="en-US" altLang="zh-CN" sz="1400" dirty="0"/>
                        <a:t>2024</a:t>
                      </a:r>
                      <a:r>
                        <a:rPr lang="zh-CN" altLang="en-US" sz="1400" dirty="0"/>
                        <a:t>年</a:t>
                      </a:r>
                      <a:r>
                        <a:rPr lang="en-US" altLang="zh-CN" sz="1400" dirty="0"/>
                        <a:t>8</a:t>
                      </a:r>
                      <a:r>
                        <a:rPr lang="zh-CN" altLang="en-US" sz="1400" dirty="0"/>
                        <a:t>月</a:t>
                      </a:r>
                      <a:endParaRPr lang="zh-CN" altLang="en-US" sz="1400" dirty="0"/>
                    </a:p>
                  </a:txBody>
                  <a:tcPr anchor="ctr"/>
                </a:tc>
                <a:tc>
                  <a:txBody>
                    <a:bodyPr/>
                    <a:lstStyle/>
                    <a:p>
                      <a:pPr algn="just">
                        <a:buNone/>
                      </a:pPr>
                      <a:r>
                        <a:rPr lang="zh-CN" altLang="en-US" sz="1400" dirty="0"/>
                        <a:t>调研和分析当前国内外面向云边端协同的跨域分布式训练相关通信优化</a:t>
                      </a:r>
                      <a:r>
                        <a:rPr lang="zh-CN" altLang="en-US" sz="1400" dirty="0"/>
                        <a:t>技术</a:t>
                      </a:r>
                      <a:endParaRPr lang="zh-CN" altLang="en-US" sz="1400" dirty="0"/>
                    </a:p>
                  </a:txBody>
                  <a:tcPr anchor="ctr"/>
                </a:tc>
                <a:tc>
                  <a:txBody>
                    <a:bodyPr/>
                    <a:lstStyle/>
                    <a:p>
                      <a:pPr algn="just">
                        <a:buNone/>
                      </a:pPr>
                      <a:r>
                        <a:rPr lang="zh-CN" altLang="en-US" sz="1400" dirty="0">
                          <a:latin typeface="Times New Roman" panose="02020603050405020304" pitchFamily="18" charset="0"/>
                        </a:rPr>
                        <a:t>对相关量化稀疏化压缩方法、优化器量化与自适应</a:t>
                      </a:r>
                      <a:r>
                        <a:rPr lang="zh-CN" altLang="en-US" sz="1400" dirty="0">
                          <a:latin typeface="Times New Roman" panose="02020603050405020304" pitchFamily="18" charset="0"/>
                        </a:rPr>
                        <a:t>调整方法、集合通信</a:t>
                      </a:r>
                      <a:r>
                        <a:rPr lang="zh-CN" altLang="en-US" sz="1400" dirty="0">
                          <a:latin typeface="Times New Roman" panose="02020603050405020304" pitchFamily="18" charset="0"/>
                        </a:rPr>
                        <a:t>优化方案生成进行了调研和分析</a:t>
                      </a:r>
                      <a:endParaRPr lang="zh-CN" altLang="en-US" sz="1400" dirty="0">
                        <a:latin typeface="Times New Roman" panose="02020603050405020304" pitchFamily="18" charset="0"/>
                      </a:endParaRPr>
                    </a:p>
                  </a:txBody>
                  <a:tcPr anchor="ctr"/>
                </a:tc>
                <a:tc>
                  <a:txBody>
                    <a:bodyPr/>
                    <a:lstStyle/>
                    <a:p>
                      <a:pPr algn="ctr">
                        <a:buNone/>
                      </a:pPr>
                      <a:r>
                        <a:rPr lang="zh-CN" altLang="en-US" sz="1400" dirty="0"/>
                        <a:t>已完成</a:t>
                      </a:r>
                      <a:endParaRPr lang="zh-CN" altLang="en-US" sz="1400" dirty="0"/>
                    </a:p>
                  </a:txBody>
                  <a:tcPr anchor="ctr"/>
                </a:tc>
              </a:tr>
              <a:tr h="789305">
                <a:tc>
                  <a:txBody>
                    <a:bodyPr/>
                    <a:lstStyle/>
                    <a:p>
                      <a:pPr algn="ctr">
                        <a:buNone/>
                      </a:pPr>
                      <a:r>
                        <a:rPr lang="en-US" altLang="zh-CN" sz="1400" dirty="0"/>
                        <a:t>2024</a:t>
                      </a:r>
                      <a:r>
                        <a:rPr lang="zh-CN" altLang="en-US" sz="1400" dirty="0"/>
                        <a:t>年</a:t>
                      </a:r>
                      <a:r>
                        <a:rPr lang="en-US" altLang="zh-CN" sz="1400" dirty="0"/>
                        <a:t>6</a:t>
                      </a:r>
                      <a:r>
                        <a:rPr lang="zh-CN" altLang="en-US" sz="1400" dirty="0"/>
                        <a:t>月</a:t>
                      </a:r>
                      <a:r>
                        <a:rPr lang="en-US" altLang="zh-CN" sz="1400" dirty="0"/>
                        <a:t>-2024</a:t>
                      </a:r>
                      <a:r>
                        <a:rPr lang="zh-CN" altLang="en-US" sz="1400" dirty="0"/>
                        <a:t>年</a:t>
                      </a:r>
                      <a:r>
                        <a:rPr lang="en-US" altLang="zh-CN" sz="1400" dirty="0"/>
                        <a:t>12</a:t>
                      </a:r>
                      <a:r>
                        <a:rPr lang="zh-CN" altLang="en-US" sz="1400" dirty="0"/>
                        <a:t>月</a:t>
                      </a:r>
                      <a:endParaRPr lang="zh-CN" altLang="en-US" sz="1400" dirty="0"/>
                    </a:p>
                  </a:txBody>
                  <a:tcPr anchor="ctr"/>
                </a:tc>
                <a:tc>
                  <a:txBody>
                    <a:bodyPr/>
                    <a:lstStyle/>
                    <a:p>
                      <a:pPr algn="just">
                        <a:buNone/>
                      </a:pPr>
                      <a:r>
                        <a:rPr lang="zh-CN" altLang="en-US" sz="1400" dirty="0"/>
                        <a:t>研究基于差分传输模型感知的模型参数压缩策略，实现部署压缩</a:t>
                      </a:r>
                      <a:r>
                        <a:rPr lang="zh-CN" altLang="en-US" sz="1400" dirty="0"/>
                        <a:t>策略的云边端训练</a:t>
                      </a:r>
                      <a:endParaRPr lang="zh-CN" altLang="en-US" sz="1400" dirty="0"/>
                    </a:p>
                  </a:txBody>
                  <a:tcPr anchor="ctr"/>
                </a:tc>
                <a:tc>
                  <a:txBody>
                    <a:bodyPr/>
                    <a:lstStyle/>
                    <a:p>
                      <a:pPr algn="just">
                        <a:buNone/>
                      </a:pPr>
                      <a:r>
                        <a:rPr lang="zh-CN" altLang="en-US" sz="1400" dirty="0">
                          <a:latin typeface="Times New Roman" panose="02020603050405020304" pitchFamily="18" charset="0"/>
                        </a:rPr>
                        <a:t>完成了</a:t>
                      </a:r>
                      <a:r>
                        <a:rPr lang="zh-CN" altLang="en-US" sz="1400" dirty="0">
                          <a:sym typeface="+mn-ea"/>
                        </a:rPr>
                        <a:t>基于差分传输模型感知的模型参数压缩策略</a:t>
                      </a:r>
                      <a:r>
                        <a:rPr lang="zh-CN" altLang="en-US" sz="1400" dirty="0">
                          <a:latin typeface="Times New Roman" panose="02020603050405020304" pitchFamily="18" charset="0"/>
                        </a:rPr>
                        <a:t>方案设计，正在进行编码</a:t>
                      </a:r>
                      <a:endParaRPr lang="en-US" altLang="zh-CN" sz="1400" dirty="0">
                        <a:latin typeface="Times New Roman" panose="02020603050405020304" pitchFamily="18" charset="0"/>
                      </a:endParaRPr>
                    </a:p>
                  </a:txBody>
                  <a:tcPr anchor="ctr"/>
                </a:tc>
                <a:tc>
                  <a:txBody>
                    <a:bodyPr/>
                    <a:lstStyle/>
                    <a:p>
                      <a:pPr algn="ctr">
                        <a:buNone/>
                      </a:pPr>
                      <a:r>
                        <a:rPr lang="zh-CN" altLang="en-US" sz="1400" dirty="0"/>
                        <a:t>完成方案设计</a:t>
                      </a:r>
                      <a:endParaRPr lang="en-US" altLang="zh-CN" sz="1400" dirty="0"/>
                    </a:p>
                    <a:p>
                      <a:pPr algn="ctr">
                        <a:buNone/>
                      </a:pPr>
                      <a:r>
                        <a:rPr lang="zh-CN" altLang="en-US" sz="1400" dirty="0"/>
                        <a:t>完成编码实现</a:t>
                      </a:r>
                      <a:endParaRPr lang="zh-CN" altLang="en-US" sz="1400" dirty="0"/>
                    </a:p>
                  </a:txBody>
                  <a:tcPr anchor="ctr"/>
                </a:tc>
              </a:tr>
              <a:tr h="789383">
                <a:tc>
                  <a:txBody>
                    <a:bodyPr/>
                    <a:lstStyle/>
                    <a:p>
                      <a:pPr algn="ctr">
                        <a:buNone/>
                      </a:pPr>
                      <a:r>
                        <a:rPr lang="en-US" altLang="zh-CN" sz="1400" dirty="0"/>
                        <a:t>2024</a:t>
                      </a:r>
                      <a:r>
                        <a:rPr lang="zh-CN" altLang="en-US" sz="1400" dirty="0"/>
                        <a:t>年</a:t>
                      </a:r>
                      <a:r>
                        <a:rPr lang="en-US" altLang="zh-CN" sz="1400" dirty="0"/>
                        <a:t>11</a:t>
                      </a:r>
                      <a:r>
                        <a:rPr lang="zh-CN" altLang="en-US" sz="1400" dirty="0"/>
                        <a:t>月</a:t>
                      </a:r>
                      <a:r>
                        <a:rPr lang="en-US" altLang="zh-CN" sz="1400" dirty="0"/>
                        <a:t>-</a:t>
                      </a:r>
                      <a:endParaRPr lang="en-US" altLang="zh-CN" sz="1400" dirty="0"/>
                    </a:p>
                    <a:p>
                      <a:pPr algn="ctr">
                        <a:buNone/>
                      </a:pPr>
                      <a:r>
                        <a:rPr lang="en-US" altLang="zh-CN" sz="1400" dirty="0"/>
                        <a:t>2025</a:t>
                      </a:r>
                      <a:r>
                        <a:rPr lang="zh-CN" altLang="en-US" sz="1400" dirty="0"/>
                        <a:t>年</a:t>
                      </a:r>
                      <a:r>
                        <a:rPr lang="en-US" altLang="zh-CN" sz="1400" dirty="0"/>
                        <a:t>4</a:t>
                      </a:r>
                      <a:r>
                        <a:rPr lang="zh-CN" altLang="en-US" sz="1400" dirty="0"/>
                        <a:t>月</a:t>
                      </a:r>
                      <a:endParaRPr lang="zh-CN" altLang="en-US" sz="1400" dirty="0"/>
                    </a:p>
                  </a:txBody>
                  <a:tcPr anchor="ctr"/>
                </a:tc>
                <a:tc>
                  <a:txBody>
                    <a:bodyPr/>
                    <a:lstStyle/>
                    <a:p>
                      <a:pPr algn="just">
                        <a:buNone/>
                      </a:pPr>
                      <a:r>
                        <a:rPr lang="zh-CN" altLang="en-US" sz="1400" dirty="0"/>
                        <a:t>研究基于</a:t>
                      </a:r>
                      <a:r>
                        <a:rPr lang="zh-CN" altLang="en-US" sz="1400" b="0" dirty="0">
                          <a:sym typeface="+mn-ea"/>
                        </a:rPr>
                        <a:t>混合精度的自适应优化器方法</a:t>
                      </a:r>
                      <a:r>
                        <a:rPr lang="zh-CN" altLang="en-US" sz="1400" dirty="0">
                          <a:uFillTx/>
                          <a:sym typeface="+mn-ea"/>
                        </a:rPr>
                        <a:t>，</a:t>
                      </a:r>
                      <a:r>
                        <a:rPr lang="zh-CN" altLang="en-US" sz="1400" dirty="0">
                          <a:sym typeface="+mn-ea"/>
                        </a:rPr>
                        <a:t>实现压缩、更新一体化的分布式训练，撰写</a:t>
                      </a:r>
                      <a:r>
                        <a:rPr lang="zh-CN" altLang="en-US" sz="1400" dirty="0">
                          <a:sym typeface="+mn-ea"/>
                        </a:rPr>
                        <a:t>论文</a:t>
                      </a:r>
                      <a:endParaRPr lang="zh-CN" altLang="en-US" sz="1400" dirty="0">
                        <a:sym typeface="+mn-ea"/>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sz="1400" dirty="0">
                          <a:latin typeface="Times New Roman" panose="02020603050405020304" pitchFamily="18" charset="0"/>
                        </a:rPr>
                        <a:t>完成了</a:t>
                      </a:r>
                      <a:r>
                        <a:rPr lang="zh-CN" altLang="en-US" sz="1400" dirty="0">
                          <a:sym typeface="+mn-ea"/>
                        </a:rPr>
                        <a:t>基于</a:t>
                      </a:r>
                      <a:r>
                        <a:rPr lang="zh-CN" altLang="en-US" sz="1400" b="0" dirty="0">
                          <a:sym typeface="+mn-ea"/>
                        </a:rPr>
                        <a:t>混合精度的自适应优化器基本方法</a:t>
                      </a:r>
                      <a:r>
                        <a:rPr lang="zh-CN" altLang="en-US" sz="1400" dirty="0">
                          <a:latin typeface="Times New Roman" panose="02020603050405020304" pitchFamily="18" charset="0"/>
                        </a:rPr>
                        <a:t>设计，正在进行进一步理论</a:t>
                      </a:r>
                      <a:r>
                        <a:rPr lang="zh-CN" altLang="en-US" sz="1400" dirty="0">
                          <a:latin typeface="Times New Roman" panose="02020603050405020304" pitchFamily="18" charset="0"/>
                        </a:rPr>
                        <a:t>推导</a:t>
                      </a:r>
                      <a:endParaRPr lang="zh-CN" altLang="en-US" sz="1400" dirty="0">
                        <a:latin typeface="Times New Roman" panose="02020603050405020304" pitchFamily="18" charset="0"/>
                      </a:endParaRPr>
                    </a:p>
                  </a:txBody>
                  <a:tcPr anchor="ctr"/>
                </a:tc>
                <a:tc>
                  <a:txBody>
                    <a:bodyPr/>
                    <a:lstStyle/>
                    <a:p>
                      <a:pPr algn="ctr">
                        <a:buNone/>
                      </a:pPr>
                      <a:r>
                        <a:rPr lang="zh-CN" altLang="en-US" sz="1400" dirty="0"/>
                        <a:t>完成方案设计进行</a:t>
                      </a:r>
                      <a:r>
                        <a:rPr lang="zh-CN" altLang="en-US" sz="1400" dirty="0"/>
                        <a:t>编码实现</a:t>
                      </a:r>
                      <a:endParaRPr lang="zh-CN" altLang="en-US" sz="1400" dirty="0"/>
                    </a:p>
                  </a:txBody>
                  <a:tcPr anchor="ctr"/>
                </a:tc>
              </a:tr>
              <a:tr h="789383">
                <a:tc>
                  <a:txBody>
                    <a:bodyPr/>
                    <a:lstStyle/>
                    <a:p>
                      <a:pPr algn="ctr">
                        <a:buNone/>
                      </a:pPr>
                      <a:r>
                        <a:rPr lang="en-US" altLang="zh-CN" sz="1400" dirty="0"/>
                        <a:t>2025</a:t>
                      </a:r>
                      <a:r>
                        <a:rPr lang="zh-CN" altLang="en-US" sz="1400" dirty="0"/>
                        <a:t>年</a:t>
                      </a:r>
                      <a:r>
                        <a:rPr lang="en-US" altLang="zh-CN" sz="1400" dirty="0"/>
                        <a:t>4</a:t>
                      </a:r>
                      <a:r>
                        <a:rPr lang="zh-CN" altLang="en-US" sz="1400" dirty="0"/>
                        <a:t>月</a:t>
                      </a:r>
                      <a:r>
                        <a:rPr lang="en-US" altLang="zh-CN" sz="1400" dirty="0"/>
                        <a:t>-</a:t>
                      </a:r>
                      <a:endParaRPr lang="en-US" altLang="zh-CN" sz="1400" dirty="0"/>
                    </a:p>
                    <a:p>
                      <a:pPr algn="ctr">
                        <a:buNone/>
                      </a:pPr>
                      <a:r>
                        <a:rPr lang="en-US" altLang="zh-CN" sz="1400" dirty="0"/>
                        <a:t>2025</a:t>
                      </a:r>
                      <a:r>
                        <a:rPr lang="zh-CN" altLang="en-US" sz="1400" dirty="0"/>
                        <a:t>年</a:t>
                      </a:r>
                      <a:r>
                        <a:rPr lang="en-US" altLang="zh-CN" sz="1400" dirty="0"/>
                        <a:t>10</a:t>
                      </a:r>
                      <a:r>
                        <a:rPr lang="zh-CN" altLang="en-US" sz="1400" dirty="0"/>
                        <a:t>月</a:t>
                      </a:r>
                      <a:endParaRPr lang="zh-CN" altLang="en-US" sz="1400" dirty="0"/>
                    </a:p>
                  </a:txBody>
                  <a:tcPr anchor="ctr"/>
                </a:tc>
                <a:tc>
                  <a:txBody>
                    <a:bodyPr/>
                    <a:lstStyle/>
                    <a:p>
                      <a:pPr algn="just">
                        <a:buNone/>
                      </a:pPr>
                      <a:r>
                        <a:rPr lang="zh-CN" altLang="en-US" sz="1400" dirty="0"/>
                        <a:t>研究</a:t>
                      </a:r>
                      <a:r>
                        <a:rPr lang="zh-CN" altLang="en-US" sz="1400" dirty="0">
                          <a:sym typeface="+mn-ea"/>
                        </a:rPr>
                        <a:t>基于并行策略与网络状态感知的跨域集合通信方法</a:t>
                      </a:r>
                      <a:r>
                        <a:rPr lang="zh-CN" altLang="en-US" sz="1400" dirty="0"/>
                        <a:t>，实现并行策略的动态生成和切换</a:t>
                      </a:r>
                      <a:endParaRPr lang="zh-CN" altLang="en-US" sz="1400" dirty="0"/>
                    </a:p>
                  </a:txBody>
                  <a:tcPr anchor="ctr"/>
                </a:tc>
                <a:tc>
                  <a:txBody>
                    <a:bodyPr/>
                    <a:lstStyle/>
                    <a:p>
                      <a:pPr algn="just">
                        <a:buNone/>
                      </a:pPr>
                      <a:r>
                        <a:rPr lang="zh-CN" altLang="en-US" sz="1400" dirty="0">
                          <a:sym typeface="+mn-ea"/>
                        </a:rPr>
                        <a:t>完成了基于并行策略与网络状态感知的跨域集合通信基本方法设计，正在进行实验</a:t>
                      </a:r>
                      <a:endParaRPr lang="zh-CN" altLang="en-US" sz="1400" dirty="0">
                        <a:sym typeface="+mn-ea"/>
                      </a:endParaRPr>
                    </a:p>
                  </a:txBody>
                  <a:tcPr anchor="ctr"/>
                </a:tc>
                <a:tc>
                  <a:txBody>
                    <a:bodyPr/>
                    <a:lstStyle/>
                    <a:p>
                      <a:pPr algn="ctr">
                        <a:buNone/>
                      </a:pPr>
                      <a:r>
                        <a:rPr lang="zh-CN" altLang="en-US" sz="1400" dirty="0"/>
                        <a:t>完成方案设计进行</a:t>
                      </a:r>
                      <a:r>
                        <a:rPr lang="zh-CN" altLang="en-US" sz="1400" dirty="0"/>
                        <a:t>编码实现</a:t>
                      </a:r>
                      <a:endParaRPr lang="zh-CN" altLang="en-US" sz="1400" dirty="0"/>
                    </a:p>
                  </a:txBody>
                  <a:tcPr anchor="ctr"/>
                </a:tc>
              </a:tr>
              <a:tr h="789383">
                <a:tc>
                  <a:txBody>
                    <a:bodyPr/>
                    <a:lstStyle/>
                    <a:p>
                      <a:pPr algn="ctr">
                        <a:buNone/>
                      </a:pPr>
                      <a:r>
                        <a:rPr lang="en-US" altLang="zh-CN" sz="1400" dirty="0"/>
                        <a:t>2024</a:t>
                      </a:r>
                      <a:r>
                        <a:rPr lang="zh-CN" altLang="en-US" sz="1400" dirty="0"/>
                        <a:t>年</a:t>
                      </a:r>
                      <a:r>
                        <a:rPr lang="en-US" altLang="zh-CN" sz="1400" dirty="0"/>
                        <a:t>6</a:t>
                      </a:r>
                      <a:r>
                        <a:rPr lang="zh-CN" altLang="en-US" sz="1400" dirty="0"/>
                        <a:t>月</a:t>
                      </a:r>
                      <a:r>
                        <a:rPr lang="en-US" altLang="zh-CN" sz="1400" dirty="0"/>
                        <a:t>-</a:t>
                      </a:r>
                      <a:endParaRPr lang="en-US" altLang="zh-CN" sz="1400" dirty="0"/>
                    </a:p>
                    <a:p>
                      <a:pPr algn="ctr">
                        <a:buNone/>
                      </a:pPr>
                      <a:r>
                        <a:rPr lang="en-US" altLang="zh-CN" sz="1400" dirty="0"/>
                        <a:t>2025</a:t>
                      </a:r>
                      <a:r>
                        <a:rPr lang="zh-CN" altLang="en-US" sz="1400" dirty="0"/>
                        <a:t>年</a:t>
                      </a:r>
                      <a:r>
                        <a:rPr lang="en-US" altLang="zh-CN" sz="1400" dirty="0"/>
                        <a:t>12</a:t>
                      </a:r>
                      <a:r>
                        <a:rPr lang="zh-CN" altLang="en-US" sz="1400" dirty="0"/>
                        <a:t>月</a:t>
                      </a:r>
                      <a:endParaRPr lang="zh-CN" altLang="en-US" sz="1400" dirty="0"/>
                    </a:p>
                  </a:txBody>
                  <a:tcPr anchor="ctr"/>
                </a:tc>
                <a:tc>
                  <a:txBody>
                    <a:bodyPr/>
                    <a:lstStyle/>
                    <a:p>
                      <a:pPr algn="just">
                        <a:buNone/>
                      </a:pPr>
                      <a:r>
                        <a:rPr lang="zh-CN" altLang="en-US" sz="1400" dirty="0"/>
                        <a:t>研发面向云边端协同的跨域分布式训练通信优化</a:t>
                      </a:r>
                      <a:r>
                        <a:rPr lang="zh-CN" altLang="en-US" sz="1400" dirty="0"/>
                        <a:t>架构，验证相关方法效果</a:t>
                      </a:r>
                      <a:endParaRPr lang="zh-CN" altLang="en-US" sz="1400" dirty="0"/>
                    </a:p>
                  </a:txBody>
                  <a:tcPr anchor="ctr"/>
                </a:tc>
                <a:tc>
                  <a:txBody>
                    <a:bodyPr/>
                    <a:lstStyle/>
                    <a:p>
                      <a:pPr algn="just">
                        <a:buNone/>
                      </a:pPr>
                      <a:r>
                        <a:rPr lang="zh-CN" altLang="en-US" sz="1400" dirty="0">
                          <a:latin typeface="Times New Roman" panose="02020603050405020304" pitchFamily="18" charset="0"/>
                        </a:rPr>
                        <a:t>完成项目基础结构设计，正在进行压缩策略</a:t>
                      </a:r>
                      <a:r>
                        <a:rPr lang="zh-CN" altLang="en-US" sz="1400" dirty="0">
                          <a:latin typeface="Times New Roman" panose="02020603050405020304" pitchFamily="18" charset="0"/>
                        </a:rPr>
                        <a:t>实现</a:t>
                      </a:r>
                      <a:endParaRPr lang="zh-CN" altLang="en-US" sz="1400" dirty="0">
                        <a:latin typeface="Times New Roman" panose="02020603050405020304" pitchFamily="18" charset="0"/>
                      </a:endParaRPr>
                    </a:p>
                  </a:txBody>
                  <a:tcPr anchor="ctr"/>
                </a:tc>
                <a:tc>
                  <a:txBody>
                    <a:bodyPr/>
                    <a:lstStyle/>
                    <a:p>
                      <a:pPr algn="ctr">
                        <a:buNone/>
                      </a:pPr>
                      <a:r>
                        <a:rPr lang="zh-CN" altLang="en-US" sz="1400" dirty="0"/>
                        <a:t>完成架构设计</a:t>
                      </a:r>
                      <a:endParaRPr lang="en-US" altLang="zh-CN" sz="1400" dirty="0"/>
                    </a:p>
                    <a:p>
                      <a:pPr algn="ctr">
                        <a:buNone/>
                      </a:pPr>
                      <a:r>
                        <a:rPr lang="zh-CN" altLang="en-US" sz="1400" dirty="0"/>
                        <a:t>开始编码实现</a:t>
                      </a:r>
                      <a:endParaRPr lang="zh-CN" altLang="en-US" sz="1400" dirty="0"/>
                    </a:p>
                  </a:txBody>
                  <a:tcPr anchor="ctr"/>
                </a:tc>
              </a:tr>
              <a:tr h="789383">
                <a:tc>
                  <a:txBody>
                    <a:bodyPr/>
                    <a:lstStyle/>
                    <a:p>
                      <a:pPr algn="ctr">
                        <a:buNone/>
                      </a:pPr>
                      <a:r>
                        <a:rPr lang="en-US" altLang="zh-CN" sz="1400" dirty="0"/>
                        <a:t>2025</a:t>
                      </a:r>
                      <a:r>
                        <a:rPr lang="zh-CN" altLang="en-US" sz="1400" dirty="0"/>
                        <a:t>年</a:t>
                      </a:r>
                      <a:r>
                        <a:rPr lang="en-US" altLang="zh-CN" sz="1400" dirty="0"/>
                        <a:t>12</a:t>
                      </a:r>
                      <a:r>
                        <a:rPr lang="zh-CN" altLang="en-US" sz="1400" dirty="0"/>
                        <a:t>月</a:t>
                      </a:r>
                      <a:r>
                        <a:rPr lang="en-US" altLang="zh-CN" sz="1400" dirty="0"/>
                        <a:t>-</a:t>
                      </a:r>
                      <a:endParaRPr lang="en-US" altLang="zh-CN" sz="1400" dirty="0"/>
                    </a:p>
                    <a:p>
                      <a:pPr algn="ctr">
                        <a:buNone/>
                      </a:pPr>
                      <a:r>
                        <a:rPr lang="en-US" altLang="zh-CN" sz="1400" dirty="0"/>
                        <a:t>2026</a:t>
                      </a:r>
                      <a:r>
                        <a:rPr lang="zh-CN" altLang="en-US" sz="1400" dirty="0"/>
                        <a:t>年</a:t>
                      </a:r>
                      <a:r>
                        <a:rPr lang="en-US" altLang="zh-CN" sz="1400" dirty="0"/>
                        <a:t>2</a:t>
                      </a:r>
                      <a:r>
                        <a:rPr lang="zh-CN" altLang="en-US" sz="1400" dirty="0"/>
                        <a:t>月</a:t>
                      </a:r>
                      <a:endParaRPr lang="zh-CN" altLang="en-US" sz="1400" dirty="0"/>
                    </a:p>
                  </a:txBody>
                  <a:tcPr anchor="ctr"/>
                </a:tc>
                <a:tc>
                  <a:txBody>
                    <a:bodyPr/>
                    <a:lstStyle/>
                    <a:p>
                      <a:pPr algn="just">
                        <a:buNone/>
                      </a:pPr>
                      <a:r>
                        <a:rPr lang="zh-CN" altLang="en-US" sz="1400" dirty="0"/>
                        <a:t>整理上述成果，撰写毕业论文</a:t>
                      </a:r>
                      <a:endParaRPr lang="zh-CN" altLang="en-US" sz="1400" dirty="0"/>
                    </a:p>
                  </a:txBody>
                  <a:tcPr anchor="ctr"/>
                </a:tc>
                <a:tc>
                  <a:txBody>
                    <a:bodyPr/>
                    <a:lstStyle/>
                    <a:p>
                      <a:pPr algn="ctr">
                        <a:buNone/>
                      </a:pPr>
                      <a:r>
                        <a:rPr lang="zh-CN" altLang="en-US" sz="1400" dirty="0">
                          <a:latin typeface="Times New Roman" panose="02020603050405020304" pitchFamily="18" charset="0"/>
                        </a:rPr>
                        <a:t>未开始</a:t>
                      </a:r>
                      <a:endParaRPr lang="zh-CN" altLang="en-US" sz="1400" dirty="0">
                        <a:latin typeface="Times New Roman" panose="02020603050405020304" pitchFamily="18" charset="0"/>
                      </a:endParaRPr>
                    </a:p>
                  </a:txBody>
                  <a:tcPr anchor="ctr"/>
                </a:tc>
                <a:tc>
                  <a:txBody>
                    <a:bodyPr/>
                    <a:lstStyle/>
                    <a:p>
                      <a:pPr algn="ctr">
                        <a:buNone/>
                      </a:pPr>
                      <a:r>
                        <a:rPr lang="zh-CN" altLang="en-US" sz="1400" dirty="0"/>
                        <a:t>未开始</a:t>
                      </a:r>
                      <a:endParaRPr lang="zh-CN" altLang="en-US" sz="1400" dirty="0"/>
                    </a:p>
                  </a:txBody>
                  <a:tcPr anchor="ctr"/>
                </a:tc>
              </a:tr>
            </a:tbl>
          </a:graphicData>
        </a:graphic>
      </p:graphicFrame>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93921" y="2668429"/>
            <a:ext cx="7349490" cy="687229"/>
          </a:xfrm>
        </p:spPr>
        <p:txBody>
          <a:bodyPr>
            <a:noAutofit/>
          </a:bodyPr>
          <a:lstStyle/>
          <a:p>
            <a:r>
              <a:rPr lang="zh-CN" altLang="en-US" sz="4400"/>
              <a:t>谢谢各位老师，敬请指正</a:t>
            </a:r>
            <a:endParaRPr lang="zh-CN" altLang="en-US" sz="4400"/>
          </a:p>
        </p:txBody>
      </p:sp>
      <p:sp>
        <p:nvSpPr>
          <p:cNvPr id="3" name="副标题 2"/>
          <p:cNvSpPr>
            <a:spLocks noGrp="1"/>
          </p:cNvSpPr>
          <p:nvPr>
            <p:ph type="subTitle" idx="1"/>
          </p:nvPr>
        </p:nvSpPr>
        <p:spPr/>
        <p:txBody>
          <a:bodyPr/>
          <a:lstStyle/>
          <a:p>
            <a:r>
              <a:rPr lang="zh-CN" altLang="en-US"/>
              <a:t>李云潼</a:t>
            </a:r>
            <a:endParaRPr lang="zh-CN" alt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国内外研究现状</a:t>
            </a:r>
            <a:r>
              <a:rPr lang="en-US" altLang="zh-CN"/>
              <a:t> - </a:t>
            </a:r>
            <a:r>
              <a:t>模型微调并行策略</a:t>
            </a: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aphicFrame>
        <p:nvGraphicFramePr>
          <p:cNvPr id="4" name="表格 3"/>
          <p:cNvGraphicFramePr/>
          <p:nvPr>
            <p:custDataLst>
              <p:tags r:id="rId1"/>
            </p:custDataLst>
          </p:nvPr>
        </p:nvGraphicFramePr>
        <p:xfrm>
          <a:off x="326390" y="1024890"/>
          <a:ext cx="8503920" cy="4862195"/>
        </p:xfrm>
        <a:graphic>
          <a:graphicData uri="http://schemas.openxmlformats.org/drawingml/2006/table">
            <a:tbl>
              <a:tblPr firstRow="1" bandRow="1">
                <a:tableStyleId>{5C22544A-7EE6-4342-B048-85BDC9FD1C3A}</a:tableStyleId>
              </a:tblPr>
              <a:tblGrid>
                <a:gridCol w="594360"/>
                <a:gridCol w="635635"/>
                <a:gridCol w="592455"/>
                <a:gridCol w="1450340"/>
                <a:gridCol w="2465705"/>
                <a:gridCol w="2765425"/>
              </a:tblGrid>
              <a:tr h="543560">
                <a:tc>
                  <a:txBody>
                    <a:bodyPr/>
                    <a:lstStyle/>
                    <a:p>
                      <a:pPr algn="ctr">
                        <a:buNone/>
                      </a:pPr>
                      <a:r>
                        <a:rPr lang="zh-CN" altLang="en-US" sz="1400" b="1">
                          <a:latin typeface="Times New Roman" panose="02020603050405020304" pitchFamily="18" charset="0"/>
                        </a:rPr>
                        <a:t>方法分类</a:t>
                      </a:r>
                      <a:endParaRPr lang="zh-CN" altLang="en-US" sz="1400" b="1">
                        <a:latin typeface="Times New Roman" panose="02020603050405020304" pitchFamily="18" charset="0"/>
                      </a:endParaRPr>
                    </a:p>
                  </a:txBody>
                  <a:tcPr anchor="ctr">
                    <a:solidFill>
                      <a:srgbClr val="004578"/>
                    </a:solidFill>
                  </a:tcPr>
                </a:tc>
                <a:tc>
                  <a:txBody>
                    <a:bodyPr/>
                    <a:lstStyle/>
                    <a:p>
                      <a:pPr algn="ctr">
                        <a:buNone/>
                      </a:pPr>
                      <a:r>
                        <a:rPr lang="zh-CN" altLang="en-US" sz="1400" b="1">
                          <a:latin typeface="Times New Roman" panose="02020603050405020304" pitchFamily="18" charset="0"/>
                        </a:rPr>
                        <a:t>国家地区</a:t>
                      </a:r>
                      <a:endParaRPr lang="zh-CN" altLang="en-US" sz="1400" b="1">
                        <a:latin typeface="Times New Roman" panose="02020603050405020304" pitchFamily="18" charset="0"/>
                      </a:endParaRPr>
                    </a:p>
                  </a:txBody>
                  <a:tcPr anchor="ctr">
                    <a:solidFill>
                      <a:srgbClr val="004578"/>
                    </a:solidFill>
                  </a:tcPr>
                </a:tc>
                <a:tc>
                  <a:txBody>
                    <a:bodyPr/>
                    <a:lstStyle/>
                    <a:p>
                      <a:pPr algn="ctr">
                        <a:buNone/>
                      </a:pPr>
                      <a:r>
                        <a:rPr lang="zh-CN" altLang="en-US" sz="1400" b="1">
                          <a:latin typeface="Times New Roman" panose="02020603050405020304" pitchFamily="18" charset="0"/>
                        </a:rPr>
                        <a:t>机构名称</a:t>
                      </a:r>
                      <a:endParaRPr lang="zh-CN" altLang="en-US" sz="1400" b="1">
                        <a:latin typeface="Times New Roman" panose="02020603050405020304" pitchFamily="18" charset="0"/>
                      </a:endParaRPr>
                    </a:p>
                  </a:txBody>
                  <a:tcPr anchor="ctr">
                    <a:solidFill>
                      <a:srgbClr val="004578"/>
                    </a:solidFill>
                  </a:tcPr>
                </a:tc>
                <a:tc>
                  <a:txBody>
                    <a:bodyPr/>
                    <a:lstStyle/>
                    <a:p>
                      <a:pPr algn="ctr">
                        <a:buNone/>
                      </a:pPr>
                      <a:r>
                        <a:rPr lang="zh-CN" altLang="en-US" sz="1400" b="1">
                          <a:latin typeface="Times New Roman" panose="02020603050405020304" pitchFamily="18" charset="0"/>
                        </a:rPr>
                        <a:t>相关工作</a:t>
                      </a:r>
                      <a:endParaRPr lang="zh-CN" altLang="en-US" sz="1400" b="1">
                        <a:latin typeface="Times New Roman" panose="02020603050405020304" pitchFamily="18" charset="0"/>
                      </a:endParaRPr>
                    </a:p>
                  </a:txBody>
                  <a:tcPr anchor="ctr">
                    <a:solidFill>
                      <a:srgbClr val="004578"/>
                    </a:solidFill>
                  </a:tcPr>
                </a:tc>
                <a:tc>
                  <a:txBody>
                    <a:bodyPr/>
                    <a:lstStyle/>
                    <a:p>
                      <a:pPr algn="ctr">
                        <a:buNone/>
                      </a:pPr>
                      <a:r>
                        <a:rPr lang="zh-CN" altLang="en-US" sz="1400" b="1">
                          <a:latin typeface="Times New Roman" panose="02020603050405020304" pitchFamily="18" charset="0"/>
                        </a:rPr>
                        <a:t>相关工作描述</a:t>
                      </a:r>
                      <a:endParaRPr lang="zh-CN" altLang="en-US" sz="1400" b="1">
                        <a:latin typeface="Times New Roman" panose="02020603050405020304" pitchFamily="18" charset="0"/>
                      </a:endParaRPr>
                    </a:p>
                  </a:txBody>
                  <a:tcPr anchor="ctr">
                    <a:solidFill>
                      <a:srgbClr val="004578"/>
                    </a:solidFill>
                  </a:tcPr>
                </a:tc>
                <a:tc>
                  <a:txBody>
                    <a:bodyPr/>
                    <a:lstStyle/>
                    <a:p>
                      <a:pPr algn="ctr">
                        <a:buNone/>
                      </a:pPr>
                      <a:r>
                        <a:rPr lang="zh-CN" altLang="en-US" sz="1400" b="1">
                          <a:latin typeface="Times New Roman" panose="02020603050405020304" pitchFamily="18" charset="0"/>
                        </a:rPr>
                        <a:t>分析</a:t>
                      </a:r>
                      <a:endParaRPr lang="zh-CN" altLang="en-US" sz="1400" b="1">
                        <a:latin typeface="Times New Roman" panose="02020603050405020304" pitchFamily="18" charset="0"/>
                      </a:endParaRPr>
                    </a:p>
                  </a:txBody>
                  <a:tcPr anchor="ctr">
                    <a:solidFill>
                      <a:srgbClr val="004578"/>
                    </a:solidFill>
                  </a:tcPr>
                </a:tc>
              </a:tr>
              <a:tr h="586105">
                <a:tc rowSpan="2">
                  <a:txBody>
                    <a:bodyPr/>
                    <a:lstStyle/>
                    <a:p>
                      <a:pPr algn="ctr">
                        <a:buNone/>
                      </a:pPr>
                      <a:r>
                        <a:rPr lang="zh-CN" altLang="en-US" sz="1200">
                          <a:latin typeface="Times New Roman" panose="02020603050405020304" pitchFamily="18" charset="0"/>
                        </a:rPr>
                        <a:t>数据并行</a:t>
                      </a:r>
                      <a:endParaRPr lang="zh-CN" altLang="en-US" sz="1200">
                        <a:latin typeface="Times New Roman" panose="02020603050405020304" pitchFamily="18" charset="0"/>
                      </a:endParaRPr>
                    </a:p>
                  </a:txBody>
                  <a:tcPr anchor="ctr"/>
                </a:tc>
                <a:tc>
                  <a:txBody>
                    <a:bodyPr/>
                    <a:lstStyle/>
                    <a:p>
                      <a:pPr algn="ctr">
                        <a:buNone/>
                      </a:pPr>
                      <a:r>
                        <a:rPr lang="zh-CN" altLang="en-US" sz="1200" dirty="0"/>
                        <a:t>美国</a:t>
                      </a:r>
                      <a:endParaRPr lang="zh-CN" altLang="en-US" sz="1200" dirty="0"/>
                    </a:p>
                  </a:txBody>
                  <a:tcPr anchor="ctr"/>
                </a:tc>
                <a:tc>
                  <a:txBody>
                    <a:bodyPr/>
                    <a:lstStyle/>
                    <a:p>
                      <a:pPr algn="ctr">
                        <a:buNone/>
                      </a:pPr>
                      <a:r>
                        <a:rPr lang="en-US" altLang="zh-CN" sz="1200">
                          <a:latin typeface="Times New Roman" panose="02020603050405020304" pitchFamily="18" charset="0"/>
                        </a:rPr>
                        <a:t>Meta</a:t>
                      </a:r>
                      <a:endParaRPr lang="en-US" altLang="zh-CN" sz="1200">
                        <a:latin typeface="Times New Roman" panose="02020603050405020304" pitchFamily="18" charset="0"/>
                      </a:endParaRPr>
                    </a:p>
                  </a:txBody>
                  <a:tcPr anchor="ctr"/>
                </a:tc>
                <a:tc>
                  <a:txBody>
                    <a:bodyPr/>
                    <a:lstStyle/>
                    <a:p>
                      <a:pPr algn="ctr">
                        <a:buNone/>
                      </a:pPr>
                      <a:r>
                        <a:rPr lang="en-US" altLang="zh-CN" sz="1200">
                          <a:latin typeface="Times New Roman" panose="02020603050405020304" pitchFamily="18" charset="0"/>
                        </a:rPr>
                        <a:t>DDP</a:t>
                      </a:r>
                      <a:endParaRPr lang="en-US" altLang="zh-CN" sz="1200">
                        <a:latin typeface="Times New Roman" panose="02020603050405020304" pitchFamily="18" charset="0"/>
                      </a:endParaRPr>
                    </a:p>
                    <a:p>
                      <a:pPr algn="ctr">
                        <a:buNone/>
                      </a:pPr>
                      <a:r>
                        <a:rPr lang="zh-CN" altLang="en-US" sz="1200">
                          <a:latin typeface="Times New Roman" panose="02020603050405020304" pitchFamily="18" charset="0"/>
                        </a:rPr>
                        <a:t>（</a:t>
                      </a:r>
                      <a:r>
                        <a:rPr lang="en-US" altLang="zh-CN" sz="1200">
                          <a:latin typeface="Times New Roman" panose="02020603050405020304" pitchFamily="18" charset="0"/>
                        </a:rPr>
                        <a:t>VLDB’2020</a:t>
                      </a:r>
                      <a:r>
                        <a:rPr lang="zh-CN" altLang="en-US" sz="1200">
                          <a:latin typeface="Times New Roman" panose="02020603050405020304" pitchFamily="18" charset="0"/>
                        </a:rPr>
                        <a:t>）</a:t>
                      </a:r>
                      <a:endParaRPr lang="zh-CN" altLang="en-US" sz="1200">
                        <a:latin typeface="Times New Roman" panose="02020603050405020304" pitchFamily="18" charset="0"/>
                      </a:endParaRPr>
                    </a:p>
                  </a:txBody>
                  <a:tcPr anchor="ctr"/>
                </a:tc>
                <a:tc>
                  <a:txBody>
                    <a:bodyPr/>
                    <a:lstStyle/>
                    <a:p>
                      <a:pPr algn="just">
                        <a:buNone/>
                      </a:pPr>
                      <a:r>
                        <a:rPr lang="zh-CN" altLang="en-US" sz="1200"/>
                        <a:t>通过梯度桶化、计算与通信的重叠及梯度同步跳过加速数据并行</a:t>
                      </a:r>
                      <a:endParaRPr lang="zh-CN" altLang="en-US" sz="1200"/>
                    </a:p>
                  </a:txBody>
                  <a:tcPr anchor="ctr"/>
                </a:tc>
                <a:tc>
                  <a:txBody>
                    <a:bodyPr/>
                    <a:lstStyle/>
                    <a:p>
                      <a:pPr algn="just">
                        <a:buNone/>
                      </a:pPr>
                      <a:r>
                        <a:rPr lang="zh-CN" altLang="en-US" sz="1200"/>
                        <a:t>大多数据并行方法的基础，但仅适用于环形网络拓扑且显存开销巨大</a:t>
                      </a:r>
                      <a:endParaRPr lang="zh-CN" altLang="en-US" sz="1200"/>
                    </a:p>
                  </a:txBody>
                  <a:tcPr anchor="ctr"/>
                </a:tc>
              </a:tr>
              <a:tr h="586105">
                <a:tc vMerge="1">
                  <a:tcPr anchor="ctr"/>
                </a:tc>
                <a:tc>
                  <a:txBody>
                    <a:bodyPr/>
                    <a:lstStyle/>
                    <a:p>
                      <a:pPr algn="ctr">
                        <a:buNone/>
                      </a:pPr>
                      <a:r>
                        <a:rPr lang="zh-CN" altLang="en-US" sz="1200" dirty="0"/>
                        <a:t>美国</a:t>
                      </a:r>
                      <a:endParaRPr lang="zh-CN" altLang="en-US" sz="1200" dirty="0"/>
                    </a:p>
                  </a:txBody>
                  <a:tcPr anchor="ctr"/>
                </a:tc>
                <a:tc>
                  <a:txBody>
                    <a:bodyPr/>
                    <a:lstStyle/>
                    <a:p>
                      <a:pPr algn="ctr">
                        <a:buNone/>
                      </a:pPr>
                      <a:r>
                        <a:rPr lang="en-US" altLang="zh-CN" sz="1200">
                          <a:latin typeface="Times New Roman" panose="02020603050405020304" pitchFamily="18" charset="0"/>
                        </a:rPr>
                        <a:t> Meta</a:t>
                      </a:r>
                      <a:endParaRPr lang="en-US" altLang="zh-CN" sz="1200">
                        <a:latin typeface="Times New Roman" panose="02020603050405020304" pitchFamily="18" charset="0"/>
                      </a:endParaRPr>
                    </a:p>
                  </a:txBody>
                  <a:tcPr anchor="ctr"/>
                </a:tc>
                <a:tc>
                  <a:txBody>
                    <a:bodyPr/>
                    <a:lstStyle/>
                    <a:p>
                      <a:pPr algn="ctr">
                        <a:buNone/>
                      </a:pPr>
                      <a:r>
                        <a:rPr lang="en-US" altLang="zh-CN" sz="1200">
                          <a:latin typeface="Times New Roman" panose="02020603050405020304" pitchFamily="18" charset="0"/>
                        </a:rPr>
                        <a:t>FSDP</a:t>
                      </a:r>
                      <a:endParaRPr lang="en-US" altLang="zh-CN" sz="1200">
                        <a:latin typeface="Times New Roman" panose="02020603050405020304" pitchFamily="18" charset="0"/>
                      </a:endParaRPr>
                    </a:p>
                    <a:p>
                      <a:pPr algn="ctr">
                        <a:buNone/>
                      </a:pPr>
                      <a:r>
                        <a:rPr lang="zh-CN" altLang="en-US" sz="1200">
                          <a:latin typeface="Times New Roman" panose="02020603050405020304" pitchFamily="18" charset="0"/>
                        </a:rPr>
                        <a:t>（</a:t>
                      </a:r>
                      <a:r>
                        <a:rPr lang="en-US" altLang="zh-CN" sz="1200">
                          <a:latin typeface="Times New Roman" panose="02020603050405020304" pitchFamily="18" charset="0"/>
                        </a:rPr>
                        <a:t>VLDB’2023</a:t>
                      </a:r>
                      <a:r>
                        <a:rPr lang="zh-CN" altLang="en-US" sz="1200">
                          <a:latin typeface="Times New Roman" panose="02020603050405020304" pitchFamily="18" charset="0"/>
                        </a:rPr>
                        <a:t>）</a:t>
                      </a:r>
                      <a:endParaRPr lang="zh-CN" altLang="en-US" sz="1200">
                        <a:latin typeface="Times New Roman" panose="02020603050405020304" pitchFamily="18" charset="0"/>
                      </a:endParaRPr>
                    </a:p>
                  </a:txBody>
                  <a:tcPr anchor="ctr"/>
                </a:tc>
                <a:tc>
                  <a:txBody>
                    <a:bodyPr/>
                    <a:lstStyle/>
                    <a:p>
                      <a:pPr algn="just">
                        <a:buNone/>
                      </a:pPr>
                      <a:r>
                        <a:rPr lang="zh-CN" altLang="en-US" sz="1200"/>
                        <a:t>将模型参数划分为小单元，在计算前通过通信恢复完整模型参数，在计算后立即丢弃它们</a:t>
                      </a:r>
                      <a:endParaRPr lang="zh-CN" altLang="en-US" sz="1200"/>
                    </a:p>
                  </a:txBody>
                  <a:tcPr anchor="ctr"/>
                </a:tc>
                <a:tc>
                  <a:txBody>
                    <a:bodyPr/>
                    <a:lstStyle/>
                    <a:p>
                      <a:pPr algn="just">
                        <a:buNone/>
                      </a:pPr>
                      <a:r>
                        <a:rPr lang="zh-CN" altLang="en-US" sz="1200">
                          <a:sym typeface="+mn-ea"/>
                        </a:rPr>
                        <a:t>在数据并行时，</a:t>
                      </a:r>
                      <a:r>
                        <a:rPr lang="zh-CN" altLang="en-US" sz="1200"/>
                        <a:t>通过通信换取较低的的显存开销，但较好的通信环境、策略以及谨慎的</a:t>
                      </a:r>
                      <a:r>
                        <a:rPr lang="en-US" altLang="zh-CN" sz="1200"/>
                        <a:t> CUDA </a:t>
                      </a:r>
                      <a:r>
                        <a:rPr lang="zh-CN" altLang="en-US" sz="1200"/>
                        <a:t>缓存优化</a:t>
                      </a:r>
                      <a:endParaRPr lang="zh-CN" altLang="en-US" sz="1200"/>
                    </a:p>
                  </a:txBody>
                  <a:tcPr anchor="ctr"/>
                </a:tc>
              </a:tr>
              <a:tr h="586105">
                <a:tc rowSpan="2">
                  <a:txBody>
                    <a:bodyPr/>
                    <a:lstStyle/>
                    <a:p>
                      <a:pPr algn="ctr">
                        <a:buNone/>
                      </a:pPr>
                      <a:r>
                        <a:rPr lang="zh-CN" altLang="en-US" sz="1200">
                          <a:latin typeface="Times New Roman" panose="02020603050405020304" pitchFamily="18" charset="0"/>
                        </a:rPr>
                        <a:t>流水线并行</a:t>
                      </a:r>
                      <a:endParaRPr lang="zh-CN" altLang="en-US" sz="1200">
                        <a:latin typeface="Times New Roman" panose="02020603050405020304" pitchFamily="18" charset="0"/>
                      </a:endParaRPr>
                    </a:p>
                  </a:txBody>
                  <a:tcPr anchor="ctr"/>
                </a:tc>
                <a:tc>
                  <a:txBody>
                    <a:bodyPr/>
                    <a:lstStyle/>
                    <a:p>
                      <a:pPr algn="ctr">
                        <a:buNone/>
                      </a:pPr>
                      <a:r>
                        <a:rPr lang="zh-CN" altLang="en-US" sz="1200" dirty="0"/>
                        <a:t>中国</a:t>
                      </a:r>
                      <a:endParaRPr lang="zh-CN" altLang="en-US" sz="1200" dirty="0"/>
                    </a:p>
                  </a:txBody>
                  <a:tcPr anchor="ctr"/>
                </a:tc>
                <a:tc>
                  <a:txBody>
                    <a:bodyPr/>
                    <a:lstStyle/>
                    <a:p>
                      <a:pPr algn="ctr">
                        <a:buNone/>
                      </a:pPr>
                      <a:r>
                        <a:rPr lang="zh-CN" altLang="en-US" sz="1200"/>
                        <a:t>香港大学</a:t>
                      </a:r>
                      <a:endParaRPr lang="zh-CN" altLang="en-US" sz="1200"/>
                    </a:p>
                  </a:txBody>
                  <a:tcPr anchor="ctr"/>
                </a:tc>
                <a:tc>
                  <a:txBody>
                    <a:bodyPr/>
                    <a:lstStyle/>
                    <a:p>
                      <a:pPr algn="ctr">
                        <a:buNone/>
                      </a:pPr>
                      <a:r>
                        <a:rPr lang="zh-CN" altLang="en-US" sz="1200" dirty="0">
                          <a:latin typeface="Times New Roman" panose="02020603050405020304" pitchFamily="18" charset="0"/>
                        </a:rPr>
                        <a:t>Dynapipe</a:t>
                      </a:r>
                      <a:endParaRPr lang="zh-CN" altLang="en-US" sz="1200" dirty="0">
                        <a:latin typeface="Times New Roman" panose="02020603050405020304" pitchFamily="18" charset="0"/>
                      </a:endParaRPr>
                    </a:p>
                    <a:p>
                      <a:pPr algn="ctr">
                        <a:buNone/>
                      </a:pPr>
                      <a:r>
                        <a:rPr lang="zh-CN" altLang="en-US" sz="1200" dirty="0">
                          <a:latin typeface="Times New Roman" panose="02020603050405020304" pitchFamily="18" charset="0"/>
                        </a:rPr>
                        <a:t>（</a:t>
                      </a:r>
                      <a:r>
                        <a:rPr lang="en-US" altLang="zh-CN" sz="1200" dirty="0">
                          <a:latin typeface="Times New Roman" panose="02020603050405020304" pitchFamily="18" charset="0"/>
                        </a:rPr>
                        <a:t>EuroSys’2024</a:t>
                      </a:r>
                      <a:r>
                        <a:rPr lang="zh-CN" altLang="en-US" sz="1200" dirty="0">
                          <a:latin typeface="Times New Roman" panose="02020603050405020304" pitchFamily="18" charset="0"/>
                        </a:rPr>
                        <a:t>）</a:t>
                      </a:r>
                      <a:endParaRPr lang="zh-CN" altLang="en-US" sz="1200" dirty="0">
                        <a:latin typeface="Times New Roman" panose="02020603050405020304" pitchFamily="18" charset="0"/>
                      </a:endParaRPr>
                    </a:p>
                  </a:txBody>
                  <a:tcPr anchor="ctr"/>
                </a:tc>
                <a:tc>
                  <a:txBody>
                    <a:bodyPr/>
                    <a:lstStyle/>
                    <a:p>
                      <a:pPr algn="just">
                        <a:buNone/>
                      </a:pPr>
                      <a:r>
                        <a:rPr lang="zh-CN" altLang="en-US" sz="1200" dirty="0"/>
                        <a:t>使用动态规划优化微批构建，并通过动态流水线和通信调度处理执行时间的变化，提升训练效率</a:t>
                      </a:r>
                      <a:endParaRPr lang="zh-CN" altLang="en-US" sz="1200" dirty="0"/>
                    </a:p>
                  </a:txBody>
                  <a:tcPr anchor="ctr"/>
                </a:tc>
                <a:tc>
                  <a:txBody>
                    <a:bodyPr/>
                    <a:lstStyle/>
                    <a:p>
                      <a:pPr algn="just">
                        <a:buNone/>
                      </a:pPr>
                      <a:r>
                        <a:rPr lang="zh-CN" altLang="en-US" sz="1200" dirty="0"/>
                        <a:t>通过动态微批对齐训练窗口加速训练，但微批的计算和分发有较大的延时</a:t>
                      </a:r>
                      <a:endParaRPr lang="zh-CN" altLang="en-US" sz="1200" dirty="0"/>
                    </a:p>
                  </a:txBody>
                  <a:tcPr anchor="ctr"/>
                </a:tc>
              </a:tr>
              <a:tr h="640080">
                <a:tc vMerge="1">
                  <a:tcPr anchor="ctr"/>
                </a:tc>
                <a:tc>
                  <a:txBody>
                    <a:bodyPr/>
                    <a:lstStyle/>
                    <a:p>
                      <a:pPr algn="ctr">
                        <a:buNone/>
                      </a:pPr>
                      <a:r>
                        <a:rPr lang="zh-CN" altLang="en-US" sz="1200" dirty="0"/>
                        <a:t>中国</a:t>
                      </a:r>
                      <a:endParaRPr lang="zh-CN" altLang="en-US" sz="1200" dirty="0"/>
                    </a:p>
                  </a:txBody>
                  <a:tcPr anchor="ctr"/>
                </a:tc>
                <a:tc>
                  <a:txBody>
                    <a:bodyPr/>
                    <a:lstStyle/>
                    <a:p>
                      <a:pPr algn="ctr">
                        <a:buNone/>
                      </a:pPr>
                      <a:r>
                        <a:rPr lang="zh-CN" altLang="en-US" sz="1200"/>
                        <a:t>浙江大学</a:t>
                      </a:r>
                      <a:endParaRPr lang="zh-CN" altLang="en-US" sz="1200"/>
                    </a:p>
                  </a:txBody>
                  <a:tcPr anchor="ctr"/>
                </a:tc>
                <a:tc>
                  <a:txBody>
                    <a:bodyPr/>
                    <a:lstStyle/>
                    <a:p>
                      <a:pPr algn="ctr">
                        <a:buNone/>
                      </a:pPr>
                      <a:r>
                        <a:rPr lang="en-US" altLang="zh-CN" sz="1200" dirty="0" err="1">
                          <a:latin typeface="Times New Roman" panose="02020603050405020304" pitchFamily="18" charset="0"/>
                        </a:rPr>
                        <a:t>FTPipeHD</a:t>
                      </a:r>
                      <a:endParaRPr lang="en-US" altLang="zh-CN" sz="1200" dirty="0">
                        <a:latin typeface="Times New Roman" panose="02020603050405020304" pitchFamily="18" charset="0"/>
                      </a:endParaRPr>
                    </a:p>
                    <a:p>
                      <a:pPr algn="ctr">
                        <a:buNone/>
                      </a:pPr>
                      <a:r>
                        <a:rPr lang="zh-CN" altLang="en-US" sz="1200" dirty="0">
                          <a:latin typeface="Times New Roman" panose="02020603050405020304" pitchFamily="18" charset="0"/>
                        </a:rPr>
                        <a:t>（</a:t>
                      </a:r>
                      <a:r>
                        <a:rPr lang="en-US" altLang="zh-CN" sz="1200" dirty="0">
                          <a:latin typeface="Times New Roman" panose="02020603050405020304" pitchFamily="18" charset="0"/>
                        </a:rPr>
                        <a:t>TMC’2024</a:t>
                      </a:r>
                      <a:r>
                        <a:rPr lang="zh-CN" altLang="en-US" sz="1200" dirty="0">
                          <a:latin typeface="Times New Roman" panose="02020603050405020304" pitchFamily="18" charset="0"/>
                        </a:rPr>
                        <a:t>）</a:t>
                      </a:r>
                      <a:endParaRPr lang="zh-CN" altLang="en-US" sz="1200" dirty="0">
                        <a:latin typeface="Times New Roman" panose="02020603050405020304" pitchFamily="18" charset="0"/>
                      </a:endParaRPr>
                    </a:p>
                  </a:txBody>
                  <a:tcPr anchor="ctr"/>
                </a:tc>
                <a:tc>
                  <a:txBody>
                    <a:bodyPr/>
                    <a:lstStyle/>
                    <a:p>
                      <a:pPr algn="just">
                        <a:buNone/>
                      </a:pPr>
                      <a:r>
                        <a:rPr lang="zh-CN" altLang="en-US" sz="1200" dirty="0"/>
                        <a:t>通过实时计算能力，动态确定模型的切分点，并通过定时复制实现权重再分发</a:t>
                      </a:r>
                      <a:endParaRPr lang="zh-CN" altLang="en-US" sz="1200" dirty="0"/>
                    </a:p>
                  </a:txBody>
                  <a:tcPr anchor="ctr"/>
                </a:tc>
                <a:tc>
                  <a:txBody>
                    <a:bodyPr/>
                    <a:lstStyle/>
                    <a:p>
                      <a:pPr algn="just">
                        <a:buNone/>
                      </a:pPr>
                      <a:r>
                        <a:rPr lang="zh-CN" altLang="en-US" sz="1200" dirty="0"/>
                        <a:t>通过动态流水线在边缘节点实现模型的训练，但缺乏对其他并行策略和大模型的支持</a:t>
                      </a:r>
                      <a:endParaRPr lang="zh-CN" altLang="en-US" sz="1200" dirty="0"/>
                    </a:p>
                  </a:txBody>
                  <a:tcPr anchor="ctr"/>
                </a:tc>
              </a:tr>
              <a:tr h="586105">
                <a:tc rowSpan="2">
                  <a:txBody>
                    <a:bodyPr/>
                    <a:lstStyle/>
                    <a:p>
                      <a:pPr algn="ctr">
                        <a:buNone/>
                      </a:pPr>
                      <a:r>
                        <a:rPr lang="zh-CN" altLang="en-US" sz="1200">
                          <a:latin typeface="Times New Roman" panose="02020603050405020304" pitchFamily="18" charset="0"/>
                        </a:rPr>
                        <a:t>张量并行</a:t>
                      </a:r>
                      <a:endParaRPr lang="zh-CN" altLang="en-US" sz="1200">
                        <a:latin typeface="Times New Roman" panose="02020603050405020304" pitchFamily="18" charset="0"/>
                      </a:endParaRPr>
                    </a:p>
                  </a:txBody>
                  <a:tcPr anchor="ctr"/>
                </a:tc>
                <a:tc>
                  <a:txBody>
                    <a:bodyPr/>
                    <a:lstStyle/>
                    <a:p>
                      <a:pPr algn="ctr">
                        <a:buNone/>
                      </a:pPr>
                      <a:r>
                        <a:rPr lang="zh-CN" altLang="en-US" sz="1200" dirty="0"/>
                        <a:t>美国</a:t>
                      </a:r>
                      <a:endParaRPr lang="zh-CN" altLang="en-US" sz="1200" dirty="0"/>
                    </a:p>
                  </a:txBody>
                  <a:tcPr anchor="ctr"/>
                </a:tc>
                <a:tc>
                  <a:txBody>
                    <a:bodyPr/>
                    <a:lstStyle/>
                    <a:p>
                      <a:pPr algn="ctr">
                        <a:buNone/>
                      </a:pPr>
                      <a:r>
                        <a:rPr lang="zh-CN" altLang="en-US" sz="1200"/>
                        <a:t>加州大学</a:t>
                      </a:r>
                      <a:endParaRPr lang="zh-CN" altLang="en-US" sz="1200"/>
                    </a:p>
                  </a:txBody>
                  <a:tcPr anchor="ctr"/>
                </a:tc>
                <a:tc>
                  <a:txBody>
                    <a:bodyPr/>
                    <a:lstStyle/>
                    <a:p>
                      <a:pPr algn="ctr">
                        <a:buNone/>
                      </a:pPr>
                      <a:r>
                        <a:rPr lang="zh-CN" altLang="en-US" sz="1200">
                          <a:latin typeface="Times New Roman" panose="02020603050405020304" pitchFamily="18" charset="0"/>
                        </a:rPr>
                        <a:t>Optimus</a:t>
                      </a:r>
                      <a:endParaRPr lang="zh-CN" altLang="en-US" sz="1200">
                        <a:latin typeface="Times New Roman" panose="02020603050405020304" pitchFamily="18" charset="0"/>
                      </a:endParaRPr>
                    </a:p>
                    <a:p>
                      <a:pPr algn="ctr">
                        <a:buNone/>
                      </a:pPr>
                      <a:r>
                        <a:rPr lang="zh-CN" altLang="en-US" sz="1200">
                          <a:latin typeface="Times New Roman" panose="02020603050405020304" pitchFamily="18" charset="0"/>
                        </a:rPr>
                        <a:t>（</a:t>
                      </a:r>
                      <a:r>
                        <a:rPr lang="en-US" altLang="zh-CN" sz="1200">
                          <a:latin typeface="Times New Roman" panose="02020603050405020304" pitchFamily="18" charset="0"/>
                        </a:rPr>
                        <a:t>IPDPS’2023</a:t>
                      </a:r>
                      <a:r>
                        <a:rPr lang="zh-CN" altLang="en-US" sz="1200">
                          <a:latin typeface="Times New Roman" panose="02020603050405020304" pitchFamily="18" charset="0"/>
                        </a:rPr>
                        <a:t>）</a:t>
                      </a:r>
                      <a:endParaRPr lang="zh-CN" altLang="en-US" sz="1200">
                        <a:latin typeface="Times New Roman" panose="02020603050405020304" pitchFamily="18" charset="0"/>
                      </a:endParaRPr>
                    </a:p>
                  </a:txBody>
                  <a:tcPr anchor="ctr"/>
                </a:tc>
                <a:tc>
                  <a:txBody>
                    <a:bodyPr/>
                    <a:lstStyle/>
                    <a:p>
                      <a:pPr algn="just">
                        <a:buNone/>
                      </a:pPr>
                      <a:r>
                        <a:rPr lang="zh-CN" altLang="en-US" sz="1200" dirty="0"/>
                        <a:t>基于可拓展矩阵乘法实现</a:t>
                      </a:r>
                      <a:r>
                        <a:rPr lang="en-US" altLang="zh-CN" sz="1200" dirty="0"/>
                        <a:t> 2D</a:t>
                      </a:r>
                      <a:r>
                        <a:rPr lang="zh-CN" altLang="en-US" sz="1200" dirty="0"/>
                        <a:t>、</a:t>
                      </a:r>
                      <a:r>
                        <a:rPr lang="en-US" altLang="zh-CN" sz="1200" dirty="0"/>
                        <a:t>2.5D </a:t>
                      </a:r>
                      <a:r>
                        <a:rPr lang="zh-CN" altLang="en-US" sz="1200" dirty="0"/>
                        <a:t>张量并行，提升显存利用率</a:t>
                      </a:r>
                      <a:endParaRPr lang="zh-CN" altLang="en-US" sz="1200" dirty="0"/>
                    </a:p>
                  </a:txBody>
                  <a:tcPr anchor="ctr"/>
                </a:tc>
                <a:tc>
                  <a:txBody>
                    <a:bodyPr/>
                    <a:lstStyle/>
                    <a:p>
                      <a:pPr algn="just">
                        <a:buNone/>
                      </a:pPr>
                      <a:r>
                        <a:rPr lang="zh-CN" altLang="en-US" sz="1200"/>
                        <a:t>提供了更加细粒度的张量划分方法，但是带来了更加庞大的通信开销</a:t>
                      </a:r>
                      <a:endParaRPr lang="zh-CN" altLang="en-US" sz="1200"/>
                    </a:p>
                  </a:txBody>
                  <a:tcPr anchor="ctr"/>
                </a:tc>
              </a:tr>
              <a:tr h="586105">
                <a:tc vMerge="1">
                  <a:tcPr anchor="ctr"/>
                </a:tc>
                <a:tc>
                  <a:txBody>
                    <a:bodyPr/>
                    <a:lstStyle/>
                    <a:p>
                      <a:pPr algn="ctr">
                        <a:buNone/>
                      </a:pPr>
                      <a:r>
                        <a:rPr lang="zh-CN" altLang="en-US" sz="1200" dirty="0"/>
                        <a:t>美国</a:t>
                      </a:r>
                      <a:endParaRPr lang="zh-CN" altLang="en-US" sz="1200" dirty="0"/>
                    </a:p>
                  </a:txBody>
                  <a:tcPr anchor="ctr"/>
                </a:tc>
                <a:tc>
                  <a:txBody>
                    <a:bodyPr/>
                    <a:lstStyle/>
                    <a:p>
                      <a:pPr algn="ctr">
                        <a:buNone/>
                      </a:pPr>
                      <a:r>
                        <a:rPr lang="zh-CN" altLang="en-US" sz="1200"/>
                        <a:t>英伟达</a:t>
                      </a:r>
                      <a:endParaRPr lang="zh-CN" altLang="en-US" sz="1200"/>
                    </a:p>
                  </a:txBody>
                  <a:tcPr anchor="ctr"/>
                </a:tc>
                <a:tc>
                  <a:txBody>
                    <a:bodyPr/>
                    <a:lstStyle/>
                    <a:p>
                      <a:pPr algn="ctr">
                        <a:buNone/>
                      </a:pPr>
                      <a:r>
                        <a:rPr lang="zh-CN" altLang="en-US" sz="1200">
                          <a:latin typeface="Times New Roman" panose="02020603050405020304" pitchFamily="18" charset="0"/>
                          <a:sym typeface="+mn-ea"/>
                        </a:rPr>
                        <a:t>Megatron-LM</a:t>
                      </a:r>
                      <a:endParaRPr lang="zh-CN" altLang="en-US" sz="1200">
                        <a:latin typeface="Times New Roman" panose="02020603050405020304" pitchFamily="18" charset="0"/>
                        <a:sym typeface="+mn-ea"/>
                      </a:endParaRPr>
                    </a:p>
                    <a:p>
                      <a:pPr algn="ctr">
                        <a:buNone/>
                      </a:pPr>
                      <a:r>
                        <a:rPr lang="zh-CN" altLang="en-US" sz="1200">
                          <a:latin typeface="Times New Roman" panose="02020603050405020304" pitchFamily="18" charset="0"/>
                        </a:rPr>
                        <a:t>（</a:t>
                      </a:r>
                      <a:r>
                        <a:rPr lang="en-US" altLang="zh-CN" sz="1200">
                          <a:latin typeface="Times New Roman" panose="02020603050405020304" pitchFamily="18" charset="0"/>
                        </a:rPr>
                        <a:t>SC’2021</a:t>
                      </a:r>
                      <a:r>
                        <a:rPr lang="zh-CN" altLang="en-US" sz="1200">
                          <a:latin typeface="Times New Roman" panose="02020603050405020304" pitchFamily="18" charset="0"/>
                        </a:rPr>
                        <a:t>）</a:t>
                      </a:r>
                      <a:endParaRPr lang="zh-CN" altLang="en-US" sz="1200">
                        <a:latin typeface="Times New Roman" panose="02020603050405020304" pitchFamily="18" charset="0"/>
                      </a:endParaRPr>
                    </a:p>
                  </a:txBody>
                  <a:tcPr anchor="ctr"/>
                </a:tc>
                <a:tc>
                  <a:txBody>
                    <a:bodyPr/>
                    <a:lstStyle/>
                    <a:p>
                      <a:pPr algn="just">
                        <a:buNone/>
                      </a:pPr>
                      <a:r>
                        <a:rPr lang="zh-CN" altLang="en-US" sz="1200" dirty="0"/>
                        <a:t>首次提出张量并行技术，实现基础的张亮并行算法</a:t>
                      </a:r>
                      <a:endParaRPr lang="zh-CN" altLang="en-US" sz="1200" dirty="0"/>
                    </a:p>
                  </a:txBody>
                  <a:tcPr anchor="ctr"/>
                </a:tc>
                <a:tc>
                  <a:txBody>
                    <a:bodyPr/>
                    <a:lstStyle/>
                    <a:p>
                      <a:pPr algn="just">
                        <a:buNone/>
                      </a:pPr>
                      <a:r>
                        <a:rPr lang="zh-CN" altLang="en-US" sz="1200"/>
                        <a:t>通过</a:t>
                      </a:r>
                      <a:r>
                        <a:rPr lang="en-US" altLang="zh-CN" sz="1200"/>
                        <a:t> 1D </a:t>
                      </a:r>
                      <a:r>
                        <a:rPr lang="zh-CN" altLang="en-US" sz="1200"/>
                        <a:t>张量并行提升</a:t>
                      </a:r>
                      <a:r>
                        <a:rPr lang="en-US" altLang="zh-CN" sz="1200"/>
                        <a:t> GPU </a:t>
                      </a:r>
                      <a:r>
                        <a:rPr lang="zh-CN" altLang="en-US" sz="1200"/>
                        <a:t>利用效率，但是缺乏动态环境和多维张量的支持</a:t>
                      </a:r>
                      <a:endParaRPr lang="zh-CN" altLang="en-US" sz="1200"/>
                    </a:p>
                  </a:txBody>
                  <a:tcPr anchor="ctr"/>
                </a:tc>
              </a:tr>
              <a:tr h="586105">
                <a:tc>
                  <a:txBody>
                    <a:bodyPr/>
                    <a:lstStyle/>
                    <a:p>
                      <a:pPr algn="ctr">
                        <a:buNone/>
                      </a:pPr>
                      <a:r>
                        <a:rPr lang="zh-CN" altLang="en-US" sz="1200">
                          <a:latin typeface="Times New Roman" panose="02020603050405020304" pitchFamily="18" charset="0"/>
                        </a:rPr>
                        <a:t>混合并行</a:t>
                      </a:r>
                      <a:endParaRPr lang="zh-CN" altLang="en-US" sz="1200">
                        <a:latin typeface="Times New Roman" panose="02020603050405020304" pitchFamily="18" charset="0"/>
                      </a:endParaRPr>
                    </a:p>
                  </a:txBody>
                  <a:tcPr anchor="ctr"/>
                </a:tc>
                <a:tc>
                  <a:txBody>
                    <a:bodyPr/>
                    <a:lstStyle/>
                    <a:p>
                      <a:pPr algn="ctr">
                        <a:buNone/>
                      </a:pPr>
                      <a:r>
                        <a:rPr lang="zh-CN" altLang="en-US" sz="1200" dirty="0"/>
                        <a:t>中国</a:t>
                      </a:r>
                      <a:endParaRPr lang="zh-CN" altLang="en-US" sz="1200" dirty="0"/>
                    </a:p>
                  </a:txBody>
                  <a:tcPr anchor="ctr"/>
                </a:tc>
                <a:tc>
                  <a:txBody>
                    <a:bodyPr/>
                    <a:lstStyle/>
                    <a:p>
                      <a:pPr algn="ctr">
                        <a:buNone/>
                      </a:pPr>
                      <a:r>
                        <a:rPr lang="zh-CN" altLang="en-US" sz="1200" dirty="0"/>
                        <a:t>香港大学</a:t>
                      </a:r>
                      <a:endParaRPr lang="zh-CN" altLang="en-US" sz="1200" dirty="0"/>
                    </a:p>
                  </a:txBody>
                  <a:tcPr anchor="ctr"/>
                </a:tc>
                <a:tc>
                  <a:txBody>
                    <a:bodyPr/>
                    <a:lstStyle/>
                    <a:p>
                      <a:pPr algn="ctr">
                        <a:buNone/>
                      </a:pPr>
                      <a:r>
                        <a:rPr lang="en-US" altLang="zh-CN" sz="1200" dirty="0">
                          <a:latin typeface="Times New Roman" panose="02020603050405020304" pitchFamily="18" charset="0"/>
                        </a:rPr>
                        <a:t>Flod3D</a:t>
                      </a:r>
                      <a:endParaRPr lang="en-US" altLang="zh-CN" sz="1200" dirty="0">
                        <a:latin typeface="Times New Roman" panose="02020603050405020304" pitchFamily="18" charset="0"/>
                      </a:endParaRPr>
                    </a:p>
                    <a:p>
                      <a:pPr algn="ctr">
                        <a:buNone/>
                      </a:pPr>
                      <a:r>
                        <a:rPr lang="zh-CN" altLang="en-US" sz="1200" dirty="0">
                          <a:latin typeface="Times New Roman" panose="02020603050405020304" pitchFamily="18" charset="0"/>
                        </a:rPr>
                        <a:t>（</a:t>
                      </a:r>
                      <a:r>
                        <a:rPr lang="en-US" altLang="zh-CN" sz="1200" dirty="0">
                          <a:latin typeface="Times New Roman" panose="02020603050405020304" pitchFamily="18" charset="0"/>
                        </a:rPr>
                        <a:t>TPDS’2023</a:t>
                      </a:r>
                      <a:r>
                        <a:rPr lang="zh-CN" altLang="en-US" sz="1200" dirty="0">
                          <a:latin typeface="Times New Roman" panose="02020603050405020304" pitchFamily="18" charset="0"/>
                        </a:rPr>
                        <a:t>）</a:t>
                      </a:r>
                      <a:endParaRPr lang="zh-CN" altLang="en-US" sz="1200" dirty="0">
                        <a:latin typeface="Times New Roman" panose="02020603050405020304" pitchFamily="18" charset="0"/>
                      </a:endParaRPr>
                    </a:p>
                  </a:txBody>
                  <a:tcPr anchor="ctr"/>
                </a:tc>
                <a:tc>
                  <a:txBody>
                    <a:bodyPr/>
                    <a:lstStyle/>
                    <a:p>
                      <a:pPr algn="just">
                        <a:buNone/>
                      </a:pPr>
                      <a:r>
                        <a:rPr lang="zh-CN" altLang="en-US" sz="1200" dirty="0"/>
                        <a:t>提出了</a:t>
                      </a:r>
                      <a:r>
                        <a:rPr lang="en-US" altLang="zh-CN" sz="1200" dirty="0"/>
                        <a:t>AIAO </a:t>
                      </a:r>
                      <a:r>
                        <a:rPr lang="zh-CN" altLang="en-US" sz="1200" dirty="0"/>
                        <a:t>算法，计算任务和通信任务交错执行，最大化地利用GPU计算能力和网络的通信带宽</a:t>
                      </a:r>
                      <a:endParaRPr lang="zh-CN" altLang="en-US" sz="1200" dirty="0"/>
                    </a:p>
                  </a:txBody>
                  <a:tcPr anchor="ctr"/>
                </a:tc>
                <a:tc>
                  <a:txBody>
                    <a:bodyPr/>
                    <a:lstStyle/>
                    <a:p>
                      <a:pPr algn="just">
                        <a:buNone/>
                      </a:pPr>
                      <a:r>
                        <a:rPr lang="zh-CN" altLang="en-US" sz="1200" dirty="0"/>
                        <a:t>解决了</a:t>
                      </a:r>
                      <a:r>
                        <a:rPr lang="en-US" altLang="zh-CN" sz="1200" dirty="0"/>
                        <a:t> 3D </a:t>
                      </a:r>
                      <a:r>
                        <a:rPr lang="zh-CN" altLang="en-US" sz="1200" dirty="0"/>
                        <a:t>并行中的通信串行化问题，但是缺乏对大模型和动态环境的支持</a:t>
                      </a:r>
                      <a:endParaRPr lang="zh-CN" altLang="en-US" sz="1200" dirty="0"/>
                    </a:p>
                  </a:txBody>
                  <a:tcPr anchor="ctr"/>
                </a:tc>
              </a:tr>
            </a:tbl>
          </a:graphicData>
        </a:graphic>
      </p:graphicFrame>
      <p:sp>
        <p:nvSpPr>
          <p:cNvPr id="6" name="圆角矩形 44"/>
          <p:cNvSpPr/>
          <p:nvPr>
            <p:custDataLst>
              <p:tags r:id="rId2"/>
            </p:custDataLst>
          </p:nvPr>
        </p:nvSpPr>
        <p:spPr>
          <a:xfrm>
            <a:off x="976630" y="5923915"/>
            <a:ext cx="7859395" cy="864235"/>
          </a:xfrm>
          <a:prstGeom prst="roundRect">
            <a:avLst/>
          </a:prstGeom>
          <a:solidFill>
            <a:schemeClr val="accent1">
              <a:lumMod val="20000"/>
              <a:lumOff val="80000"/>
            </a:schemeClr>
          </a:solidFill>
          <a:ln w="19050">
            <a:solidFill>
              <a:schemeClr val="accent1">
                <a:lumMod val="60000"/>
                <a:lumOff val="40000"/>
              </a:schemeClr>
            </a:solidFill>
            <a:miter lim="800000"/>
          </a:ln>
        </p:spPr>
        <p:txBody>
          <a:bodyPr anchor="ctr" anchorCtr="0"/>
          <a:lstStyle/>
          <a:p>
            <a:pPr marL="501650" indent="-285750" fontAlgn="ctr">
              <a:spcBef>
                <a:spcPts val="0"/>
              </a:spcBef>
              <a:spcAft>
                <a:spcPts val="600"/>
              </a:spcAft>
              <a:buFont typeface="Wingdings" panose="05000000000000000000" charset="0"/>
              <a:buChar char=""/>
            </a:pPr>
            <a:r>
              <a:rPr lang="zh-CN" altLang="en-US" sz="1600" dirty="0">
                <a:solidFill>
                  <a:schemeClr val="tx1"/>
                </a:solidFill>
                <a:latin typeface="Microsoft YaHei" panose="020B0503020204020204" charset="-122"/>
                <a:ea typeface="Microsoft YaHei" panose="020B0503020204020204" charset="-122"/>
              </a:rPr>
              <a:t>数据并行、模型并行等策略可以显著地提升模型训练、微调效率</a:t>
            </a:r>
            <a:endParaRPr lang="zh-CN" altLang="en-US" sz="1600" dirty="0">
              <a:solidFill>
                <a:schemeClr val="tx1"/>
              </a:solidFill>
              <a:latin typeface="Microsoft YaHei" panose="020B0503020204020204" charset="-122"/>
              <a:ea typeface="Microsoft YaHei" panose="020B0503020204020204" charset="-122"/>
            </a:endParaRPr>
          </a:p>
          <a:p>
            <a:pPr marL="501650" indent="-285750" fontAlgn="ctr">
              <a:spcBef>
                <a:spcPts val="0"/>
              </a:spcBef>
              <a:spcAft>
                <a:spcPts val="600"/>
              </a:spcAft>
              <a:buFont typeface="Wingdings" panose="05000000000000000000" charset="0"/>
              <a:buChar char=""/>
            </a:pPr>
            <a:r>
              <a:rPr lang="zh-CN" altLang="en-US" sz="1600" dirty="0">
                <a:solidFill>
                  <a:schemeClr val="tx1"/>
                </a:solidFill>
                <a:latin typeface="Microsoft YaHei" panose="020B0503020204020204" charset="-122"/>
                <a:ea typeface="Microsoft YaHei" panose="020B0503020204020204" charset="-122"/>
              </a:rPr>
              <a:t>现有方法主要针对计算中心内的并行，缺乏云边动态环境中并行策略的研究</a:t>
            </a:r>
            <a:endParaRPr lang="zh-CN" altLang="en-US" sz="1600" dirty="0">
              <a:solidFill>
                <a:schemeClr val="tx1"/>
              </a:solidFill>
              <a:latin typeface="Microsoft YaHei" panose="020B0503020204020204" charset="-122"/>
              <a:ea typeface="Microsoft YaHei" panose="020B0503020204020204" charset="-122"/>
            </a:endParaRPr>
          </a:p>
        </p:txBody>
      </p:sp>
      <p:sp>
        <p:nvSpPr>
          <p:cNvPr id="8" name="圆角矩形 52"/>
          <p:cNvSpPr>
            <a:spLocks noChangeArrowheads="1"/>
          </p:cNvSpPr>
          <p:nvPr>
            <p:custDataLst>
              <p:tags r:id="rId3"/>
            </p:custDataLst>
          </p:nvPr>
        </p:nvSpPr>
        <p:spPr bwMode="auto">
          <a:xfrm>
            <a:off x="306070" y="5923915"/>
            <a:ext cx="670560" cy="864235"/>
          </a:xfrm>
          <a:prstGeom prst="roundRect">
            <a:avLst>
              <a:gd name="adj" fmla="val 11204"/>
            </a:avLst>
          </a:prstGeom>
          <a:solidFill>
            <a:srgbClr val="4CA6A6"/>
          </a:solidFill>
          <a:ln w="9525">
            <a:noFill/>
            <a:round/>
          </a:ln>
        </p:spPr>
        <p:txBody>
          <a:bodyPr lIns="0" anchor="ctr"/>
          <a:lstStyle/>
          <a:p>
            <a:pPr algn="ctr"/>
            <a:endParaRPr lang="zh-CN" altLang="en-US" sz="1500" b="1" dirty="0">
              <a:solidFill>
                <a:schemeClr val="bg1"/>
              </a:solidFill>
              <a:latin typeface="Microsoft YaHei" panose="020B0503020204020204" charset="-122"/>
              <a:ea typeface="Microsoft YaHei" panose="020B0503020204020204" charset="-122"/>
            </a:endParaRPr>
          </a:p>
        </p:txBody>
      </p:sp>
      <p:grpSp>
        <p:nvGrpSpPr>
          <p:cNvPr id="9" name="Group 40"/>
          <p:cNvGrpSpPr/>
          <p:nvPr/>
        </p:nvGrpSpPr>
        <p:grpSpPr bwMode="auto">
          <a:xfrm rot="5400000">
            <a:off x="727710" y="6127115"/>
            <a:ext cx="517525" cy="457835"/>
            <a:chOff x="0" y="0"/>
            <a:chExt cx="312" cy="420"/>
          </a:xfrm>
        </p:grpSpPr>
        <p:grpSp>
          <p:nvGrpSpPr>
            <p:cNvPr id="10" name="Group 41"/>
            <p:cNvGrpSpPr/>
            <p:nvPr/>
          </p:nvGrpSpPr>
          <p:grpSpPr bwMode="auto">
            <a:xfrm>
              <a:off x="182" y="2"/>
              <a:ext cx="130" cy="418"/>
              <a:chOff x="0" y="0"/>
              <a:chExt cx="130" cy="418"/>
            </a:xfrm>
          </p:grpSpPr>
          <p:sp>
            <p:nvSpPr>
              <p:cNvPr id="15" name="Oval 31"/>
              <p:cNvSpPr>
                <a:spLocks noChangeArrowheads="1"/>
              </p:cNvSpPr>
              <p:nvPr>
                <p:custDataLst>
                  <p:tags r:id="rId4"/>
                </p:custDataLst>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6" name="Oval 32"/>
              <p:cNvSpPr>
                <a:spLocks noChangeArrowheads="1"/>
              </p:cNvSpPr>
              <p:nvPr>
                <p:custDataLst>
                  <p:tags r:id="rId5"/>
                </p:custDataLst>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7" name="AutoShape 33"/>
              <p:cNvSpPr>
                <a:spLocks noChangeArrowheads="1"/>
              </p:cNvSpPr>
              <p:nvPr>
                <p:custDataLst>
                  <p:tags r:id="rId6"/>
                </p:custDataLst>
              </p:nvPr>
            </p:nvSpPr>
            <p:spPr bwMode="auto">
              <a:xfrm>
                <a:off x="36" y="72"/>
                <a:ext cx="62" cy="300"/>
              </a:xfrm>
              <a:prstGeom prst="roundRect">
                <a:avLst>
                  <a:gd name="adj" fmla="val 50000"/>
                </a:avLst>
              </a:prstGeom>
              <a:gradFill rotWithShape="1">
                <a:gsLst>
                  <a:gs pos="0">
                    <a:srgbClr val="B2B2B2"/>
                  </a:gs>
                  <a:gs pos="50000">
                    <a:srgbClr val="EAEAEA"/>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nvGrpSpPr>
            <p:cNvPr id="11" name="Group 45"/>
            <p:cNvGrpSpPr/>
            <p:nvPr/>
          </p:nvGrpSpPr>
          <p:grpSpPr bwMode="auto">
            <a:xfrm>
              <a:off x="0" y="0"/>
              <a:ext cx="130" cy="418"/>
              <a:chOff x="0" y="0"/>
              <a:chExt cx="130" cy="418"/>
            </a:xfrm>
          </p:grpSpPr>
          <p:sp>
            <p:nvSpPr>
              <p:cNvPr id="12" name="Oval 35"/>
              <p:cNvSpPr>
                <a:spLocks noChangeArrowheads="1"/>
              </p:cNvSpPr>
              <p:nvPr>
                <p:custDataLst>
                  <p:tags r:id="rId7"/>
                </p:custDataLst>
              </p:nvPr>
            </p:nvSpPr>
            <p:spPr bwMode="auto">
              <a:xfrm>
                <a:off x="0" y="0"/>
                <a:ext cx="126" cy="120"/>
              </a:xfrm>
              <a:prstGeom prst="ellipse">
                <a:avLst/>
              </a:prstGeom>
              <a:solidFill>
                <a:srgbClr val="000000">
                  <a:alpha val="20000"/>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3" name="Oval 36"/>
              <p:cNvSpPr>
                <a:spLocks noChangeArrowheads="1"/>
              </p:cNvSpPr>
              <p:nvPr>
                <p:custDataLst>
                  <p:tags r:id="rId8"/>
                </p:custDataLst>
              </p:nvPr>
            </p:nvSpPr>
            <p:spPr bwMode="auto">
              <a:xfrm>
                <a:off x="4" y="298"/>
                <a:ext cx="126" cy="120"/>
              </a:xfrm>
              <a:prstGeom prst="ellipse">
                <a:avLst/>
              </a:prstGeom>
              <a:solidFill>
                <a:srgbClr val="000000">
                  <a:alpha val="29803"/>
                </a:srgbClr>
              </a:solidFill>
              <a:ln w="38100">
                <a:solidFill>
                  <a:srgbClr val="DDDDDD"/>
                </a:solidFill>
                <a:round/>
              </a:ln>
            </p:spPr>
            <p:txBody>
              <a:bodyPr rot="10800000" vert="eaVert" wrap="none" anchor="ctr"/>
              <a:lstStyle/>
              <a:p>
                <a:pPr eaLnBrk="1" hangingPunct="1"/>
                <a:endParaRPr lang="zh-CN" altLang="en-US" sz="1200">
                  <a:latin typeface="Arial" panose="020B0604020202020204" pitchFamily="34" charset="0"/>
                </a:endParaRPr>
              </a:p>
            </p:txBody>
          </p:sp>
          <p:sp>
            <p:nvSpPr>
              <p:cNvPr id="14" name="AutoShape 37"/>
              <p:cNvSpPr>
                <a:spLocks noChangeArrowheads="1"/>
              </p:cNvSpPr>
              <p:nvPr>
                <p:custDataLst>
                  <p:tags r:id="rId9"/>
                </p:custDataLst>
              </p:nvPr>
            </p:nvSpPr>
            <p:spPr bwMode="auto">
              <a:xfrm>
                <a:off x="36" y="72"/>
                <a:ext cx="62" cy="300"/>
              </a:xfrm>
              <a:prstGeom prst="roundRect">
                <a:avLst>
                  <a:gd name="adj" fmla="val 50000"/>
                </a:avLst>
              </a:prstGeom>
              <a:gradFill rotWithShape="1">
                <a:gsLst>
                  <a:gs pos="0">
                    <a:srgbClr val="B2B2B2"/>
                  </a:gs>
                  <a:gs pos="50000">
                    <a:srgbClr val="FFFFFF"/>
                  </a:gs>
                  <a:gs pos="100000">
                    <a:srgbClr val="B2B2B2"/>
                  </a:gs>
                </a:gsLst>
                <a:lin ang="5400000" scaled="1"/>
              </a:gradFill>
              <a:ln w="9525">
                <a:noFill/>
                <a:round/>
              </a:ln>
            </p:spPr>
            <p:txBody>
              <a:bodyPr rot="10800000" vert="eaVert" wrap="none" anchor="ctr"/>
              <a:lstStyle/>
              <a:p>
                <a:pPr eaLnBrk="1" hangingPunct="1"/>
                <a:endParaRPr lang="zh-CN" altLang="en-US" sz="1200">
                  <a:latin typeface="Arial" panose="020B0604020202020204" pitchFamily="34" charset="0"/>
                </a:endParaRPr>
              </a:p>
            </p:txBody>
          </p:sp>
        </p:grpSp>
      </p:grpSp>
      <p:sp>
        <p:nvSpPr>
          <p:cNvPr id="18" name="文本框 17"/>
          <p:cNvSpPr txBox="1"/>
          <p:nvPr>
            <p:custDataLst>
              <p:tags r:id="rId10"/>
            </p:custDataLst>
          </p:nvPr>
        </p:nvSpPr>
        <p:spPr>
          <a:xfrm>
            <a:off x="356235" y="6024880"/>
            <a:ext cx="267335" cy="692785"/>
          </a:xfrm>
          <a:prstGeom prst="rect">
            <a:avLst/>
          </a:prstGeom>
          <a:noFill/>
        </p:spPr>
        <p:txBody>
          <a:bodyPr wrap="square" rtlCol="0">
            <a:spAutoFit/>
          </a:bodyPr>
          <a:lstStyle/>
          <a:p>
            <a:pPr>
              <a:spcAft>
                <a:spcPts val="600"/>
              </a:spcAft>
            </a:pPr>
            <a:r>
              <a:rPr lang="zh-CN" altLang="en-US" sz="1700" dirty="0">
                <a:solidFill>
                  <a:schemeClr val="bg1"/>
                </a:solidFill>
                <a:latin typeface="Microsoft YaHei" panose="020B0503020204020204" charset="-122"/>
                <a:ea typeface="Microsoft YaHei" panose="020B0503020204020204" charset="-122"/>
              </a:rPr>
              <a:t>结</a:t>
            </a:r>
            <a:endParaRPr lang="en-US" altLang="zh-CN" sz="1700" dirty="0">
              <a:solidFill>
                <a:schemeClr val="bg1"/>
              </a:solidFill>
              <a:latin typeface="Microsoft YaHei" panose="020B0503020204020204" charset="-122"/>
              <a:ea typeface="Microsoft YaHei" panose="020B0503020204020204" charset="-122"/>
            </a:endParaRPr>
          </a:p>
          <a:p>
            <a:r>
              <a:rPr lang="zh-CN" altLang="en-US" sz="1700" dirty="0">
                <a:solidFill>
                  <a:schemeClr val="bg1"/>
                </a:solidFill>
                <a:latin typeface="Microsoft YaHei" panose="020B0503020204020204" charset="-122"/>
                <a:ea typeface="Microsoft YaHei" panose="020B0503020204020204" charset="-122"/>
              </a:rPr>
              <a:t>论</a:t>
            </a:r>
            <a:endParaRPr lang="zh-CN" altLang="en-US" sz="1700" dirty="0">
              <a:solidFill>
                <a:schemeClr val="bg1"/>
              </a:solidFill>
              <a:latin typeface="Microsoft YaHei" panose="020B0503020204020204" charset="-122"/>
              <a:ea typeface="Microsoft YaHei" panose="020B0503020204020204" charset="-122"/>
            </a:endParaRPr>
          </a:p>
        </p:txBody>
      </p:sp>
    </p:spTree>
    <p:custDataLst>
      <p:tags r:id="rId11"/>
    </p:custData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687070" y="262890"/>
            <a:ext cx="7920355" cy="521970"/>
          </a:xfrm>
        </p:spPr>
        <p:txBody>
          <a:bodyPr>
            <a:normAutofit fontScale="90000"/>
          </a:bodyPr>
          <a:lstStyle/>
          <a:p>
            <a:r>
              <a:rPr lang="zh-CN" altLang="en-US" dirty="0"/>
              <a:t>研究方案</a:t>
            </a:r>
            <a:r>
              <a:rPr lang="en-US" altLang="zh-CN" dirty="0"/>
              <a:t>-</a:t>
            </a:r>
            <a:r>
              <a:rPr sz="2200">
                <a:sym typeface="+mn-ea"/>
              </a:rPr>
              <a:t>基于并行策略计划与网络状态感知的跨域集合通信方法</a:t>
            </a:r>
            <a:endParaRPr lang="en-US" altLang="zh-CN" sz="2200" dirty="0"/>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圆角矩形 4"/>
          <p:cNvSpPr/>
          <p:nvPr>
            <p:custDataLst>
              <p:tags r:id="rId1"/>
            </p:custDataLst>
          </p:nvPr>
        </p:nvSpPr>
        <p:spPr>
          <a:xfrm>
            <a:off x="217805" y="1289685"/>
            <a:ext cx="8707755" cy="548005"/>
          </a:xfrm>
          <a:prstGeom prst="roundRect">
            <a:avLst/>
          </a:prstGeom>
          <a:solidFill>
            <a:srgbClr val="FFFFFF">
              <a:alpha val="100000"/>
            </a:srgbClr>
          </a:solidFill>
          <a:ln w="22225" cap="flat" cmpd="sng" algn="ctr">
            <a:solidFill>
              <a:srgbClr val="00BCFF">
                <a:alpha val="100000"/>
              </a:srgbClr>
            </a:solidFill>
            <a:prstDash val="solid"/>
            <a:miter lim="800000"/>
          </a:ln>
          <a:effectLst>
            <a:outerShdw blurRad="190500" dist="63500" dir="2700000" algn="tl"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l">
              <a:lnSpc>
                <a:spcPct val="110000"/>
              </a:lnSpc>
            </a:pPr>
            <a:r>
              <a:rPr lang="zh-CN" altLang="en-US" dirty="0">
                <a:solidFill>
                  <a:schemeClr val="tx1"/>
                </a:solidFill>
                <a:latin typeface="Microsoft YaHei" panose="020B0503020204020204" charset="-122"/>
                <a:ea typeface="Microsoft YaHei" panose="020B0503020204020204" charset="-122"/>
                <a:cs typeface="Microsoft YaHei" panose="020B0503020204020204" charset="-122"/>
              </a:rPr>
              <a:t>跨域分布式训练如何</a:t>
            </a: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sym typeface="+mn-ea"/>
              </a:rPr>
              <a:t>动态地生成云边端跨域集合通信策略</a:t>
            </a:r>
            <a:endParaRPr lang="zh-CN" altLang="en-US" dirty="0">
              <a:solidFill>
                <a:schemeClr val="tx1"/>
              </a:solidFill>
              <a:latin typeface="Microsoft YaHei" panose="020B0503020204020204" charset="-122"/>
              <a:ea typeface="Microsoft YaHei" panose="020B0503020204020204" charset="-122"/>
              <a:cs typeface="Microsoft YaHei" panose="020B0503020204020204" charset="-122"/>
            </a:endParaRPr>
          </a:p>
        </p:txBody>
      </p:sp>
      <p:sp>
        <p:nvSpPr>
          <p:cNvPr id="6" name="矩形 5"/>
          <p:cNvSpPr/>
          <p:nvPr>
            <p:custDataLst>
              <p:tags r:id="rId2"/>
            </p:custDataLst>
          </p:nvPr>
        </p:nvSpPr>
        <p:spPr>
          <a:xfrm>
            <a:off x="359146" y="1098642"/>
            <a:ext cx="1442357" cy="337277"/>
          </a:xfrm>
          <a:prstGeom prst="rect">
            <a:avLst/>
          </a:prstGeom>
          <a:solidFill>
            <a:srgbClr val="FFFFFF">
              <a:alpha val="100000"/>
            </a:srgbClr>
          </a:solidFill>
          <a:ln w="15875" cap="flat" cmpd="sng" algn="ctr">
            <a:solidFill>
              <a:srgbClr val="FFFFFF">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indent="0" algn="ctr" defTabSz="0" rtl="0" eaLnBrk="1" latinLnBrk="0" hangingPunct="1">
              <a:spcBef>
                <a:spcPct val="0"/>
              </a:spcBef>
              <a:spcAft>
                <a:spcPct val="0"/>
              </a:spcAft>
              <a:buNone/>
            </a:pPr>
            <a:r>
              <a:rPr lang="zh-CN" altLang="en-US" sz="2000" b="1" spc="450">
                <a:solidFill>
                  <a:srgbClr val="004578"/>
                </a:solidFill>
              </a:rPr>
              <a:t>关键问题</a:t>
            </a:r>
            <a:endParaRPr lang="zh-CN" altLang="en-US" sz="2000" b="1" spc="450">
              <a:solidFill>
                <a:srgbClr val="004578"/>
              </a:solidFill>
            </a:endParaRPr>
          </a:p>
        </p:txBody>
      </p:sp>
      <p:sp>
        <p:nvSpPr>
          <p:cNvPr id="12" name="圆角矩形 7"/>
          <p:cNvSpPr/>
          <p:nvPr>
            <p:custDataLst>
              <p:tags r:id="rId3"/>
            </p:custDataLst>
          </p:nvPr>
        </p:nvSpPr>
        <p:spPr>
          <a:xfrm>
            <a:off x="217805" y="2117213"/>
            <a:ext cx="8707755" cy="2205041"/>
          </a:xfrm>
          <a:prstGeom prst="roundRect">
            <a:avLst>
              <a:gd name="adj" fmla="val 6125"/>
            </a:avLst>
          </a:prstGeom>
          <a:solidFill>
            <a:srgbClr val="FFFFFF">
              <a:alpha val="100000"/>
            </a:srgbClr>
          </a:solidFill>
          <a:ln w="22225" cap="flat" cmpd="sng" algn="ctr">
            <a:solidFill>
              <a:srgbClr val="00BCFF">
                <a:alpha val="100000"/>
              </a:srgbClr>
            </a:solidFill>
            <a:prstDash val="solid"/>
            <a:miter lim="800000"/>
          </a:ln>
          <a:effectLst>
            <a:outerShdw blurRad="190500" dist="63500" dir="2700000" algn="tl"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marL="342900" indent="-342900" algn="just" defTabSz="0" rtl="0" eaLnBrk="1" latinLnBrk="0" hangingPunct="1">
              <a:lnSpc>
                <a:spcPct val="120000"/>
              </a:lnSpc>
              <a:spcBef>
                <a:spcPct val="0"/>
              </a:spcBef>
              <a:spcAft>
                <a:spcPts val="600"/>
              </a:spcAft>
              <a:buFont typeface="Wingdings" panose="05000000000000000000" charset="0"/>
              <a:buChar char=""/>
            </a:pPr>
            <a:r>
              <a:rPr lang="zh-CN" altLang="en-US" b="1" dirty="0">
                <a:solidFill>
                  <a:schemeClr val="tx1"/>
                </a:solidFill>
                <a:latin typeface="Microsoft YaHei" panose="020B0503020204020204" charset="-122"/>
                <a:ea typeface="Microsoft YaHei" panose="020B0503020204020204" charset="-122"/>
                <a:cs typeface="Microsoft YaHei" panose="020B0503020204020204" charset="-122"/>
              </a:rPr>
              <a:t>云边端跨域节点之间的通信能力不一：</a:t>
            </a:r>
            <a:r>
              <a:rPr lang="zh-CN" altLang="en-US" dirty="0">
                <a:solidFill>
                  <a:schemeClr val="tx1"/>
                </a:solidFill>
                <a:latin typeface="Microsoft YaHei" panose="020B0503020204020204" charset="-122"/>
                <a:ea typeface="Microsoft YaHei" panose="020B0503020204020204" charset="-122"/>
                <a:cs typeface="Microsoft YaHei" panose="020B0503020204020204" charset="-122"/>
              </a:rPr>
              <a:t>云边端协同的跨域分布式模型训练场景下，各个节点可能在网络内部位于不同域，采用不同的通信协议，不同的网络，在进行集合通信时，容易出现落后者问题，降低整体通信速度</a:t>
            </a:r>
            <a:endParaRPr lang="en-US" altLang="zh-CN" dirty="0">
              <a:solidFill>
                <a:schemeClr val="tx1"/>
              </a:solidFill>
              <a:latin typeface="Microsoft YaHei" panose="020B0503020204020204" charset="-122"/>
              <a:ea typeface="Microsoft YaHei" panose="020B0503020204020204" charset="-122"/>
              <a:cs typeface="Microsoft YaHei" panose="020B0503020204020204" charset="-122"/>
            </a:endParaRPr>
          </a:p>
          <a:p>
            <a:pPr marL="342900" indent="-342900" algn="just" defTabSz="0" rtl="0" eaLnBrk="1" latinLnBrk="0" hangingPunct="1">
              <a:lnSpc>
                <a:spcPct val="120000"/>
              </a:lnSpc>
              <a:spcBef>
                <a:spcPct val="0"/>
              </a:spcBef>
              <a:spcAft>
                <a:spcPts val="600"/>
              </a:spcAft>
              <a:buFont typeface="Wingdings" panose="05000000000000000000" charset="0"/>
              <a:buChar char=""/>
            </a:pPr>
            <a:r>
              <a:rPr lang="zh-CN" altLang="en-US" b="1" dirty="0">
                <a:solidFill>
                  <a:schemeClr val="tx1"/>
                </a:solidFill>
                <a:latin typeface="Microsoft YaHei" panose="020B0503020204020204" charset="-122"/>
                <a:ea typeface="Microsoft YaHei" panose="020B0503020204020204" charset="-122"/>
                <a:cs typeface="Microsoft YaHei" panose="020B0503020204020204" charset="-122"/>
              </a:rPr>
              <a:t>现有集合通信方法未考虑广域网环境：</a:t>
            </a:r>
            <a:r>
              <a:rPr lang="zh-CN" altLang="en-US" dirty="0">
                <a:solidFill>
                  <a:schemeClr val="tx1"/>
                </a:solidFill>
                <a:latin typeface="Microsoft YaHei" panose="020B0503020204020204" charset="-122"/>
                <a:ea typeface="Microsoft YaHei" panose="020B0503020204020204" charset="-122"/>
                <a:cs typeface="Microsoft YaHei" panose="020B0503020204020204" charset="-122"/>
              </a:rPr>
              <a:t>现有的集合通信策略针对特定的网络环境设计，并未考虑广域网环境下各节点之间互联程度低的特点；云边端跨域训练通信特征瞬时且密集，目前的集合通信</a:t>
            </a:r>
            <a:r>
              <a:rPr lang="zh-CN" altLang="en-US" dirty="0">
                <a:solidFill>
                  <a:schemeClr val="tx1"/>
                </a:solidFill>
                <a:latin typeface="Microsoft YaHei" panose="020B0503020204020204" charset="-122"/>
                <a:ea typeface="Microsoft YaHei" panose="020B0503020204020204" charset="-122"/>
                <a:cs typeface="Microsoft YaHei" panose="020B0503020204020204" charset="-122"/>
              </a:rPr>
              <a:t>策略难以在云边端跨域场景中使用</a:t>
            </a:r>
            <a:endParaRPr lang="zh-CN" altLang="en-US" dirty="0">
              <a:solidFill>
                <a:schemeClr val="tx1"/>
              </a:solidFill>
              <a:latin typeface="Microsoft YaHei" panose="020B0503020204020204" charset="-122"/>
              <a:ea typeface="Microsoft YaHei" panose="020B0503020204020204" charset="-122"/>
              <a:cs typeface="Microsoft YaHei" panose="020B0503020204020204" charset="-122"/>
            </a:endParaRPr>
          </a:p>
        </p:txBody>
      </p:sp>
      <p:sp>
        <p:nvSpPr>
          <p:cNvPr id="13" name="矩形 12"/>
          <p:cNvSpPr/>
          <p:nvPr>
            <p:custDataLst>
              <p:tags r:id="rId4"/>
            </p:custDataLst>
          </p:nvPr>
        </p:nvSpPr>
        <p:spPr>
          <a:xfrm>
            <a:off x="359146" y="1926171"/>
            <a:ext cx="1442357" cy="337277"/>
          </a:xfrm>
          <a:prstGeom prst="rect">
            <a:avLst/>
          </a:prstGeom>
          <a:solidFill>
            <a:srgbClr val="FFFFFF">
              <a:alpha val="100000"/>
            </a:srgbClr>
          </a:solidFill>
          <a:ln w="15875" cap="flat" cmpd="sng" algn="ctr">
            <a:solidFill>
              <a:srgbClr val="FFFFFF">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indent="0" algn="ctr" defTabSz="0" rtl="0" eaLnBrk="1" latinLnBrk="0" hangingPunct="1">
              <a:spcBef>
                <a:spcPct val="0"/>
              </a:spcBef>
              <a:spcAft>
                <a:spcPct val="0"/>
              </a:spcAft>
              <a:buNone/>
            </a:pPr>
            <a:r>
              <a:rPr lang="zh-CN" altLang="en-US" sz="2000" b="1" spc="450" dirty="0">
                <a:solidFill>
                  <a:srgbClr val="004578"/>
                </a:solidFill>
              </a:rPr>
              <a:t>问题分析</a:t>
            </a:r>
            <a:endParaRPr lang="zh-CN" altLang="en-US" sz="2000" b="1" spc="450" dirty="0">
              <a:solidFill>
                <a:srgbClr val="004578"/>
              </a:solidFill>
            </a:endParaRPr>
          </a:p>
        </p:txBody>
      </p:sp>
      <p:sp>
        <p:nvSpPr>
          <p:cNvPr id="14" name="圆角矩形 9"/>
          <p:cNvSpPr/>
          <p:nvPr>
            <p:custDataLst>
              <p:tags r:id="rId5"/>
            </p:custDataLst>
          </p:nvPr>
        </p:nvSpPr>
        <p:spPr>
          <a:xfrm>
            <a:off x="217805" y="4606925"/>
            <a:ext cx="8707755" cy="2024275"/>
          </a:xfrm>
          <a:prstGeom prst="roundRect">
            <a:avLst>
              <a:gd name="adj" fmla="val 7341"/>
            </a:avLst>
          </a:prstGeom>
          <a:solidFill>
            <a:srgbClr val="FFFFFF">
              <a:alpha val="100000"/>
            </a:srgbClr>
          </a:solidFill>
          <a:ln w="22225" cap="flat" cmpd="sng" algn="ctr">
            <a:solidFill>
              <a:srgbClr val="00BCFF">
                <a:alpha val="100000"/>
              </a:srgbClr>
            </a:solidFill>
            <a:prstDash val="solid"/>
            <a:miter lim="800000"/>
          </a:ln>
          <a:effectLst>
            <a:outerShdw blurRad="190500" dist="63500" dir="2700000" algn="tl"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marL="342900" indent="-342900" algn="just" defTabSz="0">
              <a:lnSpc>
                <a:spcPct val="120000"/>
              </a:lnSpc>
              <a:spcBef>
                <a:spcPct val="0"/>
              </a:spcBef>
              <a:spcAft>
                <a:spcPts val="600"/>
              </a:spcAft>
              <a:buFont typeface="Wingdings" panose="05000000000000000000" charset="0"/>
              <a:buChar char=""/>
            </a:pPr>
            <a:r>
              <a:rPr lang="zh-CN" altLang="en-US" b="1" dirty="0">
                <a:solidFill>
                  <a:schemeClr val="tx1"/>
                </a:solidFill>
                <a:latin typeface="Microsoft YaHei" panose="020B0503020204020204" charset="-122"/>
                <a:ea typeface="Microsoft YaHei" panose="020B0503020204020204" charset="-122"/>
              </a:rPr>
              <a:t>集合通信拓扑设计：</a:t>
            </a:r>
            <a:r>
              <a:rPr lang="zh-CN" altLang="en-US" dirty="0">
                <a:solidFill>
                  <a:schemeClr val="tx1"/>
                </a:solidFill>
                <a:latin typeface="Microsoft YaHei" panose="020B0503020204020204" charset="-122"/>
                <a:ea typeface="Microsoft YaHei" panose="020B0503020204020204" charset="-122"/>
              </a:rPr>
              <a:t>在运行时，首先进行网络状态感知，结合并行策略与网络状态进行集合通信时节点间的通信拓扑</a:t>
            </a:r>
            <a:r>
              <a:rPr lang="zh-CN" altLang="en-US" dirty="0">
                <a:solidFill>
                  <a:schemeClr val="tx1"/>
                </a:solidFill>
                <a:latin typeface="Microsoft YaHei" panose="020B0503020204020204" charset="-122"/>
                <a:ea typeface="Microsoft YaHei" panose="020B0503020204020204" charset="-122"/>
              </a:rPr>
              <a:t>构建，实现动态感知并行策略与网络状态的集合通信拓扑设计，以实现广域网环境下各节点间高效协同</a:t>
            </a:r>
            <a:endParaRPr lang="en-US" altLang="zh-CN" dirty="0">
              <a:solidFill>
                <a:schemeClr val="tx1"/>
              </a:solidFill>
              <a:latin typeface="Microsoft YaHei" panose="020B0503020204020204" charset="-122"/>
              <a:ea typeface="Microsoft YaHei" panose="020B0503020204020204" charset="-122"/>
            </a:endParaRPr>
          </a:p>
          <a:p>
            <a:pPr marL="342900" indent="-342900" algn="just" defTabSz="0">
              <a:lnSpc>
                <a:spcPct val="120000"/>
              </a:lnSpc>
              <a:spcBef>
                <a:spcPct val="0"/>
              </a:spcBef>
              <a:spcAft>
                <a:spcPts val="600"/>
              </a:spcAft>
              <a:buFont typeface="Wingdings" panose="05000000000000000000" charset="0"/>
              <a:buChar char=""/>
            </a:pPr>
            <a:r>
              <a:rPr lang="zh-CN" altLang="en-US" b="1" dirty="0">
                <a:solidFill>
                  <a:schemeClr val="tx1"/>
                </a:solidFill>
                <a:latin typeface="Microsoft YaHei" panose="020B0503020204020204" charset="-122"/>
                <a:ea typeface="Microsoft YaHei" panose="020B0503020204020204" charset="-122"/>
                <a:sym typeface="+mn-ea"/>
              </a:rPr>
              <a:t>集合通信调度设计</a:t>
            </a:r>
            <a:r>
              <a:rPr lang="zh-CN" altLang="en-US" b="1" dirty="0">
                <a:solidFill>
                  <a:schemeClr val="tx1"/>
                </a:solidFill>
                <a:latin typeface="Microsoft YaHei" panose="020B0503020204020204" charset="-122"/>
                <a:ea typeface="Microsoft YaHei" panose="020B0503020204020204" charset="-122"/>
              </a:rPr>
              <a:t>：</a:t>
            </a:r>
            <a:r>
              <a:rPr lang="zh-CN" altLang="en-US" dirty="0">
                <a:solidFill>
                  <a:schemeClr val="tx1"/>
                </a:solidFill>
                <a:latin typeface="Microsoft YaHei" panose="020B0503020204020204" charset="-122"/>
                <a:ea typeface="Microsoft YaHei" panose="020B0503020204020204" charset="-122"/>
              </a:rPr>
              <a:t>在运行时，考虑到广域网中节点间互联程度低，对域内通信进行初步的调度，控制节点间的通信发起顺序，降低通信间并发</a:t>
            </a:r>
            <a:r>
              <a:rPr lang="zh-CN" altLang="en-US" dirty="0">
                <a:solidFill>
                  <a:schemeClr val="tx1"/>
                </a:solidFill>
                <a:latin typeface="Microsoft YaHei" panose="020B0503020204020204" charset="-122"/>
                <a:ea typeface="Microsoft YaHei" panose="020B0503020204020204" charset="-122"/>
              </a:rPr>
              <a:t>程度</a:t>
            </a:r>
            <a:endParaRPr lang="zh-CN" altLang="en-US" dirty="0">
              <a:solidFill>
                <a:schemeClr val="tx1"/>
              </a:solidFill>
              <a:latin typeface="Microsoft YaHei" panose="020B0503020204020204" charset="-122"/>
              <a:ea typeface="Microsoft YaHei" panose="020B0503020204020204" charset="-122"/>
            </a:endParaRPr>
          </a:p>
        </p:txBody>
      </p:sp>
      <p:sp>
        <p:nvSpPr>
          <p:cNvPr id="15" name="矩形 14"/>
          <p:cNvSpPr/>
          <p:nvPr>
            <p:custDataLst>
              <p:tags r:id="rId6"/>
            </p:custDataLst>
          </p:nvPr>
        </p:nvSpPr>
        <p:spPr>
          <a:xfrm>
            <a:off x="359146" y="4415882"/>
            <a:ext cx="1442357" cy="337277"/>
          </a:xfrm>
          <a:prstGeom prst="rect">
            <a:avLst/>
          </a:prstGeom>
          <a:solidFill>
            <a:srgbClr val="FFFFFF">
              <a:alpha val="100000"/>
            </a:srgbClr>
          </a:solidFill>
          <a:ln w="15875" cap="flat" cmpd="sng" algn="ctr">
            <a:solidFill>
              <a:srgbClr val="FFFFFF">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indent="0" algn="ctr" defTabSz="0" rtl="0" eaLnBrk="1" latinLnBrk="0" hangingPunct="1">
              <a:spcBef>
                <a:spcPct val="0"/>
              </a:spcBef>
              <a:spcAft>
                <a:spcPct val="0"/>
              </a:spcAft>
              <a:buNone/>
            </a:pPr>
            <a:r>
              <a:rPr lang="zh-CN" altLang="en-US" sz="2000" b="1" spc="450">
                <a:solidFill>
                  <a:srgbClr val="004578"/>
                </a:solidFill>
              </a:rPr>
              <a:t>解决思路</a:t>
            </a:r>
            <a:endParaRPr lang="zh-CN" altLang="en-US" sz="2000" b="1" spc="450">
              <a:solidFill>
                <a:srgbClr val="004578"/>
              </a:solidFill>
            </a:endParaRPr>
          </a:p>
        </p:txBody>
      </p:sp>
    </p:spTree>
    <p:custDataLst>
      <p:tags r:id="rId7"/>
    </p:custData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dirty="0"/>
          </a:p>
        </p:txBody>
      </p:sp>
      <p:grpSp>
        <p:nvGrpSpPr>
          <p:cNvPr id="324" name="组合 323"/>
          <p:cNvGrpSpPr/>
          <p:nvPr/>
        </p:nvGrpSpPr>
        <p:grpSpPr>
          <a:xfrm>
            <a:off x="204510" y="1355703"/>
            <a:ext cx="1859781" cy="1720345"/>
            <a:chOff x="-1322151" y="1708966"/>
            <a:chExt cx="1859781" cy="1720345"/>
          </a:xfrm>
        </p:grpSpPr>
        <p:grpSp>
          <p:nvGrpSpPr>
            <p:cNvPr id="276" name="组合 275"/>
            <p:cNvGrpSpPr/>
            <p:nvPr/>
          </p:nvGrpSpPr>
          <p:grpSpPr>
            <a:xfrm>
              <a:off x="-644261" y="1708966"/>
              <a:ext cx="504000" cy="504227"/>
              <a:chOff x="-889960" y="4998285"/>
              <a:chExt cx="504000" cy="504227"/>
            </a:xfrm>
          </p:grpSpPr>
          <p:sp>
            <p:nvSpPr>
              <p:cNvPr id="269" name="矩形 268"/>
              <p:cNvSpPr/>
              <p:nvPr/>
            </p:nvSpPr>
            <p:spPr>
              <a:xfrm>
                <a:off x="-889960" y="4998285"/>
                <a:ext cx="504000" cy="504227"/>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21" name="图片 220" descr="图标&#10;&#10;描述已自动生成"/>
              <p:cNvPicPr>
                <a:picLocks noChangeAspect="1"/>
              </p:cNvPicPr>
              <p:nvPr/>
            </p:nvPicPr>
            <p:blipFill rotWithShape="1">
              <a:blip r:embed="rId1">
                <a:extLst>
                  <a:ext uri="{28A0092B-C50C-407E-A947-70E740481C1C}">
                    <a14:useLocalDpi xmlns:a14="http://schemas.microsoft.com/office/drawing/2010/main" val="0"/>
                  </a:ext>
                </a:extLst>
              </a:blip>
              <a:srcRect l="10336" t="16573" r="7065" b="12893"/>
              <a:stretch>
                <a:fillRect/>
              </a:stretch>
            </p:blipFill>
            <p:spPr>
              <a:xfrm>
                <a:off x="-850410" y="5068976"/>
                <a:ext cx="424900" cy="362844"/>
              </a:xfrm>
              <a:prstGeom prst="rect">
                <a:avLst/>
              </a:prstGeom>
            </p:spPr>
          </p:pic>
        </p:grpSp>
        <p:grpSp>
          <p:nvGrpSpPr>
            <p:cNvPr id="321" name="组合 320"/>
            <p:cNvGrpSpPr/>
            <p:nvPr/>
          </p:nvGrpSpPr>
          <p:grpSpPr>
            <a:xfrm>
              <a:off x="-1042641" y="2925084"/>
              <a:ext cx="1300760" cy="504227"/>
              <a:chOff x="-1026346" y="3318783"/>
              <a:chExt cx="1300760" cy="504227"/>
            </a:xfrm>
          </p:grpSpPr>
          <p:grpSp>
            <p:nvGrpSpPr>
              <p:cNvPr id="278" name="组合 277"/>
              <p:cNvGrpSpPr/>
              <p:nvPr/>
            </p:nvGrpSpPr>
            <p:grpSpPr>
              <a:xfrm>
                <a:off x="-229586" y="3318783"/>
                <a:ext cx="504000" cy="504227"/>
                <a:chOff x="688681" y="5710014"/>
                <a:chExt cx="504000" cy="504227"/>
              </a:xfrm>
            </p:grpSpPr>
            <p:sp>
              <p:nvSpPr>
                <p:cNvPr id="272" name="矩形 271"/>
                <p:cNvSpPr/>
                <p:nvPr/>
              </p:nvSpPr>
              <p:spPr>
                <a:xfrm>
                  <a:off x="688681" y="5710014"/>
                  <a:ext cx="504000" cy="504227"/>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17" name="图片 216" descr="形状&#10;&#10;低可信度描述已自动生成"/>
                <p:cNvPicPr>
                  <a:picLocks noChangeAspect="1"/>
                </p:cNvPicPr>
                <p:nvPr/>
              </p:nvPicPr>
              <p:blipFill rotWithShape="1">
                <a:blip r:embed="rId2">
                  <a:extLst>
                    <a:ext uri="{28A0092B-C50C-407E-A947-70E740481C1C}">
                      <a14:useLocalDpi xmlns:a14="http://schemas.microsoft.com/office/drawing/2010/main" val="0"/>
                    </a:ext>
                  </a:extLst>
                </a:blip>
                <a:srcRect t="9985" b="11313"/>
                <a:stretch>
                  <a:fillRect/>
                </a:stretch>
              </p:blipFill>
              <p:spPr>
                <a:xfrm>
                  <a:off x="711095" y="5778706"/>
                  <a:ext cx="461998" cy="363600"/>
                </a:xfrm>
                <a:prstGeom prst="rect">
                  <a:avLst/>
                </a:prstGeom>
              </p:spPr>
            </p:pic>
          </p:grpSp>
          <p:grpSp>
            <p:nvGrpSpPr>
              <p:cNvPr id="277" name="组合 276"/>
              <p:cNvGrpSpPr/>
              <p:nvPr/>
            </p:nvGrpSpPr>
            <p:grpSpPr>
              <a:xfrm>
                <a:off x="-1026346" y="3318783"/>
                <a:ext cx="504000" cy="504227"/>
                <a:chOff x="688681" y="4998285"/>
                <a:chExt cx="504000" cy="504227"/>
              </a:xfrm>
            </p:grpSpPr>
            <p:sp>
              <p:nvSpPr>
                <p:cNvPr id="271" name="矩形 270"/>
                <p:cNvSpPr/>
                <p:nvPr/>
              </p:nvSpPr>
              <p:spPr>
                <a:xfrm>
                  <a:off x="688681" y="4998285"/>
                  <a:ext cx="504000" cy="504227"/>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19" name="图片 218" descr="形状&#10;&#10;低可信度描述已自动生成"/>
                <p:cNvPicPr>
                  <a:picLocks noChangeAspect="1"/>
                </p:cNvPicPr>
                <p:nvPr/>
              </p:nvPicPr>
              <p:blipFill rotWithShape="1">
                <a:blip r:embed="rId3">
                  <a:extLst>
                    <a:ext uri="{28A0092B-C50C-407E-A947-70E740481C1C}">
                      <a14:useLocalDpi xmlns:a14="http://schemas.microsoft.com/office/drawing/2010/main" val="0"/>
                    </a:ext>
                  </a:extLst>
                </a:blip>
                <a:srcRect l="10900" r="12694" b="8472"/>
                <a:stretch>
                  <a:fillRect/>
                </a:stretch>
              </p:blipFill>
              <p:spPr>
                <a:xfrm>
                  <a:off x="788917" y="5068976"/>
                  <a:ext cx="303528" cy="363600"/>
                </a:xfrm>
                <a:prstGeom prst="rect">
                  <a:avLst/>
                </a:prstGeom>
              </p:spPr>
            </p:pic>
          </p:grpSp>
        </p:grpSp>
        <p:grpSp>
          <p:nvGrpSpPr>
            <p:cNvPr id="323" name="组合 322"/>
            <p:cNvGrpSpPr/>
            <p:nvPr/>
          </p:nvGrpSpPr>
          <p:grpSpPr>
            <a:xfrm>
              <a:off x="-1322151" y="2254509"/>
              <a:ext cx="1859781" cy="504666"/>
              <a:chOff x="-1322151" y="2254509"/>
              <a:chExt cx="1859781" cy="504666"/>
            </a:xfrm>
          </p:grpSpPr>
          <p:grpSp>
            <p:nvGrpSpPr>
              <p:cNvPr id="280" name="组合 279"/>
              <p:cNvGrpSpPr/>
              <p:nvPr/>
            </p:nvGrpSpPr>
            <p:grpSpPr>
              <a:xfrm>
                <a:off x="-1322151" y="2254948"/>
                <a:ext cx="504000" cy="504227"/>
                <a:chOff x="2043575" y="5710014"/>
                <a:chExt cx="504000" cy="504227"/>
              </a:xfrm>
            </p:grpSpPr>
            <p:sp>
              <p:nvSpPr>
                <p:cNvPr id="273" name="矩形 272"/>
                <p:cNvSpPr/>
                <p:nvPr/>
              </p:nvSpPr>
              <p:spPr>
                <a:xfrm>
                  <a:off x="2043575" y="5710014"/>
                  <a:ext cx="504000" cy="504227"/>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13" name="图片 212" descr="形状&#10;&#10;低可信度描述已自动生成"/>
                <p:cNvPicPr>
                  <a:picLocks noChangeAspect="1"/>
                </p:cNvPicPr>
                <p:nvPr/>
              </p:nvPicPr>
              <p:blipFill rotWithShape="1">
                <a:blip r:embed="rId4">
                  <a:extLst>
                    <a:ext uri="{28A0092B-C50C-407E-A947-70E740481C1C}">
                      <a14:useLocalDpi xmlns:a14="http://schemas.microsoft.com/office/drawing/2010/main" val="0"/>
                    </a:ext>
                  </a:extLst>
                </a:blip>
                <a:srcRect l="8111" t="5923" r="6106" b="6383"/>
                <a:stretch>
                  <a:fillRect/>
                </a:stretch>
              </p:blipFill>
              <p:spPr>
                <a:xfrm>
                  <a:off x="2124507" y="5786473"/>
                  <a:ext cx="355670" cy="363600"/>
                </a:xfrm>
                <a:prstGeom prst="rect">
                  <a:avLst/>
                </a:prstGeom>
              </p:spPr>
            </p:pic>
          </p:grpSp>
          <p:grpSp>
            <p:nvGrpSpPr>
              <p:cNvPr id="281" name="组合 280"/>
              <p:cNvGrpSpPr/>
              <p:nvPr/>
            </p:nvGrpSpPr>
            <p:grpSpPr>
              <a:xfrm>
                <a:off x="33630" y="2254509"/>
                <a:ext cx="504000" cy="504227"/>
                <a:chOff x="2043575" y="5710014"/>
                <a:chExt cx="504000" cy="504227"/>
              </a:xfrm>
            </p:grpSpPr>
            <p:sp>
              <p:nvSpPr>
                <p:cNvPr id="282" name="矩形 281"/>
                <p:cNvSpPr/>
                <p:nvPr/>
              </p:nvSpPr>
              <p:spPr>
                <a:xfrm>
                  <a:off x="2043575" y="5710014"/>
                  <a:ext cx="504000" cy="504227"/>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83" name="图片 282" descr="形状&#10;&#10;低可信度描述已自动生成"/>
                <p:cNvPicPr>
                  <a:picLocks noChangeAspect="1"/>
                </p:cNvPicPr>
                <p:nvPr/>
              </p:nvPicPr>
              <p:blipFill rotWithShape="1">
                <a:blip r:embed="rId4">
                  <a:extLst>
                    <a:ext uri="{28A0092B-C50C-407E-A947-70E740481C1C}">
                      <a14:useLocalDpi xmlns:a14="http://schemas.microsoft.com/office/drawing/2010/main" val="0"/>
                    </a:ext>
                  </a:extLst>
                </a:blip>
                <a:srcRect l="8111" t="5923" r="6106" b="6383"/>
                <a:stretch>
                  <a:fillRect/>
                </a:stretch>
              </p:blipFill>
              <p:spPr>
                <a:xfrm>
                  <a:off x="2124507" y="5786473"/>
                  <a:ext cx="355670" cy="363600"/>
                </a:xfrm>
                <a:prstGeom prst="rect">
                  <a:avLst/>
                </a:prstGeom>
              </p:spPr>
            </p:pic>
          </p:grpSp>
        </p:grpSp>
        <p:cxnSp>
          <p:nvCxnSpPr>
            <p:cNvPr id="284" name="直接连接符 283"/>
            <p:cNvCxnSpPr>
              <a:stCxn id="273" idx="3"/>
              <a:endCxn id="269" idx="2"/>
            </p:cNvCxnSpPr>
            <p:nvPr/>
          </p:nvCxnSpPr>
          <p:spPr>
            <a:xfrm flipV="1">
              <a:off x="-818151" y="2213193"/>
              <a:ext cx="425890" cy="29386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7" name="直接连接符 286"/>
            <p:cNvCxnSpPr>
              <a:stCxn id="282" idx="1"/>
              <a:endCxn id="269" idx="2"/>
            </p:cNvCxnSpPr>
            <p:nvPr/>
          </p:nvCxnSpPr>
          <p:spPr>
            <a:xfrm flipH="1" flipV="1">
              <a:off x="-392261" y="2213193"/>
              <a:ext cx="425891" cy="29343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0" name="直接连接符 289"/>
            <p:cNvCxnSpPr>
              <a:stCxn id="271" idx="0"/>
              <a:endCxn id="269" idx="2"/>
            </p:cNvCxnSpPr>
            <p:nvPr/>
          </p:nvCxnSpPr>
          <p:spPr>
            <a:xfrm flipV="1">
              <a:off x="-790641" y="2213193"/>
              <a:ext cx="398380" cy="71189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3" name="直接连接符 292"/>
            <p:cNvCxnSpPr>
              <a:stCxn id="272" idx="0"/>
              <a:endCxn id="269" idx="2"/>
            </p:cNvCxnSpPr>
            <p:nvPr/>
          </p:nvCxnSpPr>
          <p:spPr>
            <a:xfrm flipH="1" flipV="1">
              <a:off x="-392261" y="2213193"/>
              <a:ext cx="398380" cy="71189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a:stCxn id="273" idx="3"/>
              <a:endCxn id="282" idx="1"/>
            </p:cNvCxnSpPr>
            <p:nvPr/>
          </p:nvCxnSpPr>
          <p:spPr>
            <a:xfrm flipV="1">
              <a:off x="-818151" y="2506623"/>
              <a:ext cx="851781" cy="43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273" idx="3"/>
              <a:endCxn id="271" idx="0"/>
            </p:cNvCxnSpPr>
            <p:nvPr/>
          </p:nvCxnSpPr>
          <p:spPr>
            <a:xfrm>
              <a:off x="-818151" y="2507062"/>
              <a:ext cx="27510" cy="41802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2" name="直接连接符 301"/>
            <p:cNvCxnSpPr>
              <a:stCxn id="273" idx="3"/>
              <a:endCxn id="272" idx="0"/>
            </p:cNvCxnSpPr>
            <p:nvPr/>
          </p:nvCxnSpPr>
          <p:spPr>
            <a:xfrm>
              <a:off x="-818151" y="2507062"/>
              <a:ext cx="824270" cy="41802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5" name="直接连接符 304"/>
            <p:cNvCxnSpPr>
              <a:stCxn id="282" idx="1"/>
              <a:endCxn id="271" idx="0"/>
            </p:cNvCxnSpPr>
            <p:nvPr/>
          </p:nvCxnSpPr>
          <p:spPr>
            <a:xfrm flipH="1">
              <a:off x="-790641" y="2506623"/>
              <a:ext cx="824271" cy="41846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 name="直接连接符 307"/>
            <p:cNvCxnSpPr>
              <a:stCxn id="282" idx="1"/>
              <a:endCxn id="272" idx="0"/>
            </p:cNvCxnSpPr>
            <p:nvPr/>
          </p:nvCxnSpPr>
          <p:spPr>
            <a:xfrm flipH="1">
              <a:off x="6119" y="2506623"/>
              <a:ext cx="27511" cy="41846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3" name="组合 162"/>
          <p:cNvGrpSpPr/>
          <p:nvPr/>
        </p:nvGrpSpPr>
        <p:grpSpPr>
          <a:xfrm>
            <a:off x="3666358" y="995502"/>
            <a:ext cx="3749282" cy="2167604"/>
            <a:chOff x="-801370" y="742413"/>
            <a:chExt cx="3749282" cy="2167604"/>
          </a:xfrm>
        </p:grpSpPr>
        <p:grpSp>
          <p:nvGrpSpPr>
            <p:cNvPr id="164" name="组合 163"/>
            <p:cNvGrpSpPr/>
            <p:nvPr/>
          </p:nvGrpSpPr>
          <p:grpSpPr>
            <a:xfrm>
              <a:off x="-801370" y="1385873"/>
              <a:ext cx="326100" cy="880685"/>
              <a:chOff x="4418290" y="2563760"/>
              <a:chExt cx="326100" cy="880685"/>
            </a:xfrm>
          </p:grpSpPr>
          <p:sp>
            <p:nvSpPr>
              <p:cNvPr id="208" name="流程图: 接点 207"/>
              <p:cNvSpPr/>
              <p:nvPr/>
            </p:nvSpPr>
            <p:spPr>
              <a:xfrm>
                <a:off x="4418290" y="2563760"/>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流程图: 接点 208"/>
              <p:cNvSpPr/>
              <p:nvPr/>
            </p:nvSpPr>
            <p:spPr>
              <a:xfrm>
                <a:off x="4418290" y="3118327"/>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5" name="组合 164"/>
            <p:cNvGrpSpPr/>
            <p:nvPr/>
          </p:nvGrpSpPr>
          <p:grpSpPr>
            <a:xfrm>
              <a:off x="-417535" y="1411997"/>
              <a:ext cx="894800" cy="828437"/>
              <a:chOff x="4870603" y="2567993"/>
              <a:chExt cx="894800" cy="828437"/>
            </a:xfrm>
          </p:grpSpPr>
          <p:sp>
            <p:nvSpPr>
              <p:cNvPr id="205" name="矩形 204"/>
              <p:cNvSpPr/>
              <p:nvPr/>
            </p:nvSpPr>
            <p:spPr>
              <a:xfrm>
                <a:off x="4870603" y="2567993"/>
                <a:ext cx="646824" cy="828437"/>
              </a:xfrm>
              <a:prstGeom prst="rect">
                <a:avLst/>
              </a:prstGeom>
              <a:solidFill>
                <a:srgbClr val="FAE69E"/>
              </a:solidFill>
              <a:ln w="15875">
                <a:solidFill>
                  <a:schemeClr val="tx1"/>
                </a:solidFill>
              </a:ln>
              <a:scene3d>
                <a:camera prst="isometricRightUp"/>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矩形 205"/>
              <p:cNvSpPr/>
              <p:nvPr/>
            </p:nvSpPr>
            <p:spPr>
              <a:xfrm>
                <a:off x="4994591" y="2567993"/>
                <a:ext cx="646824" cy="828437"/>
              </a:xfrm>
              <a:prstGeom prst="rect">
                <a:avLst/>
              </a:prstGeom>
              <a:solidFill>
                <a:srgbClr val="FAE69E"/>
              </a:solidFill>
              <a:ln w="15875">
                <a:solidFill>
                  <a:schemeClr val="tx1"/>
                </a:solidFill>
              </a:ln>
              <a:scene3d>
                <a:camera prst="isometricRightUp"/>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矩形 206"/>
              <p:cNvSpPr/>
              <p:nvPr/>
            </p:nvSpPr>
            <p:spPr>
              <a:xfrm>
                <a:off x="5118579" y="2567993"/>
                <a:ext cx="646824" cy="828437"/>
              </a:xfrm>
              <a:prstGeom prst="rect">
                <a:avLst/>
              </a:prstGeom>
              <a:solidFill>
                <a:srgbClr val="FAE69E"/>
              </a:solidFill>
              <a:ln w="15875">
                <a:solidFill>
                  <a:schemeClr val="tx1"/>
                </a:solidFill>
              </a:ln>
              <a:scene3d>
                <a:camera prst="isometricRightUp"/>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6" name="组合 165"/>
            <p:cNvGrpSpPr/>
            <p:nvPr/>
          </p:nvGrpSpPr>
          <p:grpSpPr>
            <a:xfrm>
              <a:off x="681773" y="742413"/>
              <a:ext cx="326100" cy="2167604"/>
              <a:chOff x="5865180" y="1774880"/>
              <a:chExt cx="326100" cy="2167604"/>
            </a:xfrm>
          </p:grpSpPr>
          <p:sp>
            <p:nvSpPr>
              <p:cNvPr id="201" name="流程图: 接点 200"/>
              <p:cNvSpPr/>
              <p:nvPr/>
            </p:nvSpPr>
            <p:spPr>
              <a:xfrm>
                <a:off x="5865180" y="1774880"/>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流程图: 接点 201"/>
              <p:cNvSpPr/>
              <p:nvPr/>
            </p:nvSpPr>
            <p:spPr>
              <a:xfrm>
                <a:off x="5865180" y="2388709"/>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流程图: 接点 202"/>
              <p:cNvSpPr/>
              <p:nvPr/>
            </p:nvSpPr>
            <p:spPr>
              <a:xfrm>
                <a:off x="5865180" y="3002538"/>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流程图: 接点 203"/>
              <p:cNvSpPr/>
              <p:nvPr/>
            </p:nvSpPr>
            <p:spPr>
              <a:xfrm>
                <a:off x="5865180" y="3616366"/>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7" name="组合 166"/>
            <p:cNvGrpSpPr/>
            <p:nvPr/>
          </p:nvGrpSpPr>
          <p:grpSpPr>
            <a:xfrm>
              <a:off x="1233001" y="968818"/>
              <a:ext cx="505115" cy="1714794"/>
              <a:chOff x="6521139" y="2049242"/>
              <a:chExt cx="505115" cy="1714794"/>
            </a:xfrm>
          </p:grpSpPr>
          <p:sp>
            <p:nvSpPr>
              <p:cNvPr id="198" name="矩形: 圆角 197"/>
              <p:cNvSpPr/>
              <p:nvPr/>
            </p:nvSpPr>
            <p:spPr>
              <a:xfrm>
                <a:off x="6670232" y="2049242"/>
                <a:ext cx="356022" cy="1563648"/>
              </a:xfrm>
              <a:prstGeom prst="roundRect">
                <a:avLst/>
              </a:prstGeom>
              <a:solidFill>
                <a:srgbClr val="B8AEEB">
                  <a:alpha val="65000"/>
                </a:srgbClr>
              </a:solidFill>
              <a:ln w="158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矩形: 圆角 198"/>
              <p:cNvSpPr/>
              <p:nvPr/>
            </p:nvSpPr>
            <p:spPr>
              <a:xfrm>
                <a:off x="6585091" y="2120746"/>
                <a:ext cx="356022" cy="1563648"/>
              </a:xfrm>
              <a:prstGeom prst="roundRect">
                <a:avLst/>
              </a:prstGeom>
              <a:solidFill>
                <a:srgbClr val="B8AEEB">
                  <a:alpha val="65000"/>
                </a:srgbClr>
              </a:solidFill>
              <a:ln w="158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矩形: 圆角 199"/>
              <p:cNvSpPr/>
              <p:nvPr/>
            </p:nvSpPr>
            <p:spPr>
              <a:xfrm>
                <a:off x="6521139" y="2200388"/>
                <a:ext cx="356022" cy="1563648"/>
              </a:xfrm>
              <a:prstGeom prst="roundRect">
                <a:avLst/>
              </a:prstGeom>
              <a:solidFill>
                <a:srgbClr val="B8AEEB"/>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8" name="组合 167"/>
            <p:cNvGrpSpPr/>
            <p:nvPr/>
          </p:nvGrpSpPr>
          <p:grpSpPr>
            <a:xfrm>
              <a:off x="1967618" y="742413"/>
              <a:ext cx="326100" cy="2167604"/>
              <a:chOff x="7432998" y="1774880"/>
              <a:chExt cx="326100" cy="2167604"/>
            </a:xfrm>
          </p:grpSpPr>
          <p:sp>
            <p:nvSpPr>
              <p:cNvPr id="194" name="流程图: 接点 193"/>
              <p:cNvSpPr/>
              <p:nvPr/>
            </p:nvSpPr>
            <p:spPr>
              <a:xfrm>
                <a:off x="7432998" y="1774880"/>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流程图: 接点 194"/>
              <p:cNvSpPr/>
              <p:nvPr/>
            </p:nvSpPr>
            <p:spPr>
              <a:xfrm>
                <a:off x="7432998" y="2388709"/>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流程图: 接点 195"/>
              <p:cNvSpPr/>
              <p:nvPr/>
            </p:nvSpPr>
            <p:spPr>
              <a:xfrm>
                <a:off x="7432998" y="3002538"/>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流程图: 接点 196"/>
              <p:cNvSpPr/>
              <p:nvPr/>
            </p:nvSpPr>
            <p:spPr>
              <a:xfrm>
                <a:off x="7432998" y="3616366"/>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9" name="组合 168"/>
            <p:cNvGrpSpPr/>
            <p:nvPr/>
          </p:nvGrpSpPr>
          <p:grpSpPr>
            <a:xfrm>
              <a:off x="2621812" y="1385873"/>
              <a:ext cx="326100" cy="880685"/>
              <a:chOff x="8397353" y="2563760"/>
              <a:chExt cx="326100" cy="880685"/>
            </a:xfrm>
          </p:grpSpPr>
          <p:sp>
            <p:nvSpPr>
              <p:cNvPr id="192" name="流程图: 接点 191"/>
              <p:cNvSpPr/>
              <p:nvPr/>
            </p:nvSpPr>
            <p:spPr>
              <a:xfrm>
                <a:off x="8397353" y="2563760"/>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流程图: 接点 192"/>
              <p:cNvSpPr/>
              <p:nvPr/>
            </p:nvSpPr>
            <p:spPr>
              <a:xfrm>
                <a:off x="8397353" y="3118327"/>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70" name="直接连接符 169"/>
            <p:cNvCxnSpPr>
              <a:stCxn id="208" idx="6"/>
              <a:endCxn id="205" idx="1"/>
            </p:cNvCxnSpPr>
            <p:nvPr/>
          </p:nvCxnSpPr>
          <p:spPr>
            <a:xfrm>
              <a:off x="-475270" y="1548932"/>
              <a:ext cx="57735" cy="2772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a:stCxn id="209" idx="6"/>
              <a:endCxn id="205" idx="1"/>
            </p:cNvCxnSpPr>
            <p:nvPr/>
          </p:nvCxnSpPr>
          <p:spPr>
            <a:xfrm flipV="1">
              <a:off x="-475270" y="1826216"/>
              <a:ext cx="57735" cy="27728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a:stCxn id="207" idx="3"/>
              <a:endCxn id="201" idx="2"/>
            </p:cNvCxnSpPr>
            <p:nvPr/>
          </p:nvCxnSpPr>
          <p:spPr>
            <a:xfrm flipV="1">
              <a:off x="477265" y="905472"/>
              <a:ext cx="204508" cy="9207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a:stCxn id="207" idx="3"/>
              <a:endCxn id="202" idx="2"/>
            </p:cNvCxnSpPr>
            <p:nvPr/>
          </p:nvCxnSpPr>
          <p:spPr>
            <a:xfrm flipV="1">
              <a:off x="477265" y="1519301"/>
              <a:ext cx="204508" cy="30691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a:stCxn id="207" idx="3"/>
              <a:endCxn id="203" idx="2"/>
            </p:cNvCxnSpPr>
            <p:nvPr/>
          </p:nvCxnSpPr>
          <p:spPr>
            <a:xfrm>
              <a:off x="477265" y="1826216"/>
              <a:ext cx="204508" cy="30691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a:stCxn id="207" idx="3"/>
              <a:endCxn id="204" idx="2"/>
            </p:cNvCxnSpPr>
            <p:nvPr/>
          </p:nvCxnSpPr>
          <p:spPr>
            <a:xfrm>
              <a:off x="477265" y="1826216"/>
              <a:ext cx="204508" cy="92074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a:stCxn id="201" idx="6"/>
              <a:endCxn id="200" idx="1"/>
            </p:cNvCxnSpPr>
            <p:nvPr/>
          </p:nvCxnSpPr>
          <p:spPr>
            <a:xfrm>
              <a:off x="1007873" y="905472"/>
              <a:ext cx="225128" cy="99631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a:stCxn id="202" idx="6"/>
              <a:endCxn id="200" idx="1"/>
            </p:cNvCxnSpPr>
            <p:nvPr/>
          </p:nvCxnSpPr>
          <p:spPr>
            <a:xfrm>
              <a:off x="1007873" y="1519301"/>
              <a:ext cx="225128" cy="3824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a:stCxn id="203" idx="6"/>
              <a:endCxn id="200" idx="1"/>
            </p:cNvCxnSpPr>
            <p:nvPr/>
          </p:nvCxnSpPr>
          <p:spPr>
            <a:xfrm flipV="1">
              <a:off x="1007873" y="1901788"/>
              <a:ext cx="225128" cy="23134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a:stCxn id="204" idx="6"/>
              <a:endCxn id="200" idx="1"/>
            </p:cNvCxnSpPr>
            <p:nvPr/>
          </p:nvCxnSpPr>
          <p:spPr>
            <a:xfrm flipV="1">
              <a:off x="1007873" y="1901788"/>
              <a:ext cx="225128" cy="84517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a:stCxn id="200" idx="3"/>
              <a:endCxn id="194" idx="2"/>
            </p:cNvCxnSpPr>
            <p:nvPr/>
          </p:nvCxnSpPr>
          <p:spPr>
            <a:xfrm flipV="1">
              <a:off x="1589023" y="905472"/>
              <a:ext cx="378595" cy="99631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a:stCxn id="200" idx="3"/>
              <a:endCxn id="195" idx="2"/>
            </p:cNvCxnSpPr>
            <p:nvPr/>
          </p:nvCxnSpPr>
          <p:spPr>
            <a:xfrm flipV="1">
              <a:off x="1589023" y="1519301"/>
              <a:ext cx="378595" cy="3824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a:stCxn id="200" idx="3"/>
              <a:endCxn id="196" idx="2"/>
            </p:cNvCxnSpPr>
            <p:nvPr/>
          </p:nvCxnSpPr>
          <p:spPr>
            <a:xfrm>
              <a:off x="1589023" y="1901788"/>
              <a:ext cx="378595" cy="23134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a:stCxn id="200" idx="3"/>
              <a:endCxn id="197" idx="2"/>
            </p:cNvCxnSpPr>
            <p:nvPr/>
          </p:nvCxnSpPr>
          <p:spPr>
            <a:xfrm>
              <a:off x="1589023" y="1901788"/>
              <a:ext cx="378595" cy="84517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a:stCxn id="194" idx="6"/>
              <a:endCxn id="192" idx="2"/>
            </p:cNvCxnSpPr>
            <p:nvPr/>
          </p:nvCxnSpPr>
          <p:spPr>
            <a:xfrm>
              <a:off x="2293718" y="905472"/>
              <a:ext cx="328094" cy="6434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a:stCxn id="194" idx="6"/>
              <a:endCxn id="193" idx="2"/>
            </p:cNvCxnSpPr>
            <p:nvPr/>
          </p:nvCxnSpPr>
          <p:spPr>
            <a:xfrm>
              <a:off x="2293718" y="905472"/>
              <a:ext cx="328094" cy="119802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195" idx="6"/>
              <a:endCxn id="192" idx="2"/>
            </p:cNvCxnSpPr>
            <p:nvPr/>
          </p:nvCxnSpPr>
          <p:spPr>
            <a:xfrm>
              <a:off x="2293718" y="1519301"/>
              <a:ext cx="328094" cy="296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a:stCxn id="195" idx="6"/>
              <a:endCxn id="193" idx="2"/>
            </p:cNvCxnSpPr>
            <p:nvPr/>
          </p:nvCxnSpPr>
          <p:spPr>
            <a:xfrm>
              <a:off x="2293718" y="1519301"/>
              <a:ext cx="328094" cy="58419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a:stCxn id="196" idx="6"/>
              <a:endCxn id="192" idx="2"/>
            </p:cNvCxnSpPr>
            <p:nvPr/>
          </p:nvCxnSpPr>
          <p:spPr>
            <a:xfrm flipV="1">
              <a:off x="2293718" y="1548932"/>
              <a:ext cx="328094" cy="58419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a:stCxn id="196" idx="6"/>
              <a:endCxn id="193" idx="2"/>
            </p:cNvCxnSpPr>
            <p:nvPr/>
          </p:nvCxnSpPr>
          <p:spPr>
            <a:xfrm flipV="1">
              <a:off x="2293718" y="2103499"/>
              <a:ext cx="328094" cy="296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a:stCxn id="197" idx="6"/>
              <a:endCxn id="192" idx="2"/>
            </p:cNvCxnSpPr>
            <p:nvPr/>
          </p:nvCxnSpPr>
          <p:spPr>
            <a:xfrm flipV="1">
              <a:off x="2293718" y="1548932"/>
              <a:ext cx="328094" cy="119802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a:stCxn id="197" idx="6"/>
              <a:endCxn id="193" idx="2"/>
            </p:cNvCxnSpPr>
            <p:nvPr/>
          </p:nvCxnSpPr>
          <p:spPr>
            <a:xfrm flipV="1">
              <a:off x="2293718" y="2103499"/>
              <a:ext cx="328094" cy="64345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1" name="组合 140"/>
          <p:cNvGrpSpPr/>
          <p:nvPr/>
        </p:nvGrpSpPr>
        <p:grpSpPr>
          <a:xfrm>
            <a:off x="204510" y="3633236"/>
            <a:ext cx="1859781" cy="1720345"/>
            <a:chOff x="204510" y="3633236"/>
            <a:chExt cx="1859781" cy="1720345"/>
          </a:xfrm>
        </p:grpSpPr>
        <p:sp>
          <p:nvSpPr>
            <p:cNvPr id="28" name="矩形 27"/>
            <p:cNvSpPr/>
            <p:nvPr/>
          </p:nvSpPr>
          <p:spPr>
            <a:xfrm>
              <a:off x="882400" y="3633236"/>
              <a:ext cx="504000" cy="504227"/>
            </a:xfrm>
            <a:prstGeom prst="rect">
              <a:avLst/>
            </a:prstGeom>
            <a:solidFill>
              <a:srgbClr val="88D8DB"/>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9" name="图片 28" descr="图标&#10;&#10;描述已自动生成"/>
            <p:cNvPicPr>
              <a:picLocks noChangeAspect="1"/>
            </p:cNvPicPr>
            <p:nvPr/>
          </p:nvPicPr>
          <p:blipFill rotWithShape="1">
            <a:blip r:embed="rId1">
              <a:extLst>
                <a:ext uri="{28A0092B-C50C-407E-A947-70E740481C1C}">
                  <a14:useLocalDpi xmlns:a14="http://schemas.microsoft.com/office/drawing/2010/main" val="0"/>
                </a:ext>
              </a:extLst>
            </a:blip>
            <a:srcRect l="10336" t="16573" r="7065" b="12893"/>
            <a:stretch>
              <a:fillRect/>
            </a:stretch>
          </p:blipFill>
          <p:spPr>
            <a:xfrm>
              <a:off x="921950" y="3703927"/>
              <a:ext cx="424900" cy="362844"/>
            </a:xfrm>
            <a:prstGeom prst="rect">
              <a:avLst/>
            </a:prstGeom>
          </p:spPr>
        </p:pic>
        <p:sp>
          <p:nvSpPr>
            <p:cNvPr id="26" name="矩形 25"/>
            <p:cNvSpPr/>
            <p:nvPr/>
          </p:nvSpPr>
          <p:spPr>
            <a:xfrm>
              <a:off x="1280780" y="4849354"/>
              <a:ext cx="504000" cy="504227"/>
            </a:xfrm>
            <a:prstGeom prst="rect">
              <a:avLst/>
            </a:prstGeom>
            <a:solidFill>
              <a:srgbClr val="F2B56F"/>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7" name="图片 26" descr="形状&#10;&#10;低可信度描述已自动生成"/>
            <p:cNvPicPr>
              <a:picLocks noChangeAspect="1"/>
            </p:cNvPicPr>
            <p:nvPr/>
          </p:nvPicPr>
          <p:blipFill rotWithShape="1">
            <a:blip r:embed="rId2">
              <a:extLst>
                <a:ext uri="{28A0092B-C50C-407E-A947-70E740481C1C}">
                  <a14:useLocalDpi xmlns:a14="http://schemas.microsoft.com/office/drawing/2010/main" val="0"/>
                </a:ext>
              </a:extLst>
            </a:blip>
            <a:srcRect t="9985" b="11313"/>
            <a:stretch>
              <a:fillRect/>
            </a:stretch>
          </p:blipFill>
          <p:spPr>
            <a:xfrm>
              <a:off x="1303194" y="4918046"/>
              <a:ext cx="461998" cy="363600"/>
            </a:xfrm>
            <a:prstGeom prst="rect">
              <a:avLst/>
            </a:prstGeom>
          </p:spPr>
        </p:pic>
        <p:sp>
          <p:nvSpPr>
            <p:cNvPr id="24" name="矩形 23"/>
            <p:cNvSpPr/>
            <p:nvPr/>
          </p:nvSpPr>
          <p:spPr>
            <a:xfrm>
              <a:off x="484020" y="4849354"/>
              <a:ext cx="504000" cy="504227"/>
            </a:xfrm>
            <a:prstGeom prst="rect">
              <a:avLst/>
            </a:prstGeom>
            <a:solidFill>
              <a:srgbClr val="FAE69E"/>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5" name="图片 24" descr="形状&#10;&#10;低可信度描述已自动生成"/>
            <p:cNvPicPr>
              <a:picLocks noChangeAspect="1"/>
            </p:cNvPicPr>
            <p:nvPr/>
          </p:nvPicPr>
          <p:blipFill rotWithShape="1">
            <a:blip r:embed="rId3">
              <a:extLst>
                <a:ext uri="{28A0092B-C50C-407E-A947-70E740481C1C}">
                  <a14:useLocalDpi xmlns:a14="http://schemas.microsoft.com/office/drawing/2010/main" val="0"/>
                </a:ext>
              </a:extLst>
            </a:blip>
            <a:srcRect l="10900" r="12694" b="8472"/>
            <a:stretch>
              <a:fillRect/>
            </a:stretch>
          </p:blipFill>
          <p:spPr>
            <a:xfrm>
              <a:off x="584256" y="4920045"/>
              <a:ext cx="303528" cy="363600"/>
            </a:xfrm>
            <a:prstGeom prst="rect">
              <a:avLst/>
            </a:prstGeom>
          </p:spPr>
        </p:pic>
        <p:sp>
          <p:nvSpPr>
            <p:cNvPr id="20" name="矩形 19"/>
            <p:cNvSpPr/>
            <p:nvPr/>
          </p:nvSpPr>
          <p:spPr>
            <a:xfrm>
              <a:off x="204510" y="4179218"/>
              <a:ext cx="504000" cy="504227"/>
            </a:xfrm>
            <a:prstGeom prst="rect">
              <a:avLst/>
            </a:prstGeom>
            <a:solidFill>
              <a:srgbClr val="FAE69E"/>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1" name="图片 20" descr="形状&#10;&#10;低可信度描述已自动生成"/>
            <p:cNvPicPr>
              <a:picLocks noChangeAspect="1"/>
            </p:cNvPicPr>
            <p:nvPr/>
          </p:nvPicPr>
          <p:blipFill rotWithShape="1">
            <a:blip r:embed="rId4">
              <a:extLst>
                <a:ext uri="{28A0092B-C50C-407E-A947-70E740481C1C}">
                  <a14:useLocalDpi xmlns:a14="http://schemas.microsoft.com/office/drawing/2010/main" val="0"/>
                </a:ext>
              </a:extLst>
            </a:blip>
            <a:srcRect l="8111" t="5923" r="6106" b="6383"/>
            <a:stretch>
              <a:fillRect/>
            </a:stretch>
          </p:blipFill>
          <p:spPr>
            <a:xfrm>
              <a:off x="285442" y="4255677"/>
              <a:ext cx="355670" cy="363600"/>
            </a:xfrm>
            <a:prstGeom prst="rect">
              <a:avLst/>
            </a:prstGeom>
          </p:spPr>
        </p:pic>
        <p:sp>
          <p:nvSpPr>
            <p:cNvPr id="18" name="矩形 17"/>
            <p:cNvSpPr/>
            <p:nvPr/>
          </p:nvSpPr>
          <p:spPr>
            <a:xfrm>
              <a:off x="1560291" y="4178779"/>
              <a:ext cx="504000" cy="504227"/>
            </a:xfrm>
            <a:prstGeom prst="rect">
              <a:avLst/>
            </a:prstGeom>
            <a:solidFill>
              <a:srgbClr val="88D8DB"/>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19" name="图片 18" descr="形状&#10;&#10;低可信度描述已自动生成"/>
            <p:cNvPicPr>
              <a:picLocks noChangeAspect="1"/>
            </p:cNvPicPr>
            <p:nvPr/>
          </p:nvPicPr>
          <p:blipFill rotWithShape="1">
            <a:blip r:embed="rId4">
              <a:extLst>
                <a:ext uri="{28A0092B-C50C-407E-A947-70E740481C1C}">
                  <a14:useLocalDpi xmlns:a14="http://schemas.microsoft.com/office/drawing/2010/main" val="0"/>
                </a:ext>
              </a:extLst>
            </a:blip>
            <a:srcRect l="8111" t="5923" r="6106" b="6383"/>
            <a:stretch>
              <a:fillRect/>
            </a:stretch>
          </p:blipFill>
          <p:spPr>
            <a:xfrm>
              <a:off x="1641223" y="4255238"/>
              <a:ext cx="355670" cy="363600"/>
            </a:xfrm>
            <a:prstGeom prst="rect">
              <a:avLst/>
            </a:prstGeom>
          </p:spPr>
        </p:pic>
        <p:cxnSp>
          <p:nvCxnSpPr>
            <p:cNvPr id="7" name="直接连接符 6"/>
            <p:cNvCxnSpPr>
              <a:stCxn id="20" idx="3"/>
              <a:endCxn id="28" idx="2"/>
            </p:cNvCxnSpPr>
            <p:nvPr/>
          </p:nvCxnSpPr>
          <p:spPr>
            <a:xfrm flipV="1">
              <a:off x="708510" y="4137463"/>
              <a:ext cx="425890" cy="29386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24" idx="0"/>
              <a:endCxn id="28" idx="2"/>
            </p:cNvCxnSpPr>
            <p:nvPr/>
          </p:nvCxnSpPr>
          <p:spPr>
            <a:xfrm flipV="1">
              <a:off x="736020" y="4137463"/>
              <a:ext cx="398380" cy="71189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26" idx="0"/>
              <a:endCxn id="28" idx="2"/>
            </p:cNvCxnSpPr>
            <p:nvPr/>
          </p:nvCxnSpPr>
          <p:spPr>
            <a:xfrm flipH="1" flipV="1">
              <a:off x="1134400" y="4137463"/>
              <a:ext cx="398380" cy="71189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8" idx="1"/>
              <a:endCxn id="24" idx="0"/>
            </p:cNvCxnSpPr>
            <p:nvPr/>
          </p:nvCxnSpPr>
          <p:spPr>
            <a:xfrm flipH="1">
              <a:off x="736020" y="4430893"/>
              <a:ext cx="824271" cy="41846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8" idx="1"/>
              <a:endCxn id="26" idx="0"/>
            </p:cNvCxnSpPr>
            <p:nvPr/>
          </p:nvCxnSpPr>
          <p:spPr>
            <a:xfrm flipH="1">
              <a:off x="1532780" y="4430893"/>
              <a:ext cx="27511" cy="41846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8" name="组合 157"/>
          <p:cNvGrpSpPr/>
          <p:nvPr/>
        </p:nvGrpSpPr>
        <p:grpSpPr>
          <a:xfrm>
            <a:off x="4297123" y="3273035"/>
            <a:ext cx="3118517" cy="2167604"/>
            <a:chOff x="4297123" y="3273035"/>
            <a:chExt cx="3118517" cy="2167604"/>
          </a:xfrm>
        </p:grpSpPr>
        <p:grpSp>
          <p:nvGrpSpPr>
            <p:cNvPr id="31" name="组合 30"/>
            <p:cNvGrpSpPr/>
            <p:nvPr/>
          </p:nvGrpSpPr>
          <p:grpSpPr>
            <a:xfrm>
              <a:off x="4297123" y="3916495"/>
              <a:ext cx="326100" cy="880685"/>
              <a:chOff x="4418290" y="2563760"/>
              <a:chExt cx="326100" cy="880685"/>
            </a:xfrm>
          </p:grpSpPr>
          <p:sp>
            <p:nvSpPr>
              <p:cNvPr id="139" name="流程图: 接点 138"/>
              <p:cNvSpPr/>
              <p:nvPr/>
            </p:nvSpPr>
            <p:spPr>
              <a:xfrm>
                <a:off x="4418290" y="2563760"/>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0" name="流程图: 接点 139"/>
              <p:cNvSpPr/>
              <p:nvPr/>
            </p:nvSpPr>
            <p:spPr>
              <a:xfrm>
                <a:off x="4418290" y="3118327"/>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5390803" y="3273035"/>
              <a:ext cx="326100" cy="2167604"/>
              <a:chOff x="5865180" y="1774880"/>
              <a:chExt cx="326100" cy="2167604"/>
            </a:xfrm>
          </p:grpSpPr>
          <p:sp>
            <p:nvSpPr>
              <p:cNvPr id="132" name="流程图: 接点 131"/>
              <p:cNvSpPr/>
              <p:nvPr/>
            </p:nvSpPr>
            <p:spPr>
              <a:xfrm>
                <a:off x="5865180" y="1774880"/>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流程图: 接点 132"/>
              <p:cNvSpPr/>
              <p:nvPr/>
            </p:nvSpPr>
            <p:spPr>
              <a:xfrm>
                <a:off x="5865180" y="2388709"/>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流程图: 接点 133"/>
              <p:cNvSpPr/>
              <p:nvPr/>
            </p:nvSpPr>
            <p:spPr>
              <a:xfrm>
                <a:off x="5865180" y="3002538"/>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 name="流程图: 接点 134"/>
              <p:cNvSpPr/>
              <p:nvPr/>
            </p:nvSpPr>
            <p:spPr>
              <a:xfrm>
                <a:off x="5865180" y="3616366"/>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p:cNvGrpSpPr/>
            <p:nvPr/>
          </p:nvGrpSpPr>
          <p:grpSpPr>
            <a:xfrm>
              <a:off x="6435346" y="3273035"/>
              <a:ext cx="326100" cy="2167604"/>
              <a:chOff x="7432998" y="1774880"/>
              <a:chExt cx="326100" cy="2167604"/>
            </a:xfrm>
          </p:grpSpPr>
          <p:sp>
            <p:nvSpPr>
              <p:cNvPr id="61" name="流程图: 接点 60"/>
              <p:cNvSpPr/>
              <p:nvPr/>
            </p:nvSpPr>
            <p:spPr>
              <a:xfrm>
                <a:off x="7432998" y="1774880"/>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流程图: 接点 61"/>
              <p:cNvSpPr/>
              <p:nvPr/>
            </p:nvSpPr>
            <p:spPr>
              <a:xfrm>
                <a:off x="7432998" y="2388709"/>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流程图: 接点 62"/>
              <p:cNvSpPr/>
              <p:nvPr/>
            </p:nvSpPr>
            <p:spPr>
              <a:xfrm>
                <a:off x="7432998" y="3002538"/>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流程图: 接点 127"/>
              <p:cNvSpPr/>
              <p:nvPr/>
            </p:nvSpPr>
            <p:spPr>
              <a:xfrm>
                <a:off x="7432998" y="3616366"/>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nvGrpSpPr>
          <p:grpSpPr>
            <a:xfrm>
              <a:off x="7089540" y="3916495"/>
              <a:ext cx="326100" cy="880685"/>
              <a:chOff x="8397353" y="2563760"/>
              <a:chExt cx="326100" cy="880685"/>
            </a:xfrm>
          </p:grpSpPr>
          <p:sp>
            <p:nvSpPr>
              <p:cNvPr id="59" name="流程图: 接点 58"/>
              <p:cNvSpPr/>
              <p:nvPr/>
            </p:nvSpPr>
            <p:spPr>
              <a:xfrm>
                <a:off x="8397353" y="2563760"/>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流程图: 接点 59"/>
              <p:cNvSpPr/>
              <p:nvPr/>
            </p:nvSpPr>
            <p:spPr>
              <a:xfrm>
                <a:off x="8397353" y="3118327"/>
                <a:ext cx="326100" cy="326118"/>
              </a:xfrm>
              <a:prstGeom prst="flowChartConnector">
                <a:avLst/>
              </a:prstGeom>
              <a:solidFill>
                <a:srgbClr val="71B7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7" name="直接连接符 36"/>
            <p:cNvCxnSpPr>
              <a:stCxn id="139" idx="6"/>
              <a:endCxn id="142" idx="2"/>
            </p:cNvCxnSpPr>
            <p:nvPr/>
          </p:nvCxnSpPr>
          <p:spPr>
            <a:xfrm>
              <a:off x="4623223" y="4079554"/>
              <a:ext cx="150094" cy="27728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40" idx="6"/>
              <a:endCxn id="142" idx="2"/>
            </p:cNvCxnSpPr>
            <p:nvPr/>
          </p:nvCxnSpPr>
          <p:spPr>
            <a:xfrm flipV="1">
              <a:off x="4623223" y="4356837"/>
              <a:ext cx="150094" cy="2772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42" idx="6"/>
              <a:endCxn id="132" idx="2"/>
            </p:cNvCxnSpPr>
            <p:nvPr/>
          </p:nvCxnSpPr>
          <p:spPr>
            <a:xfrm flipV="1">
              <a:off x="5099417" y="3436094"/>
              <a:ext cx="291386" cy="92074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142" idx="6"/>
              <a:endCxn id="133" idx="2"/>
            </p:cNvCxnSpPr>
            <p:nvPr/>
          </p:nvCxnSpPr>
          <p:spPr>
            <a:xfrm flipV="1">
              <a:off x="5099417" y="4049923"/>
              <a:ext cx="291386" cy="30691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142" idx="6"/>
              <a:endCxn id="134" idx="2"/>
            </p:cNvCxnSpPr>
            <p:nvPr/>
          </p:nvCxnSpPr>
          <p:spPr>
            <a:xfrm>
              <a:off x="5099417" y="4356837"/>
              <a:ext cx="291386" cy="30691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142" idx="6"/>
              <a:endCxn id="135" idx="2"/>
            </p:cNvCxnSpPr>
            <p:nvPr/>
          </p:nvCxnSpPr>
          <p:spPr>
            <a:xfrm>
              <a:off x="5099417" y="4356837"/>
              <a:ext cx="291386" cy="92074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132" idx="6"/>
              <a:endCxn id="149" idx="2"/>
            </p:cNvCxnSpPr>
            <p:nvPr/>
          </p:nvCxnSpPr>
          <p:spPr>
            <a:xfrm>
              <a:off x="5716903" y="3436094"/>
              <a:ext cx="225418" cy="92074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133" idx="6"/>
              <a:endCxn id="149" idx="2"/>
            </p:cNvCxnSpPr>
            <p:nvPr/>
          </p:nvCxnSpPr>
          <p:spPr>
            <a:xfrm>
              <a:off x="5716903" y="4049923"/>
              <a:ext cx="225418" cy="30691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134" idx="6"/>
              <a:endCxn id="149" idx="2"/>
            </p:cNvCxnSpPr>
            <p:nvPr/>
          </p:nvCxnSpPr>
          <p:spPr>
            <a:xfrm flipV="1">
              <a:off x="5716903" y="4356837"/>
              <a:ext cx="225418" cy="30691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135" idx="6"/>
              <a:endCxn id="149" idx="2"/>
            </p:cNvCxnSpPr>
            <p:nvPr/>
          </p:nvCxnSpPr>
          <p:spPr>
            <a:xfrm flipV="1">
              <a:off x="5716903" y="4356837"/>
              <a:ext cx="225418" cy="92074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149" idx="6"/>
              <a:endCxn id="61" idx="2"/>
            </p:cNvCxnSpPr>
            <p:nvPr/>
          </p:nvCxnSpPr>
          <p:spPr>
            <a:xfrm flipV="1">
              <a:off x="6268421" y="3436094"/>
              <a:ext cx="166925" cy="92074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149" idx="6"/>
              <a:endCxn id="62" idx="2"/>
            </p:cNvCxnSpPr>
            <p:nvPr/>
          </p:nvCxnSpPr>
          <p:spPr>
            <a:xfrm flipV="1">
              <a:off x="6268421" y="4049923"/>
              <a:ext cx="166925" cy="30691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149" idx="6"/>
              <a:endCxn id="63" idx="2"/>
            </p:cNvCxnSpPr>
            <p:nvPr/>
          </p:nvCxnSpPr>
          <p:spPr>
            <a:xfrm>
              <a:off x="6268421" y="4356837"/>
              <a:ext cx="166925" cy="30691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149" idx="6"/>
              <a:endCxn id="128" idx="2"/>
            </p:cNvCxnSpPr>
            <p:nvPr/>
          </p:nvCxnSpPr>
          <p:spPr>
            <a:xfrm>
              <a:off x="6268421" y="4356837"/>
              <a:ext cx="166925" cy="92074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61" idx="6"/>
              <a:endCxn id="59" idx="2"/>
            </p:cNvCxnSpPr>
            <p:nvPr/>
          </p:nvCxnSpPr>
          <p:spPr>
            <a:xfrm>
              <a:off x="6761446" y="3436094"/>
              <a:ext cx="328094" cy="6434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61" idx="6"/>
              <a:endCxn id="60" idx="2"/>
            </p:cNvCxnSpPr>
            <p:nvPr/>
          </p:nvCxnSpPr>
          <p:spPr>
            <a:xfrm>
              <a:off x="6761446" y="3436094"/>
              <a:ext cx="328094" cy="119802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62" idx="6"/>
              <a:endCxn id="59" idx="2"/>
            </p:cNvCxnSpPr>
            <p:nvPr/>
          </p:nvCxnSpPr>
          <p:spPr>
            <a:xfrm>
              <a:off x="6761446" y="4049923"/>
              <a:ext cx="328094" cy="296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62" idx="6"/>
              <a:endCxn id="60" idx="2"/>
            </p:cNvCxnSpPr>
            <p:nvPr/>
          </p:nvCxnSpPr>
          <p:spPr>
            <a:xfrm>
              <a:off x="6761446" y="4049923"/>
              <a:ext cx="328094" cy="58419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63" idx="6"/>
              <a:endCxn id="59" idx="2"/>
            </p:cNvCxnSpPr>
            <p:nvPr/>
          </p:nvCxnSpPr>
          <p:spPr>
            <a:xfrm flipV="1">
              <a:off x="6761446" y="4079554"/>
              <a:ext cx="328094" cy="58419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63" idx="6"/>
              <a:endCxn id="60" idx="2"/>
            </p:cNvCxnSpPr>
            <p:nvPr/>
          </p:nvCxnSpPr>
          <p:spPr>
            <a:xfrm flipV="1">
              <a:off x="6761446" y="4634121"/>
              <a:ext cx="328094" cy="296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128" idx="6"/>
              <a:endCxn id="59" idx="2"/>
            </p:cNvCxnSpPr>
            <p:nvPr/>
          </p:nvCxnSpPr>
          <p:spPr>
            <a:xfrm flipV="1">
              <a:off x="6761446" y="4079554"/>
              <a:ext cx="328094" cy="119802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128" idx="6"/>
              <a:endCxn id="60" idx="2"/>
            </p:cNvCxnSpPr>
            <p:nvPr/>
          </p:nvCxnSpPr>
          <p:spPr>
            <a:xfrm flipV="1">
              <a:off x="6761446" y="4634121"/>
              <a:ext cx="328094" cy="64345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流程图: 接点 141"/>
            <p:cNvSpPr/>
            <p:nvPr/>
          </p:nvSpPr>
          <p:spPr>
            <a:xfrm>
              <a:off x="4773317" y="4193778"/>
              <a:ext cx="326100" cy="326118"/>
            </a:xfrm>
            <a:prstGeom prst="flowChartConnector">
              <a:avLst/>
            </a:prstGeom>
            <a:solidFill>
              <a:srgbClr val="FAE69E"/>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9" name="流程图: 接点 148"/>
            <p:cNvSpPr/>
            <p:nvPr/>
          </p:nvSpPr>
          <p:spPr>
            <a:xfrm>
              <a:off x="5942321" y="4193778"/>
              <a:ext cx="326100" cy="326118"/>
            </a:xfrm>
            <a:prstGeom prst="flowChartConnector">
              <a:avLst/>
            </a:prstGeom>
            <a:solidFill>
              <a:srgbClr val="B8AEEB"/>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4" name="组合 213"/>
          <p:cNvGrpSpPr/>
          <p:nvPr/>
        </p:nvGrpSpPr>
        <p:grpSpPr>
          <a:xfrm>
            <a:off x="2936854" y="4918046"/>
            <a:ext cx="475484" cy="406097"/>
            <a:chOff x="2936854" y="4918046"/>
            <a:chExt cx="475484" cy="406097"/>
          </a:xfrm>
        </p:grpSpPr>
        <p:sp>
          <p:nvSpPr>
            <p:cNvPr id="159" name="矩形: 圆角 158"/>
            <p:cNvSpPr/>
            <p:nvPr/>
          </p:nvSpPr>
          <p:spPr>
            <a:xfrm>
              <a:off x="3056316" y="4918046"/>
              <a:ext cx="356022" cy="327844"/>
            </a:xfrm>
            <a:prstGeom prst="roundRect">
              <a:avLst/>
            </a:prstGeom>
            <a:solidFill>
              <a:srgbClr val="B8AEEB">
                <a:alpha val="65000"/>
              </a:srgbClr>
            </a:solidFill>
            <a:ln w="158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圆角 159"/>
            <p:cNvSpPr/>
            <p:nvPr/>
          </p:nvSpPr>
          <p:spPr>
            <a:xfrm>
              <a:off x="2992340" y="4958436"/>
              <a:ext cx="356022" cy="327844"/>
            </a:xfrm>
            <a:prstGeom prst="roundRect">
              <a:avLst/>
            </a:prstGeom>
            <a:solidFill>
              <a:srgbClr val="B8AEEB">
                <a:alpha val="65000"/>
              </a:srgbClr>
            </a:solidFill>
            <a:ln w="158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圆角 160"/>
            <p:cNvSpPr/>
            <p:nvPr/>
          </p:nvSpPr>
          <p:spPr>
            <a:xfrm>
              <a:off x="2936854" y="4996299"/>
              <a:ext cx="356022" cy="327844"/>
            </a:xfrm>
            <a:prstGeom prst="roundRect">
              <a:avLst/>
            </a:prstGeom>
            <a:solidFill>
              <a:srgbClr val="B8AEEB"/>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553085"/>
          </a:xfrm>
          <a:prstGeom prst="rect">
            <a:avLst/>
          </a:prstGeom>
          <a:noFill/>
        </p:spPr>
        <p:txBody>
          <a:bodyPr wrap="square" rtlCol="0">
            <a:spAutoFit/>
          </a:bodyPr>
          <a:lstStyle/>
          <a:p>
            <a:pPr marL="285750" indent="-285750" algn="just" fontAlgn="auto">
              <a:lnSpc>
                <a:spcPct val="150000"/>
              </a:lnSpc>
              <a:spcBef>
                <a:spcPts val="0"/>
              </a:spcBef>
              <a:spcAft>
                <a:spcPts val="600"/>
              </a:spcAft>
              <a:buFont typeface="Wingdings" panose="05000000000000000000" charset="0"/>
              <a:buChar char="l"/>
            </a:pPr>
            <a:r>
              <a:rPr lang="zh-CN" altLang="en-US" sz="2000" b="1" dirty="0">
                <a:sym typeface="+mn-ea"/>
              </a:rPr>
              <a:t>研究云边端协同的跨域分布式训练关键技术是应对上述新特征的有效手段</a:t>
            </a:r>
            <a:endParaRPr lang="zh-CN" altLang="en-US" sz="2000" b="1" dirty="0">
              <a:sym typeface="+mn-ea"/>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矩形 4"/>
          <p:cNvSpPr/>
          <p:nvPr>
            <p:custDataLst>
              <p:tags r:id="rId1"/>
            </p:custDataLst>
          </p:nvPr>
        </p:nvSpPr>
        <p:spPr>
          <a:xfrm>
            <a:off x="306070" y="1605915"/>
            <a:ext cx="3733165" cy="5092065"/>
          </a:xfrm>
          <a:prstGeom prst="rect">
            <a:avLst/>
          </a:prstGeom>
          <a:solidFill>
            <a:schemeClr val="accent1">
              <a:lumMod val="20000"/>
              <a:lumOff val="80000"/>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6" name="文本框 5"/>
          <p:cNvSpPr txBox="1"/>
          <p:nvPr/>
        </p:nvSpPr>
        <p:spPr>
          <a:xfrm>
            <a:off x="4281805" y="1605915"/>
            <a:ext cx="4538980" cy="5089525"/>
          </a:xfrm>
          <a:prstGeom prst="rect">
            <a:avLst/>
          </a:prstGeom>
          <a:noFill/>
        </p:spPr>
        <p:txBody>
          <a:bodyPr wrap="square" rtlCol="0">
            <a:noAutofit/>
          </a:bodyPr>
          <a:lstStyle/>
          <a:p>
            <a:pPr marL="285750" indent="-285750" algn="just" fontAlgn="auto">
              <a:lnSpc>
                <a:spcPct val="120000"/>
              </a:lnSpc>
              <a:spcBef>
                <a:spcPts val="0"/>
              </a:spcBef>
              <a:buFont typeface="Wingdings" panose="05000000000000000000" charset="0"/>
              <a:buChar char="Ø"/>
            </a:pPr>
            <a:r>
              <a:rPr lang="zh-CN" altLang="en-US" b="1" dirty="0"/>
              <a:t>核心思想：</a:t>
            </a:r>
            <a:endParaRPr lang="zh-CN" altLang="en-US" b="1" dirty="0"/>
          </a:p>
          <a:p>
            <a:pPr marL="288290" indent="0" algn="just" fontAlgn="auto">
              <a:lnSpc>
                <a:spcPct val="120000"/>
              </a:lnSpc>
              <a:spcBef>
                <a:spcPts val="0"/>
              </a:spcBef>
              <a:spcAft>
                <a:spcPts val="600"/>
              </a:spcAft>
              <a:buFont typeface="Wingdings" panose="05000000000000000000" charset="0"/>
              <a:buNone/>
            </a:pPr>
            <a:r>
              <a:rPr lang="zh-CN" altLang="en-US" sz="1600" dirty="0"/>
              <a:t>针对云边端协同跨域分布式训练需求，突破跨域分布式训练关键技术，实现跨域分布式训练计算框架，支撑云边端环境中的模型训练任务</a:t>
            </a:r>
            <a:endParaRPr lang="zh-CN" altLang="en-US" sz="1600" dirty="0"/>
          </a:p>
          <a:p>
            <a:pPr marL="288290" indent="0" algn="just" fontAlgn="auto">
              <a:lnSpc>
                <a:spcPct val="120000"/>
              </a:lnSpc>
              <a:spcBef>
                <a:spcPts val="0"/>
              </a:spcBef>
              <a:spcAft>
                <a:spcPts val="600"/>
              </a:spcAft>
              <a:buFont typeface="Wingdings" panose="05000000000000000000" charset="0"/>
              <a:buNone/>
            </a:pPr>
            <a:endParaRPr lang="zh-CN" altLang="en-US" b="1" dirty="0"/>
          </a:p>
          <a:p>
            <a:pPr marL="285750" indent="-285750" algn="just" fontAlgn="auto">
              <a:lnSpc>
                <a:spcPct val="120000"/>
              </a:lnSpc>
              <a:spcBef>
                <a:spcPts val="0"/>
              </a:spcBef>
              <a:buFont typeface="Wingdings" panose="05000000000000000000" charset="0"/>
              <a:buChar char="Ø"/>
            </a:pPr>
            <a:r>
              <a:rPr lang="zh-CN" altLang="en-US" b="1" dirty="0"/>
              <a:t>主要优点：</a:t>
            </a:r>
            <a:endParaRPr lang="zh-CN" altLang="en-US" b="1" dirty="0"/>
          </a:p>
          <a:p>
            <a:pPr marL="288290" algn="just" fontAlgn="auto">
              <a:lnSpc>
                <a:spcPct val="120000"/>
              </a:lnSpc>
              <a:spcBef>
                <a:spcPts val="0"/>
              </a:spcBef>
              <a:spcAft>
                <a:spcPts val="600"/>
              </a:spcAft>
              <a:buClrTx/>
              <a:buSzTx/>
              <a:buFont typeface="Wingdings" panose="05000000000000000000" charset="0"/>
            </a:pPr>
            <a:r>
              <a:rPr lang="zh-CN" altLang="en-US" sz="1600" dirty="0"/>
              <a:t>① 合理分配计算任务，资源利用高</a:t>
            </a:r>
            <a:endParaRPr lang="zh-CN" altLang="en-US" sz="1600" dirty="0"/>
          </a:p>
          <a:p>
            <a:pPr marL="288290" algn="just" fontAlgn="auto">
              <a:lnSpc>
                <a:spcPct val="120000"/>
              </a:lnSpc>
              <a:spcBef>
                <a:spcPts val="0"/>
              </a:spcBef>
              <a:spcAft>
                <a:spcPts val="600"/>
              </a:spcAft>
              <a:buClrTx/>
              <a:buSzTx/>
              <a:buFont typeface="Wingdings" panose="05000000000000000000" charset="0"/>
            </a:pPr>
            <a:r>
              <a:rPr lang="zh-CN" altLang="en-US" sz="1600" dirty="0"/>
              <a:t>②</a:t>
            </a:r>
            <a:r>
              <a:rPr lang="en-US" altLang="zh-CN" sz="1600" dirty="0"/>
              <a:t> </a:t>
            </a:r>
            <a:r>
              <a:rPr lang="zh-CN" altLang="en-US" sz="1600" dirty="0"/>
              <a:t>计算通信最大重叠，通信速度快</a:t>
            </a:r>
            <a:endParaRPr lang="en-US" altLang="zh-CN" sz="1600" dirty="0"/>
          </a:p>
          <a:p>
            <a:pPr marL="288290" algn="just" fontAlgn="auto">
              <a:lnSpc>
                <a:spcPct val="120000"/>
              </a:lnSpc>
              <a:spcBef>
                <a:spcPts val="0"/>
              </a:spcBef>
              <a:spcAft>
                <a:spcPts val="600"/>
              </a:spcAft>
              <a:buClrTx/>
              <a:buSzTx/>
              <a:buFont typeface="Wingdings" panose="05000000000000000000" charset="0"/>
            </a:pPr>
            <a:r>
              <a:rPr lang="zh-CN" altLang="en-US" sz="1600" dirty="0"/>
              <a:t>③</a:t>
            </a:r>
            <a:r>
              <a:rPr lang="en-US" altLang="zh-CN" sz="1600" dirty="0"/>
              <a:t> </a:t>
            </a:r>
            <a:r>
              <a:rPr lang="zh-CN" altLang="en-US" sz="1600" dirty="0"/>
              <a:t>并行策略自动搜索，策略调整快</a:t>
            </a:r>
            <a:endParaRPr lang="zh-CN" altLang="en-US" sz="1600" dirty="0"/>
          </a:p>
          <a:p>
            <a:pPr marL="288290" algn="just" fontAlgn="auto">
              <a:lnSpc>
                <a:spcPct val="120000"/>
              </a:lnSpc>
              <a:spcBef>
                <a:spcPts val="0"/>
              </a:spcBef>
              <a:spcAft>
                <a:spcPts val="600"/>
              </a:spcAft>
              <a:buClrTx/>
              <a:buSzTx/>
              <a:buFont typeface="Wingdings" panose="05000000000000000000" charset="0"/>
            </a:pPr>
            <a:endParaRPr lang="zh-CN" altLang="en-US" b="1" dirty="0"/>
          </a:p>
          <a:p>
            <a:pPr marL="285750" indent="-285750" algn="just" fontAlgn="auto">
              <a:lnSpc>
                <a:spcPct val="120000"/>
              </a:lnSpc>
              <a:spcBef>
                <a:spcPts val="0"/>
              </a:spcBef>
              <a:buFont typeface="Wingdings" panose="05000000000000000000" charset="0"/>
              <a:buChar char="Ø"/>
            </a:pPr>
            <a:r>
              <a:rPr lang="zh-CN" altLang="en-US" b="1" dirty="0"/>
              <a:t>关键挑战：</a:t>
            </a:r>
            <a:endParaRPr lang="zh-CN" altLang="en-US" b="1" dirty="0"/>
          </a:p>
          <a:p>
            <a:pPr marL="288290" indent="0" algn="just" fontAlgn="auto">
              <a:lnSpc>
                <a:spcPct val="120000"/>
              </a:lnSpc>
              <a:spcBef>
                <a:spcPts val="0"/>
              </a:spcBef>
              <a:spcAft>
                <a:spcPts val="600"/>
              </a:spcAft>
              <a:buClrTx/>
              <a:buSzTx/>
              <a:buFont typeface="Wingdings" panose="05000000000000000000" charset="0"/>
              <a:buNone/>
            </a:pPr>
            <a:r>
              <a:rPr lang="zh-CN" altLang="en-US" sz="1600" dirty="0">
                <a:sym typeface="+mn-ea"/>
              </a:rPr>
              <a:t>① </a:t>
            </a:r>
            <a:r>
              <a:rPr lang="zh-CN" altLang="en-US" sz="1600" dirty="0"/>
              <a:t>充分地利用多样云边端异构计算资源</a:t>
            </a:r>
            <a:endParaRPr lang="zh-CN" altLang="en-US" sz="1600" dirty="0"/>
          </a:p>
          <a:p>
            <a:pPr marL="288290" indent="0" algn="just" fontAlgn="auto">
              <a:lnSpc>
                <a:spcPct val="120000"/>
              </a:lnSpc>
              <a:spcBef>
                <a:spcPts val="0"/>
              </a:spcBef>
              <a:spcAft>
                <a:spcPts val="600"/>
              </a:spcAft>
              <a:buClrTx/>
              <a:buSzTx/>
              <a:buFont typeface="Wingdings" panose="05000000000000000000" charset="0"/>
              <a:buNone/>
            </a:pPr>
            <a:r>
              <a:rPr lang="zh-CN" altLang="en-US" sz="1600" dirty="0">
                <a:sym typeface="+mn-ea"/>
              </a:rPr>
              <a:t>②</a:t>
            </a:r>
            <a:r>
              <a:rPr lang="en-US" altLang="zh-CN" sz="1600" dirty="0">
                <a:sym typeface="+mn-ea"/>
              </a:rPr>
              <a:t> </a:t>
            </a:r>
            <a:r>
              <a:rPr lang="zh-CN" altLang="en-US" sz="1600" dirty="0"/>
              <a:t>高效地实现云边端跨域节点快速通信</a:t>
            </a:r>
            <a:endParaRPr lang="zh-CN" altLang="en-US" sz="1600" dirty="0"/>
          </a:p>
          <a:p>
            <a:pPr marL="288290" indent="0" algn="just" fontAlgn="auto">
              <a:lnSpc>
                <a:spcPct val="120000"/>
              </a:lnSpc>
              <a:spcBef>
                <a:spcPts val="0"/>
              </a:spcBef>
              <a:spcAft>
                <a:spcPts val="600"/>
              </a:spcAft>
              <a:buClrTx/>
              <a:buSzTx/>
              <a:buFont typeface="Wingdings" panose="05000000000000000000" charset="0"/>
              <a:buNone/>
            </a:pPr>
            <a:r>
              <a:rPr lang="zh-CN" altLang="en-US" sz="1600" dirty="0">
                <a:sym typeface="+mn-ea"/>
              </a:rPr>
              <a:t>③</a:t>
            </a:r>
            <a:r>
              <a:rPr lang="en-US" altLang="zh-CN" sz="1600" dirty="0">
                <a:sym typeface="+mn-ea"/>
              </a:rPr>
              <a:t> </a:t>
            </a:r>
            <a:r>
              <a:rPr lang="zh-CN" altLang="en-US" sz="1600" dirty="0"/>
              <a:t>动态地生成云边端跨域训练并行策略</a:t>
            </a:r>
            <a:endParaRPr lang="zh-CN" altLang="en-US" sz="1600" dirty="0"/>
          </a:p>
        </p:txBody>
      </p:sp>
      <p:sp>
        <p:nvSpPr>
          <p:cNvPr id="7" name="矩形 6"/>
          <p:cNvSpPr/>
          <p:nvPr/>
        </p:nvSpPr>
        <p:spPr>
          <a:xfrm>
            <a:off x="389270" y="4074160"/>
            <a:ext cx="3566764" cy="255704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zh-CN" altLang="en-US" sz="1300" b="1" dirty="0">
                <a:solidFill>
                  <a:schemeClr val="tx1"/>
                </a:solidFill>
                <a:latin typeface="Times New Roman" panose="02020603050405020304" pitchFamily="18" charset="0"/>
                <a:ea typeface="SimSun" panose="02010600030101010101" pitchFamily="2" charset="-122"/>
              </a:rPr>
              <a:t>云边端协同跨域分布式训练框架</a:t>
            </a:r>
            <a:endParaRPr lang="zh-CN" altLang="en-US" sz="1300" b="1" dirty="0">
              <a:solidFill>
                <a:schemeClr val="tx1"/>
              </a:solidFill>
              <a:latin typeface="Times New Roman" panose="02020603050405020304" pitchFamily="18" charset="0"/>
              <a:ea typeface="SimSun" panose="02010600030101010101" pitchFamily="2" charset="-122"/>
            </a:endParaRPr>
          </a:p>
        </p:txBody>
      </p:sp>
      <p:sp>
        <p:nvSpPr>
          <p:cNvPr id="16" name="矩形 15"/>
          <p:cNvSpPr/>
          <p:nvPr/>
        </p:nvSpPr>
        <p:spPr>
          <a:xfrm>
            <a:off x="389270" y="1680616"/>
            <a:ext cx="3566764" cy="1860143"/>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zh-CN" altLang="en-US" sz="1300" b="1" dirty="0">
                <a:solidFill>
                  <a:schemeClr val="tx1"/>
                </a:solidFill>
                <a:latin typeface="Times New Roman" panose="02020603050405020304" pitchFamily="18" charset="0"/>
                <a:ea typeface="SimSun" panose="02010600030101010101" pitchFamily="2" charset="-122"/>
              </a:rPr>
              <a:t>面向云边端协同的跨域分布式训练场景</a:t>
            </a:r>
            <a:endParaRPr lang="zh-CN" altLang="en-US" sz="1300" b="1" dirty="0">
              <a:solidFill>
                <a:schemeClr val="tx1"/>
              </a:solidFill>
              <a:latin typeface="Times New Roman" panose="02020603050405020304" pitchFamily="18" charset="0"/>
              <a:ea typeface="SimSun" panose="02010600030101010101" pitchFamily="2" charset="-122"/>
            </a:endParaRPr>
          </a:p>
        </p:txBody>
      </p:sp>
      <p:sp>
        <p:nvSpPr>
          <p:cNvPr id="17" name="矩形 16"/>
          <p:cNvSpPr/>
          <p:nvPr/>
        </p:nvSpPr>
        <p:spPr>
          <a:xfrm>
            <a:off x="459952" y="6063890"/>
            <a:ext cx="3425400" cy="290515"/>
          </a:xfrm>
          <a:prstGeom prst="rect">
            <a:avLst/>
          </a:prstGeom>
          <a:solidFill>
            <a:srgbClr val="F57C6E">
              <a:alpha val="65000"/>
            </a:srgb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200" b="1" dirty="0">
                <a:solidFill>
                  <a:schemeClr val="tx1"/>
                </a:solidFill>
                <a:latin typeface="Times New Roman" panose="02020603050405020304" pitchFamily="18" charset="0"/>
                <a:ea typeface="SimSun" panose="02010600030101010101" pitchFamily="2" charset="-122"/>
              </a:rPr>
              <a:t>AI</a:t>
            </a:r>
            <a:r>
              <a:rPr lang="zh-CN" altLang="en-US" sz="1200" b="1" dirty="0">
                <a:solidFill>
                  <a:schemeClr val="tx1"/>
                </a:solidFill>
                <a:latin typeface="Times New Roman" panose="02020603050405020304" pitchFamily="18" charset="0"/>
                <a:ea typeface="SimSun" panose="02010600030101010101" pitchFamily="2" charset="-122"/>
              </a:rPr>
              <a:t>框架及基础软件栈</a:t>
            </a:r>
            <a:endParaRPr lang="zh-CN" altLang="en-US" sz="1200" b="1" dirty="0">
              <a:solidFill>
                <a:schemeClr val="tx1"/>
              </a:solidFill>
              <a:latin typeface="Times New Roman" panose="02020603050405020304" pitchFamily="18" charset="0"/>
              <a:ea typeface="SimSun" panose="02010600030101010101" pitchFamily="2" charset="-122"/>
            </a:endParaRPr>
          </a:p>
        </p:txBody>
      </p:sp>
      <p:sp>
        <p:nvSpPr>
          <p:cNvPr id="18" name="箭头: 上 17"/>
          <p:cNvSpPr/>
          <p:nvPr/>
        </p:nvSpPr>
        <p:spPr>
          <a:xfrm>
            <a:off x="1137920" y="3649980"/>
            <a:ext cx="452120" cy="314960"/>
          </a:xfrm>
          <a:prstGeom prst="upArrow">
            <a:avLst/>
          </a:prstGeom>
          <a:solidFill>
            <a:srgbClr val="F57C6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1748472" y="3545850"/>
            <a:ext cx="1914419" cy="523220"/>
          </a:xfrm>
          <a:prstGeom prst="rect">
            <a:avLst/>
          </a:prstGeom>
          <a:noFill/>
        </p:spPr>
        <p:txBody>
          <a:bodyPr wrap="square" rtlCol="0">
            <a:spAutoFit/>
          </a:bodyPr>
          <a:lstStyle/>
          <a:p>
            <a:pPr algn="ctr"/>
            <a:r>
              <a:rPr lang="zh-CN" altLang="en-US" sz="1400" b="1" dirty="0">
                <a:solidFill>
                  <a:srgbClr val="004578"/>
                </a:solidFill>
                <a:ea typeface="SimSun" panose="02010600030101010101" pitchFamily="2" charset="-122"/>
              </a:rPr>
              <a:t>充分高效的适配动态云边端协同场景</a:t>
            </a:r>
            <a:endParaRPr lang="zh-CN" altLang="en-US" sz="1400" b="1" dirty="0">
              <a:solidFill>
                <a:srgbClr val="004578"/>
              </a:solidFill>
              <a:ea typeface="SimSun" panose="02010600030101010101" pitchFamily="2" charset="-122"/>
            </a:endParaRPr>
          </a:p>
        </p:txBody>
      </p:sp>
      <p:sp>
        <p:nvSpPr>
          <p:cNvPr id="21" name="矩形 20"/>
          <p:cNvSpPr/>
          <p:nvPr/>
        </p:nvSpPr>
        <p:spPr>
          <a:xfrm>
            <a:off x="459952" y="5687557"/>
            <a:ext cx="2380206" cy="290515"/>
          </a:xfrm>
          <a:prstGeom prst="rect">
            <a:avLst/>
          </a:prstGeom>
          <a:solidFill>
            <a:srgbClr val="71B7ED">
              <a:alpha val="65000"/>
            </a:srgb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1200" b="1" dirty="0">
                <a:solidFill>
                  <a:schemeClr val="tx1"/>
                </a:solidFill>
                <a:latin typeface="Times New Roman" panose="02020603050405020304" pitchFamily="18" charset="0"/>
                <a:ea typeface="SimSun" panose="02010600030101010101" pitchFamily="2" charset="-122"/>
              </a:rPr>
              <a:t>分布式训练通信优化</a:t>
            </a:r>
            <a:endParaRPr lang="zh-CN" altLang="en-US" sz="1200" b="1" dirty="0">
              <a:solidFill>
                <a:schemeClr val="tx1"/>
              </a:solidFill>
              <a:latin typeface="Times New Roman" panose="02020603050405020304" pitchFamily="18" charset="0"/>
              <a:ea typeface="SimSun" panose="02010600030101010101" pitchFamily="2" charset="-122"/>
            </a:endParaRPr>
          </a:p>
        </p:txBody>
      </p:sp>
      <p:sp>
        <p:nvSpPr>
          <p:cNvPr id="22" name="矩形 21"/>
          <p:cNvSpPr/>
          <p:nvPr/>
        </p:nvSpPr>
        <p:spPr>
          <a:xfrm>
            <a:off x="2910840" y="5291632"/>
            <a:ext cx="974512" cy="686439"/>
          </a:xfrm>
          <a:prstGeom prst="rect">
            <a:avLst/>
          </a:prstGeom>
          <a:solidFill>
            <a:srgbClr val="71B7ED">
              <a:alpha val="65000"/>
            </a:srgb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1200" b="1" dirty="0">
                <a:solidFill>
                  <a:schemeClr val="tx1"/>
                </a:solidFill>
                <a:latin typeface="Times New Roman" panose="02020603050405020304" pitchFamily="18" charset="0"/>
                <a:ea typeface="SimSun" panose="02010600030101010101" pitchFamily="2" charset="-122"/>
              </a:rPr>
              <a:t>人工智能算子优化</a:t>
            </a:r>
            <a:endParaRPr lang="zh-CN" altLang="en-US" sz="1200" b="1" dirty="0">
              <a:solidFill>
                <a:schemeClr val="tx1"/>
              </a:solidFill>
              <a:latin typeface="Times New Roman" panose="02020603050405020304" pitchFamily="18" charset="0"/>
              <a:ea typeface="SimSun" panose="02010600030101010101" pitchFamily="2" charset="-122"/>
            </a:endParaRPr>
          </a:p>
        </p:txBody>
      </p:sp>
      <p:sp>
        <p:nvSpPr>
          <p:cNvPr id="23" name="矩形 22"/>
          <p:cNvSpPr/>
          <p:nvPr/>
        </p:nvSpPr>
        <p:spPr>
          <a:xfrm>
            <a:off x="460904" y="5291632"/>
            <a:ext cx="1169776" cy="290515"/>
          </a:xfrm>
          <a:prstGeom prst="rect">
            <a:avLst/>
          </a:prstGeom>
          <a:solidFill>
            <a:srgbClr val="71B7ED">
              <a:alpha val="65000"/>
            </a:srgb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1200" b="1" dirty="0">
                <a:solidFill>
                  <a:schemeClr val="tx1"/>
                </a:solidFill>
                <a:latin typeface="Times New Roman" panose="02020603050405020304" pitchFamily="18" charset="0"/>
                <a:ea typeface="SimSun" panose="02010600030101010101" pitchFamily="2" charset="-122"/>
              </a:rPr>
              <a:t>参数服务器训练</a:t>
            </a:r>
            <a:endParaRPr lang="zh-CN" altLang="en-US" sz="1200" b="1" dirty="0">
              <a:solidFill>
                <a:schemeClr val="tx1"/>
              </a:solidFill>
              <a:latin typeface="Times New Roman" panose="02020603050405020304" pitchFamily="18" charset="0"/>
              <a:ea typeface="SimSun" panose="02010600030101010101" pitchFamily="2" charset="-122"/>
            </a:endParaRPr>
          </a:p>
        </p:txBody>
      </p:sp>
      <p:sp>
        <p:nvSpPr>
          <p:cNvPr id="24" name="矩形 23"/>
          <p:cNvSpPr/>
          <p:nvPr/>
        </p:nvSpPr>
        <p:spPr>
          <a:xfrm>
            <a:off x="1670382" y="5291632"/>
            <a:ext cx="1169776" cy="290515"/>
          </a:xfrm>
          <a:prstGeom prst="rect">
            <a:avLst/>
          </a:prstGeom>
          <a:solidFill>
            <a:srgbClr val="71B7ED">
              <a:alpha val="65000"/>
            </a:srgb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1200" b="1" dirty="0">
                <a:solidFill>
                  <a:schemeClr val="tx1"/>
                </a:solidFill>
                <a:latin typeface="Times New Roman" panose="02020603050405020304" pitchFamily="18" charset="0"/>
                <a:ea typeface="SimSun" panose="02010600030101010101" pitchFamily="2" charset="-122"/>
              </a:rPr>
              <a:t>集合通信训练</a:t>
            </a:r>
            <a:endParaRPr lang="zh-CN" altLang="en-US" sz="1200" b="1" dirty="0">
              <a:solidFill>
                <a:schemeClr val="tx1"/>
              </a:solidFill>
              <a:latin typeface="Times New Roman" panose="02020603050405020304" pitchFamily="18" charset="0"/>
              <a:ea typeface="SimSun" panose="02010600030101010101" pitchFamily="2" charset="-122"/>
            </a:endParaRPr>
          </a:p>
        </p:txBody>
      </p:sp>
      <p:sp>
        <p:nvSpPr>
          <p:cNvPr id="25" name="矩形 24"/>
          <p:cNvSpPr/>
          <p:nvPr/>
        </p:nvSpPr>
        <p:spPr>
          <a:xfrm>
            <a:off x="459952" y="4933458"/>
            <a:ext cx="3425400" cy="290515"/>
          </a:xfrm>
          <a:prstGeom prst="rect">
            <a:avLst/>
          </a:prstGeom>
          <a:solidFill>
            <a:srgbClr val="84C3B7">
              <a:alpha val="65000"/>
            </a:srgb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1200" b="1" dirty="0">
                <a:solidFill>
                  <a:schemeClr val="tx1"/>
                </a:solidFill>
                <a:latin typeface="Times New Roman" panose="02020603050405020304" pitchFamily="18" charset="0"/>
                <a:ea typeface="SimSun" panose="02010600030101010101" pitchFamily="2" charset="-122"/>
              </a:rPr>
              <a:t>跨域并行</a:t>
            </a:r>
            <a:r>
              <a:rPr lang="en-US" altLang="zh-CN" sz="1200" b="1" dirty="0">
                <a:solidFill>
                  <a:schemeClr val="tx1"/>
                </a:solidFill>
                <a:latin typeface="Times New Roman" panose="02020603050405020304" pitchFamily="18" charset="0"/>
                <a:ea typeface="SimSun" panose="02010600030101010101" pitchFamily="2" charset="-122"/>
              </a:rPr>
              <a:t>Plans</a:t>
            </a:r>
            <a:r>
              <a:rPr lang="zh-CN" altLang="en-US" sz="1200" b="1" dirty="0">
                <a:solidFill>
                  <a:schemeClr val="tx1"/>
                </a:solidFill>
                <a:latin typeface="Times New Roman" panose="02020603050405020304" pitchFamily="18" charset="0"/>
                <a:ea typeface="SimSun" panose="02010600030101010101" pitchFamily="2" charset="-122"/>
              </a:rPr>
              <a:t>生成</a:t>
            </a:r>
            <a:endParaRPr lang="zh-CN" altLang="en-US" sz="1200" b="1" dirty="0">
              <a:solidFill>
                <a:schemeClr val="tx1"/>
              </a:solidFill>
              <a:latin typeface="Times New Roman" panose="02020603050405020304" pitchFamily="18" charset="0"/>
              <a:ea typeface="SimSun" panose="02010600030101010101" pitchFamily="2" charset="-122"/>
            </a:endParaRPr>
          </a:p>
        </p:txBody>
      </p:sp>
      <p:sp>
        <p:nvSpPr>
          <p:cNvPr id="26" name="矩形 25"/>
          <p:cNvSpPr/>
          <p:nvPr/>
        </p:nvSpPr>
        <p:spPr>
          <a:xfrm>
            <a:off x="460466" y="4557124"/>
            <a:ext cx="3425400" cy="290515"/>
          </a:xfrm>
          <a:prstGeom prst="rect">
            <a:avLst/>
          </a:prstGeom>
          <a:solidFill>
            <a:srgbClr val="84C3B7">
              <a:alpha val="65000"/>
            </a:srgb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1200" b="1" dirty="0">
                <a:solidFill>
                  <a:schemeClr val="tx1"/>
                </a:solidFill>
                <a:latin typeface="Times New Roman" panose="02020603050405020304" pitchFamily="18" charset="0"/>
                <a:ea typeface="SimSun" panose="02010600030101010101" pitchFamily="2" charset="-122"/>
              </a:rPr>
              <a:t>跨域环境优化策略</a:t>
            </a:r>
            <a:endParaRPr lang="zh-CN" altLang="en-US" sz="1200" b="1" dirty="0">
              <a:solidFill>
                <a:schemeClr val="tx1"/>
              </a:solidFill>
              <a:latin typeface="Times New Roman" panose="02020603050405020304" pitchFamily="18" charset="0"/>
              <a:ea typeface="SimSun" panose="02010600030101010101" pitchFamily="2" charset="-122"/>
            </a:endParaRPr>
          </a:p>
        </p:txBody>
      </p:sp>
      <p:sp>
        <p:nvSpPr>
          <p:cNvPr id="27" name="矩形 26"/>
          <p:cNvSpPr/>
          <p:nvPr/>
        </p:nvSpPr>
        <p:spPr>
          <a:xfrm>
            <a:off x="459952" y="4180075"/>
            <a:ext cx="1617768" cy="290515"/>
          </a:xfrm>
          <a:prstGeom prst="rect">
            <a:avLst/>
          </a:prstGeom>
          <a:solidFill>
            <a:srgbClr val="84C3B7">
              <a:alpha val="65000"/>
            </a:srgb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1200" b="1" dirty="0">
                <a:solidFill>
                  <a:schemeClr val="tx1"/>
                </a:solidFill>
                <a:latin typeface="Times New Roman" panose="02020603050405020304" pitchFamily="18" charset="0"/>
                <a:ea typeface="SimSun" panose="02010600030101010101" pitchFamily="2" charset="-122"/>
              </a:rPr>
              <a:t>跨域并行策略</a:t>
            </a:r>
            <a:endParaRPr lang="zh-CN" altLang="en-US" sz="1200" b="1" dirty="0">
              <a:solidFill>
                <a:schemeClr val="tx1"/>
              </a:solidFill>
              <a:latin typeface="Times New Roman" panose="02020603050405020304" pitchFamily="18" charset="0"/>
              <a:ea typeface="SimSun" panose="02010600030101010101" pitchFamily="2" charset="-122"/>
            </a:endParaRPr>
          </a:p>
        </p:txBody>
      </p:sp>
      <p:sp>
        <p:nvSpPr>
          <p:cNvPr id="28" name="矩形 27"/>
          <p:cNvSpPr/>
          <p:nvPr/>
        </p:nvSpPr>
        <p:spPr>
          <a:xfrm>
            <a:off x="2267584" y="4180075"/>
            <a:ext cx="1617768" cy="290515"/>
          </a:xfrm>
          <a:prstGeom prst="rect">
            <a:avLst/>
          </a:prstGeom>
          <a:solidFill>
            <a:srgbClr val="84C3B7">
              <a:alpha val="65000"/>
            </a:srgb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1200" b="1" dirty="0">
                <a:solidFill>
                  <a:schemeClr val="tx1"/>
                </a:solidFill>
                <a:latin typeface="Times New Roman" panose="02020603050405020304" pitchFamily="18" charset="0"/>
                <a:ea typeface="SimSun" panose="02010600030101010101" pitchFamily="2" charset="-122"/>
              </a:rPr>
              <a:t>单机优化策略</a:t>
            </a:r>
            <a:endParaRPr lang="zh-CN" altLang="en-US" sz="1200" b="1" dirty="0">
              <a:solidFill>
                <a:schemeClr val="tx1"/>
              </a:solidFill>
              <a:latin typeface="Times New Roman" panose="02020603050405020304" pitchFamily="18" charset="0"/>
              <a:ea typeface="SimSun" panose="02010600030101010101" pitchFamily="2" charset="-122"/>
            </a:endParaRPr>
          </a:p>
        </p:txBody>
      </p:sp>
      <p:pic>
        <p:nvPicPr>
          <p:cNvPr id="2052" name="Picture 4" descr="什么是边缘计算? 边缘计算和云计算的区别是什么? - 阿里云知识库"/>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446" y="1745005"/>
            <a:ext cx="2590650" cy="150221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3"/>
    </p:custData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1704954"/>
          </a:xfrm>
          <a:prstGeom prst="rect">
            <a:avLst/>
          </a:prstGeom>
          <a:noFill/>
        </p:spPr>
        <p:txBody>
          <a:bodyPr wrap="square" rtlCol="0">
            <a:spAutoFit/>
          </a:bodyPr>
          <a:lstStyle/>
          <a:p>
            <a:pPr indent="0" algn="just" fontAlgn="auto">
              <a:lnSpc>
                <a:spcPct val="150000"/>
              </a:lnSpc>
              <a:spcBef>
                <a:spcPts val="0"/>
              </a:spcBef>
              <a:spcAft>
                <a:spcPts val="600"/>
              </a:spcAft>
            </a:pPr>
            <a:r>
              <a:rPr lang="zh-CN" altLang="en-US" dirty="0"/>
              <a:t>云边端计算环境是服务国家关键领域数智化转型的重要基础设施，支撑了电网、交通、制造等关键领域的发展，已经成为了全球范围内的研究热点和竞争焦点。近年来，随着深度学习模型的发展，</a:t>
            </a:r>
            <a:r>
              <a:rPr lang="zh-CN" altLang="en-US" b="1" dirty="0"/>
              <a:t>云边端场景下的智能化水平出现了跨越式提升</a:t>
            </a:r>
            <a:r>
              <a:rPr lang="zh-CN" altLang="en-US" dirty="0"/>
              <a:t>；深度学习模型被广泛的应用于环境感知、故障检测、智能巡视、状态预测等关键重要场景。</a:t>
            </a:r>
            <a:endParaRPr lang="zh-CN" altLang="en-US" dirty="0"/>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12" name="组合 11"/>
          <p:cNvGrpSpPr/>
          <p:nvPr/>
        </p:nvGrpSpPr>
        <p:grpSpPr>
          <a:xfrm>
            <a:off x="278893" y="3058542"/>
            <a:ext cx="4144910" cy="3373726"/>
            <a:chOff x="278893" y="3058542"/>
            <a:chExt cx="4144910" cy="3373726"/>
          </a:xfrm>
        </p:grpSpPr>
        <p:pic>
          <p:nvPicPr>
            <p:cNvPr id="1026" name="Picture 2" descr="中国通号智能巡检机器人保障高铁安全运营_手机新浪网"/>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a:stretch>
              <a:fillRect/>
            </a:stretch>
          </p:blipFill>
          <p:spPr bwMode="auto">
            <a:xfrm>
              <a:off x="280035" y="3060065"/>
              <a:ext cx="2005965" cy="130887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8" name="Picture 4" descr="全球智能制造发展现状及前景预测工业机器人引领行业发展- 智能制造- 创新助理"/>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0991" y="3058542"/>
              <a:ext cx="1992812"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descr="智慧交通、智慧運輸、智慧交通系統、智慧運輸系統- 大眾電腦FIC"/>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2429769" y="4770466"/>
              <a:ext cx="1992812"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2" name="Picture 8" descr="小鹏推出第二代智能驾驶辅助系统，欲摆脱高精地图限制"/>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8893" y="4770466"/>
              <a:ext cx="2005200"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728684" y="4356309"/>
              <a:ext cx="1115153" cy="369332"/>
            </a:xfrm>
            <a:prstGeom prst="rect">
              <a:avLst/>
            </a:prstGeom>
            <a:noFill/>
          </p:spPr>
          <p:txBody>
            <a:bodyPr wrap="square" rtlCol="0">
              <a:spAutoFit/>
            </a:bodyPr>
            <a:lstStyle/>
            <a:p>
              <a:pPr indent="0" algn="ctr" fontAlgn="auto">
                <a:spcBef>
                  <a:spcPts val="0"/>
                </a:spcBef>
              </a:pPr>
              <a:r>
                <a:rPr lang="zh-CN" altLang="en-US" b="1" dirty="0"/>
                <a:t>智能电网</a:t>
              </a:r>
              <a:endParaRPr lang="zh-CN" altLang="en-US" b="1" dirty="0"/>
            </a:p>
          </p:txBody>
        </p:sp>
        <p:sp>
          <p:nvSpPr>
            <p:cNvPr id="8" name="文本框 7"/>
            <p:cNvSpPr txBox="1"/>
            <p:nvPr/>
          </p:nvSpPr>
          <p:spPr>
            <a:xfrm>
              <a:off x="2868598" y="4368942"/>
              <a:ext cx="1115153" cy="369332"/>
            </a:xfrm>
            <a:prstGeom prst="rect">
              <a:avLst/>
            </a:prstGeom>
            <a:noFill/>
          </p:spPr>
          <p:txBody>
            <a:bodyPr wrap="square" rtlCol="0">
              <a:spAutoFit/>
            </a:bodyPr>
            <a:lstStyle/>
            <a:p>
              <a:pPr indent="0" algn="ctr" fontAlgn="auto">
                <a:spcBef>
                  <a:spcPts val="0"/>
                </a:spcBef>
              </a:pPr>
              <a:r>
                <a:rPr lang="zh-CN" altLang="en-US" b="1" dirty="0"/>
                <a:t>智能制造</a:t>
              </a:r>
              <a:endParaRPr lang="zh-CN" altLang="en-US" b="1" dirty="0"/>
            </a:p>
          </p:txBody>
        </p:sp>
        <p:sp>
          <p:nvSpPr>
            <p:cNvPr id="9" name="文本框 8"/>
            <p:cNvSpPr txBox="1"/>
            <p:nvPr/>
          </p:nvSpPr>
          <p:spPr>
            <a:xfrm>
              <a:off x="723916" y="6062936"/>
              <a:ext cx="1115153" cy="369332"/>
            </a:xfrm>
            <a:prstGeom prst="rect">
              <a:avLst/>
            </a:prstGeom>
            <a:noFill/>
          </p:spPr>
          <p:txBody>
            <a:bodyPr wrap="square" rtlCol="0">
              <a:spAutoFit/>
            </a:bodyPr>
            <a:lstStyle/>
            <a:p>
              <a:pPr indent="0" algn="ctr" fontAlgn="auto">
                <a:spcBef>
                  <a:spcPts val="0"/>
                </a:spcBef>
              </a:pPr>
              <a:r>
                <a:rPr lang="zh-CN" altLang="en-US" b="1" dirty="0"/>
                <a:t>智能驾驶</a:t>
              </a:r>
              <a:endParaRPr lang="zh-CN" altLang="en-US" b="1" dirty="0"/>
            </a:p>
          </p:txBody>
        </p:sp>
        <p:sp>
          <p:nvSpPr>
            <p:cNvPr id="10" name="文本框 9"/>
            <p:cNvSpPr txBox="1"/>
            <p:nvPr/>
          </p:nvSpPr>
          <p:spPr>
            <a:xfrm>
              <a:off x="2868598" y="6056767"/>
              <a:ext cx="1115153" cy="369332"/>
            </a:xfrm>
            <a:prstGeom prst="rect">
              <a:avLst/>
            </a:prstGeom>
            <a:noFill/>
          </p:spPr>
          <p:txBody>
            <a:bodyPr wrap="square" rtlCol="0">
              <a:spAutoFit/>
            </a:bodyPr>
            <a:lstStyle/>
            <a:p>
              <a:pPr indent="0" algn="ctr" fontAlgn="auto">
                <a:spcBef>
                  <a:spcPts val="0"/>
                </a:spcBef>
              </a:pPr>
              <a:r>
                <a:rPr lang="zh-CN" altLang="en-US" b="1" dirty="0"/>
                <a:t>智慧交通</a:t>
              </a:r>
              <a:endParaRPr lang="zh-CN" altLang="en-US" b="1" dirty="0"/>
            </a:p>
          </p:txBody>
        </p:sp>
      </p:grpSp>
      <p:graphicFrame>
        <p:nvGraphicFramePr>
          <p:cNvPr id="11" name="表格 10"/>
          <p:cNvGraphicFramePr>
            <a:graphicFrameLocks noGrp="1"/>
          </p:cNvGraphicFramePr>
          <p:nvPr/>
        </p:nvGraphicFramePr>
        <p:xfrm>
          <a:off x="4674282" y="2995787"/>
          <a:ext cx="4232275" cy="336755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19694"/>
                <a:gridCol w="3312581"/>
              </a:tblGrid>
              <a:tr h="428226">
                <a:tc>
                  <a:txBody>
                    <a:bodyPr/>
                    <a:lstStyle/>
                    <a:p>
                      <a:pPr algn="ctr">
                        <a:buNone/>
                      </a:pPr>
                      <a:r>
                        <a:rPr lang="zh-CN" altLang="en-US" sz="1400" baseline="0" dirty="0">
                          <a:latin typeface="Times New Roman" panose="02020603050405020304" pitchFamily="18" charset="0"/>
                        </a:rPr>
                        <a:t>国家地区</a:t>
                      </a:r>
                      <a:endParaRPr lang="zh-CN" altLang="en-US" sz="1400" baseline="0" dirty="0">
                        <a:latin typeface="Times New Roman" panose="02020603050405020304" pitchFamily="18" charset="0"/>
                      </a:endParaRPr>
                    </a:p>
                  </a:txBody>
                  <a:tcPr anchor="ctr">
                    <a:solidFill>
                      <a:srgbClr val="004578"/>
                    </a:solidFill>
                  </a:tcPr>
                </a:tc>
                <a:tc>
                  <a:txBody>
                    <a:bodyPr/>
                    <a:lstStyle/>
                    <a:p>
                      <a:pPr algn="ctr">
                        <a:buNone/>
                      </a:pPr>
                      <a:r>
                        <a:rPr lang="zh-CN" altLang="en-US" sz="1400" baseline="0" dirty="0">
                          <a:latin typeface="Times New Roman" panose="02020603050405020304" pitchFamily="18" charset="0"/>
                        </a:rPr>
                        <a:t>政策法规</a:t>
                      </a:r>
                      <a:endParaRPr lang="zh-CN" altLang="en-US" sz="1400" baseline="0" dirty="0">
                        <a:latin typeface="Times New Roman" panose="02020603050405020304" pitchFamily="18" charset="0"/>
                      </a:endParaRPr>
                    </a:p>
                  </a:txBody>
                  <a:tcPr anchor="ctr">
                    <a:solidFill>
                      <a:srgbClr val="004578"/>
                    </a:solidFill>
                  </a:tcPr>
                </a:tc>
              </a:tr>
              <a:tr h="543137">
                <a:tc>
                  <a:txBody>
                    <a:bodyPr/>
                    <a:lstStyle/>
                    <a:p>
                      <a:pPr algn="ctr">
                        <a:buNone/>
                      </a:pPr>
                      <a:r>
                        <a:rPr lang="zh-CN" altLang="en-US" sz="1400" baseline="0" dirty="0">
                          <a:latin typeface="Times New Roman" panose="02020603050405020304" pitchFamily="18" charset="0"/>
                        </a:rPr>
                        <a:t>美国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引领未来先进计算生态系统：战略计划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将人工智能、边缘计算等列为重点</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欧盟</a:t>
                      </a:r>
                      <a:endParaRPr lang="zh-CN" altLang="en-US" sz="1400" baseline="0" dirty="0">
                        <a:latin typeface="Times New Roman" panose="02020603050405020304" pitchFamily="18" charset="0"/>
                      </a:endParaRPr>
                    </a:p>
                  </a:txBody>
                  <a:tcPr anchor="ctr"/>
                </a:tc>
                <a:tc>
                  <a:txBody>
                    <a:bodyPr/>
                    <a:lstStyle/>
                    <a:p>
                      <a:pPr algn="just">
                        <a:buNone/>
                      </a:pPr>
                      <a:r>
                        <a:rPr lang="zh-CN" altLang="en-US" sz="1400" baseline="0" dirty="0">
                          <a:latin typeface="Times New Roman" panose="02020603050405020304" pitchFamily="18" charset="0"/>
                        </a:rPr>
                        <a:t>“欧洲共同利益重要计划”批准</a:t>
                      </a:r>
                      <a:r>
                        <a:rPr lang="en-US" altLang="zh-CN" sz="1400" baseline="0" dirty="0">
                          <a:latin typeface="Times New Roman" panose="02020603050405020304" pitchFamily="18" charset="0"/>
                        </a:rPr>
                        <a:t>15</a:t>
                      </a:r>
                      <a:r>
                        <a:rPr lang="zh-CN" altLang="en-US" sz="1400" baseline="0" dirty="0">
                          <a:latin typeface="Times New Roman" panose="02020603050405020304" pitchFamily="18" charset="0"/>
                        </a:rPr>
                        <a:t>亿欧元发展边缘计算、云边端协同技术</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日本</a:t>
                      </a:r>
                      <a:endParaRPr lang="zh-CN" altLang="en-US" sz="1400" baseline="0" dirty="0">
                        <a:latin typeface="Times New Roman" panose="02020603050405020304" pitchFamily="18" charset="0"/>
                      </a:endParaRPr>
                    </a:p>
                  </a:txBody>
                  <a:tcPr anchor="ctr"/>
                </a:tc>
                <a:tc>
                  <a:txBody>
                    <a:bodyPr/>
                    <a:lstStyle/>
                    <a:p>
                      <a:pPr algn="just">
                        <a:buNone/>
                      </a:pPr>
                      <a:r>
                        <a:rPr lang="zh-CN" altLang="en-US" sz="1400" baseline="0" dirty="0">
                          <a:latin typeface="Times New Roman" panose="02020603050405020304" pitchFamily="18" charset="0"/>
                        </a:rPr>
                        <a:t>发布“社会</a:t>
                      </a:r>
                      <a:r>
                        <a:rPr lang="en-US" altLang="zh-CN" sz="1400" baseline="0" dirty="0">
                          <a:latin typeface="Times New Roman" panose="02020603050405020304" pitchFamily="18" charset="0"/>
                        </a:rPr>
                        <a:t>5.0</a:t>
                      </a:r>
                      <a:r>
                        <a:rPr lang="zh-CN" altLang="en-US" sz="1400" baseline="0" dirty="0">
                          <a:latin typeface="Times New Roman" panose="02020603050405020304" pitchFamily="18" charset="0"/>
                        </a:rPr>
                        <a:t>”发展计划，将人工智能、边缘计算列为必须优先发展的领域</a:t>
                      </a:r>
                      <a:endParaRPr lang="zh-CN" altLang="en-US" sz="1400" baseline="0" dirty="0">
                        <a:latin typeface="Times New Roman" panose="02020603050405020304" pitchFamily="18" charset="0"/>
                      </a:endParaRPr>
                    </a:p>
                  </a:txBody>
                  <a:tcPr anchor="ctr"/>
                </a:tc>
              </a:tr>
              <a:tr h="766782">
                <a:tc>
                  <a:txBody>
                    <a:bodyPr/>
                    <a:lstStyle/>
                    <a:p>
                      <a:pPr algn="ctr">
                        <a:buNone/>
                      </a:pPr>
                      <a:r>
                        <a:rPr lang="zh-CN" altLang="en-US" sz="1400" baseline="0" dirty="0">
                          <a:latin typeface="Times New Roman" panose="02020603050405020304" pitchFamily="18" charset="0"/>
                        </a:rPr>
                        <a:t>中国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十四五”数字经济发展规划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明确提出要发展边缘计算、云边端协同、人工智能技术，提出重点领域转型升级</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中国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数字中国建设整体布局规划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提出引导云计算中心、边缘计算中心合理规划</a:t>
                      </a:r>
                      <a:endParaRPr lang="zh-CN" altLang="en-US" sz="1400" baseline="0" dirty="0">
                        <a:latin typeface="Times New Roman" panose="02020603050405020304" pitchFamily="18" charset="0"/>
                      </a:endParaRPr>
                    </a:p>
                  </a:txBody>
                  <a:tcPr anchor="ctr"/>
                </a:tc>
              </a:tr>
            </a:tbl>
          </a:graphicData>
        </a:graphic>
      </p:graphicFrame>
    </p:spTree>
    <p:custDataLst>
      <p:tags r:id="rId5"/>
    </p:custData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873957"/>
          </a:xfrm>
          <a:prstGeom prst="rect">
            <a:avLst/>
          </a:prstGeom>
          <a:noFill/>
        </p:spPr>
        <p:txBody>
          <a:bodyPr wrap="square" rtlCol="0">
            <a:spAutoFit/>
          </a:bodyPr>
          <a:lstStyle/>
          <a:p>
            <a:pPr indent="0" algn="just" fontAlgn="auto">
              <a:lnSpc>
                <a:spcPct val="150000"/>
              </a:lnSpc>
              <a:spcBef>
                <a:spcPts val="0"/>
              </a:spcBef>
              <a:spcAft>
                <a:spcPts val="600"/>
              </a:spcAft>
            </a:pPr>
            <a:r>
              <a:rPr lang="zh-CN" altLang="en-US" dirty="0">
                <a:sym typeface="+mn-ea"/>
              </a:rPr>
              <a:t>在云边端协同的跨域分布式模型训练场景下，模型训练任务运行于动态、异构的跨域节点中，呈现出</a:t>
            </a:r>
            <a:r>
              <a:rPr lang="zh-CN" altLang="en-US" b="1" dirty="0">
                <a:sym typeface="+mn-ea"/>
              </a:rPr>
              <a:t>节点异构性强、跨域通信成本高、并行策略动态性强</a:t>
            </a:r>
            <a:r>
              <a:rPr lang="zh-CN" altLang="en-US" dirty="0">
                <a:sym typeface="+mn-ea"/>
              </a:rPr>
              <a:t>的新特征。</a:t>
            </a:r>
            <a:endParaRPr lang="zh-CN" altLang="en-US" dirty="0">
              <a:sym typeface="+mn-ea"/>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矩形 4"/>
          <p:cNvSpPr/>
          <p:nvPr/>
        </p:nvSpPr>
        <p:spPr>
          <a:xfrm>
            <a:off x="832485" y="1861185"/>
            <a:ext cx="7479665" cy="423545"/>
          </a:xfrm>
          <a:prstGeom prst="rect">
            <a:avLst/>
          </a:prstGeom>
          <a:solidFill>
            <a:schemeClr val="bg1"/>
          </a:solidFill>
          <a:ln>
            <a:solidFill>
              <a:schemeClr val="tx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dirty="0">
                <a:solidFill>
                  <a:schemeClr val="tx1"/>
                </a:solidFill>
                <a:sym typeface="+mn-ea"/>
              </a:rPr>
              <a:t>面向云边端协同的跨域分布式训练场景</a:t>
            </a:r>
            <a:endParaRPr lang="zh-CN" altLang="en-US" sz="2000" b="1" dirty="0">
              <a:solidFill>
                <a:schemeClr val="tx1"/>
              </a:solidFill>
              <a:sym typeface="+mn-ea"/>
            </a:endParaRPr>
          </a:p>
        </p:txBody>
      </p:sp>
      <p:sp>
        <p:nvSpPr>
          <p:cNvPr id="6" name="矩形 5"/>
          <p:cNvSpPr/>
          <p:nvPr>
            <p:custDataLst>
              <p:tags r:id="rId1"/>
            </p:custDataLst>
          </p:nvPr>
        </p:nvSpPr>
        <p:spPr>
          <a:xfrm>
            <a:off x="831850" y="4266565"/>
            <a:ext cx="3600000" cy="676800"/>
          </a:xfrm>
          <a:prstGeom prst="rect">
            <a:avLst/>
          </a:prstGeom>
          <a:solidFill>
            <a:srgbClr val="145396"/>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sym typeface="+mn-ea"/>
              </a:rPr>
              <a:t>特征</a:t>
            </a:r>
            <a:r>
              <a:rPr lang="en-US" altLang="zh-CN" sz="1600" b="1" dirty="0">
                <a:sym typeface="+mn-ea"/>
              </a:rPr>
              <a:t> 2</a:t>
            </a:r>
            <a:r>
              <a:rPr lang="zh-CN" altLang="en-US" sz="1600" b="1" dirty="0">
                <a:sym typeface="+mn-ea"/>
              </a:rPr>
              <a:t>：云边端跨域节点之间的</a:t>
            </a:r>
            <a:endParaRPr lang="en-US" altLang="zh-CN" sz="1600" b="1" dirty="0">
              <a:sym typeface="+mn-ea"/>
            </a:endParaRPr>
          </a:p>
          <a:p>
            <a:pPr algn="ctr"/>
            <a:r>
              <a:rPr lang="zh-CN" altLang="en-US" sz="1600" b="1" dirty="0">
                <a:sym typeface="+mn-ea"/>
              </a:rPr>
              <a:t>通信成本高</a:t>
            </a:r>
            <a:endParaRPr lang="zh-CN" altLang="en-US" sz="1600" b="1" dirty="0">
              <a:sym typeface="+mn-ea"/>
            </a:endParaRPr>
          </a:p>
        </p:txBody>
      </p:sp>
      <p:sp>
        <p:nvSpPr>
          <p:cNvPr id="7" name="矩形 6"/>
          <p:cNvSpPr/>
          <p:nvPr>
            <p:custDataLst>
              <p:tags r:id="rId2"/>
            </p:custDataLst>
          </p:nvPr>
        </p:nvSpPr>
        <p:spPr>
          <a:xfrm>
            <a:off x="4712335" y="4266565"/>
            <a:ext cx="3600000" cy="676800"/>
          </a:xfrm>
          <a:prstGeom prst="rect">
            <a:avLst/>
          </a:prstGeom>
          <a:solidFill>
            <a:srgbClr val="145396"/>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sym typeface="+mn-ea"/>
              </a:rPr>
              <a:t>特征</a:t>
            </a:r>
            <a:r>
              <a:rPr lang="en-US" altLang="zh-CN" sz="1600" b="1" dirty="0">
                <a:sym typeface="+mn-ea"/>
              </a:rPr>
              <a:t> 3</a:t>
            </a:r>
            <a:r>
              <a:rPr lang="zh-CN" altLang="en-US" sz="1600" b="1" dirty="0">
                <a:sym typeface="+mn-ea"/>
              </a:rPr>
              <a:t>：云边端跨域并行训练策略</a:t>
            </a:r>
            <a:endParaRPr lang="en-US" altLang="zh-CN" sz="1600" b="1" dirty="0">
              <a:sym typeface="+mn-ea"/>
            </a:endParaRPr>
          </a:p>
          <a:p>
            <a:pPr algn="ctr"/>
            <a:r>
              <a:rPr lang="zh-CN" altLang="en-US" sz="1600" b="1" dirty="0">
                <a:sym typeface="+mn-ea"/>
              </a:rPr>
              <a:t>动态性高</a:t>
            </a:r>
            <a:endParaRPr lang="zh-CN" altLang="en-US" sz="1600" b="1" dirty="0">
              <a:sym typeface="+mn-ea"/>
            </a:endParaRPr>
          </a:p>
        </p:txBody>
      </p:sp>
      <p:sp>
        <p:nvSpPr>
          <p:cNvPr id="8" name="矩形 7"/>
          <p:cNvSpPr/>
          <p:nvPr>
            <p:custDataLst>
              <p:tags r:id="rId3"/>
            </p:custDataLst>
          </p:nvPr>
        </p:nvSpPr>
        <p:spPr>
          <a:xfrm>
            <a:off x="831850" y="2372995"/>
            <a:ext cx="7480300" cy="675640"/>
          </a:xfrm>
          <a:prstGeom prst="rect">
            <a:avLst/>
          </a:prstGeom>
          <a:solidFill>
            <a:srgbClr val="145396"/>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sym typeface="+mn-ea"/>
              </a:rPr>
              <a:t>特征</a:t>
            </a:r>
            <a:r>
              <a:rPr lang="en-US" altLang="zh-CN" sz="1600" b="1" dirty="0">
                <a:sym typeface="+mn-ea"/>
              </a:rPr>
              <a:t> 1</a:t>
            </a:r>
            <a:r>
              <a:rPr lang="zh-CN" altLang="en-US" sz="1600" b="1" dirty="0">
                <a:sym typeface="+mn-ea"/>
              </a:rPr>
              <a:t>：云边端跨域智能计算硬件异构性强</a:t>
            </a:r>
            <a:endParaRPr lang="zh-CN" altLang="en-US" sz="1600" b="1" dirty="0">
              <a:sym typeface="+mn-ea"/>
            </a:endParaRPr>
          </a:p>
        </p:txBody>
      </p:sp>
      <p:sp>
        <p:nvSpPr>
          <p:cNvPr id="9" name="矩形 8"/>
          <p:cNvSpPr/>
          <p:nvPr>
            <p:custDataLst>
              <p:tags r:id="rId4"/>
            </p:custDataLst>
          </p:nvPr>
        </p:nvSpPr>
        <p:spPr>
          <a:xfrm>
            <a:off x="835410" y="3136900"/>
            <a:ext cx="7480800" cy="1041400"/>
          </a:xfrm>
          <a:prstGeom prst="rect">
            <a:avLst/>
          </a:prstGeom>
          <a:solidFill>
            <a:schemeClr val="bg1"/>
          </a:solidFill>
          <a:ln>
            <a:solidFill>
              <a:schemeClr val="tx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indent="0" algn="just" fontAlgn="auto">
              <a:lnSpc>
                <a:spcPct val="120000"/>
              </a:lnSpc>
            </a:pPr>
            <a:r>
              <a:rPr lang="zh-CN" altLang="en-US" sz="1600" dirty="0">
                <a:solidFill>
                  <a:schemeClr val="tx1"/>
                </a:solidFill>
                <a:sym typeface="+mn-ea"/>
              </a:rPr>
              <a:t>在云边端协同的跨域分布式训练场景中，模型训练任务经过拆分，将会运行于不同的异构云边端设备中，如</a:t>
            </a:r>
            <a:r>
              <a:rPr lang="en-US" altLang="zh-CN" sz="1600" dirty="0">
                <a:solidFill>
                  <a:schemeClr val="tx1"/>
                </a:solidFill>
                <a:sym typeface="+mn-ea"/>
              </a:rPr>
              <a:t>CPU</a:t>
            </a:r>
            <a:r>
              <a:rPr lang="zh-CN" altLang="en-US" sz="1600" dirty="0">
                <a:solidFill>
                  <a:schemeClr val="tx1"/>
                </a:solidFill>
                <a:sym typeface="+mn-ea"/>
              </a:rPr>
              <a:t>、</a:t>
            </a:r>
            <a:r>
              <a:rPr lang="en-US" altLang="zh-CN" sz="1600" dirty="0">
                <a:solidFill>
                  <a:schemeClr val="tx1"/>
                </a:solidFill>
                <a:sym typeface="+mn-ea"/>
              </a:rPr>
              <a:t>GPU</a:t>
            </a:r>
            <a:r>
              <a:rPr lang="zh-CN" altLang="en-US" sz="1600" dirty="0">
                <a:solidFill>
                  <a:schemeClr val="tx1"/>
                </a:solidFill>
                <a:sym typeface="+mn-ea"/>
              </a:rPr>
              <a:t>、</a:t>
            </a:r>
            <a:r>
              <a:rPr lang="en-US" altLang="zh-CN" sz="1600" dirty="0">
                <a:solidFill>
                  <a:schemeClr val="tx1"/>
                </a:solidFill>
                <a:sym typeface="+mn-ea"/>
              </a:rPr>
              <a:t>NPU</a:t>
            </a:r>
            <a:r>
              <a:rPr lang="zh-CN" altLang="en-US" sz="1600" dirty="0">
                <a:solidFill>
                  <a:schemeClr val="tx1"/>
                </a:solidFill>
                <a:sym typeface="+mn-ea"/>
              </a:rPr>
              <a:t>等。在进行跨域分布式计算时，需要综合考虑异构计算设备的特点和计算能力，以实现计算资源的综合利用。</a:t>
            </a:r>
            <a:endParaRPr lang="zh-CN" altLang="en-US" sz="1600" dirty="0">
              <a:solidFill>
                <a:schemeClr val="tx1"/>
              </a:solidFill>
              <a:sym typeface="+mn-ea"/>
            </a:endParaRPr>
          </a:p>
        </p:txBody>
      </p:sp>
      <p:sp>
        <p:nvSpPr>
          <p:cNvPr id="10" name="矩形 9"/>
          <p:cNvSpPr/>
          <p:nvPr>
            <p:custDataLst>
              <p:tags r:id="rId5"/>
            </p:custDataLst>
          </p:nvPr>
        </p:nvSpPr>
        <p:spPr>
          <a:xfrm>
            <a:off x="831215" y="5024120"/>
            <a:ext cx="3601085" cy="1518285"/>
          </a:xfrm>
          <a:prstGeom prst="rect">
            <a:avLst/>
          </a:prstGeom>
          <a:solidFill>
            <a:schemeClr val="bg1"/>
          </a:solidFill>
          <a:ln>
            <a:solidFill>
              <a:schemeClr val="tx1"/>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just">
              <a:lnSpc>
                <a:spcPct val="120000"/>
              </a:lnSpc>
              <a:buClrTx/>
              <a:buSzTx/>
              <a:buFontTx/>
            </a:pPr>
            <a:r>
              <a:rPr lang="zh-CN" altLang="en-US" sz="1600" dirty="0">
                <a:solidFill>
                  <a:schemeClr val="tx1"/>
                </a:solidFill>
                <a:sym typeface="+mn-ea"/>
              </a:rPr>
              <a:t>在云边端协同的跨域分布式训练场景下，跨域节点使用</a:t>
            </a:r>
            <a:r>
              <a:rPr lang="en-US" altLang="zh-CN" sz="1600" dirty="0">
                <a:solidFill>
                  <a:schemeClr val="tx1"/>
                </a:solidFill>
                <a:sym typeface="+mn-ea"/>
              </a:rPr>
              <a:t>5G</a:t>
            </a:r>
            <a:r>
              <a:rPr lang="zh-CN" altLang="en-US" sz="1600" dirty="0">
                <a:solidFill>
                  <a:schemeClr val="tx1"/>
                </a:solidFill>
                <a:sym typeface="+mn-ea"/>
              </a:rPr>
              <a:t>、以太网等无线或传统的互联方式，通信带宽和通信延迟都无法与数据中心内的高速网络相提并论，带来巨大的通信成本。</a:t>
            </a:r>
            <a:endParaRPr lang="zh-CN" altLang="en-US" sz="1600" dirty="0">
              <a:solidFill>
                <a:schemeClr val="tx1"/>
              </a:solidFill>
              <a:sym typeface="+mn-ea"/>
            </a:endParaRPr>
          </a:p>
        </p:txBody>
      </p:sp>
      <p:sp>
        <p:nvSpPr>
          <p:cNvPr id="11" name="矩形 10"/>
          <p:cNvSpPr/>
          <p:nvPr>
            <p:custDataLst>
              <p:tags r:id="rId6"/>
            </p:custDataLst>
          </p:nvPr>
        </p:nvSpPr>
        <p:spPr>
          <a:xfrm>
            <a:off x="4712335" y="5031740"/>
            <a:ext cx="3601085" cy="1518285"/>
          </a:xfrm>
          <a:prstGeom prst="rect">
            <a:avLst/>
          </a:prstGeom>
          <a:solidFill>
            <a:schemeClr val="bg1"/>
          </a:solidFill>
          <a:ln>
            <a:solidFill>
              <a:schemeClr val="tx1"/>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just">
              <a:lnSpc>
                <a:spcPct val="120000"/>
              </a:lnSpc>
              <a:buClrTx/>
              <a:buSzTx/>
              <a:buFontTx/>
            </a:pPr>
            <a:r>
              <a:rPr lang="zh-CN" altLang="en-US" sz="1600" dirty="0">
                <a:solidFill>
                  <a:schemeClr val="tx1"/>
                </a:solidFill>
                <a:sym typeface="+mn-ea"/>
              </a:rPr>
              <a:t>在云边端协同的跨域分布式训练场景下，跨域节点间互联情况可能发生改变，固定的分布式并行训练策略难以适应云边端计算环境的动态性，需要可调整、高动态的并行性策略支持</a:t>
            </a:r>
            <a:endParaRPr lang="zh-CN" altLang="en-US" sz="1600" dirty="0">
              <a:solidFill>
                <a:schemeClr val="tx1"/>
              </a:solidFill>
              <a:sym typeface="+mn-ea"/>
            </a:endParaRPr>
          </a:p>
        </p:txBody>
      </p:sp>
    </p:spTree>
    <p:custDataLst>
      <p:tags r:id="rId7"/>
    </p:custData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关键科学问题</a:t>
            </a:r>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8" name="矩形 17"/>
          <p:cNvSpPr/>
          <p:nvPr userDrawn="1">
            <p:custDataLst>
              <p:tags r:id="rId1"/>
            </p:custDataLst>
          </p:nvPr>
        </p:nvSpPr>
        <p:spPr>
          <a:xfrm>
            <a:off x="141605" y="1557655"/>
            <a:ext cx="8862060" cy="479552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1" name="矩形 10"/>
          <p:cNvSpPr/>
          <p:nvPr userDrawn="1">
            <p:custDataLst>
              <p:tags r:id="rId2"/>
            </p:custDataLst>
          </p:nvPr>
        </p:nvSpPr>
        <p:spPr>
          <a:xfrm>
            <a:off x="141605" y="1135380"/>
            <a:ext cx="8862060" cy="422275"/>
          </a:xfrm>
          <a:prstGeom prst="rect">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rPr>
              <a:t>面向云边端协同的跨域分布式训练场景的新特征、现有不足，导致的关键科学问题</a:t>
            </a:r>
            <a:endParaRPr lang="zh-CN" altLang="en-US" b="1"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3" name="矩形 12"/>
          <p:cNvSpPr/>
          <p:nvPr userDrawn="1">
            <p:custDataLst>
              <p:tags r:id="rId3"/>
            </p:custDataLst>
          </p:nvPr>
        </p:nvSpPr>
        <p:spPr>
          <a:xfrm>
            <a:off x="285382" y="1732175"/>
            <a:ext cx="2405451" cy="11520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云边端跨域智能计算硬件异构性强</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5" name="矩形 4"/>
          <p:cNvSpPr/>
          <p:nvPr userDrawn="1">
            <p:custDataLst>
              <p:tags r:id="rId4"/>
            </p:custDataLst>
          </p:nvPr>
        </p:nvSpPr>
        <p:spPr>
          <a:xfrm>
            <a:off x="141605" y="6353175"/>
            <a:ext cx="2851343" cy="422275"/>
          </a:xfrm>
          <a:prstGeom prst="rect">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rPr>
              <a:t>云边跨域微调新特征</a:t>
            </a:r>
            <a:endParaRPr lang="zh-CN" altLang="en-US" b="1"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6" name="矩形 5"/>
          <p:cNvSpPr/>
          <p:nvPr userDrawn="1">
            <p:custDataLst>
              <p:tags r:id="rId5"/>
            </p:custDataLst>
          </p:nvPr>
        </p:nvSpPr>
        <p:spPr>
          <a:xfrm>
            <a:off x="285382" y="3392760"/>
            <a:ext cx="2405451" cy="11520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云边端跨域节点之间的通信成本高</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7" name="矩形 6"/>
          <p:cNvSpPr/>
          <p:nvPr userDrawn="1">
            <p:custDataLst>
              <p:tags r:id="rId6"/>
            </p:custDataLst>
          </p:nvPr>
        </p:nvSpPr>
        <p:spPr>
          <a:xfrm>
            <a:off x="285382" y="5053285"/>
            <a:ext cx="2405451" cy="11520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云边端跨域并行训练策略动态性高</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8" name="矩形 7"/>
          <p:cNvSpPr/>
          <p:nvPr userDrawn="1">
            <p:custDataLst>
              <p:tags r:id="rId7"/>
            </p:custDataLst>
          </p:nvPr>
        </p:nvSpPr>
        <p:spPr>
          <a:xfrm>
            <a:off x="2992948" y="6353175"/>
            <a:ext cx="2943032" cy="422275"/>
          </a:xfrm>
          <a:prstGeom prst="rect">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zh-CN" altLang="en-US" b="1">
                <a:solidFill>
                  <a:srgbClr val="000000"/>
                </a:solidFill>
                <a:latin typeface="Microsoft YaHei" panose="020B0503020204020204" charset="-122"/>
                <a:ea typeface="Microsoft YaHei" panose="020B0503020204020204" charset="-122"/>
                <a:cs typeface="Microsoft YaHei" panose="020B0503020204020204" charset="-122"/>
                <a:sym typeface="+mn-ea"/>
              </a:rPr>
              <a:t>关键科学技术问题</a:t>
            </a:r>
            <a:endParaRPr lang="zh-CN" altLang="en-US" b="1">
              <a:solidFill>
                <a:srgbClr val="000000"/>
              </a:solidFill>
              <a:latin typeface="Microsoft YaHei" panose="020B0503020204020204" charset="-122"/>
              <a:ea typeface="Microsoft YaHei" panose="020B0503020204020204" charset="-122"/>
              <a:cs typeface="Microsoft YaHei" panose="020B0503020204020204" charset="-122"/>
              <a:sym typeface="+mn-ea"/>
            </a:endParaRPr>
          </a:p>
        </p:txBody>
      </p:sp>
      <p:sp>
        <p:nvSpPr>
          <p:cNvPr id="9" name="矩形 8"/>
          <p:cNvSpPr/>
          <p:nvPr userDrawn="1">
            <p:custDataLst>
              <p:tags r:id="rId8"/>
            </p:custDataLst>
          </p:nvPr>
        </p:nvSpPr>
        <p:spPr>
          <a:xfrm>
            <a:off x="5935980" y="6353175"/>
            <a:ext cx="3067685" cy="422275"/>
          </a:xfrm>
          <a:prstGeom prst="rect">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zh-CN" altLang="en-US" b="1">
                <a:solidFill>
                  <a:srgbClr val="000000"/>
                </a:solidFill>
                <a:latin typeface="Microsoft YaHei" panose="020B0503020204020204" charset="-122"/>
                <a:ea typeface="Microsoft YaHei" panose="020B0503020204020204" charset="-122"/>
                <a:cs typeface="Microsoft YaHei" panose="020B0503020204020204" charset="-122"/>
                <a:sym typeface="+mn-ea"/>
              </a:rPr>
              <a:t>现有分布式计算框架不足</a:t>
            </a:r>
            <a:endParaRPr lang="zh-CN" altLang="en-US" b="1">
              <a:solidFill>
                <a:srgbClr val="000000"/>
              </a:solidFill>
              <a:latin typeface="Microsoft YaHei" panose="020B0503020204020204" charset="-122"/>
              <a:ea typeface="Microsoft YaHei" panose="020B0503020204020204" charset="-122"/>
              <a:cs typeface="Microsoft YaHei" panose="020B0503020204020204" charset="-122"/>
              <a:sym typeface="+mn-ea"/>
            </a:endParaRPr>
          </a:p>
        </p:txBody>
      </p:sp>
      <p:sp>
        <p:nvSpPr>
          <p:cNvPr id="10" name="矩形 9"/>
          <p:cNvSpPr/>
          <p:nvPr userDrawn="1">
            <p:custDataLst>
              <p:tags r:id="rId9"/>
            </p:custDataLst>
          </p:nvPr>
        </p:nvSpPr>
        <p:spPr>
          <a:xfrm>
            <a:off x="3265581" y="1732280"/>
            <a:ext cx="2334077" cy="115189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rPr>
              <a:t>如何充分地利用多样云边端异构计算资源</a:t>
            </a:r>
            <a:endParaRPr lang="zh-CN" altLang="en-US" b="1"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2" name="矩形 11"/>
          <p:cNvSpPr/>
          <p:nvPr userDrawn="1">
            <p:custDataLst>
              <p:tags r:id="rId10"/>
            </p:custDataLst>
          </p:nvPr>
        </p:nvSpPr>
        <p:spPr>
          <a:xfrm>
            <a:off x="3265334" y="3392805"/>
            <a:ext cx="2334077" cy="115189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rPr>
              <a:t>如何高效地实现云边端跨域节点快速通信</a:t>
            </a:r>
            <a:endPar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endParaRPr>
          </a:p>
        </p:txBody>
      </p:sp>
      <p:sp>
        <p:nvSpPr>
          <p:cNvPr id="14" name="矩形 13"/>
          <p:cNvSpPr/>
          <p:nvPr userDrawn="1">
            <p:custDataLst>
              <p:tags r:id="rId11"/>
            </p:custDataLst>
          </p:nvPr>
        </p:nvSpPr>
        <p:spPr>
          <a:xfrm>
            <a:off x="3265334" y="5053330"/>
            <a:ext cx="2334077" cy="115189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rPr>
              <a:t>如何动态地生成云边端跨域训练并行策略</a:t>
            </a:r>
            <a:endParaRPr lang="zh-CN" altLang="en-US" b="1" dirty="0">
              <a:solidFill>
                <a:srgbClr val="000000"/>
              </a:solidFill>
              <a:latin typeface="Microsoft YaHei" panose="020B0503020204020204" charset="-122"/>
              <a:ea typeface="Microsoft YaHei" panose="020B0503020204020204" charset="-122"/>
              <a:cs typeface="Microsoft YaHei" panose="020B0503020204020204" charset="-122"/>
              <a:sym typeface="+mn-ea"/>
            </a:endParaRPr>
          </a:p>
        </p:txBody>
      </p:sp>
      <p:sp>
        <p:nvSpPr>
          <p:cNvPr id="15" name="矩形 14"/>
          <p:cNvSpPr/>
          <p:nvPr userDrawn="1">
            <p:custDataLst>
              <p:tags r:id="rId12"/>
            </p:custDataLst>
          </p:nvPr>
        </p:nvSpPr>
        <p:spPr>
          <a:xfrm>
            <a:off x="6167367" y="1732175"/>
            <a:ext cx="2699385" cy="11520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现有异构训练技术针对单一模型、单一并行，难以充分利用资源，灵活性差</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6" name="矩形 15"/>
          <p:cNvSpPr/>
          <p:nvPr userDrawn="1">
            <p:custDataLst>
              <p:tags r:id="rId13"/>
            </p:custDataLst>
          </p:nvPr>
        </p:nvSpPr>
        <p:spPr>
          <a:xfrm>
            <a:off x="6166117" y="3392760"/>
            <a:ext cx="2700000" cy="11520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现有通信策略难以应对云边端带宽低、延迟高、重计算成本高的场景</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7" name="矩形 16"/>
          <p:cNvSpPr/>
          <p:nvPr userDrawn="1">
            <p:custDataLst>
              <p:tags r:id="rId14"/>
            </p:custDataLst>
          </p:nvPr>
        </p:nvSpPr>
        <p:spPr>
          <a:xfrm>
            <a:off x="6166117" y="5053285"/>
            <a:ext cx="2700000" cy="11520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r>
              <a:rPr lang="zh-CN" altLang="en-US" dirty="0">
                <a:solidFill>
                  <a:srgbClr val="000000"/>
                </a:solidFill>
                <a:latin typeface="Microsoft YaHei" panose="020B0503020204020204" charset="-122"/>
                <a:ea typeface="Microsoft YaHei" panose="020B0503020204020204" charset="-122"/>
                <a:cs typeface="Microsoft YaHei" panose="020B0503020204020204" charset="-122"/>
              </a:rPr>
              <a:t>现有并行策略生成技术有搜索时间长、计算资源消耗大、动态性不足的问题</a:t>
            </a:r>
            <a:endParaRPr lang="zh-CN" altLang="en-US" dirty="0">
              <a:solidFill>
                <a:srgbClr val="000000"/>
              </a:solidFill>
              <a:latin typeface="Microsoft YaHei" panose="020B0503020204020204" charset="-122"/>
              <a:ea typeface="Microsoft YaHei" panose="020B0503020204020204" charset="-122"/>
              <a:cs typeface="Microsoft YaHei" panose="020B0503020204020204" charset="-122"/>
            </a:endParaRPr>
          </a:p>
        </p:txBody>
      </p:sp>
      <p:sp>
        <p:nvSpPr>
          <p:cNvPr id="19" name="右箭头 18"/>
          <p:cNvSpPr/>
          <p:nvPr/>
        </p:nvSpPr>
        <p:spPr>
          <a:xfrm>
            <a:off x="2741461" y="2120265"/>
            <a:ext cx="477520" cy="375920"/>
          </a:xfrm>
          <a:prstGeom prst="rightArrow">
            <a:avLst>
              <a:gd name="adj1" fmla="val 57209"/>
              <a:gd name="adj2" fmla="val 48648"/>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r>
              <a:rPr lang="zh-CN" altLang="en-US" sz="1400" b="1" dirty="0">
                <a:solidFill>
                  <a:schemeClr val="tx1"/>
                </a:solidFill>
              </a:rPr>
              <a:t>导致</a:t>
            </a:r>
            <a:endParaRPr lang="zh-CN" altLang="en-US" sz="1400" b="1" dirty="0">
              <a:solidFill>
                <a:schemeClr val="tx1"/>
              </a:solidFill>
            </a:endParaRPr>
          </a:p>
        </p:txBody>
      </p:sp>
      <p:sp>
        <p:nvSpPr>
          <p:cNvPr id="21" name="右箭头 20"/>
          <p:cNvSpPr/>
          <p:nvPr>
            <p:custDataLst>
              <p:tags r:id="rId15"/>
            </p:custDataLst>
          </p:nvPr>
        </p:nvSpPr>
        <p:spPr>
          <a:xfrm>
            <a:off x="2741461" y="3780155"/>
            <a:ext cx="477520" cy="375920"/>
          </a:xfrm>
          <a:prstGeom prst="rightArrow">
            <a:avLst>
              <a:gd name="adj1" fmla="val 57209"/>
              <a:gd name="adj2" fmla="val 48648"/>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r>
              <a:rPr lang="zh-CN" altLang="en-US" sz="1400" b="1">
                <a:solidFill>
                  <a:schemeClr val="tx1"/>
                </a:solidFill>
              </a:rPr>
              <a:t>导致</a:t>
            </a:r>
            <a:endParaRPr lang="zh-CN" altLang="en-US" sz="1400" b="1">
              <a:solidFill>
                <a:schemeClr val="tx1"/>
              </a:solidFill>
            </a:endParaRPr>
          </a:p>
        </p:txBody>
      </p:sp>
      <p:sp>
        <p:nvSpPr>
          <p:cNvPr id="22" name="右箭头 21"/>
          <p:cNvSpPr/>
          <p:nvPr>
            <p:custDataLst>
              <p:tags r:id="rId16"/>
            </p:custDataLst>
          </p:nvPr>
        </p:nvSpPr>
        <p:spPr>
          <a:xfrm>
            <a:off x="2741461" y="5440045"/>
            <a:ext cx="477520" cy="375920"/>
          </a:xfrm>
          <a:prstGeom prst="rightArrow">
            <a:avLst>
              <a:gd name="adj1" fmla="val 57209"/>
              <a:gd name="adj2" fmla="val 48648"/>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r>
              <a:rPr lang="zh-CN" altLang="en-US" sz="1400" b="1" dirty="0">
                <a:solidFill>
                  <a:schemeClr val="tx1"/>
                </a:solidFill>
              </a:rPr>
              <a:t>导致</a:t>
            </a:r>
            <a:endParaRPr lang="zh-CN" altLang="en-US" sz="1400" b="1" dirty="0">
              <a:solidFill>
                <a:schemeClr val="tx1"/>
              </a:solidFill>
            </a:endParaRPr>
          </a:p>
        </p:txBody>
      </p:sp>
      <p:sp>
        <p:nvSpPr>
          <p:cNvPr id="23" name="右箭头 22"/>
          <p:cNvSpPr/>
          <p:nvPr>
            <p:custDataLst>
              <p:tags r:id="rId17"/>
            </p:custDataLst>
          </p:nvPr>
        </p:nvSpPr>
        <p:spPr>
          <a:xfrm rot="10800000" flipV="1">
            <a:off x="5646192" y="2120515"/>
            <a:ext cx="478800" cy="374400"/>
          </a:xfrm>
          <a:prstGeom prst="rightArrow">
            <a:avLst>
              <a:gd name="adj1" fmla="val 57209"/>
              <a:gd name="adj2" fmla="val 48648"/>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horz" lIns="0" tIns="0" rIns="0" bIns="0" rtlCol="0" anchor="ctr"/>
          <a:lstStyle/>
          <a:p>
            <a:pPr algn="ctr"/>
            <a:r>
              <a:rPr lang="zh-CN" altLang="en-US" sz="1400" b="1">
                <a:solidFill>
                  <a:schemeClr val="tx1"/>
                </a:solidFill>
              </a:rPr>
              <a:t>导致</a:t>
            </a:r>
            <a:endParaRPr lang="zh-CN" altLang="en-US" sz="1400" b="1">
              <a:solidFill>
                <a:schemeClr val="tx1"/>
              </a:solidFill>
            </a:endParaRPr>
          </a:p>
        </p:txBody>
      </p:sp>
      <p:sp>
        <p:nvSpPr>
          <p:cNvPr id="24" name="右箭头 23"/>
          <p:cNvSpPr/>
          <p:nvPr>
            <p:custDataLst>
              <p:tags r:id="rId18"/>
            </p:custDataLst>
          </p:nvPr>
        </p:nvSpPr>
        <p:spPr>
          <a:xfrm rot="10800000" flipV="1">
            <a:off x="5645557" y="5442835"/>
            <a:ext cx="478800" cy="374400"/>
          </a:xfrm>
          <a:prstGeom prst="rightArrow">
            <a:avLst>
              <a:gd name="adj1" fmla="val 57209"/>
              <a:gd name="adj2" fmla="val 48648"/>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horz" lIns="0" tIns="0" rIns="0" bIns="0" rtlCol="0" anchor="ctr"/>
          <a:lstStyle/>
          <a:p>
            <a:pPr algn="ctr"/>
            <a:r>
              <a:rPr lang="zh-CN" altLang="en-US" sz="1400" b="1">
                <a:solidFill>
                  <a:schemeClr val="tx1"/>
                </a:solidFill>
              </a:rPr>
              <a:t>导致</a:t>
            </a:r>
            <a:endParaRPr lang="zh-CN" altLang="en-US" sz="1400" b="1">
              <a:solidFill>
                <a:schemeClr val="tx1"/>
              </a:solidFill>
            </a:endParaRPr>
          </a:p>
        </p:txBody>
      </p:sp>
      <p:sp>
        <p:nvSpPr>
          <p:cNvPr id="25" name="右箭头 24"/>
          <p:cNvSpPr/>
          <p:nvPr>
            <p:custDataLst>
              <p:tags r:id="rId19"/>
            </p:custDataLst>
          </p:nvPr>
        </p:nvSpPr>
        <p:spPr>
          <a:xfrm rot="10800000" flipV="1">
            <a:off x="5644922" y="3781675"/>
            <a:ext cx="478800" cy="374400"/>
          </a:xfrm>
          <a:prstGeom prst="rightArrow">
            <a:avLst>
              <a:gd name="adj1" fmla="val 57209"/>
              <a:gd name="adj2" fmla="val 48648"/>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horz" lIns="0" tIns="0" rIns="0" bIns="0" rtlCol="0" anchor="ctr"/>
          <a:lstStyle/>
          <a:p>
            <a:pPr algn="ctr"/>
            <a:r>
              <a:rPr lang="zh-CN" altLang="en-US" sz="1400" b="1">
                <a:solidFill>
                  <a:schemeClr val="tx1"/>
                </a:solidFill>
              </a:rPr>
              <a:t>导致</a:t>
            </a:r>
            <a:endParaRPr lang="zh-CN" altLang="en-US" sz="1400" b="1">
              <a:solidFill>
                <a:schemeClr val="tx1"/>
              </a:solidFill>
            </a:endParaRPr>
          </a:p>
        </p:txBody>
      </p:sp>
    </p:spTree>
    <p:custDataLst>
      <p:tags r:id="rId20"/>
    </p:custData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研究目标</a:t>
            </a:r>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latin typeface="Times New Roman" panose="02020603050405020304" pitchFamily="18" charset="0"/>
                <a:ea typeface="SimSun" panose="02010600030101010101" pitchFamily="2" charset="-122"/>
              </a:rPr>
            </a:fld>
            <a:endParaRPr lang="zh-CN" altLang="en-US">
              <a:latin typeface="Times New Roman" panose="02020603050405020304" pitchFamily="18" charset="0"/>
              <a:ea typeface="SimSun" panose="02010600030101010101" pitchFamily="2" charset="-122"/>
            </a:endParaRPr>
          </a:p>
        </p:txBody>
      </p:sp>
      <p:sp>
        <p:nvSpPr>
          <p:cNvPr id="18" name="矩形 17"/>
          <p:cNvSpPr/>
          <p:nvPr userDrawn="1">
            <p:custDataLst>
              <p:tags r:id="rId1"/>
            </p:custDataLst>
          </p:nvPr>
        </p:nvSpPr>
        <p:spPr>
          <a:xfrm>
            <a:off x="160020" y="1503045"/>
            <a:ext cx="8859520" cy="4674235"/>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8" name="矩形 7"/>
          <p:cNvSpPr/>
          <p:nvPr userDrawn="1">
            <p:custDataLst>
              <p:tags r:id="rId2"/>
            </p:custDataLst>
          </p:nvPr>
        </p:nvSpPr>
        <p:spPr>
          <a:xfrm>
            <a:off x="267035" y="2530513"/>
            <a:ext cx="1021080" cy="26670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990" tIns="46990" rIns="46990" bIns="46990" numCol="1" spcCol="0" rtlCol="0" fromWordArt="0" anchor="ctr" anchorCtr="0" forceAA="0" compatLnSpc="1">
            <a:noAutofit/>
          </a:bodyPr>
          <a:lstStyle/>
          <a:p>
            <a:pPr lvl="0" algn="ctr">
              <a:lnSpc>
                <a:spcPct val="110000"/>
              </a:lnSpc>
              <a:buClrTx/>
              <a:buSzTx/>
              <a:buFontTx/>
            </a:pPr>
            <a:r>
              <a:rPr lang="zh-CN" altLang="en-US" sz="1600" dirty="0">
                <a:solidFill>
                  <a:srgbClr val="000000"/>
                </a:solidFill>
                <a:latin typeface="Times New Roman" panose="02020603050405020304" pitchFamily="18" charset="0"/>
                <a:ea typeface="SimSun" panose="02010600030101010101" pitchFamily="2" charset="-122"/>
                <a:cs typeface="Microsoft YaHei" panose="020B0503020204020204" charset="-122"/>
                <a:sym typeface="+mn-ea"/>
              </a:rPr>
              <a:t>面向云边端协同的跨域分布式训练对跨域分布式计算框架的需求</a:t>
            </a:r>
            <a:endParaRPr lang="zh-CN" altLang="en-US" sz="1600" dirty="0">
              <a:solidFill>
                <a:srgbClr val="000000"/>
              </a:solidFill>
              <a:latin typeface="Times New Roman" panose="02020603050405020304" pitchFamily="18" charset="0"/>
              <a:ea typeface="SimSun" panose="02010600030101010101" pitchFamily="2" charset="-122"/>
              <a:cs typeface="Microsoft YaHei" panose="020B0503020204020204" charset="-122"/>
              <a:sym typeface="+mn-ea"/>
            </a:endParaRPr>
          </a:p>
        </p:txBody>
      </p:sp>
      <p:sp>
        <p:nvSpPr>
          <p:cNvPr id="13" name="矩形 12"/>
          <p:cNvSpPr/>
          <p:nvPr userDrawn="1">
            <p:custDataLst>
              <p:tags r:id="rId3"/>
            </p:custDataLst>
          </p:nvPr>
        </p:nvSpPr>
        <p:spPr>
          <a:xfrm>
            <a:off x="1515145" y="1816754"/>
            <a:ext cx="1999428"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sz="1600" dirty="0">
                <a:solidFill>
                  <a:srgbClr val="000000"/>
                </a:solidFill>
                <a:latin typeface="Times New Roman" panose="02020603050405020304" pitchFamily="18" charset="0"/>
                <a:ea typeface="SimSun" panose="02010600030101010101" pitchFamily="2" charset="-122"/>
                <a:cs typeface="Microsoft YaHei" panose="020B0503020204020204" charset="-122"/>
              </a:rPr>
              <a:t>如何充分地利用多样云边端异构计算资源</a:t>
            </a:r>
            <a:endParaRPr lang="zh-CN" altLang="en-US" sz="1600" dirty="0">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15" name="矩形 14"/>
          <p:cNvSpPr/>
          <p:nvPr userDrawn="1">
            <p:custDataLst>
              <p:tags r:id="rId4"/>
            </p:custDataLst>
          </p:nvPr>
        </p:nvSpPr>
        <p:spPr>
          <a:xfrm>
            <a:off x="1509582" y="4940761"/>
            <a:ext cx="1999428"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sz="1600" dirty="0">
                <a:solidFill>
                  <a:srgbClr val="000000"/>
                </a:solidFill>
                <a:latin typeface="Times New Roman" panose="02020603050405020304" pitchFamily="18" charset="0"/>
                <a:ea typeface="SimSun" panose="02010600030101010101" pitchFamily="2" charset="-122"/>
                <a:cs typeface="Microsoft YaHei" panose="020B0503020204020204" charset="-122"/>
              </a:rPr>
              <a:t>如何动态地生成云边端跨域训练并行策略</a:t>
            </a:r>
            <a:endParaRPr lang="zh-CN" altLang="en-US" sz="1600" dirty="0">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17" name="矩形 16"/>
          <p:cNvSpPr/>
          <p:nvPr userDrawn="1">
            <p:custDataLst>
              <p:tags r:id="rId5"/>
            </p:custDataLst>
          </p:nvPr>
        </p:nvSpPr>
        <p:spPr>
          <a:xfrm>
            <a:off x="1515145" y="3378758"/>
            <a:ext cx="1999428"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sz="1600" dirty="0">
                <a:solidFill>
                  <a:srgbClr val="000000"/>
                </a:solidFill>
                <a:latin typeface="Times New Roman" panose="02020603050405020304" pitchFamily="18" charset="0"/>
                <a:ea typeface="SimSun" panose="02010600030101010101" pitchFamily="2" charset="-122"/>
                <a:cs typeface="Microsoft YaHei" panose="020B0503020204020204" charset="-122"/>
              </a:rPr>
              <a:t>如何高效地实现云边端跨域节点快速通信</a:t>
            </a:r>
            <a:endParaRPr lang="zh-CN" altLang="en-US" sz="1600" dirty="0">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22" name="矩形 21"/>
          <p:cNvSpPr/>
          <p:nvPr userDrawn="1">
            <p:custDataLst>
              <p:tags r:id="rId6"/>
            </p:custDataLst>
          </p:nvPr>
        </p:nvSpPr>
        <p:spPr>
          <a:xfrm>
            <a:off x="3675528" y="1816754"/>
            <a:ext cx="2640670"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b="1" dirty="0">
                <a:solidFill>
                  <a:srgbClr val="000000"/>
                </a:solidFill>
                <a:latin typeface="Times New Roman" panose="02020603050405020304" pitchFamily="18" charset="0"/>
                <a:ea typeface="SimSun" panose="02010600030101010101" pitchFamily="2" charset="-122"/>
                <a:cs typeface="Microsoft YaHei" panose="020B0503020204020204" charset="-122"/>
              </a:rPr>
              <a:t>基于分层混合并行的云边端异构资源协同训练策略</a:t>
            </a:r>
            <a:endParaRPr lang="zh-CN" altLang="en-US" b="1" dirty="0">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24" name="矩形 23"/>
          <p:cNvSpPr/>
          <p:nvPr userDrawn="1">
            <p:custDataLst>
              <p:tags r:id="rId7"/>
            </p:custDataLst>
          </p:nvPr>
        </p:nvSpPr>
        <p:spPr>
          <a:xfrm>
            <a:off x="3675528" y="4940761"/>
            <a:ext cx="2640670"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b="1" dirty="0">
                <a:solidFill>
                  <a:srgbClr val="000000"/>
                </a:solidFill>
                <a:latin typeface="Times New Roman" panose="02020603050405020304" pitchFamily="18" charset="0"/>
                <a:ea typeface="SimSun" panose="02010600030101010101" pitchFamily="2" charset="-122"/>
                <a:cs typeface="Microsoft YaHei" panose="020B0503020204020204" charset="-122"/>
              </a:rPr>
              <a:t>基于约束指导和冗余计算的跨域并行策略生成技术</a:t>
            </a:r>
            <a:endParaRPr lang="zh-CN" altLang="en-US" b="1" dirty="0">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26" name="矩形 25"/>
          <p:cNvSpPr/>
          <p:nvPr userDrawn="1">
            <p:custDataLst>
              <p:tags r:id="rId8"/>
            </p:custDataLst>
          </p:nvPr>
        </p:nvSpPr>
        <p:spPr>
          <a:xfrm>
            <a:off x="3675528" y="3378758"/>
            <a:ext cx="2640670" cy="969953"/>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lnSpc>
                <a:spcPct val="110000"/>
              </a:lnSpc>
            </a:pPr>
            <a:r>
              <a:rPr lang="zh-CN" altLang="en-US" b="1" dirty="0">
                <a:solidFill>
                  <a:srgbClr val="000000"/>
                </a:solidFill>
                <a:latin typeface="Times New Roman" panose="02020603050405020304" pitchFamily="18" charset="0"/>
                <a:ea typeface="SimSun" panose="02010600030101010101" pitchFamily="2" charset="-122"/>
                <a:cs typeface="Microsoft YaHei" panose="020B0503020204020204" charset="-122"/>
              </a:rPr>
              <a:t>基于分区稀疏通信的云边端跨域训练高效通信技术</a:t>
            </a:r>
            <a:endParaRPr lang="zh-CN" altLang="en-US" b="1" dirty="0">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28" name="矩形 27"/>
          <p:cNvSpPr/>
          <p:nvPr userDrawn="1">
            <p:custDataLst>
              <p:tags r:id="rId9"/>
            </p:custDataLst>
          </p:nvPr>
        </p:nvSpPr>
        <p:spPr>
          <a:xfrm>
            <a:off x="6552340" y="3000743"/>
            <a:ext cx="791845" cy="1725706"/>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zh-CN" altLang="en-US" dirty="0">
                <a:solidFill>
                  <a:srgbClr val="000000"/>
                </a:solidFill>
                <a:latin typeface="Times New Roman" panose="02020603050405020304" pitchFamily="18" charset="0"/>
                <a:ea typeface="SimSun" panose="02010600030101010101" pitchFamily="2" charset="-122"/>
                <a:cs typeface="Microsoft YaHei" panose="020B0503020204020204" charset="-122"/>
              </a:rPr>
              <a:t>云边端协同跨域分布式训练框架</a:t>
            </a:r>
            <a:endParaRPr lang="zh-CN" altLang="en-US" dirty="0">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cxnSp>
        <p:nvCxnSpPr>
          <p:cNvPr id="36" name="肘形连接符 35"/>
          <p:cNvCxnSpPr>
            <a:stCxn id="8" idx="3"/>
            <a:endCxn id="13" idx="1"/>
          </p:cNvCxnSpPr>
          <p:nvPr userDrawn="1">
            <p:custDataLst>
              <p:tags r:id="rId10"/>
            </p:custDataLst>
          </p:nvPr>
        </p:nvCxnSpPr>
        <p:spPr>
          <a:xfrm flipV="1">
            <a:off x="1288115" y="2301731"/>
            <a:ext cx="227030" cy="1562282"/>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37" name="肘形连接符 36"/>
          <p:cNvCxnSpPr>
            <a:stCxn id="8" idx="3"/>
            <a:endCxn id="15" idx="1"/>
          </p:cNvCxnSpPr>
          <p:nvPr userDrawn="1">
            <p:custDataLst>
              <p:tags r:id="rId11"/>
            </p:custDataLst>
          </p:nvPr>
        </p:nvCxnSpPr>
        <p:spPr>
          <a:xfrm>
            <a:off x="1288115" y="3864013"/>
            <a:ext cx="221467" cy="1561725"/>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38" name="肘形连接符 37"/>
          <p:cNvCxnSpPr>
            <a:stCxn id="8" idx="3"/>
            <a:endCxn id="17" idx="1"/>
          </p:cNvCxnSpPr>
          <p:nvPr userDrawn="1">
            <p:custDataLst>
              <p:tags r:id="rId12"/>
            </p:custDataLst>
          </p:nvPr>
        </p:nvCxnSpPr>
        <p:spPr>
          <a:xfrm flipV="1">
            <a:off x="1288115" y="3863735"/>
            <a:ext cx="227030" cy="278"/>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3" idx="3"/>
            <a:endCxn id="22" idx="1"/>
          </p:cNvCxnSpPr>
          <p:nvPr userDrawn="1">
            <p:custDataLst>
              <p:tags r:id="rId13"/>
            </p:custDataLst>
          </p:nvPr>
        </p:nvCxnSpPr>
        <p:spPr>
          <a:xfrm>
            <a:off x="3514573" y="2301731"/>
            <a:ext cx="160955" cy="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15" idx="3"/>
            <a:endCxn id="24" idx="1"/>
          </p:cNvCxnSpPr>
          <p:nvPr userDrawn="1">
            <p:custDataLst>
              <p:tags r:id="rId14"/>
            </p:custDataLst>
          </p:nvPr>
        </p:nvCxnSpPr>
        <p:spPr>
          <a:xfrm>
            <a:off x="3509010" y="5425738"/>
            <a:ext cx="166518" cy="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17" idx="3"/>
            <a:endCxn id="26" idx="1"/>
          </p:cNvCxnSpPr>
          <p:nvPr userDrawn="1">
            <p:custDataLst>
              <p:tags r:id="rId15"/>
            </p:custDataLst>
          </p:nvPr>
        </p:nvCxnSpPr>
        <p:spPr>
          <a:xfrm>
            <a:off x="3514573" y="3863735"/>
            <a:ext cx="160955" cy="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4" name="肘形连接符 43"/>
          <p:cNvCxnSpPr>
            <a:stCxn id="22" idx="3"/>
            <a:endCxn id="28" idx="1"/>
          </p:cNvCxnSpPr>
          <p:nvPr userDrawn="1">
            <p:custDataLst>
              <p:tags r:id="rId16"/>
            </p:custDataLst>
          </p:nvPr>
        </p:nvCxnSpPr>
        <p:spPr>
          <a:xfrm>
            <a:off x="6316198" y="2301731"/>
            <a:ext cx="236142" cy="1561865"/>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5" name="肘形连接符 44"/>
          <p:cNvCxnSpPr>
            <a:stCxn id="24" idx="3"/>
            <a:endCxn id="28" idx="1"/>
          </p:cNvCxnSpPr>
          <p:nvPr userDrawn="1">
            <p:custDataLst>
              <p:tags r:id="rId17"/>
            </p:custDataLst>
          </p:nvPr>
        </p:nvCxnSpPr>
        <p:spPr>
          <a:xfrm flipV="1">
            <a:off x="6316198" y="3863596"/>
            <a:ext cx="236142" cy="1562142"/>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46" name="肘形连接符 45"/>
          <p:cNvCxnSpPr>
            <a:stCxn id="26" idx="3"/>
            <a:endCxn id="28" idx="1"/>
          </p:cNvCxnSpPr>
          <p:nvPr userDrawn="1">
            <p:custDataLst>
              <p:tags r:id="rId18"/>
            </p:custDataLst>
          </p:nvPr>
        </p:nvCxnSpPr>
        <p:spPr>
          <a:xfrm flipV="1">
            <a:off x="6316198" y="3863596"/>
            <a:ext cx="236142" cy="139"/>
          </a:xfrm>
          <a:prstGeom prst="bentConnector3">
            <a:avLst>
              <a:gd name="adj1" fmla="val 50000"/>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userDrawn="1">
            <p:custDataLst>
              <p:tags r:id="rId19"/>
            </p:custDataLst>
          </p:nvPr>
        </p:nvSpPr>
        <p:spPr>
          <a:xfrm>
            <a:off x="7185660" y="6174740"/>
            <a:ext cx="1833880" cy="422275"/>
          </a:xfrm>
          <a:prstGeom prst="rect">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b="1">
                <a:solidFill>
                  <a:srgbClr val="000000"/>
                </a:solidFill>
                <a:latin typeface="Times New Roman" panose="02020603050405020304" pitchFamily="18" charset="0"/>
                <a:ea typeface="SimSun" panose="02010600030101010101" pitchFamily="2" charset="-122"/>
                <a:cs typeface="Microsoft YaHei" panose="020B0503020204020204" charset="-122"/>
              </a:rPr>
              <a:t>研究目标</a:t>
            </a:r>
            <a:endParaRPr lang="zh-CN" altLang="en-US" b="1">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57" name="五边形 56"/>
          <p:cNvSpPr/>
          <p:nvPr userDrawn="1">
            <p:custDataLst>
              <p:tags r:id="rId20"/>
            </p:custDataLst>
          </p:nvPr>
        </p:nvSpPr>
        <p:spPr>
          <a:xfrm>
            <a:off x="3279140" y="6174740"/>
            <a:ext cx="4112895" cy="422275"/>
          </a:xfrm>
          <a:prstGeom prst="homePlate">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b="1">
                <a:solidFill>
                  <a:srgbClr val="000000"/>
                </a:solidFill>
                <a:latin typeface="Times New Roman" panose="02020603050405020304" pitchFamily="18" charset="0"/>
                <a:ea typeface="SimSun" panose="02010600030101010101" pitchFamily="2" charset="-122"/>
                <a:cs typeface="Microsoft YaHei" panose="020B0503020204020204" charset="-122"/>
              </a:rPr>
              <a:t>研究内容</a:t>
            </a:r>
            <a:endParaRPr lang="zh-CN" altLang="en-US" b="1">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58" name="五边形 57"/>
          <p:cNvSpPr/>
          <p:nvPr userDrawn="1">
            <p:custDataLst>
              <p:tags r:id="rId21"/>
            </p:custDataLst>
          </p:nvPr>
        </p:nvSpPr>
        <p:spPr>
          <a:xfrm>
            <a:off x="160020" y="6174740"/>
            <a:ext cx="3348990" cy="422275"/>
          </a:xfrm>
          <a:prstGeom prst="homePlate">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b="1">
                <a:solidFill>
                  <a:srgbClr val="000000"/>
                </a:solidFill>
                <a:latin typeface="Times New Roman" panose="02020603050405020304" pitchFamily="18" charset="0"/>
                <a:ea typeface="SimSun" panose="02010600030101010101" pitchFamily="2" charset="-122"/>
                <a:cs typeface="Microsoft YaHei" panose="020B0503020204020204" charset="-122"/>
              </a:rPr>
              <a:t>关键科学技术问题</a:t>
            </a:r>
            <a:endParaRPr lang="zh-CN" altLang="en-US" b="1">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11" name="矩形 10"/>
          <p:cNvSpPr/>
          <p:nvPr userDrawn="1">
            <p:custDataLst>
              <p:tags r:id="rId22"/>
            </p:custDataLst>
          </p:nvPr>
        </p:nvSpPr>
        <p:spPr>
          <a:xfrm>
            <a:off x="160020" y="1119505"/>
            <a:ext cx="8859520" cy="422275"/>
          </a:xfrm>
          <a:prstGeom prst="rect">
            <a:avLst/>
          </a:prstGeom>
          <a:solidFill>
            <a:srgbClr val="DAE8FC">
              <a:alpha val="100000"/>
            </a:srgbClr>
          </a:solidFill>
          <a:ln w="19050" cap="flat" cmpd="sng" algn="ctr">
            <a:solidFill>
              <a:srgbClr val="2E75B6">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000" b="1">
                <a:solidFill>
                  <a:srgbClr val="000000"/>
                </a:solidFill>
                <a:latin typeface="Times New Roman" panose="02020603050405020304" pitchFamily="18" charset="0"/>
                <a:ea typeface="SimSun" panose="02010600030101010101" pitchFamily="2" charset="-122"/>
                <a:cs typeface="Microsoft YaHei" panose="020B0503020204020204" charset="-122"/>
              </a:rPr>
              <a:t>建立面向云边端协同的跨域分布式训练的跨域分布式计算框架</a:t>
            </a:r>
            <a:endParaRPr lang="zh-CN" altLang="en-US" sz="2000" b="1">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sp>
        <p:nvSpPr>
          <p:cNvPr id="6" name="矩形 5"/>
          <p:cNvSpPr/>
          <p:nvPr userDrawn="1">
            <p:custDataLst>
              <p:tags r:id="rId23"/>
            </p:custDataLst>
          </p:nvPr>
        </p:nvSpPr>
        <p:spPr>
          <a:xfrm>
            <a:off x="7509210" y="2193546"/>
            <a:ext cx="1438910" cy="3340100"/>
          </a:xfrm>
          <a:prstGeom prst="rect">
            <a:avLst/>
          </a:prstGeom>
          <a:solidFill>
            <a:srgbClr val="FFFFFF">
              <a:alpha val="100000"/>
            </a:srgbClr>
          </a:solidFill>
          <a:ln w="12700" cap="flat" cmpd="sng" algn="ctr">
            <a:solidFill>
              <a:srgbClr val="00000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46990" tIns="46990" rIns="46990" bIns="46990" rtlCol="0" anchor="ctr">
            <a:noAutofit/>
          </a:bodyPr>
          <a:lstStyle/>
          <a:p>
            <a:pPr algn="ctr"/>
            <a:r>
              <a:rPr lang="zh-CN" altLang="en-US" dirty="0">
                <a:solidFill>
                  <a:srgbClr val="000000"/>
                </a:solidFill>
                <a:latin typeface="Times New Roman" panose="02020603050405020304" pitchFamily="18" charset="0"/>
                <a:ea typeface="SimSun" panose="02010600030101010101" pitchFamily="2" charset="-122"/>
                <a:cs typeface="Microsoft YaHei" panose="020B0503020204020204" charset="-122"/>
              </a:rPr>
              <a:t>针对模型云边端协同跨域分布式训练需求，突破跨域分布式训练关键技术，实现跨域分布式训练框架，支撑云边端环境中的模型训练任务</a:t>
            </a:r>
            <a:endParaRPr lang="zh-CN" altLang="en-US" dirty="0">
              <a:solidFill>
                <a:srgbClr val="000000"/>
              </a:solidFill>
              <a:latin typeface="Times New Roman" panose="02020603050405020304" pitchFamily="18" charset="0"/>
              <a:ea typeface="SimSun" panose="02010600030101010101" pitchFamily="2" charset="-122"/>
              <a:cs typeface="Microsoft YaHei" panose="020B0503020204020204" charset="-122"/>
            </a:endParaRPr>
          </a:p>
        </p:txBody>
      </p:sp>
      <p:cxnSp>
        <p:nvCxnSpPr>
          <p:cNvPr id="7" name="直接箭头连接符 6"/>
          <p:cNvCxnSpPr>
            <a:stCxn id="28" idx="3"/>
            <a:endCxn id="6" idx="1"/>
          </p:cNvCxnSpPr>
          <p:nvPr userDrawn="1">
            <p:custDataLst>
              <p:tags r:id="rId24"/>
            </p:custDataLst>
          </p:nvPr>
        </p:nvCxnSpPr>
        <p:spPr>
          <a:xfrm>
            <a:off x="7344185" y="3863596"/>
            <a:ext cx="165025" cy="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Tree>
    <p:custDataLst>
      <p:tags r:id="rId25"/>
    </p:custData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研究方案</a:t>
            </a:r>
            <a:r>
              <a:rPr lang="en-US" altLang="zh-CN"/>
              <a:t>-</a:t>
            </a:r>
            <a:r>
              <a:rPr sz="2200"/>
              <a:t>总体研究方案概述</a:t>
            </a:r>
            <a:endParaRPr sz="2200"/>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矩形 4"/>
          <p:cNvSpPr/>
          <p:nvPr>
            <p:custDataLst>
              <p:tags r:id="rId1"/>
            </p:custDataLst>
          </p:nvPr>
        </p:nvSpPr>
        <p:spPr>
          <a:xfrm>
            <a:off x="4681220" y="1122680"/>
            <a:ext cx="4302760" cy="5237480"/>
          </a:xfrm>
          <a:prstGeom prst="rect">
            <a:avLst/>
          </a:prstGeom>
          <a:solidFill>
            <a:schemeClr val="accent1">
              <a:lumMod val="20000"/>
              <a:lumOff val="80000"/>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4" name="文本框 3"/>
          <p:cNvSpPr txBox="1"/>
          <p:nvPr>
            <p:custDataLst>
              <p:tags r:id="rId2"/>
            </p:custDataLst>
          </p:nvPr>
        </p:nvSpPr>
        <p:spPr>
          <a:xfrm>
            <a:off x="140970" y="1122680"/>
            <a:ext cx="4431030" cy="5237480"/>
          </a:xfrm>
          <a:prstGeom prst="rect">
            <a:avLst/>
          </a:prstGeom>
          <a:noFill/>
        </p:spPr>
        <p:txBody>
          <a:bodyPr wrap="square" rtlCol="0">
            <a:noAutofit/>
          </a:bodyPr>
          <a:lstStyle/>
          <a:p>
            <a:pPr marL="342900" indent="-342900" algn="just" fontAlgn="auto">
              <a:lnSpc>
                <a:spcPct val="120000"/>
              </a:lnSpc>
              <a:spcBef>
                <a:spcPts val="0"/>
              </a:spcBef>
              <a:spcAft>
                <a:spcPts val="600"/>
              </a:spcAft>
              <a:buFont typeface="Wingdings" panose="05000000000000000000" charset="0"/>
              <a:buChar char="n"/>
            </a:pPr>
            <a:r>
              <a:rPr lang="zh-CN" altLang="en-US" sz="2400" b="1" dirty="0">
                <a:solidFill>
                  <a:schemeClr val="tx1"/>
                </a:solidFill>
                <a:uFillTx/>
                <a:sym typeface="+mn-ea"/>
              </a:rPr>
              <a:t>总体研究思路：</a:t>
            </a:r>
            <a:endParaRPr lang="zh-CN" altLang="en-US" sz="2400" b="1" dirty="0">
              <a:solidFill>
                <a:schemeClr val="tx1"/>
              </a:solidFill>
              <a:uFillTx/>
              <a:sym typeface="+mn-ea"/>
            </a:endParaRPr>
          </a:p>
          <a:p>
            <a:pPr marL="342900" indent="-342900" algn="just" fontAlgn="auto">
              <a:lnSpc>
                <a:spcPct val="120000"/>
              </a:lnSpc>
              <a:spcBef>
                <a:spcPts val="0"/>
              </a:spcBef>
              <a:spcAft>
                <a:spcPts val="600"/>
              </a:spcAft>
              <a:buFont typeface="Wingdings" panose="05000000000000000000" charset="0"/>
              <a:buChar char="Ø"/>
            </a:pPr>
            <a:r>
              <a:rPr lang="zh-CN" altLang="en-US" dirty="0">
                <a:solidFill>
                  <a:schemeClr val="tx1"/>
                </a:solidFill>
                <a:uFillTx/>
                <a:sym typeface="+mn-ea"/>
              </a:rPr>
              <a:t>通过提出分层混合并行的跨域分布式训练机制，实现异构硬件跨域分布式训练，以充分地利用多样云边端异构计算资源</a:t>
            </a:r>
            <a:endParaRPr lang="en-US" altLang="zh-CN" dirty="0">
              <a:solidFill>
                <a:schemeClr val="tx1"/>
              </a:solidFill>
              <a:uFillTx/>
              <a:sym typeface="+mn-ea"/>
            </a:endParaRPr>
          </a:p>
          <a:p>
            <a:pPr marL="342900" indent="-342900" algn="just" fontAlgn="auto">
              <a:lnSpc>
                <a:spcPct val="120000"/>
              </a:lnSpc>
              <a:spcBef>
                <a:spcPts val="0"/>
              </a:spcBef>
              <a:spcAft>
                <a:spcPts val="600"/>
              </a:spcAft>
              <a:buFont typeface="Wingdings" panose="05000000000000000000" charset="0"/>
              <a:buChar char="Ø"/>
            </a:pPr>
            <a:endParaRPr lang="en-US" altLang="zh-CN" dirty="0">
              <a:solidFill>
                <a:schemeClr val="tx1"/>
              </a:solidFill>
              <a:uFillTx/>
              <a:sym typeface="+mn-ea"/>
            </a:endParaRPr>
          </a:p>
          <a:p>
            <a:pPr marL="342900" indent="-342900" algn="just" fontAlgn="auto">
              <a:lnSpc>
                <a:spcPct val="120000"/>
              </a:lnSpc>
              <a:spcBef>
                <a:spcPts val="0"/>
              </a:spcBef>
              <a:spcAft>
                <a:spcPts val="600"/>
              </a:spcAft>
              <a:buFont typeface="Wingdings" panose="05000000000000000000" charset="0"/>
              <a:buChar char="Ø"/>
            </a:pPr>
            <a:r>
              <a:rPr lang="zh-CN" altLang="en-US" dirty="0">
                <a:uFillTx/>
                <a:sym typeface="+mn-ea"/>
              </a:rPr>
              <a:t>通过提出反向传播稀疏化的分区通信</a:t>
            </a:r>
            <a:r>
              <a:rPr lang="zh-CN" altLang="en-US" dirty="0">
                <a:sym typeface="+mn-ea"/>
              </a:rPr>
              <a:t>机制</a:t>
            </a:r>
            <a:r>
              <a:rPr lang="zh-CN" altLang="en-US" dirty="0">
                <a:uFillTx/>
                <a:sym typeface="+mn-ea"/>
              </a:rPr>
              <a:t>，</a:t>
            </a:r>
            <a:r>
              <a:rPr lang="zh-CN" altLang="en-US" dirty="0">
                <a:sym typeface="+mn-ea"/>
              </a:rPr>
              <a:t>建立跨域分布式训练通信模块，以高效地实现云边端跨域节点快速通信</a:t>
            </a:r>
            <a:endParaRPr lang="en-US" altLang="zh-CN" dirty="0">
              <a:solidFill>
                <a:schemeClr val="tx1"/>
              </a:solidFill>
              <a:uFillTx/>
              <a:sym typeface="+mn-ea"/>
            </a:endParaRPr>
          </a:p>
          <a:p>
            <a:pPr marL="342900" indent="-342900" algn="just" fontAlgn="auto">
              <a:lnSpc>
                <a:spcPct val="120000"/>
              </a:lnSpc>
              <a:spcBef>
                <a:spcPts val="0"/>
              </a:spcBef>
              <a:spcAft>
                <a:spcPts val="600"/>
              </a:spcAft>
              <a:buFont typeface="Wingdings" panose="05000000000000000000" charset="0"/>
              <a:buChar char="Ø"/>
            </a:pPr>
            <a:endParaRPr lang="en-US" altLang="zh-CN" dirty="0">
              <a:solidFill>
                <a:schemeClr val="tx1"/>
              </a:solidFill>
              <a:uFillTx/>
              <a:sym typeface="+mn-ea"/>
            </a:endParaRPr>
          </a:p>
          <a:p>
            <a:pPr marL="342900" indent="-342900" algn="just" fontAlgn="auto">
              <a:lnSpc>
                <a:spcPct val="120000"/>
              </a:lnSpc>
              <a:spcBef>
                <a:spcPts val="0"/>
              </a:spcBef>
              <a:spcAft>
                <a:spcPts val="600"/>
              </a:spcAft>
              <a:buFont typeface="Wingdings" panose="05000000000000000000" charset="0"/>
              <a:buChar char="Ø"/>
            </a:pPr>
            <a:r>
              <a:rPr lang="zh-CN" altLang="en-US" dirty="0">
                <a:uFillTx/>
                <a:sym typeface="+mn-ea"/>
              </a:rPr>
              <a:t>通过提出约束指导的并行策略搜索和基于冗余计算的并行策略迁移，建立云边端跨域并行策略搜索模块，以动态地生成云边端跨域训练并行策略</a:t>
            </a:r>
            <a:endParaRPr lang="en-US" altLang="zh-CN" dirty="0">
              <a:solidFill>
                <a:schemeClr val="tx1"/>
              </a:solidFill>
              <a:uFillTx/>
              <a:sym typeface="+mn-ea"/>
            </a:endParaRPr>
          </a:p>
        </p:txBody>
      </p:sp>
      <p:sp>
        <p:nvSpPr>
          <p:cNvPr id="6" name="矩形 5"/>
          <p:cNvSpPr/>
          <p:nvPr/>
        </p:nvSpPr>
        <p:spPr>
          <a:xfrm>
            <a:off x="4776247" y="4292600"/>
            <a:ext cx="4100005" cy="1983700"/>
          </a:xfrm>
          <a:prstGeom prst="rect">
            <a:avLst/>
          </a:prstGeom>
          <a:solidFill>
            <a:srgbClr val="71B7ED">
              <a:alpha val="65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zh-CN" altLang="en-US" sz="1300" b="1" dirty="0">
                <a:solidFill>
                  <a:schemeClr val="tx1"/>
                </a:solidFill>
                <a:latin typeface="Times New Roman" panose="02020603050405020304" pitchFamily="18" charset="0"/>
                <a:ea typeface="SimSun" panose="02010600030101010101" pitchFamily="2" charset="-122"/>
              </a:rPr>
              <a:t>基于分层混合并行的云边端异构资源协同训练策略</a:t>
            </a:r>
            <a:endParaRPr lang="zh-CN" altLang="en-US" sz="1300" b="1" dirty="0">
              <a:solidFill>
                <a:schemeClr val="tx1"/>
              </a:solidFill>
              <a:latin typeface="Times New Roman" panose="02020603050405020304" pitchFamily="18" charset="0"/>
              <a:ea typeface="SimSun" panose="02010600030101010101" pitchFamily="2" charset="-122"/>
            </a:endParaRPr>
          </a:p>
        </p:txBody>
      </p:sp>
      <p:sp>
        <p:nvSpPr>
          <p:cNvPr id="7" name="矩形 6"/>
          <p:cNvSpPr/>
          <p:nvPr/>
        </p:nvSpPr>
        <p:spPr>
          <a:xfrm>
            <a:off x="4782596" y="1215095"/>
            <a:ext cx="1944000" cy="2580283"/>
          </a:xfrm>
          <a:prstGeom prst="rect">
            <a:avLst/>
          </a:prstGeom>
          <a:solidFill>
            <a:srgbClr val="84C3B7">
              <a:alpha val="65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b" anchorCtr="0"/>
          <a:lstStyle/>
          <a:p>
            <a:pPr algn="ctr"/>
            <a:r>
              <a:rPr lang="zh-CN" altLang="en-US" sz="1300" b="1" dirty="0">
                <a:solidFill>
                  <a:schemeClr val="tx1"/>
                </a:solidFill>
                <a:latin typeface="Times New Roman" panose="02020603050405020304" pitchFamily="18" charset="0"/>
                <a:ea typeface="SimSun" panose="02010600030101010101" pitchFamily="2" charset="-122"/>
              </a:rPr>
              <a:t>基于分区稀疏通信的云边端跨域训练高效通信技术</a:t>
            </a:r>
            <a:endParaRPr lang="zh-CN" altLang="en-US" sz="1300" b="1" dirty="0">
              <a:solidFill>
                <a:schemeClr val="tx1"/>
              </a:solidFill>
              <a:latin typeface="Times New Roman" panose="02020603050405020304" pitchFamily="18" charset="0"/>
              <a:ea typeface="SimSun" panose="02010600030101010101" pitchFamily="2" charset="-122"/>
            </a:endParaRPr>
          </a:p>
        </p:txBody>
      </p:sp>
      <p:sp>
        <p:nvSpPr>
          <p:cNvPr id="17" name="矩形 16"/>
          <p:cNvSpPr/>
          <p:nvPr/>
        </p:nvSpPr>
        <p:spPr>
          <a:xfrm>
            <a:off x="6932252" y="1215096"/>
            <a:ext cx="1944000" cy="2580282"/>
          </a:xfrm>
          <a:prstGeom prst="rect">
            <a:avLst/>
          </a:prstGeom>
          <a:solidFill>
            <a:srgbClr val="F2B56F">
              <a:alpha val="65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b" anchorCtr="0"/>
          <a:lstStyle/>
          <a:p>
            <a:pPr algn="ctr"/>
            <a:r>
              <a:rPr lang="zh-CN" altLang="en-US" sz="1300" b="1" dirty="0">
                <a:solidFill>
                  <a:schemeClr val="tx1"/>
                </a:solidFill>
                <a:latin typeface="Times New Roman" panose="02020603050405020304" pitchFamily="18" charset="0"/>
                <a:ea typeface="SimSun" panose="02010600030101010101" pitchFamily="2" charset="-122"/>
              </a:rPr>
              <a:t>基于约束指导和冗余计算的跨域并行策略生成技术</a:t>
            </a:r>
            <a:endParaRPr lang="zh-CN" altLang="en-US" sz="1300" b="1" dirty="0">
              <a:solidFill>
                <a:schemeClr val="tx1"/>
              </a:solidFill>
              <a:latin typeface="Times New Roman" panose="02020603050405020304" pitchFamily="18" charset="0"/>
              <a:ea typeface="SimSun" panose="02010600030101010101" pitchFamily="2" charset="-122"/>
            </a:endParaRPr>
          </a:p>
        </p:txBody>
      </p:sp>
      <p:sp>
        <p:nvSpPr>
          <p:cNvPr id="18" name="箭头: 上 17"/>
          <p:cNvSpPr/>
          <p:nvPr/>
        </p:nvSpPr>
        <p:spPr>
          <a:xfrm>
            <a:off x="5660533" y="3863810"/>
            <a:ext cx="188126" cy="360357"/>
          </a:xfrm>
          <a:prstGeom prst="upArrow">
            <a:avLst/>
          </a:prstGeom>
          <a:solidFill>
            <a:srgbClr val="F57C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上 18"/>
          <p:cNvSpPr/>
          <p:nvPr/>
        </p:nvSpPr>
        <p:spPr>
          <a:xfrm>
            <a:off x="7810189" y="3863810"/>
            <a:ext cx="188126" cy="360357"/>
          </a:xfrm>
          <a:prstGeom prst="upArrow">
            <a:avLst/>
          </a:prstGeom>
          <a:solidFill>
            <a:srgbClr val="F57C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681220" y="3929007"/>
            <a:ext cx="991849" cy="261610"/>
          </a:xfrm>
          <a:prstGeom prst="rect">
            <a:avLst/>
          </a:prstGeom>
          <a:noFill/>
        </p:spPr>
        <p:txBody>
          <a:bodyPr wrap="square" rtlCol="0">
            <a:spAutoFit/>
          </a:bodyPr>
          <a:lstStyle/>
          <a:p>
            <a:pPr algn="ctr"/>
            <a:r>
              <a:rPr lang="zh-CN" altLang="en-US" sz="1100" b="1" dirty="0">
                <a:latin typeface="Times New Roman" panose="02020603050405020304" pitchFamily="18" charset="0"/>
                <a:ea typeface="SimSun" panose="02010600030101010101" pitchFamily="2" charset="-122"/>
              </a:rPr>
              <a:t>基础支撑</a:t>
            </a:r>
            <a:endParaRPr lang="zh-CN" altLang="en-US" sz="1100" b="1" dirty="0">
              <a:latin typeface="Times New Roman" panose="02020603050405020304" pitchFamily="18" charset="0"/>
              <a:ea typeface="SimSun" panose="02010600030101010101" pitchFamily="2" charset="-122"/>
            </a:endParaRPr>
          </a:p>
        </p:txBody>
      </p:sp>
      <p:sp>
        <p:nvSpPr>
          <p:cNvPr id="21" name="矩形 20"/>
          <p:cNvSpPr/>
          <p:nvPr/>
        </p:nvSpPr>
        <p:spPr>
          <a:xfrm>
            <a:off x="4849315" y="4923367"/>
            <a:ext cx="1061985" cy="1078808"/>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chorCtr="1"/>
          <a:lstStyle/>
          <a:p>
            <a:pPr algn="ctr"/>
            <a:r>
              <a:rPr lang="zh-CN" altLang="en-US" sz="900" b="1" dirty="0">
                <a:solidFill>
                  <a:schemeClr val="tx1"/>
                </a:solidFill>
                <a:latin typeface="Times New Roman" panose="02020603050405020304" pitchFamily="18" charset="0"/>
                <a:ea typeface="SimSun" panose="02010600030101010101" pitchFamily="2" charset="-122"/>
              </a:rPr>
              <a:t>运行前</a:t>
            </a:r>
            <a:r>
              <a:rPr lang="en-US" altLang="zh-CN" sz="900" b="1" dirty="0">
                <a:solidFill>
                  <a:schemeClr val="tx1"/>
                </a:solidFill>
                <a:latin typeface="Times New Roman" panose="02020603050405020304" pitchFamily="18" charset="0"/>
                <a:ea typeface="SimSun" panose="02010600030101010101" pitchFamily="2" charset="-122"/>
              </a:rPr>
              <a:t>Profiler</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22" name="矩形 21"/>
          <p:cNvSpPr/>
          <p:nvPr/>
        </p:nvSpPr>
        <p:spPr>
          <a:xfrm>
            <a:off x="6301606" y="4923367"/>
            <a:ext cx="1061985" cy="1078808"/>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1" forceAA="0" compatLnSpc="1">
            <a:noAutofit/>
          </a:bodyPr>
          <a:lstStyle/>
          <a:p>
            <a:pPr algn="ctr"/>
            <a:r>
              <a:rPr lang="zh-CN" altLang="en-US" sz="900" b="1" dirty="0">
                <a:solidFill>
                  <a:schemeClr val="tx1"/>
                </a:solidFill>
                <a:latin typeface="Times New Roman" panose="02020603050405020304" pitchFamily="18" charset="0"/>
                <a:ea typeface="SimSun" panose="02010600030101010101" pitchFamily="2" charset="-122"/>
              </a:rPr>
              <a:t>并行计划搜索</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23" name="矩形 22"/>
          <p:cNvSpPr/>
          <p:nvPr/>
        </p:nvSpPr>
        <p:spPr>
          <a:xfrm>
            <a:off x="7753900" y="4923367"/>
            <a:ext cx="1061985" cy="1078808"/>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1" forceAA="0" compatLnSpc="1">
            <a:noAutofit/>
          </a:bodyPr>
          <a:lstStyle/>
          <a:p>
            <a:pPr algn="ctr"/>
            <a:r>
              <a:rPr lang="zh-CN" altLang="en-US" sz="900" b="1" dirty="0">
                <a:solidFill>
                  <a:schemeClr val="tx1"/>
                </a:solidFill>
                <a:latin typeface="Times New Roman" panose="02020603050405020304" pitchFamily="18" charset="0"/>
                <a:ea typeface="SimSun" panose="02010600030101010101" pitchFamily="2" charset="-122"/>
              </a:rPr>
              <a:t>运行时均衡</a:t>
            </a:r>
            <a:endParaRPr lang="zh-CN" altLang="en-US" sz="900" b="1" dirty="0">
              <a:solidFill>
                <a:schemeClr val="tx1"/>
              </a:solidFill>
              <a:latin typeface="Times New Roman" panose="02020603050405020304" pitchFamily="18" charset="0"/>
              <a:ea typeface="SimSun" panose="02010600030101010101" pitchFamily="2" charset="-122"/>
            </a:endParaRPr>
          </a:p>
        </p:txBody>
      </p:sp>
      <p:cxnSp>
        <p:nvCxnSpPr>
          <p:cNvPr id="26" name="直接箭头连接符 25"/>
          <p:cNvCxnSpPr>
            <a:stCxn id="21" idx="3"/>
            <a:endCxn id="22" idx="1"/>
          </p:cNvCxnSpPr>
          <p:nvPr/>
        </p:nvCxnSpPr>
        <p:spPr>
          <a:xfrm>
            <a:off x="5911300" y="5462771"/>
            <a:ext cx="390306" cy="0"/>
          </a:xfrm>
          <a:prstGeom prst="straightConnector1">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22" idx="3"/>
            <a:endCxn id="23" idx="1"/>
          </p:cNvCxnSpPr>
          <p:nvPr/>
        </p:nvCxnSpPr>
        <p:spPr>
          <a:xfrm>
            <a:off x="7363591" y="5462771"/>
            <a:ext cx="390309" cy="0"/>
          </a:xfrm>
          <a:prstGeom prst="straightConnector1">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4849316" y="4370187"/>
            <a:ext cx="3966569" cy="274125"/>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1100" b="1" dirty="0">
                <a:solidFill>
                  <a:schemeClr val="tx1"/>
                </a:solidFill>
                <a:latin typeface="Times New Roman" panose="02020603050405020304" pitchFamily="18" charset="0"/>
                <a:ea typeface="SimSun" panose="02010600030101010101" pitchFamily="2" charset="-122"/>
              </a:rPr>
              <a:t>异构资源协同训练策略</a:t>
            </a:r>
            <a:endParaRPr lang="zh-CN" altLang="en-US" sz="1100" b="1" dirty="0">
              <a:solidFill>
                <a:schemeClr val="tx1"/>
              </a:solidFill>
              <a:latin typeface="Times New Roman" panose="02020603050405020304" pitchFamily="18" charset="0"/>
              <a:ea typeface="SimSun" panose="02010600030101010101" pitchFamily="2" charset="-122"/>
            </a:endParaRPr>
          </a:p>
        </p:txBody>
      </p:sp>
      <p:cxnSp>
        <p:nvCxnSpPr>
          <p:cNvPr id="36" name="连接符: 肘形 35"/>
          <p:cNvCxnSpPr>
            <a:stCxn id="21" idx="0"/>
            <a:endCxn id="34" idx="2"/>
          </p:cNvCxnSpPr>
          <p:nvPr/>
        </p:nvCxnSpPr>
        <p:spPr>
          <a:xfrm rot="5400000" flipH="1" flipV="1">
            <a:off x="5966927" y="4057694"/>
            <a:ext cx="279055" cy="1452293"/>
          </a:xfrm>
          <a:prstGeom prst="bentConnector3">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37" name="连接符: 肘形 36"/>
          <p:cNvCxnSpPr>
            <a:stCxn id="23" idx="0"/>
            <a:endCxn id="34" idx="2"/>
          </p:cNvCxnSpPr>
          <p:nvPr/>
        </p:nvCxnSpPr>
        <p:spPr>
          <a:xfrm rot="16200000" flipV="1">
            <a:off x="7419220" y="4057694"/>
            <a:ext cx="279055" cy="1452292"/>
          </a:xfrm>
          <a:prstGeom prst="bentConnector3">
            <a:avLst>
              <a:gd name="adj1" fmla="val 50000"/>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40" name="连接符: 肘形 39"/>
          <p:cNvCxnSpPr>
            <a:stCxn id="22" idx="0"/>
            <a:endCxn id="34" idx="2"/>
          </p:cNvCxnSpPr>
          <p:nvPr/>
        </p:nvCxnSpPr>
        <p:spPr>
          <a:xfrm rot="5400000" flipH="1" flipV="1">
            <a:off x="6693073" y="4783839"/>
            <a:ext cx="279055" cy="2"/>
          </a:xfrm>
          <a:prstGeom prst="bentConnector3">
            <a:avLst>
              <a:gd name="adj1" fmla="val 50000"/>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4841240" y="3085596"/>
            <a:ext cx="764994" cy="238810"/>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稀疏化模型</a:t>
            </a:r>
            <a:endParaRPr lang="zh-CN" altLang="en-US" sz="900" b="1" dirty="0">
              <a:solidFill>
                <a:schemeClr val="tx1"/>
              </a:solidFill>
              <a:latin typeface="Times New Roman" panose="02020603050405020304" pitchFamily="18" charset="0"/>
              <a:ea typeface="SimSun" panose="02010600030101010101" pitchFamily="2" charset="-122"/>
            </a:endParaRPr>
          </a:p>
        </p:txBody>
      </p:sp>
      <p:cxnSp>
        <p:nvCxnSpPr>
          <p:cNvPr id="62" name="直接箭头连接符 61"/>
          <p:cNvCxnSpPr>
            <a:stCxn id="60" idx="0"/>
            <a:endCxn id="30" idx="2"/>
          </p:cNvCxnSpPr>
          <p:nvPr/>
        </p:nvCxnSpPr>
        <p:spPr>
          <a:xfrm flipH="1" flipV="1">
            <a:off x="5223673" y="2836985"/>
            <a:ext cx="64" cy="248611"/>
          </a:xfrm>
          <a:prstGeom prst="straightConnector1">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4841241" y="1274395"/>
            <a:ext cx="1816959" cy="344340"/>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1100" b="1" dirty="0">
                <a:solidFill>
                  <a:schemeClr val="tx1"/>
                </a:solidFill>
                <a:latin typeface="Times New Roman" panose="02020603050405020304" pitchFamily="18" charset="0"/>
                <a:ea typeface="SimSun" panose="02010600030101010101" pitchFamily="2" charset="-122"/>
              </a:rPr>
              <a:t>稀疏化分区通信机制</a:t>
            </a:r>
            <a:endParaRPr lang="zh-CN" altLang="en-US" sz="1100" b="1" dirty="0">
              <a:solidFill>
                <a:schemeClr val="tx1"/>
              </a:solidFill>
              <a:latin typeface="Times New Roman" panose="02020603050405020304" pitchFamily="18" charset="0"/>
              <a:ea typeface="SimSun" panose="02010600030101010101" pitchFamily="2" charset="-122"/>
            </a:endParaRPr>
          </a:p>
        </p:txBody>
      </p:sp>
      <p:cxnSp>
        <p:nvCxnSpPr>
          <p:cNvPr id="64" name="连接符: 肘形 63"/>
          <p:cNvCxnSpPr>
            <a:stCxn id="30" idx="0"/>
            <a:endCxn id="42" idx="2"/>
          </p:cNvCxnSpPr>
          <p:nvPr/>
        </p:nvCxnSpPr>
        <p:spPr>
          <a:xfrm rot="5400000" flipH="1" flipV="1">
            <a:off x="5323183" y="2167601"/>
            <a:ext cx="331065" cy="530084"/>
          </a:xfrm>
          <a:prstGeom prst="bentConnector3">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65" name="连接符: 肘形 64"/>
          <p:cNvCxnSpPr>
            <a:stCxn id="31" idx="0"/>
            <a:endCxn id="42" idx="2"/>
          </p:cNvCxnSpPr>
          <p:nvPr/>
        </p:nvCxnSpPr>
        <p:spPr>
          <a:xfrm rot="16200000" flipV="1">
            <a:off x="5698581" y="2322287"/>
            <a:ext cx="335103" cy="224750"/>
          </a:xfrm>
          <a:prstGeom prst="bentConnector3">
            <a:avLst>
              <a:gd name="adj1" fmla="val 50000"/>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73" name="矩形 72"/>
          <p:cNvSpPr/>
          <p:nvPr/>
        </p:nvSpPr>
        <p:spPr>
          <a:xfrm>
            <a:off x="6995737" y="1272622"/>
            <a:ext cx="1816959" cy="344340"/>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1100" b="1" dirty="0">
                <a:solidFill>
                  <a:schemeClr val="tx1"/>
                </a:solidFill>
                <a:latin typeface="Times New Roman" panose="02020603050405020304" pitchFamily="18" charset="0"/>
                <a:ea typeface="SimSun" panose="02010600030101010101" pitchFamily="2" charset="-122"/>
              </a:rPr>
              <a:t>跨域策略生成与迁移机制</a:t>
            </a:r>
            <a:endParaRPr lang="zh-CN" altLang="en-US" sz="1100" b="1" dirty="0">
              <a:solidFill>
                <a:schemeClr val="tx1"/>
              </a:solidFill>
              <a:latin typeface="Times New Roman" panose="02020603050405020304" pitchFamily="18" charset="0"/>
              <a:ea typeface="SimSun" panose="02010600030101010101" pitchFamily="2" charset="-122"/>
            </a:endParaRPr>
          </a:p>
        </p:txBody>
      </p:sp>
      <p:cxnSp>
        <p:nvCxnSpPr>
          <p:cNvPr id="74" name="连接符: 肘形 73"/>
          <p:cNvCxnSpPr>
            <a:stCxn id="78" idx="0"/>
            <a:endCxn id="80" idx="2"/>
          </p:cNvCxnSpPr>
          <p:nvPr/>
        </p:nvCxnSpPr>
        <p:spPr>
          <a:xfrm rot="5400000" flipH="1" flipV="1">
            <a:off x="7180968" y="2475315"/>
            <a:ext cx="210817" cy="256983"/>
          </a:xfrm>
          <a:prstGeom prst="bentConnector3">
            <a:avLst>
              <a:gd name="adj1" fmla="val 50000"/>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75" name="连接符: 肘形 74"/>
          <p:cNvCxnSpPr>
            <a:stCxn id="79" idx="0"/>
            <a:endCxn id="80" idx="2"/>
          </p:cNvCxnSpPr>
          <p:nvPr/>
        </p:nvCxnSpPr>
        <p:spPr>
          <a:xfrm rot="16200000" flipV="1">
            <a:off x="7442363" y="2470903"/>
            <a:ext cx="205981" cy="260970"/>
          </a:xfrm>
          <a:prstGeom prst="bentConnector3">
            <a:avLst>
              <a:gd name="adj1" fmla="val 50000"/>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4841240" y="5040682"/>
            <a:ext cx="1061979" cy="741229"/>
          </a:xfrm>
          <a:prstGeom prst="rect">
            <a:avLst/>
          </a:prstGeom>
          <a:noFill/>
        </p:spPr>
        <p:txBody>
          <a:bodyPr wrap="square" lIns="36000" rIns="36000" rtlCol="0">
            <a:spAutoFit/>
          </a:bodyPr>
          <a:lstStyle/>
          <a:p>
            <a:pPr marL="71755" indent="-71755" algn="just">
              <a:lnSpc>
                <a:spcPct val="120000"/>
              </a:lnSpc>
              <a:buFont typeface="Arial" panose="020B0604020202020204" pitchFamily="34" charset="0"/>
              <a:buChar char="•"/>
            </a:pPr>
            <a:r>
              <a:rPr lang="zh-CN" altLang="en-US" sz="900" b="1" dirty="0">
                <a:latin typeface="Times New Roman" panose="02020603050405020304" pitchFamily="18" charset="0"/>
                <a:ea typeface="SimSun" panose="02010600030101010101" pitchFamily="2" charset="-122"/>
              </a:rPr>
              <a:t>采集异构资源信息，聚合形成计算簇</a:t>
            </a:r>
            <a:endParaRPr lang="en-US" altLang="zh-CN" sz="900" b="1" dirty="0">
              <a:latin typeface="Times New Roman" panose="02020603050405020304" pitchFamily="18" charset="0"/>
              <a:ea typeface="SimSun" panose="02010600030101010101" pitchFamily="2" charset="-122"/>
            </a:endParaRPr>
          </a:p>
          <a:p>
            <a:pPr marL="71755" indent="-71755" algn="just">
              <a:lnSpc>
                <a:spcPct val="120000"/>
              </a:lnSpc>
              <a:buFont typeface="Arial" panose="020B0604020202020204" pitchFamily="34" charset="0"/>
              <a:buChar char="•"/>
            </a:pPr>
            <a:r>
              <a:rPr lang="zh-CN" altLang="en-US" sz="900" b="1" dirty="0">
                <a:latin typeface="Times New Roman" panose="02020603050405020304" pitchFamily="18" charset="0"/>
                <a:ea typeface="SimSun" panose="02010600030101010101" pitchFamily="2" charset="-122"/>
              </a:rPr>
              <a:t>编译</a:t>
            </a:r>
            <a:r>
              <a:rPr lang="en-US" altLang="zh-CN" sz="900" b="1" dirty="0">
                <a:latin typeface="Times New Roman" panose="02020603050405020304" pitchFamily="18" charset="0"/>
                <a:ea typeface="SimSun" panose="02010600030101010101" pitchFamily="2" charset="-122"/>
              </a:rPr>
              <a:t>AI</a:t>
            </a:r>
            <a:r>
              <a:rPr lang="zh-CN" altLang="en-US" sz="900" b="1" dirty="0">
                <a:latin typeface="Times New Roman" panose="02020603050405020304" pitchFamily="18" charset="0"/>
                <a:ea typeface="SimSun" panose="02010600030101010101" pitchFamily="2" charset="-122"/>
              </a:rPr>
              <a:t>模型，形成聚合计算子图</a:t>
            </a:r>
            <a:endParaRPr lang="en-US" altLang="zh-CN" sz="900" b="1" dirty="0">
              <a:latin typeface="Times New Roman" panose="02020603050405020304" pitchFamily="18" charset="0"/>
              <a:ea typeface="SimSun" panose="02010600030101010101" pitchFamily="2" charset="-122"/>
            </a:endParaRPr>
          </a:p>
        </p:txBody>
      </p:sp>
      <p:sp>
        <p:nvSpPr>
          <p:cNvPr id="16" name="文本框 15"/>
          <p:cNvSpPr txBox="1"/>
          <p:nvPr/>
        </p:nvSpPr>
        <p:spPr>
          <a:xfrm>
            <a:off x="6293525" y="5034649"/>
            <a:ext cx="1061979" cy="742639"/>
          </a:xfrm>
          <a:prstGeom prst="rect">
            <a:avLst/>
          </a:prstGeom>
          <a:noFill/>
        </p:spPr>
        <p:txBody>
          <a:bodyPr wrap="square" lIns="36000" rIns="36000" rtlCol="0">
            <a:spAutoFit/>
          </a:bodyPr>
          <a:lstStyle/>
          <a:p>
            <a:pPr marL="71755" indent="-71755" algn="just">
              <a:lnSpc>
                <a:spcPct val="120000"/>
              </a:lnSpc>
              <a:buFont typeface="Arial" panose="020B0604020202020204" pitchFamily="34" charset="0"/>
              <a:buChar char="•"/>
            </a:pPr>
            <a:r>
              <a:rPr lang="zh-CN" altLang="en-US" sz="900" b="1" dirty="0">
                <a:latin typeface="Times New Roman" panose="02020603050405020304" pitchFamily="18" charset="0"/>
                <a:ea typeface="SimSun" panose="02010600030101010101" pitchFamily="2" charset="-122"/>
              </a:rPr>
              <a:t>构建分层混合并行模型生成并行策略</a:t>
            </a:r>
            <a:endParaRPr lang="en-US" altLang="zh-CN" sz="900" b="1" dirty="0">
              <a:latin typeface="Times New Roman" panose="02020603050405020304" pitchFamily="18" charset="0"/>
              <a:ea typeface="SimSun" panose="02010600030101010101" pitchFamily="2" charset="-122"/>
            </a:endParaRPr>
          </a:p>
          <a:p>
            <a:pPr marL="71755" indent="-71755" algn="just">
              <a:lnSpc>
                <a:spcPct val="120000"/>
              </a:lnSpc>
              <a:buFont typeface="Arial" panose="020B0604020202020204" pitchFamily="34" charset="0"/>
              <a:buChar char="•"/>
            </a:pPr>
            <a:r>
              <a:rPr lang="zh-CN" altLang="en-US" sz="900" b="1" dirty="0">
                <a:latin typeface="Times New Roman" panose="02020603050405020304" pitchFamily="18" charset="0"/>
                <a:ea typeface="SimSun" panose="02010600030101010101" pitchFamily="2" charset="-122"/>
              </a:rPr>
              <a:t>支持云边端异构资源协同训练</a:t>
            </a:r>
            <a:endParaRPr lang="en-US" altLang="zh-CN" sz="900" b="1" dirty="0">
              <a:latin typeface="Times New Roman" panose="02020603050405020304" pitchFamily="18" charset="0"/>
              <a:ea typeface="SimSun" panose="02010600030101010101" pitchFamily="2" charset="-122"/>
            </a:endParaRPr>
          </a:p>
        </p:txBody>
      </p:sp>
      <p:sp>
        <p:nvSpPr>
          <p:cNvPr id="24" name="文本框 23"/>
          <p:cNvSpPr txBox="1"/>
          <p:nvPr/>
        </p:nvSpPr>
        <p:spPr>
          <a:xfrm>
            <a:off x="7757235" y="5034649"/>
            <a:ext cx="1061979" cy="741229"/>
          </a:xfrm>
          <a:prstGeom prst="rect">
            <a:avLst/>
          </a:prstGeom>
          <a:noFill/>
        </p:spPr>
        <p:txBody>
          <a:bodyPr wrap="square" lIns="36000" rIns="36000" rtlCol="0">
            <a:spAutoFit/>
          </a:bodyPr>
          <a:lstStyle/>
          <a:p>
            <a:pPr marL="71755" indent="-71755" algn="just" latinLnBrk="1">
              <a:lnSpc>
                <a:spcPct val="120000"/>
              </a:lnSpc>
              <a:buFont typeface="Arial" panose="020B0604020202020204" pitchFamily="34" charset="0"/>
              <a:buChar char="•"/>
            </a:pPr>
            <a:r>
              <a:rPr lang="zh-CN" altLang="en-US" sz="900" b="1" dirty="0">
                <a:latin typeface="Times New Roman" panose="02020603050405020304" pitchFamily="18" charset="0"/>
                <a:ea typeface="SimSun" panose="02010600030101010101" pitchFamily="2" charset="-122"/>
              </a:rPr>
              <a:t>构建运行时监控机制，动态调整</a:t>
            </a:r>
            <a:endParaRPr lang="en-US" altLang="zh-CN" sz="900" b="1" dirty="0">
              <a:latin typeface="Times New Roman" panose="02020603050405020304" pitchFamily="18" charset="0"/>
              <a:ea typeface="SimSun" panose="02010600030101010101" pitchFamily="2" charset="-122"/>
            </a:endParaRPr>
          </a:p>
          <a:p>
            <a:pPr marL="71755" indent="-71755" algn="just" latinLnBrk="1">
              <a:lnSpc>
                <a:spcPct val="120000"/>
              </a:lnSpc>
              <a:buFont typeface="Arial" panose="020B0604020202020204" pitchFamily="34" charset="0"/>
              <a:buChar char="•"/>
            </a:pPr>
            <a:r>
              <a:rPr lang="zh-CN" altLang="en-US" sz="900" b="1" dirty="0">
                <a:latin typeface="Times New Roman" panose="02020603050405020304" pitchFamily="18" charset="0"/>
                <a:ea typeface="SimSun" panose="02010600030101010101" pitchFamily="2" charset="-122"/>
              </a:rPr>
              <a:t>通过</a:t>
            </a:r>
            <a:r>
              <a:rPr lang="en-US" altLang="zh-CN" sz="900" b="1" dirty="0" err="1">
                <a:latin typeface="Times New Roman" panose="02020603050405020304" pitchFamily="18" charset="0"/>
                <a:ea typeface="SimSun" panose="02010600030101010101" pitchFamily="2" charset="-122"/>
              </a:rPr>
              <a:t>microbatch</a:t>
            </a:r>
            <a:r>
              <a:rPr lang="zh-CN" altLang="en-US" sz="900" b="1" dirty="0">
                <a:latin typeface="Times New Roman" panose="02020603050405020304" pitchFamily="18" charset="0"/>
                <a:ea typeface="SimSun" panose="02010600030101010101" pitchFamily="2" charset="-122"/>
              </a:rPr>
              <a:t>均衡异构计算速度</a:t>
            </a:r>
            <a:endParaRPr lang="en-US" altLang="zh-CN" sz="900" b="1" dirty="0">
              <a:latin typeface="Times New Roman" panose="02020603050405020304" pitchFamily="18" charset="0"/>
              <a:ea typeface="SimSun" panose="02010600030101010101" pitchFamily="2" charset="-122"/>
            </a:endParaRPr>
          </a:p>
        </p:txBody>
      </p:sp>
      <p:sp>
        <p:nvSpPr>
          <p:cNvPr id="27" name="文本框 26"/>
          <p:cNvSpPr txBox="1"/>
          <p:nvPr/>
        </p:nvSpPr>
        <p:spPr>
          <a:xfrm>
            <a:off x="5812252" y="5099784"/>
            <a:ext cx="572215" cy="369332"/>
          </a:xfrm>
          <a:prstGeom prst="rect">
            <a:avLst/>
          </a:prstGeom>
          <a:noFill/>
        </p:spPr>
        <p:txBody>
          <a:bodyPr wrap="square" rtlCol="0">
            <a:spAutoFit/>
          </a:bodyPr>
          <a:lstStyle/>
          <a:p>
            <a:pPr algn="ctr"/>
            <a:r>
              <a:rPr lang="zh-CN" altLang="en-US" sz="900" b="1" dirty="0">
                <a:latin typeface="Times New Roman" panose="02020603050405020304" pitchFamily="18" charset="0"/>
                <a:ea typeface="SimSun" panose="02010600030101010101" pitchFamily="2" charset="-122"/>
              </a:rPr>
              <a:t>设备图计算图</a:t>
            </a:r>
            <a:endParaRPr lang="zh-CN" altLang="en-US" sz="900" b="1" dirty="0">
              <a:latin typeface="Times New Roman" panose="02020603050405020304" pitchFamily="18" charset="0"/>
              <a:ea typeface="SimSun" panose="02010600030101010101" pitchFamily="2" charset="-122"/>
            </a:endParaRPr>
          </a:p>
        </p:txBody>
      </p:sp>
      <p:sp>
        <p:nvSpPr>
          <p:cNvPr id="28" name="文本框 27"/>
          <p:cNvSpPr txBox="1"/>
          <p:nvPr/>
        </p:nvSpPr>
        <p:spPr>
          <a:xfrm>
            <a:off x="5165029" y="2852866"/>
            <a:ext cx="653326" cy="230832"/>
          </a:xfrm>
          <a:prstGeom prst="rect">
            <a:avLst/>
          </a:prstGeom>
          <a:noFill/>
        </p:spPr>
        <p:txBody>
          <a:bodyPr wrap="square" rtlCol="0">
            <a:spAutoFit/>
          </a:bodyPr>
          <a:lstStyle/>
          <a:p>
            <a:pPr algn="ctr"/>
            <a:r>
              <a:rPr lang="zh-CN" altLang="en-US" sz="900" b="1" dirty="0">
                <a:latin typeface="Times New Roman" panose="02020603050405020304" pitchFamily="18" charset="0"/>
                <a:ea typeface="SimSun" panose="02010600030101010101" pitchFamily="2" charset="-122"/>
              </a:rPr>
              <a:t>层重要性</a:t>
            </a:r>
            <a:endParaRPr lang="zh-CN" altLang="en-US" sz="900" b="1" dirty="0">
              <a:latin typeface="Times New Roman" panose="02020603050405020304" pitchFamily="18" charset="0"/>
              <a:ea typeface="SimSun" panose="02010600030101010101" pitchFamily="2" charset="-122"/>
            </a:endParaRPr>
          </a:p>
        </p:txBody>
      </p:sp>
      <p:sp>
        <p:nvSpPr>
          <p:cNvPr id="30" name="矩形 29"/>
          <p:cNvSpPr/>
          <p:nvPr/>
        </p:nvSpPr>
        <p:spPr>
          <a:xfrm>
            <a:off x="4841176" y="2598175"/>
            <a:ext cx="764994" cy="238810"/>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计算图稀疏化</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31" name="矩形 30"/>
          <p:cNvSpPr/>
          <p:nvPr/>
        </p:nvSpPr>
        <p:spPr>
          <a:xfrm>
            <a:off x="5816766" y="2602213"/>
            <a:ext cx="323481" cy="728538"/>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激活值与权重解耦</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32" name="矩形 31"/>
          <p:cNvSpPr/>
          <p:nvPr/>
        </p:nvSpPr>
        <p:spPr>
          <a:xfrm>
            <a:off x="6334719" y="2597377"/>
            <a:ext cx="323481" cy="728538"/>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前向与反向传播解耦</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41" name="文本框 40"/>
          <p:cNvSpPr txBox="1"/>
          <p:nvPr/>
        </p:nvSpPr>
        <p:spPr>
          <a:xfrm>
            <a:off x="7261376" y="5129039"/>
            <a:ext cx="572215" cy="369332"/>
          </a:xfrm>
          <a:prstGeom prst="rect">
            <a:avLst/>
          </a:prstGeom>
          <a:noFill/>
        </p:spPr>
        <p:txBody>
          <a:bodyPr wrap="square" rtlCol="0">
            <a:spAutoFit/>
          </a:bodyPr>
          <a:lstStyle/>
          <a:p>
            <a:pPr algn="ctr"/>
            <a:r>
              <a:rPr lang="zh-CN" altLang="en-US" sz="900" b="1" dirty="0">
                <a:latin typeface="Times New Roman" panose="02020603050405020304" pitchFamily="18" charset="0"/>
                <a:ea typeface="SimSun" panose="02010600030101010101" pitchFamily="2" charset="-122"/>
              </a:rPr>
              <a:t>并行</a:t>
            </a:r>
            <a:endParaRPr lang="en-US" altLang="zh-CN" sz="900" b="1" dirty="0">
              <a:latin typeface="Times New Roman" panose="02020603050405020304" pitchFamily="18" charset="0"/>
              <a:ea typeface="SimSun" panose="02010600030101010101" pitchFamily="2" charset="-122"/>
            </a:endParaRPr>
          </a:p>
          <a:p>
            <a:pPr algn="ctr"/>
            <a:r>
              <a:rPr lang="zh-CN" altLang="en-US" sz="900" b="1" dirty="0">
                <a:latin typeface="Times New Roman" panose="02020603050405020304" pitchFamily="18" charset="0"/>
                <a:ea typeface="SimSun" panose="02010600030101010101" pitchFamily="2" charset="-122"/>
              </a:rPr>
              <a:t>策略</a:t>
            </a:r>
            <a:endParaRPr lang="zh-CN" altLang="en-US" sz="900" b="1" dirty="0">
              <a:latin typeface="Times New Roman" panose="02020603050405020304" pitchFamily="18" charset="0"/>
              <a:ea typeface="SimSun" panose="02010600030101010101" pitchFamily="2" charset="-122"/>
            </a:endParaRPr>
          </a:p>
        </p:txBody>
      </p:sp>
      <p:sp>
        <p:nvSpPr>
          <p:cNvPr id="42" name="矩形 41"/>
          <p:cNvSpPr/>
          <p:nvPr/>
        </p:nvSpPr>
        <p:spPr>
          <a:xfrm>
            <a:off x="4849314" y="1834734"/>
            <a:ext cx="1808885" cy="432376"/>
          </a:xfrm>
          <a:prstGeom prst="rect">
            <a:avLst/>
          </a:prstGeom>
          <a:no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890556" y="1877802"/>
            <a:ext cx="764994" cy="326689"/>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计算簇内调度</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47" name="矩形 46"/>
          <p:cNvSpPr/>
          <p:nvPr/>
        </p:nvSpPr>
        <p:spPr>
          <a:xfrm>
            <a:off x="5845639" y="1877802"/>
            <a:ext cx="764994" cy="326689"/>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计算簇间调度</a:t>
            </a:r>
            <a:endParaRPr lang="zh-CN" altLang="en-US" sz="900" b="1" dirty="0">
              <a:solidFill>
                <a:schemeClr val="tx1"/>
              </a:solidFill>
              <a:latin typeface="Times New Roman" panose="02020603050405020304" pitchFamily="18" charset="0"/>
              <a:ea typeface="SimSun" panose="02010600030101010101" pitchFamily="2" charset="-122"/>
            </a:endParaRPr>
          </a:p>
        </p:txBody>
      </p:sp>
      <p:cxnSp>
        <p:nvCxnSpPr>
          <p:cNvPr id="52" name="连接符: 肘形 51"/>
          <p:cNvCxnSpPr>
            <a:stCxn id="32" idx="0"/>
            <a:endCxn id="42" idx="2"/>
          </p:cNvCxnSpPr>
          <p:nvPr/>
        </p:nvCxnSpPr>
        <p:spPr>
          <a:xfrm rot="16200000" flipV="1">
            <a:off x="5959976" y="2060892"/>
            <a:ext cx="330267" cy="742703"/>
          </a:xfrm>
          <a:prstGeom prst="bentConnector3">
            <a:avLst>
              <a:gd name="adj1" fmla="val 50000"/>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4773768" y="2236318"/>
            <a:ext cx="653326" cy="230832"/>
          </a:xfrm>
          <a:prstGeom prst="rect">
            <a:avLst/>
          </a:prstGeom>
          <a:noFill/>
        </p:spPr>
        <p:txBody>
          <a:bodyPr wrap="square" rtlCol="0">
            <a:spAutoFit/>
          </a:bodyPr>
          <a:lstStyle/>
          <a:p>
            <a:pPr algn="ctr"/>
            <a:r>
              <a:rPr lang="zh-CN" altLang="en-US" sz="900" b="1" dirty="0">
                <a:latin typeface="Times New Roman" panose="02020603050405020304" pitchFamily="18" charset="0"/>
                <a:ea typeface="SimSun" panose="02010600030101010101" pitchFamily="2" charset="-122"/>
              </a:rPr>
              <a:t>调度依据</a:t>
            </a:r>
            <a:endParaRPr lang="zh-CN" altLang="en-US" sz="900" b="1" dirty="0">
              <a:latin typeface="Times New Roman" panose="02020603050405020304" pitchFamily="18" charset="0"/>
              <a:ea typeface="SimSun" panose="02010600030101010101" pitchFamily="2" charset="-122"/>
            </a:endParaRPr>
          </a:p>
        </p:txBody>
      </p:sp>
      <p:cxnSp>
        <p:nvCxnSpPr>
          <p:cNvPr id="56" name="直接箭头连接符 55"/>
          <p:cNvCxnSpPr>
            <a:stCxn id="42" idx="0"/>
            <a:endCxn id="63" idx="2"/>
          </p:cNvCxnSpPr>
          <p:nvPr/>
        </p:nvCxnSpPr>
        <p:spPr>
          <a:xfrm flipH="1" flipV="1">
            <a:off x="5749721" y="1618735"/>
            <a:ext cx="4036" cy="215999"/>
          </a:xfrm>
          <a:prstGeom prst="straightConnector1">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6996144" y="2709214"/>
            <a:ext cx="323481" cy="61519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并行策略约束模型</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79" name="矩形 78"/>
          <p:cNvSpPr/>
          <p:nvPr/>
        </p:nvSpPr>
        <p:spPr>
          <a:xfrm>
            <a:off x="7514097" y="2704378"/>
            <a:ext cx="323481" cy="61519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节点性能动态拟合</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80" name="矩形 79"/>
          <p:cNvSpPr/>
          <p:nvPr/>
        </p:nvSpPr>
        <p:spPr>
          <a:xfrm>
            <a:off x="6996144" y="2206934"/>
            <a:ext cx="837447" cy="291463"/>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并行训练计划</a:t>
            </a:r>
            <a:endParaRPr lang="en-US" altLang="zh-CN" sz="900" b="1" dirty="0">
              <a:solidFill>
                <a:schemeClr val="tx1"/>
              </a:solidFill>
              <a:latin typeface="Times New Roman" panose="02020603050405020304" pitchFamily="18" charset="0"/>
              <a:ea typeface="SimSun" panose="02010600030101010101" pitchFamily="2" charset="-122"/>
            </a:endParaRPr>
          </a:p>
          <a:p>
            <a:pPr algn="ctr"/>
            <a:r>
              <a:rPr lang="zh-CN" altLang="en-US" sz="900" b="1" dirty="0">
                <a:solidFill>
                  <a:schemeClr val="tx1"/>
                </a:solidFill>
                <a:latin typeface="Times New Roman" panose="02020603050405020304" pitchFamily="18" charset="0"/>
                <a:ea typeface="SimSun" panose="02010600030101010101" pitchFamily="2" charset="-122"/>
              </a:rPr>
              <a:t>重新生成</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88" name="矩形 87"/>
          <p:cNvSpPr/>
          <p:nvPr/>
        </p:nvSpPr>
        <p:spPr>
          <a:xfrm>
            <a:off x="8119533" y="3040825"/>
            <a:ext cx="687007" cy="291463"/>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900" b="1" dirty="0" err="1">
                <a:solidFill>
                  <a:schemeClr val="tx1"/>
                </a:solidFill>
                <a:latin typeface="Times New Roman" panose="02020603050405020304" pitchFamily="18" charset="0"/>
                <a:ea typeface="SimSun" panose="02010600030101010101" pitchFamily="2" charset="-122"/>
              </a:rPr>
              <a:t>Microbatch</a:t>
            </a:r>
            <a:endParaRPr lang="en-US" altLang="zh-CN" sz="900" b="1" dirty="0">
              <a:solidFill>
                <a:schemeClr val="tx1"/>
              </a:solidFill>
              <a:latin typeface="Times New Roman" panose="02020603050405020304" pitchFamily="18" charset="0"/>
              <a:ea typeface="SimSun" panose="02010600030101010101" pitchFamily="2" charset="-122"/>
            </a:endParaRPr>
          </a:p>
          <a:p>
            <a:pPr algn="ctr"/>
            <a:r>
              <a:rPr lang="zh-CN" altLang="en-US" sz="900" b="1" dirty="0">
                <a:solidFill>
                  <a:schemeClr val="tx1"/>
                </a:solidFill>
                <a:latin typeface="Times New Roman" panose="02020603050405020304" pitchFamily="18" charset="0"/>
                <a:ea typeface="SimSun" panose="02010600030101010101" pitchFamily="2" charset="-122"/>
              </a:rPr>
              <a:t>新策略启动</a:t>
            </a:r>
            <a:endParaRPr lang="zh-CN" altLang="en-US" sz="900" b="1" dirty="0">
              <a:solidFill>
                <a:schemeClr val="tx1"/>
              </a:solidFill>
              <a:latin typeface="Times New Roman" panose="02020603050405020304" pitchFamily="18" charset="0"/>
              <a:ea typeface="SimSun" panose="02010600030101010101" pitchFamily="2" charset="-122"/>
            </a:endParaRPr>
          </a:p>
        </p:txBody>
      </p:sp>
      <p:cxnSp>
        <p:nvCxnSpPr>
          <p:cNvPr id="89" name="连接符: 肘形 88"/>
          <p:cNvCxnSpPr>
            <a:stCxn id="80" idx="3"/>
            <a:endCxn id="88" idx="1"/>
          </p:cNvCxnSpPr>
          <p:nvPr/>
        </p:nvCxnSpPr>
        <p:spPr>
          <a:xfrm>
            <a:off x="7833591" y="2352666"/>
            <a:ext cx="285942" cy="833891"/>
          </a:xfrm>
          <a:prstGeom prst="bentConnector3">
            <a:avLst>
              <a:gd name="adj1" fmla="val 50000"/>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93" name="矩形 92"/>
          <p:cNvSpPr/>
          <p:nvPr/>
        </p:nvSpPr>
        <p:spPr>
          <a:xfrm>
            <a:off x="8116801" y="2623140"/>
            <a:ext cx="687007" cy="291463"/>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新旧策略</a:t>
            </a:r>
            <a:endParaRPr lang="en-US" altLang="zh-CN" sz="900" b="1" dirty="0">
              <a:solidFill>
                <a:schemeClr val="tx1"/>
              </a:solidFill>
              <a:latin typeface="Times New Roman" panose="02020603050405020304" pitchFamily="18" charset="0"/>
              <a:ea typeface="SimSun" panose="02010600030101010101" pitchFamily="2" charset="-122"/>
            </a:endParaRPr>
          </a:p>
          <a:p>
            <a:pPr algn="ctr"/>
            <a:r>
              <a:rPr lang="zh-CN" altLang="en-US" sz="900" b="1" dirty="0">
                <a:solidFill>
                  <a:schemeClr val="tx1"/>
                </a:solidFill>
                <a:latin typeface="Times New Roman" panose="02020603050405020304" pitchFamily="18" charset="0"/>
                <a:ea typeface="SimSun" panose="02010600030101010101" pitchFamily="2" charset="-122"/>
              </a:rPr>
              <a:t>并发运行</a:t>
            </a:r>
            <a:endParaRPr lang="en-US" altLang="zh-CN" sz="900" b="1" dirty="0">
              <a:solidFill>
                <a:schemeClr val="tx1"/>
              </a:solidFill>
              <a:latin typeface="Times New Roman" panose="02020603050405020304" pitchFamily="18" charset="0"/>
              <a:ea typeface="SimSun" panose="02010600030101010101" pitchFamily="2" charset="-122"/>
            </a:endParaRPr>
          </a:p>
        </p:txBody>
      </p:sp>
      <p:cxnSp>
        <p:nvCxnSpPr>
          <p:cNvPr id="95" name="直接箭头连接符 94"/>
          <p:cNvCxnSpPr>
            <a:stCxn id="88" idx="0"/>
            <a:endCxn id="93" idx="2"/>
          </p:cNvCxnSpPr>
          <p:nvPr/>
        </p:nvCxnSpPr>
        <p:spPr>
          <a:xfrm flipH="1" flipV="1">
            <a:off x="8460305" y="2914603"/>
            <a:ext cx="2732" cy="126222"/>
          </a:xfrm>
          <a:prstGeom prst="straightConnector1">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99" name="矩形 98"/>
          <p:cNvSpPr/>
          <p:nvPr/>
        </p:nvSpPr>
        <p:spPr>
          <a:xfrm>
            <a:off x="8116801" y="2205454"/>
            <a:ext cx="687007" cy="291463"/>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新并行策略</a:t>
            </a:r>
            <a:endParaRPr lang="en-US" altLang="zh-CN" sz="900" b="1" dirty="0">
              <a:solidFill>
                <a:schemeClr val="tx1"/>
              </a:solidFill>
              <a:latin typeface="Times New Roman" panose="02020603050405020304" pitchFamily="18" charset="0"/>
              <a:ea typeface="SimSun" panose="02010600030101010101" pitchFamily="2" charset="-122"/>
            </a:endParaRPr>
          </a:p>
          <a:p>
            <a:pPr algn="ctr"/>
            <a:r>
              <a:rPr lang="zh-CN" altLang="en-US" sz="900" b="1" dirty="0">
                <a:solidFill>
                  <a:schemeClr val="tx1"/>
                </a:solidFill>
                <a:latin typeface="Times New Roman" panose="02020603050405020304" pitchFamily="18" charset="0"/>
                <a:ea typeface="SimSun" panose="02010600030101010101" pitchFamily="2" charset="-122"/>
              </a:rPr>
              <a:t>切换</a:t>
            </a:r>
            <a:endParaRPr lang="en-US" altLang="zh-CN" sz="900" b="1" dirty="0">
              <a:solidFill>
                <a:schemeClr val="tx1"/>
              </a:solidFill>
              <a:latin typeface="Times New Roman" panose="02020603050405020304" pitchFamily="18" charset="0"/>
              <a:ea typeface="SimSun" panose="02010600030101010101" pitchFamily="2" charset="-122"/>
            </a:endParaRPr>
          </a:p>
        </p:txBody>
      </p:sp>
      <p:cxnSp>
        <p:nvCxnSpPr>
          <p:cNvPr id="100" name="直接箭头连接符 99"/>
          <p:cNvCxnSpPr>
            <a:stCxn id="93" idx="0"/>
            <a:endCxn id="99" idx="2"/>
          </p:cNvCxnSpPr>
          <p:nvPr/>
        </p:nvCxnSpPr>
        <p:spPr>
          <a:xfrm flipV="1">
            <a:off x="8460305" y="2496917"/>
            <a:ext cx="0" cy="126223"/>
          </a:xfrm>
          <a:prstGeom prst="straightConnector1">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7000163" y="1740270"/>
            <a:ext cx="1808106" cy="256955"/>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zh-CN" altLang="en-US" sz="900" b="1" dirty="0">
                <a:solidFill>
                  <a:schemeClr val="tx1"/>
                </a:solidFill>
                <a:latin typeface="Times New Roman" panose="02020603050405020304" pitchFamily="18" charset="0"/>
                <a:ea typeface="SimSun" panose="02010600030101010101" pitchFamily="2" charset="-122"/>
              </a:rPr>
              <a:t>执行新跨域并行策略</a:t>
            </a:r>
            <a:endParaRPr lang="zh-CN" altLang="en-US" sz="900" b="1" dirty="0">
              <a:solidFill>
                <a:schemeClr val="tx1"/>
              </a:solidFill>
              <a:latin typeface="Times New Roman" panose="02020603050405020304" pitchFamily="18" charset="0"/>
              <a:ea typeface="SimSun" panose="02010600030101010101" pitchFamily="2" charset="-122"/>
            </a:endParaRPr>
          </a:p>
        </p:txBody>
      </p:sp>
      <p:cxnSp>
        <p:nvCxnSpPr>
          <p:cNvPr id="107" name="连接符: 肘形 106"/>
          <p:cNvCxnSpPr>
            <a:stCxn id="80" idx="0"/>
            <a:endCxn id="103" idx="2"/>
          </p:cNvCxnSpPr>
          <p:nvPr/>
        </p:nvCxnSpPr>
        <p:spPr>
          <a:xfrm rot="5400000" flipH="1" flipV="1">
            <a:off x="7554688" y="1857406"/>
            <a:ext cx="209709" cy="489348"/>
          </a:xfrm>
          <a:prstGeom prst="bentConnector3">
            <a:avLst>
              <a:gd name="adj1" fmla="val 50000"/>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110" name="连接符: 肘形 109"/>
          <p:cNvCxnSpPr>
            <a:stCxn id="99" idx="0"/>
            <a:endCxn id="103" idx="2"/>
          </p:cNvCxnSpPr>
          <p:nvPr/>
        </p:nvCxnSpPr>
        <p:spPr>
          <a:xfrm rot="16200000" flipV="1">
            <a:off x="8078147" y="1823295"/>
            <a:ext cx="208229" cy="556089"/>
          </a:xfrm>
          <a:prstGeom prst="bentConnector3">
            <a:avLst>
              <a:gd name="adj1" fmla="val 50000"/>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a:stCxn id="103" idx="0"/>
            <a:endCxn id="73" idx="2"/>
          </p:cNvCxnSpPr>
          <p:nvPr/>
        </p:nvCxnSpPr>
        <p:spPr>
          <a:xfrm flipV="1">
            <a:off x="7904216" y="1616962"/>
            <a:ext cx="1" cy="123308"/>
          </a:xfrm>
          <a:prstGeom prst="straightConnector1">
            <a:avLst/>
          </a:prstGeom>
          <a:ln w="19050">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884403" y="3929007"/>
            <a:ext cx="991849" cy="261610"/>
          </a:xfrm>
          <a:prstGeom prst="rect">
            <a:avLst/>
          </a:prstGeom>
          <a:noFill/>
        </p:spPr>
        <p:txBody>
          <a:bodyPr wrap="square" rtlCol="0">
            <a:spAutoFit/>
          </a:bodyPr>
          <a:lstStyle/>
          <a:p>
            <a:pPr algn="ctr"/>
            <a:r>
              <a:rPr lang="zh-CN" altLang="en-US" sz="1100" b="1" dirty="0">
                <a:latin typeface="Times New Roman" panose="02020603050405020304" pitchFamily="18" charset="0"/>
                <a:ea typeface="SimSun" panose="02010600030101010101" pitchFamily="2" charset="-122"/>
              </a:rPr>
              <a:t>基础支撑</a:t>
            </a:r>
            <a:endParaRPr lang="zh-CN" altLang="en-US" sz="1100" b="1" dirty="0">
              <a:latin typeface="Times New Roman" panose="02020603050405020304" pitchFamily="18" charset="0"/>
              <a:ea typeface="SimSun" panose="02010600030101010101" pitchFamily="2" charset="-122"/>
            </a:endParaRPr>
          </a:p>
        </p:txBody>
      </p:sp>
    </p:spTree>
    <p:custDataLst>
      <p:tags r:id="rId3"/>
    </p:custData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1781898"/>
          </a:xfrm>
          <a:prstGeom prst="rect">
            <a:avLst/>
          </a:prstGeom>
          <a:noFill/>
        </p:spPr>
        <p:txBody>
          <a:bodyPr wrap="square" rtlCol="0">
            <a:spAutoFit/>
          </a:bodyPr>
          <a:lstStyle/>
          <a:p>
            <a:pPr marL="285750" indent="-285750" algn="just" fontAlgn="auto">
              <a:lnSpc>
                <a:spcPct val="150000"/>
              </a:lnSpc>
              <a:spcBef>
                <a:spcPts val="0"/>
              </a:spcBef>
              <a:spcAft>
                <a:spcPts val="600"/>
              </a:spcAft>
              <a:buFont typeface="Wingdings" panose="05000000000000000000" pitchFamily="2" charset="2"/>
              <a:buChar char="l"/>
            </a:pPr>
            <a:r>
              <a:rPr lang="zh-CN" altLang="en-US" b="1" dirty="0"/>
              <a:t>云边端计算环境成为全球研究和竞争的焦点：</a:t>
            </a:r>
            <a:r>
              <a:rPr lang="zh-CN" altLang="en-US" dirty="0"/>
              <a:t>云边端计算环境是电网、交通、制造等国家关键领域数智化转型的重要基础设施，成为全球范围的研究热点和竞争焦点</a:t>
            </a:r>
            <a:endParaRPr lang="en-US" altLang="zh-CN" dirty="0"/>
          </a:p>
          <a:p>
            <a:pPr marL="285750" indent="-285750" algn="just" fontAlgn="auto">
              <a:lnSpc>
                <a:spcPct val="150000"/>
              </a:lnSpc>
              <a:spcBef>
                <a:spcPts val="0"/>
              </a:spcBef>
              <a:spcAft>
                <a:spcPts val="600"/>
              </a:spcAft>
              <a:buFont typeface="Wingdings" panose="05000000000000000000" pitchFamily="2" charset="2"/>
              <a:buChar char="l"/>
            </a:pPr>
            <a:r>
              <a:rPr lang="zh-CN" altLang="en-US" b="1" dirty="0"/>
              <a:t>云边端计算环境的智能化水平得到跨越式提升：</a:t>
            </a:r>
            <a:r>
              <a:rPr lang="zh-CN" altLang="en-US" dirty="0"/>
              <a:t>近年来，随着深度模型的发展，环境感知、故障检测、智能巡视、状态预测等关键重要场景的智能化水平越来越高</a:t>
            </a:r>
            <a:endParaRPr lang="zh-CN" altLang="en-US" dirty="0"/>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12" name="组合 11"/>
          <p:cNvGrpSpPr/>
          <p:nvPr/>
        </p:nvGrpSpPr>
        <p:grpSpPr>
          <a:xfrm>
            <a:off x="278893" y="3058542"/>
            <a:ext cx="4144910" cy="3373726"/>
            <a:chOff x="278893" y="3058542"/>
            <a:chExt cx="4144910" cy="3373726"/>
          </a:xfrm>
        </p:grpSpPr>
        <p:pic>
          <p:nvPicPr>
            <p:cNvPr id="1026" name="Picture 2" descr="中国通号智能巡检机器人保障高铁安全运营_手机新浪网"/>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a:stretch>
              <a:fillRect/>
            </a:stretch>
          </p:blipFill>
          <p:spPr bwMode="auto">
            <a:xfrm>
              <a:off x="280035" y="3060065"/>
              <a:ext cx="2005965" cy="130887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8" name="Picture 4" descr="全球智能制造发展现状及前景预测工业机器人引领行业发展- 智能制造- 创新助理"/>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0991" y="3058542"/>
              <a:ext cx="1992812"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descr="智慧交通、智慧運輸、智慧交通系統、智慧運輸系統- 大眾電腦FIC"/>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2429769" y="4770466"/>
              <a:ext cx="1992812"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2" name="Picture 8" descr="小鹏推出第二代智能驾驶辅助系统，欲摆脱高精地图限制"/>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8893" y="4770466"/>
              <a:ext cx="2005200"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728684" y="4356309"/>
              <a:ext cx="1115153" cy="369332"/>
            </a:xfrm>
            <a:prstGeom prst="rect">
              <a:avLst/>
            </a:prstGeom>
            <a:noFill/>
          </p:spPr>
          <p:txBody>
            <a:bodyPr wrap="square" rtlCol="0">
              <a:spAutoFit/>
            </a:bodyPr>
            <a:lstStyle/>
            <a:p>
              <a:pPr indent="0" algn="ctr" fontAlgn="auto">
                <a:spcBef>
                  <a:spcPts val="0"/>
                </a:spcBef>
              </a:pPr>
              <a:r>
                <a:rPr lang="zh-CN" altLang="en-US" b="1" dirty="0"/>
                <a:t>智能电网</a:t>
              </a:r>
              <a:endParaRPr lang="zh-CN" altLang="en-US" b="1" dirty="0"/>
            </a:p>
          </p:txBody>
        </p:sp>
        <p:sp>
          <p:nvSpPr>
            <p:cNvPr id="8" name="文本框 7"/>
            <p:cNvSpPr txBox="1"/>
            <p:nvPr/>
          </p:nvSpPr>
          <p:spPr>
            <a:xfrm>
              <a:off x="2868598" y="4368942"/>
              <a:ext cx="1115153" cy="369332"/>
            </a:xfrm>
            <a:prstGeom prst="rect">
              <a:avLst/>
            </a:prstGeom>
            <a:noFill/>
          </p:spPr>
          <p:txBody>
            <a:bodyPr wrap="square" rtlCol="0">
              <a:spAutoFit/>
            </a:bodyPr>
            <a:lstStyle/>
            <a:p>
              <a:pPr indent="0" algn="ctr" fontAlgn="auto">
                <a:spcBef>
                  <a:spcPts val="0"/>
                </a:spcBef>
              </a:pPr>
              <a:r>
                <a:rPr lang="zh-CN" altLang="en-US" b="1" dirty="0"/>
                <a:t>智能制造</a:t>
              </a:r>
              <a:endParaRPr lang="zh-CN" altLang="en-US" b="1" dirty="0"/>
            </a:p>
          </p:txBody>
        </p:sp>
        <p:sp>
          <p:nvSpPr>
            <p:cNvPr id="9" name="文本框 8"/>
            <p:cNvSpPr txBox="1"/>
            <p:nvPr/>
          </p:nvSpPr>
          <p:spPr>
            <a:xfrm>
              <a:off x="723916" y="6062936"/>
              <a:ext cx="1115153" cy="369332"/>
            </a:xfrm>
            <a:prstGeom prst="rect">
              <a:avLst/>
            </a:prstGeom>
            <a:noFill/>
          </p:spPr>
          <p:txBody>
            <a:bodyPr wrap="square" rtlCol="0">
              <a:spAutoFit/>
            </a:bodyPr>
            <a:lstStyle/>
            <a:p>
              <a:pPr indent="0" algn="ctr" fontAlgn="auto">
                <a:spcBef>
                  <a:spcPts val="0"/>
                </a:spcBef>
              </a:pPr>
              <a:r>
                <a:rPr lang="zh-CN" altLang="en-US" b="1" dirty="0"/>
                <a:t>智能驾驶</a:t>
              </a:r>
              <a:endParaRPr lang="zh-CN" altLang="en-US" b="1" dirty="0"/>
            </a:p>
          </p:txBody>
        </p:sp>
        <p:sp>
          <p:nvSpPr>
            <p:cNvPr id="10" name="文本框 9"/>
            <p:cNvSpPr txBox="1"/>
            <p:nvPr/>
          </p:nvSpPr>
          <p:spPr>
            <a:xfrm>
              <a:off x="2868598" y="6056767"/>
              <a:ext cx="1115153" cy="369332"/>
            </a:xfrm>
            <a:prstGeom prst="rect">
              <a:avLst/>
            </a:prstGeom>
            <a:noFill/>
          </p:spPr>
          <p:txBody>
            <a:bodyPr wrap="square" rtlCol="0">
              <a:spAutoFit/>
            </a:bodyPr>
            <a:lstStyle/>
            <a:p>
              <a:pPr indent="0" algn="ctr" fontAlgn="auto">
                <a:spcBef>
                  <a:spcPts val="0"/>
                </a:spcBef>
              </a:pPr>
              <a:r>
                <a:rPr lang="zh-CN" altLang="en-US" b="1" dirty="0"/>
                <a:t>智慧交通</a:t>
              </a:r>
              <a:endParaRPr lang="zh-CN" altLang="en-US" b="1" dirty="0"/>
            </a:p>
          </p:txBody>
        </p:sp>
      </p:grpSp>
      <p:graphicFrame>
        <p:nvGraphicFramePr>
          <p:cNvPr id="11" name="表格 10"/>
          <p:cNvGraphicFramePr>
            <a:graphicFrameLocks noGrp="1"/>
          </p:cNvGraphicFramePr>
          <p:nvPr/>
        </p:nvGraphicFramePr>
        <p:xfrm>
          <a:off x="4674282" y="2995787"/>
          <a:ext cx="4232275" cy="336755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19694"/>
                <a:gridCol w="3312581"/>
              </a:tblGrid>
              <a:tr h="428226">
                <a:tc>
                  <a:txBody>
                    <a:bodyPr/>
                    <a:lstStyle/>
                    <a:p>
                      <a:pPr algn="ctr">
                        <a:buNone/>
                      </a:pPr>
                      <a:r>
                        <a:rPr lang="zh-CN" altLang="en-US" sz="1400" baseline="0" dirty="0">
                          <a:latin typeface="Times New Roman" panose="02020603050405020304" pitchFamily="18" charset="0"/>
                        </a:rPr>
                        <a:t>国家地区</a:t>
                      </a:r>
                      <a:endParaRPr lang="zh-CN" altLang="en-US" sz="1400" baseline="0" dirty="0">
                        <a:latin typeface="Times New Roman" panose="02020603050405020304" pitchFamily="18" charset="0"/>
                      </a:endParaRPr>
                    </a:p>
                  </a:txBody>
                  <a:tcPr anchor="ctr">
                    <a:solidFill>
                      <a:srgbClr val="004578"/>
                    </a:solidFill>
                  </a:tcPr>
                </a:tc>
                <a:tc>
                  <a:txBody>
                    <a:bodyPr/>
                    <a:lstStyle/>
                    <a:p>
                      <a:pPr algn="ctr">
                        <a:buNone/>
                      </a:pPr>
                      <a:r>
                        <a:rPr lang="zh-CN" altLang="en-US" sz="1400" baseline="0" dirty="0">
                          <a:latin typeface="Times New Roman" panose="02020603050405020304" pitchFamily="18" charset="0"/>
                        </a:rPr>
                        <a:t>政策法规</a:t>
                      </a:r>
                      <a:endParaRPr lang="zh-CN" altLang="en-US" sz="1400" baseline="0" dirty="0">
                        <a:latin typeface="Times New Roman" panose="02020603050405020304" pitchFamily="18" charset="0"/>
                      </a:endParaRPr>
                    </a:p>
                  </a:txBody>
                  <a:tcPr anchor="ctr">
                    <a:solidFill>
                      <a:srgbClr val="004578"/>
                    </a:solidFill>
                  </a:tcPr>
                </a:tc>
              </a:tr>
              <a:tr h="543137">
                <a:tc>
                  <a:txBody>
                    <a:bodyPr/>
                    <a:lstStyle/>
                    <a:p>
                      <a:pPr algn="ctr">
                        <a:buNone/>
                      </a:pPr>
                      <a:r>
                        <a:rPr lang="zh-CN" altLang="en-US" sz="1400" baseline="0" dirty="0">
                          <a:latin typeface="Times New Roman" panose="02020603050405020304" pitchFamily="18" charset="0"/>
                        </a:rPr>
                        <a:t>美国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引领未来先进计算生态系统：战略计划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将人工智能、边缘计算等列为重点</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欧盟</a:t>
                      </a:r>
                      <a:endParaRPr lang="zh-CN" altLang="en-US" sz="1400" baseline="0" dirty="0">
                        <a:latin typeface="Times New Roman" panose="02020603050405020304" pitchFamily="18" charset="0"/>
                      </a:endParaRPr>
                    </a:p>
                  </a:txBody>
                  <a:tcPr anchor="ctr"/>
                </a:tc>
                <a:tc>
                  <a:txBody>
                    <a:bodyPr/>
                    <a:lstStyle/>
                    <a:p>
                      <a:pPr algn="just">
                        <a:buNone/>
                      </a:pPr>
                      <a:r>
                        <a:rPr lang="zh-CN" altLang="en-US" sz="1400" baseline="0" dirty="0">
                          <a:latin typeface="Times New Roman" panose="02020603050405020304" pitchFamily="18" charset="0"/>
                        </a:rPr>
                        <a:t>“欧洲共同利益重要计划”批准</a:t>
                      </a:r>
                      <a:r>
                        <a:rPr lang="en-US" altLang="zh-CN" sz="1400" baseline="0" dirty="0">
                          <a:latin typeface="Times New Roman" panose="02020603050405020304" pitchFamily="18" charset="0"/>
                        </a:rPr>
                        <a:t>15</a:t>
                      </a:r>
                      <a:r>
                        <a:rPr lang="zh-CN" altLang="en-US" sz="1400" baseline="0" dirty="0">
                          <a:latin typeface="Times New Roman" panose="02020603050405020304" pitchFamily="18" charset="0"/>
                        </a:rPr>
                        <a:t>亿欧元发展边缘计算、云边端协同技术</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日本</a:t>
                      </a:r>
                      <a:endParaRPr lang="zh-CN" altLang="en-US" sz="1400" baseline="0" dirty="0">
                        <a:latin typeface="Times New Roman" panose="02020603050405020304" pitchFamily="18" charset="0"/>
                      </a:endParaRPr>
                    </a:p>
                  </a:txBody>
                  <a:tcPr anchor="ctr"/>
                </a:tc>
                <a:tc>
                  <a:txBody>
                    <a:bodyPr/>
                    <a:lstStyle/>
                    <a:p>
                      <a:pPr algn="just">
                        <a:buNone/>
                      </a:pPr>
                      <a:r>
                        <a:rPr lang="zh-CN" altLang="en-US" sz="1400" baseline="0" dirty="0">
                          <a:latin typeface="Times New Roman" panose="02020603050405020304" pitchFamily="18" charset="0"/>
                        </a:rPr>
                        <a:t>发布“社会</a:t>
                      </a:r>
                      <a:r>
                        <a:rPr lang="en-US" altLang="zh-CN" sz="1400" baseline="0" dirty="0">
                          <a:latin typeface="Times New Roman" panose="02020603050405020304" pitchFamily="18" charset="0"/>
                        </a:rPr>
                        <a:t>5.0</a:t>
                      </a:r>
                      <a:r>
                        <a:rPr lang="zh-CN" altLang="en-US" sz="1400" baseline="0" dirty="0">
                          <a:latin typeface="Times New Roman" panose="02020603050405020304" pitchFamily="18" charset="0"/>
                        </a:rPr>
                        <a:t>”发展计划，将人工智能、边缘计算列为必须优先发展的领域</a:t>
                      </a:r>
                      <a:endParaRPr lang="zh-CN" altLang="en-US" sz="1400" baseline="0" dirty="0">
                        <a:latin typeface="Times New Roman" panose="02020603050405020304" pitchFamily="18" charset="0"/>
                      </a:endParaRPr>
                    </a:p>
                  </a:txBody>
                  <a:tcPr anchor="ctr"/>
                </a:tc>
              </a:tr>
              <a:tr h="766782">
                <a:tc>
                  <a:txBody>
                    <a:bodyPr/>
                    <a:lstStyle/>
                    <a:p>
                      <a:pPr algn="ctr">
                        <a:buNone/>
                      </a:pPr>
                      <a:r>
                        <a:rPr lang="zh-CN" altLang="en-US" sz="1400" baseline="0" dirty="0">
                          <a:latin typeface="Times New Roman" panose="02020603050405020304" pitchFamily="18" charset="0"/>
                        </a:rPr>
                        <a:t>中国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十四五”数字经济发展规划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明确提出要发展边缘计算、云边端协同、人工智能技术，提出重点领域转型升级</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中国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数字中国建设整体布局规划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提出引导云计算中心、边缘计算中心合理规划</a:t>
                      </a:r>
                      <a:endParaRPr lang="zh-CN" altLang="en-US" sz="1400" baseline="0" dirty="0">
                        <a:latin typeface="Times New Roman" panose="02020603050405020304" pitchFamily="18" charset="0"/>
                      </a:endParaRPr>
                    </a:p>
                  </a:txBody>
                  <a:tcPr anchor="ctr"/>
                </a:tc>
              </a:tr>
            </a:tbl>
          </a:graphicData>
        </a:graphic>
      </p:graphicFrame>
    </p:spTree>
    <p:custDataLst>
      <p:tags r:id="rId5"/>
    </p:custData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1366400"/>
          </a:xfrm>
          <a:prstGeom prst="rect">
            <a:avLst/>
          </a:prstGeom>
          <a:noFill/>
        </p:spPr>
        <p:txBody>
          <a:bodyPr wrap="square" rtlCol="0">
            <a:spAutoFit/>
          </a:bodyPr>
          <a:lstStyle/>
          <a:p>
            <a:pPr marL="285750" indent="-285750" algn="just" fontAlgn="auto">
              <a:lnSpc>
                <a:spcPct val="150000"/>
              </a:lnSpc>
              <a:spcBef>
                <a:spcPts val="0"/>
              </a:spcBef>
              <a:spcAft>
                <a:spcPts val="600"/>
              </a:spcAft>
              <a:buFont typeface="Wingdings" panose="05000000000000000000" pitchFamily="2" charset="2"/>
              <a:buChar char="l"/>
            </a:pPr>
            <a:r>
              <a:rPr lang="zh-CN" altLang="en-US" b="1" dirty="0">
                <a:sym typeface="+mn-ea"/>
              </a:rPr>
              <a:t>云边端协同模型训练成为趋势：</a:t>
            </a:r>
            <a:r>
              <a:rPr lang="zh-CN" altLang="en-US" dirty="0">
                <a:sym typeface="+mn-ea"/>
              </a:rPr>
              <a:t>随着边端侧硬件算力的增强、基础框架软件的发展、网络连接速度的提升，将模型训练从云侧拓展到边端侧成为趋势</a:t>
            </a:r>
            <a:endParaRPr lang="en-US" altLang="zh-CN" dirty="0">
              <a:sym typeface="+mn-ea"/>
            </a:endParaRPr>
          </a:p>
          <a:p>
            <a:pPr marL="285750" indent="-285750" algn="just" fontAlgn="auto">
              <a:lnSpc>
                <a:spcPct val="150000"/>
              </a:lnSpc>
              <a:spcBef>
                <a:spcPts val="0"/>
              </a:spcBef>
              <a:spcAft>
                <a:spcPts val="600"/>
              </a:spcAft>
              <a:buFont typeface="Wingdings" panose="05000000000000000000" pitchFamily="2" charset="2"/>
              <a:buChar char="l"/>
            </a:pPr>
            <a:r>
              <a:rPr lang="zh-CN" altLang="en-US" dirty="0">
                <a:sym typeface="+mn-ea"/>
              </a:rPr>
              <a:t>云边端协同跨域分布式训练具有</a:t>
            </a:r>
            <a:r>
              <a:rPr lang="zh-CN" altLang="en-US" b="1" dirty="0">
                <a:sym typeface="+mn-ea"/>
              </a:rPr>
              <a:t>数据隐私性好、训练成本低、模型准确度高</a:t>
            </a:r>
            <a:r>
              <a:rPr lang="zh-CN" altLang="en-US" dirty="0">
                <a:sym typeface="+mn-ea"/>
              </a:rPr>
              <a:t>等优势</a:t>
            </a:r>
            <a:endParaRPr lang="zh-CN" altLang="en-US" dirty="0">
              <a:sym typeface="+mn-ea"/>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矩形 4"/>
          <p:cNvSpPr/>
          <p:nvPr>
            <p:custDataLst>
              <p:tags r:id="rId1"/>
            </p:custDataLst>
          </p:nvPr>
        </p:nvSpPr>
        <p:spPr>
          <a:xfrm>
            <a:off x="1064577" y="2292043"/>
            <a:ext cx="7014845" cy="4180758"/>
          </a:xfrm>
          <a:prstGeom prst="rect">
            <a:avLst/>
          </a:prstGeom>
          <a:solidFill>
            <a:schemeClr val="accent1">
              <a:lumMod val="20000"/>
              <a:lumOff val="80000"/>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6" name="矩形 15"/>
          <p:cNvSpPr/>
          <p:nvPr/>
        </p:nvSpPr>
        <p:spPr>
          <a:xfrm>
            <a:off x="1160118" y="5502275"/>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云边端异构</a:t>
            </a:r>
            <a:endParaRPr lang="en-US" altLang="zh-CN" sz="1200" b="1" dirty="0">
              <a:solidFill>
                <a:schemeClr val="bg1"/>
              </a:solidFill>
              <a:latin typeface="Times New Roman" panose="02020603050405020304" pitchFamily="18" charset="0"/>
              <a:ea typeface="SimSun" panose="02010600030101010101" pitchFamily="2" charset="-122"/>
            </a:endParaRPr>
          </a:p>
          <a:p>
            <a:pPr algn="ctr"/>
            <a:r>
              <a:rPr lang="zh-CN" altLang="en-US" sz="1200" b="1" dirty="0">
                <a:solidFill>
                  <a:schemeClr val="bg1"/>
                </a:solidFill>
                <a:latin typeface="Times New Roman" panose="02020603050405020304" pitchFamily="18" charset="0"/>
                <a:ea typeface="SimSun" panose="02010600030101010101" pitchFamily="2" charset="-122"/>
              </a:rPr>
              <a:t>智算硬件</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17" name="矩形 16"/>
          <p:cNvSpPr/>
          <p:nvPr/>
        </p:nvSpPr>
        <p:spPr>
          <a:xfrm>
            <a:off x="2338728" y="5502275"/>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grpSp>
        <p:nvGrpSpPr>
          <p:cNvPr id="22" name="组合 21"/>
          <p:cNvGrpSpPr/>
          <p:nvPr/>
        </p:nvGrpSpPr>
        <p:grpSpPr>
          <a:xfrm>
            <a:off x="2419631" y="5566247"/>
            <a:ext cx="923644" cy="771013"/>
            <a:chOff x="2419631" y="5566247"/>
            <a:chExt cx="923644" cy="771013"/>
          </a:xfrm>
        </p:grpSpPr>
        <p:sp>
          <p:nvSpPr>
            <p:cNvPr id="18" name="矩形 17"/>
            <p:cNvSpPr/>
            <p:nvPr/>
          </p:nvSpPr>
          <p:spPr>
            <a:xfrm>
              <a:off x="2419631" y="556624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419631" y="610622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A100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26" name="Picture 2" descr="NVIDIA A100 | NVIDIA"/>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24881" t="7017" r="26831" b="10007"/>
            <a:stretch>
              <a:fillRect/>
            </a:stretch>
          </p:blipFill>
          <p:spPr bwMode="auto">
            <a:xfrm>
              <a:off x="2513946" y="5573404"/>
              <a:ext cx="735014"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9" name="组合 38"/>
          <p:cNvGrpSpPr/>
          <p:nvPr/>
        </p:nvGrpSpPr>
        <p:grpSpPr>
          <a:xfrm>
            <a:off x="3556958" y="5573404"/>
            <a:ext cx="923644" cy="771013"/>
            <a:chOff x="3556958" y="5573404"/>
            <a:chExt cx="923644" cy="771013"/>
          </a:xfrm>
        </p:grpSpPr>
        <p:sp>
          <p:nvSpPr>
            <p:cNvPr id="24" name="矩形 23"/>
            <p:cNvSpPr/>
            <p:nvPr/>
          </p:nvSpPr>
          <p:spPr>
            <a:xfrm>
              <a:off x="3556958" y="5573404"/>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556958" y="6113386"/>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天垓</a:t>
              </a:r>
              <a:r>
                <a:rPr lang="en-US" altLang="zh-CN" sz="900" b="1" dirty="0">
                  <a:solidFill>
                    <a:schemeClr val="tx1"/>
                  </a:solidFill>
                  <a:latin typeface="Times New Roman" panose="02020603050405020304" pitchFamily="18" charset="0"/>
                  <a:ea typeface="SimSun" panose="02010600030101010101" pitchFamily="2" charset="-122"/>
                </a:rPr>
                <a:t>100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28" name="Picture 4" descr="天数智芯通用GPU产品天垓100与飞桨完成III级兼容性测试，加速人工智能产业生态建设"/>
            <p:cNvPicPr>
              <a:picLocks noChangeAspect="1" noChangeArrowheads="1"/>
            </p:cNvPicPr>
            <p:nvPr/>
          </p:nvPicPr>
          <p:blipFill rotWithShape="1">
            <a:blip r:embed="rId4">
              <a:extLst>
                <a:ext uri="{28A0092B-C50C-407E-A947-70E740481C1C}">
                  <a14:useLocalDpi xmlns:a14="http://schemas.microsoft.com/office/drawing/2010/main" val="0"/>
                </a:ext>
              </a:extLst>
            </a:blip>
            <a:srcRect l="8477" t="11050" r="12142" b="15361"/>
            <a:stretch>
              <a:fillRect/>
            </a:stretch>
          </p:blipFill>
          <p:spPr bwMode="auto">
            <a:xfrm>
              <a:off x="3722260" y="5590470"/>
              <a:ext cx="603603"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组合 39"/>
          <p:cNvGrpSpPr/>
          <p:nvPr/>
        </p:nvGrpSpPr>
        <p:grpSpPr>
          <a:xfrm>
            <a:off x="4694285" y="5580561"/>
            <a:ext cx="923644" cy="771013"/>
            <a:chOff x="4694285" y="5580561"/>
            <a:chExt cx="923644" cy="771013"/>
          </a:xfrm>
        </p:grpSpPr>
        <p:sp>
          <p:nvSpPr>
            <p:cNvPr id="28" name="矩形 27"/>
            <p:cNvSpPr/>
            <p:nvPr/>
          </p:nvSpPr>
          <p:spPr>
            <a:xfrm>
              <a:off x="4694285" y="5580561"/>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4694285" y="6120543"/>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Jetson</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0" name="Picture 6" descr="Decatron | STEM 設備| AI 人工智能設備| NVIDIA Jetson Nano 4GB 開發套件"/>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8478" b="92033" l="7500" r="94167">
                          <a14:foregroundMark x1="77583" y1="37181" x2="71333" y2="49438"/>
                          <a14:foregroundMark x1="65250" y1="58121" x2="57750" y2="64964"/>
                          <a14:foregroundMark x1="92250" y1="43514" x2="94167" y2="43514"/>
                          <a14:foregroundMark x1="44250" y1="90092" x2="45667" y2="92033"/>
                          <a14:foregroundMark x1="11250" y1="57712" x2="7500" y2="56180"/>
                          <a14:foregroundMark x1="43333" y1="8478" x2="39083" y2="11747"/>
                        </a14:backgroundRemoval>
                      </a14:imgEffect>
                    </a14:imgLayer>
                  </a14:imgProps>
                </a:ext>
                <a:ext uri="{28A0092B-C50C-407E-A947-70E740481C1C}">
                  <a14:useLocalDpi xmlns:a14="http://schemas.microsoft.com/office/drawing/2010/main" val="0"/>
                </a:ext>
              </a:extLst>
            </a:blip>
            <a:srcRect/>
            <a:stretch>
              <a:fillRect/>
            </a:stretch>
          </p:blipFill>
          <p:spPr bwMode="auto">
            <a:xfrm>
              <a:off x="4825169" y="5580561"/>
              <a:ext cx="661875"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 name="组合 40"/>
          <p:cNvGrpSpPr/>
          <p:nvPr/>
        </p:nvGrpSpPr>
        <p:grpSpPr>
          <a:xfrm>
            <a:off x="5831612" y="5568723"/>
            <a:ext cx="923644" cy="771013"/>
            <a:chOff x="5831612" y="5568723"/>
            <a:chExt cx="923644" cy="771013"/>
          </a:xfrm>
        </p:grpSpPr>
        <p:sp>
          <p:nvSpPr>
            <p:cNvPr id="32" name="矩形 31"/>
            <p:cNvSpPr/>
            <p:nvPr/>
          </p:nvSpPr>
          <p:spPr>
            <a:xfrm>
              <a:off x="5831612" y="5568723"/>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831612" y="6108705"/>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Atlas 300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2" name="Picture 8" descr="全爱科技- Atlas 300I Pro 推理卡"/>
            <p:cNvPicPr>
              <a:picLocks noChangeAspect="1" noChangeArrowheads="1"/>
            </p:cNvPicPr>
            <p:nvPr/>
          </p:nvPicPr>
          <p:blipFill rotWithShape="1">
            <a:blip r:embed="rId7">
              <a:extLst>
                <a:ext uri="{BEBA8EAE-BF5A-486C-A8C5-ECC9F3942E4B}">
                  <a14:imgProps xmlns:a14="http://schemas.microsoft.com/office/drawing/2010/main">
                    <a14:imgLayer r:embed="rId8">
                      <a14:imgEffect>
                        <a14:backgroundRemoval t="10000" b="90000" l="10000" r="90000">
                          <a14:foregroundMark x1="55390" y1="31915" x2="53160" y2="35638"/>
                        </a14:backgroundRemoval>
                      </a14:imgEffect>
                    </a14:imgLayer>
                  </a14:imgProps>
                </a:ext>
                <a:ext uri="{28A0092B-C50C-407E-A947-70E740481C1C}">
                  <a14:useLocalDpi xmlns:a14="http://schemas.microsoft.com/office/drawing/2010/main" val="0"/>
                </a:ext>
              </a:extLst>
            </a:blip>
            <a:srcRect l="17664" t="10923" r="11754" b="19524"/>
            <a:stretch>
              <a:fillRect/>
            </a:stretch>
          </p:blipFill>
          <p:spPr bwMode="auto">
            <a:xfrm>
              <a:off x="5901389" y="5582294"/>
              <a:ext cx="78409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6" name="组合 1055"/>
          <p:cNvGrpSpPr/>
          <p:nvPr/>
        </p:nvGrpSpPr>
        <p:grpSpPr>
          <a:xfrm>
            <a:off x="6968940" y="5573404"/>
            <a:ext cx="923644" cy="771013"/>
            <a:chOff x="6968940" y="5573404"/>
            <a:chExt cx="923644" cy="771013"/>
          </a:xfrm>
        </p:grpSpPr>
        <p:sp>
          <p:nvSpPr>
            <p:cNvPr id="36" name="矩形 35"/>
            <p:cNvSpPr/>
            <p:nvPr/>
          </p:nvSpPr>
          <p:spPr>
            <a:xfrm>
              <a:off x="6968940" y="5573404"/>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6968940" y="6113386"/>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MLU270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4" name="Picture 10" descr="MLU270-S4智能加速卡"/>
            <p:cNvPicPr>
              <a:picLocks noChangeAspect="1" noChangeArrowheads="1"/>
            </p:cNvPicPr>
            <p:nvPr/>
          </p:nvPicPr>
          <p:blipFill rotWithShape="1">
            <a:blip r:embed="rId9">
              <a:extLst>
                <a:ext uri="{BEBA8EAE-BF5A-486C-A8C5-ECC9F3942E4B}">
                  <a14:imgProps xmlns:a14="http://schemas.microsoft.com/office/drawing/2010/main">
                    <a14:imgLayer r:embed="rId10">
                      <a14:imgEffect>
                        <a14:backgroundRemoval t="10000" b="90000" l="10000" r="90000">
                          <a14:foregroundMark x1="28237" y1="42909" x2="27769" y2="56000"/>
                          <a14:foregroundMark x1="25117" y1="34727" x2="25117" y2="34727"/>
                          <a14:foregroundMark x1="26989" y1="35818" x2="24337" y2="32727"/>
                          <a14:foregroundMark x1="27769" y1="35273" x2="21997" y2="33455"/>
                          <a14:foregroundMark x1="32449" y1="46909" x2="32293" y2="54727"/>
                          <a14:foregroundMark x1="32293" y1="59455" x2="32137" y2="63636"/>
                          <a14:foregroundMark x1="32293" y1="64182" x2="32605" y2="66909"/>
                        </a14:backgroundRemoval>
                      </a14:imgEffect>
                    </a14:imgLayer>
                  </a14:imgProps>
                </a:ext>
                <a:ext uri="{28A0092B-C50C-407E-A947-70E740481C1C}">
                  <a14:useLocalDpi xmlns:a14="http://schemas.microsoft.com/office/drawing/2010/main" val="0"/>
                </a:ext>
              </a:extLst>
            </a:blip>
            <a:srcRect l="19881" t="19455" r="18965" b="20618"/>
            <a:stretch>
              <a:fillRect/>
            </a:stretch>
          </p:blipFill>
          <p:spPr bwMode="auto">
            <a:xfrm>
              <a:off x="7109645" y="5574402"/>
              <a:ext cx="642233"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42" name="矩形 41"/>
          <p:cNvSpPr/>
          <p:nvPr/>
        </p:nvSpPr>
        <p:spPr>
          <a:xfrm>
            <a:off x="1160117" y="4444917"/>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云边端异构通信网络</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3" name="矩形 42"/>
          <p:cNvSpPr/>
          <p:nvPr/>
        </p:nvSpPr>
        <p:spPr>
          <a:xfrm>
            <a:off x="1160116" y="3387559"/>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云边端智能计算框架</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4" name="矩形 43"/>
          <p:cNvSpPr/>
          <p:nvPr/>
        </p:nvSpPr>
        <p:spPr>
          <a:xfrm>
            <a:off x="1160116" y="2358635"/>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云边端智能应用</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5" name="矩形 44"/>
          <p:cNvSpPr/>
          <p:nvPr/>
        </p:nvSpPr>
        <p:spPr>
          <a:xfrm>
            <a:off x="2338728" y="4444917"/>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6" name="矩形 45"/>
          <p:cNvSpPr/>
          <p:nvPr/>
        </p:nvSpPr>
        <p:spPr>
          <a:xfrm>
            <a:off x="2338728" y="3387559"/>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7" name="矩形 46"/>
          <p:cNvSpPr/>
          <p:nvPr/>
        </p:nvSpPr>
        <p:spPr>
          <a:xfrm>
            <a:off x="2338728" y="2357465"/>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grpSp>
        <p:nvGrpSpPr>
          <p:cNvPr id="58" name="组合 57"/>
          <p:cNvGrpSpPr/>
          <p:nvPr/>
        </p:nvGrpSpPr>
        <p:grpSpPr>
          <a:xfrm>
            <a:off x="6968938" y="4509970"/>
            <a:ext cx="923644" cy="771013"/>
            <a:chOff x="2419631" y="4512712"/>
            <a:chExt cx="923644" cy="771013"/>
          </a:xfrm>
        </p:grpSpPr>
        <p:sp>
          <p:nvSpPr>
            <p:cNvPr id="48" name="矩形 47"/>
            <p:cNvSpPr/>
            <p:nvPr/>
          </p:nvSpPr>
          <p:spPr>
            <a:xfrm>
              <a:off x="2419631"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矩形 48"/>
            <p:cNvSpPr/>
            <p:nvPr/>
          </p:nvSpPr>
          <p:spPr>
            <a:xfrm>
              <a:off x="2419631"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4G</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6" name="Picture 12" descr="4G LTE Only Mode - Google Play 上的应用"/>
            <p:cNvPicPr>
              <a:picLocks noChangeAspect="1" noChangeArrowheads="1"/>
            </p:cNvPicPr>
            <p:nvPr/>
          </p:nvPicPr>
          <p:blipFill rotWithShape="1">
            <a:blip r:embed="rId11">
              <a:extLst>
                <a:ext uri="{BEBA8EAE-BF5A-486C-A8C5-ECC9F3942E4B}">
                  <a14:imgProps xmlns:a14="http://schemas.microsoft.com/office/drawing/2010/main">
                    <a14:imgLayer r:embed="rId12">
                      <a14:imgEffect>
                        <a14:backgroundRemoval t="10000" b="90000" l="10000" r="90000">
                          <a14:foregroundMark x1="36889" y1="44000" x2="35556" y2="61778"/>
                          <a14:foregroundMark x1="56889" y1="45778" x2="51111" y2="58667"/>
                          <a14:foregroundMark x1="53778" y1="45778" x2="49333" y2="32000"/>
                          <a14:foregroundMark x1="49778" y1="46222" x2="56889" y2="51111"/>
                          <a14:foregroundMark x1="24889" y1="54222" x2="28444" y2="69333"/>
                          <a14:foregroundMark x1="42667" y1="48444" x2="42667" y2="48444"/>
                          <a14:foregroundMark x1="38222" y1="52444" x2="36000" y2="59556"/>
                          <a14:foregroundMark x1="25333" y1="52889" x2="44000" y2="35111"/>
                          <a14:foregroundMark x1="60889" y1="34667" x2="76000" y2="63556"/>
                          <a14:foregroundMark x1="69333" y1="33778" x2="76000" y2="37778"/>
                          <a14:foregroundMark x1="60444" y1="64889" x2="62667" y2="72000"/>
                        </a14:backgroundRemoval>
                      </a14:imgEffect>
                    </a14:imgLayer>
                  </a14:imgProps>
                </a:ext>
                <a:ext uri="{28A0092B-C50C-407E-A947-70E740481C1C}">
                  <a14:useLocalDpi xmlns:a14="http://schemas.microsoft.com/office/drawing/2010/main" val="0"/>
                </a:ext>
              </a:extLst>
            </a:blip>
            <a:srcRect l="5345" t="5362" r="4110" b="4386"/>
            <a:stretch>
              <a:fillRect/>
            </a:stretch>
          </p:blipFill>
          <p:spPr bwMode="auto">
            <a:xfrm>
              <a:off x="2610573" y="4519851"/>
              <a:ext cx="54176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9" name="组合 58"/>
          <p:cNvGrpSpPr/>
          <p:nvPr/>
        </p:nvGrpSpPr>
        <p:grpSpPr>
          <a:xfrm>
            <a:off x="3556958" y="4509970"/>
            <a:ext cx="923644" cy="771013"/>
            <a:chOff x="3556958" y="4512712"/>
            <a:chExt cx="923644" cy="771013"/>
          </a:xfrm>
        </p:grpSpPr>
        <p:sp>
          <p:nvSpPr>
            <p:cNvPr id="50" name="矩形 49"/>
            <p:cNvSpPr/>
            <p:nvPr/>
          </p:nvSpPr>
          <p:spPr>
            <a:xfrm>
              <a:off x="3556958"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56958"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5G</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8" name="Picture 14" descr="UK Disappoints in Global Comparison of 5G Mobile Broadband Speeds -  ISPreview UK"/>
            <p:cNvPicPr>
              <a:picLocks noChangeAspect="1" noChangeArrowheads="1"/>
            </p:cNvPicPr>
            <p:nvPr/>
          </p:nvPicPr>
          <p:blipFill rotWithShape="1">
            <a:blip r:embed="rId13">
              <a:extLst>
                <a:ext uri="{BEBA8EAE-BF5A-486C-A8C5-ECC9F3942E4B}">
                  <a14:imgProps xmlns:a14="http://schemas.microsoft.com/office/drawing/2010/main">
                    <a14:imgLayer r:embed="rId14">
                      <a14:imgEffect>
                        <a14:backgroundRemoval t="10000" b="90000" l="10000" r="90000">
                          <a14:foregroundMark x1="32583" y1="25250" x2="18000" y2="26083"/>
                          <a14:foregroundMark x1="27417" y1="42083" x2="27833" y2="45833"/>
                          <a14:foregroundMark x1="74583" y1="26583" x2="74583" y2="26583"/>
                          <a14:foregroundMark x1="74833" y1="19167" x2="74833" y2="19167"/>
                          <a14:foregroundMark x1="74250" y1="12167" x2="74250" y2="12167"/>
                        </a14:backgroundRemoval>
                      </a14:imgEffect>
                    </a14:imgLayer>
                  </a14:imgProps>
                </a:ext>
                <a:ext uri="{28A0092B-C50C-407E-A947-70E740481C1C}">
                  <a14:useLocalDpi xmlns:a14="http://schemas.microsoft.com/office/drawing/2010/main" val="0"/>
                </a:ext>
              </a:extLst>
            </a:blip>
            <a:srcRect l="5115" t="7023" r="3331" b="14403"/>
            <a:stretch>
              <a:fillRect/>
            </a:stretch>
          </p:blipFill>
          <p:spPr bwMode="auto">
            <a:xfrm>
              <a:off x="3710019" y="4519851"/>
              <a:ext cx="62921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0" name="组合 59"/>
          <p:cNvGrpSpPr/>
          <p:nvPr/>
        </p:nvGrpSpPr>
        <p:grpSpPr>
          <a:xfrm>
            <a:off x="4694285" y="4509970"/>
            <a:ext cx="923644" cy="771013"/>
            <a:chOff x="4694285" y="4512712"/>
            <a:chExt cx="923644" cy="771013"/>
          </a:xfrm>
        </p:grpSpPr>
        <p:sp>
          <p:nvSpPr>
            <p:cNvPr id="52" name="矩形 51"/>
            <p:cNvSpPr/>
            <p:nvPr/>
          </p:nvSpPr>
          <p:spPr>
            <a:xfrm>
              <a:off x="4694285"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4694285"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Wi-Fi</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0" name="Picture 16" descr="Wi-Fi - Wikipedia"/>
            <p:cNvPicPr>
              <a:picLocks noChangeAspect="1" noChangeArrowheads="1"/>
            </p:cNvPicPr>
            <p:nvPr/>
          </p:nvPicPr>
          <p:blipFill>
            <a:blip r:embed="rId15">
              <a:extLst>
                <a:ext uri="{BEBA8EAE-BF5A-486C-A8C5-ECC9F3942E4B}">
                  <a14:imgProps xmlns:a14="http://schemas.microsoft.com/office/drawing/2010/main">
                    <a14:imgLayer r:embed="rId16">
                      <a14:imgEffect>
                        <a14:backgroundRemoval t="6358" b="93064" l="9247" r="89384">
                          <a14:foregroundMark x1="21233" y1="47399" x2="21233" y2="47399"/>
                          <a14:foregroundMark x1="24658" y1="46821" x2="26027" y2="42197"/>
                          <a14:foregroundMark x1="27055" y1="52023" x2="33904" y2="43931"/>
                          <a14:foregroundMark x1="17123" y1="38728" x2="22945" y2="65318"/>
                          <a14:foregroundMark x1="42808" y1="34682" x2="42808" y2="34682"/>
                          <a14:foregroundMark x1="42123" y1="38728" x2="41096" y2="43353"/>
                          <a14:foregroundMark x1="41096" y1="40462" x2="41096" y2="38150"/>
                          <a14:foregroundMark x1="40411" y1="49711" x2="41096" y2="58382"/>
                          <a14:foregroundMark x1="53082" y1="43353" x2="53082" y2="62428"/>
                          <a14:foregroundMark x1="59932" y1="40462" x2="62329" y2="54335"/>
                          <a14:foregroundMark x1="60959" y1="31214" x2="69178" y2="55491"/>
                          <a14:foregroundMark x1="72260" y1="32370" x2="79795" y2="69942"/>
                          <a14:foregroundMark x1="79795" y1="69942" x2="61301" y2="70520"/>
                          <a14:foregroundMark x1="54452" y1="37572" x2="72603" y2="30058"/>
                          <a14:foregroundMark x1="72603" y1="30058" x2="80822" y2="48555"/>
                          <a14:foregroundMark x1="48630" y1="7514" x2="48630" y2="7514"/>
                          <a14:foregroundMark x1="46918" y1="93064" x2="46918" y2="93064"/>
                          <a14:foregroundMark x1="9247" y1="50867" x2="9247" y2="50867"/>
                        </a14:backgroundRemoval>
                      </a14:imgEffect>
                    </a14:imgLayer>
                  </a14:imgProps>
                </a:ext>
                <a:ext uri="{28A0092B-C50C-407E-A947-70E740481C1C}">
                  <a14:useLocalDpi xmlns:a14="http://schemas.microsoft.com/office/drawing/2010/main" val="0"/>
                </a:ext>
              </a:extLst>
            </a:blip>
            <a:srcRect/>
            <a:stretch>
              <a:fillRect/>
            </a:stretch>
          </p:blipFill>
          <p:spPr bwMode="auto">
            <a:xfrm>
              <a:off x="4706482" y="4514668"/>
              <a:ext cx="911446"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1" name="组合 60"/>
          <p:cNvGrpSpPr/>
          <p:nvPr/>
        </p:nvGrpSpPr>
        <p:grpSpPr>
          <a:xfrm>
            <a:off x="5831612" y="4506568"/>
            <a:ext cx="923644" cy="777816"/>
            <a:chOff x="5831612" y="4505909"/>
            <a:chExt cx="923644" cy="777816"/>
          </a:xfrm>
        </p:grpSpPr>
        <p:sp>
          <p:nvSpPr>
            <p:cNvPr id="54" name="矩形 53"/>
            <p:cNvSpPr/>
            <p:nvPr/>
          </p:nvSpPr>
          <p:spPr>
            <a:xfrm>
              <a:off x="5831612"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5831612"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卫星网络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2" name="Picture 18" descr="中国电信天通卫星通信将覆盖香港：华为、小米等都能用- China Telecom 中国电信- cnBeta.COM"/>
            <p:cNvPicPr>
              <a:picLocks noChangeAspect="1" noChangeArrowheads="1"/>
            </p:cNvPicPr>
            <p:nvPr/>
          </p:nvPicPr>
          <p:blipFill rotWithShape="1">
            <a:blip r:embed="rId17">
              <a:extLst>
                <a:ext uri="{BEBA8EAE-BF5A-486C-A8C5-ECC9F3942E4B}">
                  <a14:imgProps xmlns:a14="http://schemas.microsoft.com/office/drawing/2010/main">
                    <a14:imgLayer r:embed="rId18">
                      <a14:imgEffect>
                        <a14:backgroundRemoval t="10000" b="90000" l="10000" r="90000">
                          <a14:foregroundMark x1="64833" y1="18224" x2="68000" y2="30841"/>
                          <a14:foregroundMark x1="63667" y1="16355" x2="63667" y2="16355"/>
                          <a14:foregroundMark x1="62000" y1="16589" x2="62000" y2="16589"/>
                          <a14:foregroundMark x1="62500" y1="20794" x2="62500" y2="20794"/>
                          <a14:foregroundMark x1="63833" y1="25000" x2="63833" y2="25000"/>
                          <a14:foregroundMark x1="70333" y1="42991" x2="70333" y2="42991"/>
                          <a14:foregroundMark x1="70000" y1="37850" x2="70000" y2="37850"/>
                          <a14:foregroundMark x1="71167" y1="39720" x2="71167" y2="39720"/>
                          <a14:foregroundMark x1="66333" y1="15421" x2="66333" y2="15421"/>
                          <a14:foregroundMark x1="76667" y1="38084" x2="76667" y2="38084"/>
                          <a14:foregroundMark x1="74667" y1="39720" x2="74667" y2="39720"/>
                          <a14:foregroundMark x1="66667" y1="32243" x2="66667" y2="32243"/>
                          <a14:foregroundMark x1="68667" y1="35514" x2="68667" y2="35514"/>
                          <a14:foregroundMark x1="72833" y1="50000" x2="72833" y2="50000"/>
                          <a14:foregroundMark x1="57833" y1="51869" x2="57833" y2="51869"/>
                        </a14:backgroundRemoval>
                      </a14:imgEffect>
                    </a14:imgLayer>
                  </a14:imgProps>
                </a:ext>
                <a:ext uri="{28A0092B-C50C-407E-A947-70E740481C1C}">
                  <a14:useLocalDpi xmlns:a14="http://schemas.microsoft.com/office/drawing/2010/main" val="0"/>
                </a:ext>
              </a:extLst>
            </a:blip>
            <a:srcRect l="11233" t="7548" r="15573" b="18474"/>
            <a:stretch>
              <a:fillRect/>
            </a:stretch>
          </p:blipFill>
          <p:spPr bwMode="auto">
            <a:xfrm>
              <a:off x="5918937" y="4505909"/>
              <a:ext cx="748993"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4" name="组合 1023"/>
          <p:cNvGrpSpPr/>
          <p:nvPr/>
        </p:nvGrpSpPr>
        <p:grpSpPr>
          <a:xfrm>
            <a:off x="2419631" y="4509970"/>
            <a:ext cx="923644" cy="771013"/>
            <a:chOff x="6968940" y="4506552"/>
            <a:chExt cx="923644" cy="771013"/>
          </a:xfrm>
        </p:grpSpPr>
        <p:sp>
          <p:nvSpPr>
            <p:cNvPr id="56" name="矩形 55"/>
            <p:cNvSpPr/>
            <p:nvPr/>
          </p:nvSpPr>
          <p:spPr>
            <a:xfrm>
              <a:off x="6968940" y="450655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6968940" y="504653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以太网</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8" name="Picture 24" descr="百兆8口以太网交换机"/>
            <p:cNvPicPr>
              <a:picLocks noChangeAspect="1" noChangeArrowheads="1"/>
            </p:cNvPicPr>
            <p:nvPr/>
          </p:nvPicPr>
          <p:blipFill rotWithShape="1">
            <a:blip r:embed="rId19">
              <a:extLst>
                <a:ext uri="{BEBA8EAE-BF5A-486C-A8C5-ECC9F3942E4B}">
                  <a14:imgProps xmlns:a14="http://schemas.microsoft.com/office/drawing/2010/main">
                    <a14:imgLayer r:embed="rId20">
                      <a14:imgEffect>
                        <a14:backgroundRemoval t="9961" b="89844" l="3711" r="96094">
                          <a14:foregroundMark x1="7617" y1="44336" x2="7617" y2="44336"/>
                          <a14:foregroundMark x1="6836" y1="45898" x2="6836" y2="45898"/>
                          <a14:foregroundMark x1="3711" y1="43164" x2="3711" y2="43164"/>
                          <a14:foregroundMark x1="92969" y1="48047" x2="92969" y2="48047"/>
                          <a14:foregroundMark x1="96094" y1="44727" x2="96094" y2="44727"/>
                        </a14:backgroundRemoval>
                      </a14:imgEffect>
                    </a14:imgLayer>
                  </a14:imgProps>
                </a:ext>
                <a:ext uri="{28A0092B-C50C-407E-A947-70E740481C1C}">
                  <a14:useLocalDpi xmlns:a14="http://schemas.microsoft.com/office/drawing/2010/main" val="0"/>
                </a:ext>
              </a:extLst>
            </a:blip>
            <a:srcRect t="30161" b="28977"/>
            <a:stretch>
              <a:fillRect/>
            </a:stretch>
          </p:blipFill>
          <p:spPr bwMode="auto">
            <a:xfrm>
              <a:off x="7064331" y="4526221"/>
              <a:ext cx="740375"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1025" name="矩形 1024"/>
          <p:cNvSpPr/>
          <p:nvPr/>
        </p:nvSpPr>
        <p:spPr>
          <a:xfrm>
            <a:off x="2419631"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7" name="矩形 1026"/>
          <p:cNvSpPr/>
          <p:nvPr/>
        </p:nvSpPr>
        <p:spPr>
          <a:xfrm>
            <a:off x="2419631"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PyTorch</a:t>
            </a:r>
            <a:r>
              <a:rPr lang="zh-CN" altLang="en-US" sz="900" b="1" dirty="0">
                <a:solidFill>
                  <a:schemeClr val="tx1"/>
                </a:solidFill>
                <a:latin typeface="Times New Roman" panose="02020603050405020304" pitchFamily="18" charset="0"/>
                <a:ea typeface="SimSun" panose="02010600030101010101" pitchFamily="2" charset="-122"/>
              </a:rPr>
              <a:t>计算框架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29" name="矩形 1028"/>
          <p:cNvSpPr/>
          <p:nvPr/>
        </p:nvSpPr>
        <p:spPr>
          <a:xfrm>
            <a:off x="3556958"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1" name="矩形 1030"/>
          <p:cNvSpPr/>
          <p:nvPr/>
        </p:nvSpPr>
        <p:spPr>
          <a:xfrm>
            <a:off x="3556958"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Tensorflow</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33" name="矩形 1032"/>
          <p:cNvSpPr/>
          <p:nvPr/>
        </p:nvSpPr>
        <p:spPr>
          <a:xfrm>
            <a:off x="4706482"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5" name="矩形 1034"/>
          <p:cNvSpPr/>
          <p:nvPr/>
        </p:nvSpPr>
        <p:spPr>
          <a:xfrm>
            <a:off x="4706482"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MindSpore</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37" name="矩形 1036"/>
          <p:cNvSpPr/>
          <p:nvPr/>
        </p:nvSpPr>
        <p:spPr>
          <a:xfrm>
            <a:off x="5831612"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矩形 1038"/>
          <p:cNvSpPr/>
          <p:nvPr/>
        </p:nvSpPr>
        <p:spPr>
          <a:xfrm>
            <a:off x="5831612"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PaddlePaddle</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1" name="矩形 1040"/>
          <p:cNvSpPr/>
          <p:nvPr/>
        </p:nvSpPr>
        <p:spPr>
          <a:xfrm>
            <a:off x="6968940"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3" name="矩形 1042"/>
          <p:cNvSpPr/>
          <p:nvPr/>
        </p:nvSpPr>
        <p:spPr>
          <a:xfrm>
            <a:off x="6968940"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TVM</a:t>
            </a:r>
            <a:r>
              <a:rPr lang="zh-CN" altLang="en-US" sz="900" b="1" dirty="0">
                <a:solidFill>
                  <a:schemeClr val="tx1"/>
                </a:solidFill>
                <a:latin typeface="Times New Roman" panose="02020603050405020304" pitchFamily="18" charset="0"/>
                <a:ea typeface="SimSun" panose="02010600030101010101" pitchFamily="2" charset="-122"/>
              </a:rPr>
              <a:t>计算框架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4" name="矩形 1043"/>
          <p:cNvSpPr/>
          <p:nvPr/>
        </p:nvSpPr>
        <p:spPr>
          <a:xfrm>
            <a:off x="2419631"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5" name="矩形 1044"/>
          <p:cNvSpPr/>
          <p:nvPr/>
        </p:nvSpPr>
        <p:spPr>
          <a:xfrm>
            <a:off x="2419631"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智能驾驶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6" name="矩形 1045"/>
          <p:cNvSpPr/>
          <p:nvPr/>
        </p:nvSpPr>
        <p:spPr>
          <a:xfrm>
            <a:off x="3556958"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7" name="矩形 1046"/>
          <p:cNvSpPr/>
          <p:nvPr/>
        </p:nvSpPr>
        <p:spPr>
          <a:xfrm>
            <a:off x="3556958"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智能交通</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9" name="矩形 1048"/>
          <p:cNvSpPr/>
          <p:nvPr/>
        </p:nvSpPr>
        <p:spPr>
          <a:xfrm>
            <a:off x="4706482"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0" name="矩形 1049"/>
          <p:cNvSpPr/>
          <p:nvPr/>
        </p:nvSpPr>
        <p:spPr>
          <a:xfrm>
            <a:off x="4706482"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智能制造</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51" name="矩形 1050"/>
          <p:cNvSpPr/>
          <p:nvPr/>
        </p:nvSpPr>
        <p:spPr>
          <a:xfrm>
            <a:off x="5831612"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2" name="矩形 1051"/>
          <p:cNvSpPr/>
          <p:nvPr/>
        </p:nvSpPr>
        <p:spPr>
          <a:xfrm>
            <a:off x="5831612"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智能电网</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53" name="矩形 1052"/>
          <p:cNvSpPr/>
          <p:nvPr/>
        </p:nvSpPr>
        <p:spPr>
          <a:xfrm>
            <a:off x="6968940"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4" name="矩形 1053"/>
          <p:cNvSpPr/>
          <p:nvPr/>
        </p:nvSpPr>
        <p:spPr>
          <a:xfrm>
            <a:off x="6968940"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智慧农业</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55" name="Picture 26" descr="Neural Network Compression Apache TVM"/>
          <p:cNvPicPr>
            <a:picLocks noChangeAspect="1" noChangeArrowheads="1"/>
          </p:cNvPicPr>
          <p:nvPr/>
        </p:nvPicPr>
        <p:blipFill rotWithShape="1">
          <a:blip r:embed="rId21">
            <a:extLst>
              <a:ext uri="{28A0092B-C50C-407E-A947-70E740481C1C}">
                <a14:useLocalDpi xmlns:a14="http://schemas.microsoft.com/office/drawing/2010/main" val="0"/>
              </a:ext>
            </a:extLst>
          </a:blip>
          <a:srcRect l="9123" t="22141" r="6894" b="20667"/>
          <a:stretch>
            <a:fillRect/>
          </a:stretch>
        </p:blipFill>
        <p:spPr bwMode="auto">
          <a:xfrm>
            <a:off x="7034266" y="3456065"/>
            <a:ext cx="79299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3" name="Picture 28" descr="Pytorch. 接續上篇建好虛擬環境，如果覺得本篇已經看不懂的話可以先去看之前的文章，連結如下… | by Chicc | Medium"/>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59004" y="3462753"/>
            <a:ext cx="844898"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5" name="Picture 32" descr="GitHub - tensorflow/tensorflow: An Open Source Machine Learning Framework  for Everyone"/>
          <p:cNvPicPr>
            <a:picLocks noChangeAspect="1" noChangeArrowheads="1"/>
          </p:cNvPicPr>
          <p:nvPr/>
        </p:nvPicPr>
        <p:blipFill rotWithShape="1">
          <a:blip r:embed="rId23">
            <a:extLst>
              <a:ext uri="{28A0092B-C50C-407E-A947-70E740481C1C}">
                <a14:useLocalDpi xmlns:a14="http://schemas.microsoft.com/office/drawing/2010/main" val="0"/>
              </a:ext>
            </a:extLst>
          </a:blip>
          <a:srcRect l="6979" t="23377" r="73566" b="22373"/>
          <a:stretch>
            <a:fillRect/>
          </a:stretch>
        </p:blipFill>
        <p:spPr bwMode="auto">
          <a:xfrm>
            <a:off x="3740412" y="3447278"/>
            <a:ext cx="577055"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34" descr="Huawei MindSpore – Medium"/>
          <p:cNvPicPr>
            <a:picLocks noChangeAspect="1" noChangeArrowheads="1"/>
          </p:cNvPicPr>
          <p:nvPr/>
        </p:nvPicPr>
        <p:blipFill rotWithShape="1">
          <a:blip r:embed="rId24">
            <a:extLst>
              <a:ext uri="{28A0092B-C50C-407E-A947-70E740481C1C}">
                <a14:useLocalDpi xmlns:a14="http://schemas.microsoft.com/office/drawing/2010/main" val="0"/>
              </a:ext>
            </a:extLst>
          </a:blip>
          <a:srcRect l="9497" t="19259" r="10801" b="15856"/>
          <a:stretch>
            <a:fillRect/>
          </a:stretch>
        </p:blipFill>
        <p:spPr bwMode="auto">
          <a:xfrm>
            <a:off x="4867579" y="3437118"/>
            <a:ext cx="661242"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7" name="Picture 36" descr="Tengine 支持PaddlePaddle 模型部署- 极术社区- 连接开发者与智能计算生态"/>
          <p:cNvPicPr>
            <a:picLocks noChangeAspect="1" noChangeArrowheads="1"/>
          </p:cNvPicPr>
          <p:nvPr/>
        </p:nvPicPr>
        <p:blipFill rotWithShape="1">
          <a:blip r:embed="rId25">
            <a:extLst>
              <a:ext uri="{BEBA8EAE-BF5A-486C-A8C5-ECC9F3942E4B}">
                <a14:imgProps xmlns:a14="http://schemas.microsoft.com/office/drawing/2010/main">
                  <a14:imgLayer r:embed="rId26">
                    <a14:imgEffect>
                      <a14:backgroundRemoval t="10000" b="90000" l="10000" r="90000">
                        <a14:foregroundMark x1="15038" y1="51794" x2="15038" y2="51794"/>
                        <a14:foregroundMark x1="25846" y1="52242" x2="25846" y2="52242"/>
                        <a14:foregroundMark x1="29981" y1="26009" x2="29981" y2="26009"/>
                        <a14:foregroundMark x1="36936" y1="45067" x2="36936" y2="45067"/>
                        <a14:foregroundMark x1="45865" y1="37444" x2="45865" y2="37444"/>
                        <a14:foregroundMark x1="45207" y1="26457" x2="45207" y2="26457"/>
                        <a14:foregroundMark x1="60808" y1="42377" x2="60808" y2="42377"/>
                        <a14:foregroundMark x1="60432" y1="51570" x2="60432" y2="51570"/>
                        <a14:foregroundMark x1="70301" y1="45067" x2="70301" y2="45067"/>
                        <a14:foregroundMark x1="75564" y1="34529" x2="75564" y2="34529"/>
                        <a14:foregroundMark x1="74436" y1="55605" x2="74436" y2="55605"/>
                        <a14:foregroundMark x1="70959" y1="62108" x2="70959" y2="62108"/>
                        <a14:foregroundMark x1="77538" y1="61211" x2="77538" y2="61211"/>
                      </a14:backgroundRemoval>
                    </a14:imgEffect>
                  </a14:imgLayer>
                </a14:imgProps>
              </a:ext>
              <a:ext uri="{28A0092B-C50C-407E-A947-70E740481C1C}">
                <a14:useLocalDpi xmlns:a14="http://schemas.microsoft.com/office/drawing/2010/main" val="0"/>
              </a:ext>
            </a:extLst>
          </a:blip>
          <a:srcRect l="11642" t="16198" r="16500" b="23225"/>
          <a:stretch>
            <a:fillRect/>
          </a:stretch>
        </p:blipFill>
        <p:spPr bwMode="auto">
          <a:xfrm>
            <a:off x="5928153" y="3454400"/>
            <a:ext cx="742086"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38" descr="智能驾驶打造汽车和交通网络的未来（沉浸式驾乘）"/>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500865" y="2445482"/>
            <a:ext cx="761176" cy="491636"/>
          </a:xfrm>
          <a:prstGeom prst="rect">
            <a:avLst/>
          </a:prstGeom>
          <a:noFill/>
          <a:extLst>
            <a:ext uri="{909E8E84-426E-40DD-AFC4-6F175D3DCCD1}">
              <a14:hiddenFill xmlns:a14="http://schemas.microsoft.com/office/drawing/2010/main">
                <a:solidFill>
                  <a:srgbClr val="FFFFFF"/>
                </a:solidFill>
              </a14:hiddenFill>
            </a:ext>
          </a:extLst>
        </p:spPr>
      </p:pic>
      <p:pic>
        <p:nvPicPr>
          <p:cNvPr id="1079" name="Picture 40" descr="报告认为，到2035年我国智能交通产业生态将保持全球领先水平-中国科技网"/>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649823" y="2444884"/>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42" descr="智能制造“十四五”规划征求意见：核心技术攻关放到首位，2025年规上制造企业普及数字化| 界面新闻"/>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788504" y="2440298"/>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1" name="Picture 44" descr="智能电网或迎新一轮掘金潮一级市场投资逻辑显现"/>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913633" y="2440298"/>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2" name="Picture 46" descr="IIoTx农业：利用IIoT技术的“智慧农业”的未来| 村田制作所技术文章"/>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057496" y="2440298"/>
            <a:ext cx="759600" cy="4932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32"/>
    </p:custData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1366400"/>
          </a:xfrm>
          <a:prstGeom prst="rect">
            <a:avLst/>
          </a:prstGeom>
          <a:noFill/>
        </p:spPr>
        <p:txBody>
          <a:bodyPr wrap="square" rtlCol="0">
            <a:spAutoFit/>
          </a:bodyPr>
          <a:lstStyle/>
          <a:p>
            <a:pPr marL="285750" indent="-285750" algn="just" fontAlgn="auto">
              <a:lnSpc>
                <a:spcPct val="150000"/>
              </a:lnSpc>
              <a:spcBef>
                <a:spcPts val="0"/>
              </a:spcBef>
              <a:spcAft>
                <a:spcPts val="600"/>
              </a:spcAft>
              <a:buFont typeface="Wingdings" panose="05000000000000000000" pitchFamily="2" charset="2"/>
              <a:buChar char="l"/>
            </a:pPr>
            <a:r>
              <a:rPr lang="zh-CN" altLang="en-US" b="1" dirty="0">
                <a:sym typeface="+mn-ea"/>
              </a:rPr>
              <a:t>云边端协同跨域分布式训练的优势：</a:t>
            </a:r>
            <a:r>
              <a:rPr lang="zh-CN" altLang="en-US" dirty="0">
                <a:sym typeface="+mn-ea"/>
              </a:rPr>
              <a:t>数据隐私性好、训练成本低、模型准确度高等</a:t>
            </a:r>
            <a:endParaRPr lang="en-US" altLang="zh-CN" dirty="0">
              <a:sym typeface="+mn-ea"/>
            </a:endParaRPr>
          </a:p>
          <a:p>
            <a:pPr marL="285750" indent="-285750" algn="just">
              <a:lnSpc>
                <a:spcPct val="150000"/>
              </a:lnSpc>
              <a:spcAft>
                <a:spcPts val="600"/>
              </a:spcAft>
              <a:buFont typeface="Wingdings" panose="05000000000000000000" pitchFamily="2" charset="2"/>
              <a:buChar char="l"/>
            </a:pPr>
            <a:r>
              <a:rPr lang="zh-CN" altLang="en-US" b="1" dirty="0">
                <a:sym typeface="+mn-ea"/>
              </a:rPr>
              <a:t>云边端协同跨域分布式训练成为趋势：</a:t>
            </a:r>
            <a:r>
              <a:rPr lang="zh-CN" altLang="en-US" dirty="0">
                <a:sym typeface="+mn-ea"/>
              </a:rPr>
              <a:t>随着边端侧硬件算力的增强、基础框架软件的发展、网络连接速度的提升，将模型训练从云侧拓展到边端侧成为趋势</a:t>
            </a:r>
            <a:endParaRPr lang="en-US" altLang="zh-CN" dirty="0">
              <a:sym typeface="+mn-ea"/>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矩形 4"/>
          <p:cNvSpPr/>
          <p:nvPr>
            <p:custDataLst>
              <p:tags r:id="rId1"/>
            </p:custDataLst>
          </p:nvPr>
        </p:nvSpPr>
        <p:spPr>
          <a:xfrm>
            <a:off x="1064577" y="2292043"/>
            <a:ext cx="7014845" cy="4180758"/>
          </a:xfrm>
          <a:prstGeom prst="rect">
            <a:avLst/>
          </a:prstGeom>
          <a:solidFill>
            <a:schemeClr val="accent1">
              <a:lumMod val="20000"/>
              <a:lumOff val="80000"/>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6" name="矩形 15"/>
          <p:cNvSpPr/>
          <p:nvPr/>
        </p:nvSpPr>
        <p:spPr>
          <a:xfrm>
            <a:off x="1160118" y="5502275"/>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云边端异构</a:t>
            </a:r>
            <a:endParaRPr lang="en-US" altLang="zh-CN" sz="1200" b="1" dirty="0">
              <a:solidFill>
                <a:schemeClr val="bg1"/>
              </a:solidFill>
              <a:latin typeface="Times New Roman" panose="02020603050405020304" pitchFamily="18" charset="0"/>
              <a:ea typeface="SimSun" panose="02010600030101010101" pitchFamily="2" charset="-122"/>
            </a:endParaRPr>
          </a:p>
          <a:p>
            <a:pPr algn="ctr"/>
            <a:r>
              <a:rPr lang="zh-CN" altLang="en-US" sz="1200" b="1" dirty="0">
                <a:solidFill>
                  <a:schemeClr val="bg1"/>
                </a:solidFill>
                <a:latin typeface="Times New Roman" panose="02020603050405020304" pitchFamily="18" charset="0"/>
                <a:ea typeface="SimSun" panose="02010600030101010101" pitchFamily="2" charset="-122"/>
              </a:rPr>
              <a:t>智算硬件</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17" name="矩形 16"/>
          <p:cNvSpPr/>
          <p:nvPr/>
        </p:nvSpPr>
        <p:spPr>
          <a:xfrm>
            <a:off x="2338728" y="5502275"/>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grpSp>
        <p:nvGrpSpPr>
          <p:cNvPr id="22" name="组合 21"/>
          <p:cNvGrpSpPr/>
          <p:nvPr/>
        </p:nvGrpSpPr>
        <p:grpSpPr>
          <a:xfrm>
            <a:off x="2419631" y="5566247"/>
            <a:ext cx="923644" cy="771013"/>
            <a:chOff x="2419631" y="5566247"/>
            <a:chExt cx="923644" cy="771013"/>
          </a:xfrm>
        </p:grpSpPr>
        <p:sp>
          <p:nvSpPr>
            <p:cNvPr id="18" name="矩形 17"/>
            <p:cNvSpPr/>
            <p:nvPr/>
          </p:nvSpPr>
          <p:spPr>
            <a:xfrm>
              <a:off x="2419631" y="556624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419631" y="610622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A100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26" name="Picture 2" descr="NVIDIA A100 | NVIDIA"/>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24881" t="7017" r="26831" b="10007"/>
            <a:stretch>
              <a:fillRect/>
            </a:stretch>
          </p:blipFill>
          <p:spPr bwMode="auto">
            <a:xfrm>
              <a:off x="2513946" y="5573404"/>
              <a:ext cx="735014"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9" name="组合 38"/>
          <p:cNvGrpSpPr/>
          <p:nvPr/>
        </p:nvGrpSpPr>
        <p:grpSpPr>
          <a:xfrm>
            <a:off x="3556958" y="5573404"/>
            <a:ext cx="923644" cy="771013"/>
            <a:chOff x="3556958" y="5573404"/>
            <a:chExt cx="923644" cy="771013"/>
          </a:xfrm>
        </p:grpSpPr>
        <p:sp>
          <p:nvSpPr>
            <p:cNvPr id="24" name="矩形 23"/>
            <p:cNvSpPr/>
            <p:nvPr/>
          </p:nvSpPr>
          <p:spPr>
            <a:xfrm>
              <a:off x="3556958" y="5573404"/>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556958" y="6113386"/>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天垓</a:t>
              </a:r>
              <a:r>
                <a:rPr lang="en-US" altLang="zh-CN" sz="900" b="1" dirty="0">
                  <a:solidFill>
                    <a:schemeClr val="tx1"/>
                  </a:solidFill>
                  <a:latin typeface="Times New Roman" panose="02020603050405020304" pitchFamily="18" charset="0"/>
                  <a:ea typeface="SimSun" panose="02010600030101010101" pitchFamily="2" charset="-122"/>
                </a:rPr>
                <a:t>100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28" name="Picture 4" descr="天数智芯通用GPU产品天垓100与飞桨完成III级兼容性测试，加速人工智能产业生态建设"/>
            <p:cNvPicPr>
              <a:picLocks noChangeAspect="1" noChangeArrowheads="1"/>
            </p:cNvPicPr>
            <p:nvPr/>
          </p:nvPicPr>
          <p:blipFill rotWithShape="1">
            <a:blip r:embed="rId4">
              <a:extLst>
                <a:ext uri="{28A0092B-C50C-407E-A947-70E740481C1C}">
                  <a14:useLocalDpi xmlns:a14="http://schemas.microsoft.com/office/drawing/2010/main" val="0"/>
                </a:ext>
              </a:extLst>
            </a:blip>
            <a:srcRect l="8477" t="11050" r="12142" b="15361"/>
            <a:stretch>
              <a:fillRect/>
            </a:stretch>
          </p:blipFill>
          <p:spPr bwMode="auto">
            <a:xfrm>
              <a:off x="3722260" y="5590470"/>
              <a:ext cx="603603"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组合 39"/>
          <p:cNvGrpSpPr/>
          <p:nvPr/>
        </p:nvGrpSpPr>
        <p:grpSpPr>
          <a:xfrm>
            <a:off x="4694285" y="5580561"/>
            <a:ext cx="923644" cy="771013"/>
            <a:chOff x="4694285" y="5580561"/>
            <a:chExt cx="923644" cy="771013"/>
          </a:xfrm>
        </p:grpSpPr>
        <p:sp>
          <p:nvSpPr>
            <p:cNvPr id="28" name="矩形 27"/>
            <p:cNvSpPr/>
            <p:nvPr/>
          </p:nvSpPr>
          <p:spPr>
            <a:xfrm>
              <a:off x="4694285" y="5580561"/>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4694285" y="6120543"/>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Jetson</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0" name="Picture 6" descr="Decatron | STEM 設備| AI 人工智能設備| NVIDIA Jetson Nano 4GB 開發套件"/>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8478" b="92033" l="7500" r="94167">
                          <a14:foregroundMark x1="77583" y1="37181" x2="71333" y2="49438"/>
                          <a14:foregroundMark x1="65250" y1="58121" x2="57750" y2="64964"/>
                          <a14:foregroundMark x1="92250" y1="43514" x2="94167" y2="43514"/>
                          <a14:foregroundMark x1="44250" y1="90092" x2="45667" y2="92033"/>
                          <a14:foregroundMark x1="11250" y1="57712" x2="7500" y2="56180"/>
                          <a14:foregroundMark x1="43333" y1="8478" x2="39083" y2="11747"/>
                        </a14:backgroundRemoval>
                      </a14:imgEffect>
                    </a14:imgLayer>
                  </a14:imgProps>
                </a:ext>
                <a:ext uri="{28A0092B-C50C-407E-A947-70E740481C1C}">
                  <a14:useLocalDpi xmlns:a14="http://schemas.microsoft.com/office/drawing/2010/main" val="0"/>
                </a:ext>
              </a:extLst>
            </a:blip>
            <a:srcRect/>
            <a:stretch>
              <a:fillRect/>
            </a:stretch>
          </p:blipFill>
          <p:spPr bwMode="auto">
            <a:xfrm>
              <a:off x="4825169" y="5580561"/>
              <a:ext cx="661875"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 name="组合 40"/>
          <p:cNvGrpSpPr/>
          <p:nvPr/>
        </p:nvGrpSpPr>
        <p:grpSpPr>
          <a:xfrm>
            <a:off x="5831612" y="5568723"/>
            <a:ext cx="923644" cy="771013"/>
            <a:chOff x="5831612" y="5568723"/>
            <a:chExt cx="923644" cy="771013"/>
          </a:xfrm>
        </p:grpSpPr>
        <p:sp>
          <p:nvSpPr>
            <p:cNvPr id="32" name="矩形 31"/>
            <p:cNvSpPr/>
            <p:nvPr/>
          </p:nvSpPr>
          <p:spPr>
            <a:xfrm>
              <a:off x="5831612" y="5568723"/>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831612" y="6108705"/>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Atlas 300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2" name="Picture 8" descr="全爱科技- Atlas 300I Pro 推理卡"/>
            <p:cNvPicPr>
              <a:picLocks noChangeAspect="1" noChangeArrowheads="1"/>
            </p:cNvPicPr>
            <p:nvPr/>
          </p:nvPicPr>
          <p:blipFill rotWithShape="1">
            <a:blip r:embed="rId7">
              <a:extLst>
                <a:ext uri="{BEBA8EAE-BF5A-486C-A8C5-ECC9F3942E4B}">
                  <a14:imgProps xmlns:a14="http://schemas.microsoft.com/office/drawing/2010/main">
                    <a14:imgLayer r:embed="rId8">
                      <a14:imgEffect>
                        <a14:backgroundRemoval t="10000" b="90000" l="10000" r="90000">
                          <a14:foregroundMark x1="55390" y1="31915" x2="53160" y2="35638"/>
                        </a14:backgroundRemoval>
                      </a14:imgEffect>
                    </a14:imgLayer>
                  </a14:imgProps>
                </a:ext>
                <a:ext uri="{28A0092B-C50C-407E-A947-70E740481C1C}">
                  <a14:useLocalDpi xmlns:a14="http://schemas.microsoft.com/office/drawing/2010/main" val="0"/>
                </a:ext>
              </a:extLst>
            </a:blip>
            <a:srcRect l="17664" t="10923" r="11754" b="19524"/>
            <a:stretch>
              <a:fillRect/>
            </a:stretch>
          </p:blipFill>
          <p:spPr bwMode="auto">
            <a:xfrm>
              <a:off x="5901389" y="5582294"/>
              <a:ext cx="78409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6" name="组合 1055"/>
          <p:cNvGrpSpPr/>
          <p:nvPr/>
        </p:nvGrpSpPr>
        <p:grpSpPr>
          <a:xfrm>
            <a:off x="6968940" y="5573404"/>
            <a:ext cx="923644" cy="771013"/>
            <a:chOff x="6968940" y="5573404"/>
            <a:chExt cx="923644" cy="771013"/>
          </a:xfrm>
        </p:grpSpPr>
        <p:sp>
          <p:nvSpPr>
            <p:cNvPr id="36" name="矩形 35"/>
            <p:cNvSpPr/>
            <p:nvPr/>
          </p:nvSpPr>
          <p:spPr>
            <a:xfrm>
              <a:off x="6968940" y="5573404"/>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6968940" y="6113386"/>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MLU270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4" name="Picture 10" descr="MLU270-S4智能加速卡"/>
            <p:cNvPicPr>
              <a:picLocks noChangeAspect="1" noChangeArrowheads="1"/>
            </p:cNvPicPr>
            <p:nvPr/>
          </p:nvPicPr>
          <p:blipFill rotWithShape="1">
            <a:blip r:embed="rId9">
              <a:extLst>
                <a:ext uri="{BEBA8EAE-BF5A-486C-A8C5-ECC9F3942E4B}">
                  <a14:imgProps xmlns:a14="http://schemas.microsoft.com/office/drawing/2010/main">
                    <a14:imgLayer r:embed="rId10">
                      <a14:imgEffect>
                        <a14:backgroundRemoval t="10000" b="90000" l="10000" r="90000">
                          <a14:foregroundMark x1="28237" y1="42909" x2="27769" y2="56000"/>
                          <a14:foregroundMark x1="25117" y1="34727" x2="25117" y2="34727"/>
                          <a14:foregroundMark x1="26989" y1="35818" x2="24337" y2="32727"/>
                          <a14:foregroundMark x1="27769" y1="35273" x2="21997" y2="33455"/>
                          <a14:foregroundMark x1="32449" y1="46909" x2="32293" y2="54727"/>
                          <a14:foregroundMark x1="32293" y1="59455" x2="32137" y2="63636"/>
                          <a14:foregroundMark x1="32293" y1="64182" x2="32605" y2="66909"/>
                        </a14:backgroundRemoval>
                      </a14:imgEffect>
                    </a14:imgLayer>
                  </a14:imgProps>
                </a:ext>
                <a:ext uri="{28A0092B-C50C-407E-A947-70E740481C1C}">
                  <a14:useLocalDpi xmlns:a14="http://schemas.microsoft.com/office/drawing/2010/main" val="0"/>
                </a:ext>
              </a:extLst>
            </a:blip>
            <a:srcRect l="19881" t="19455" r="18965" b="20618"/>
            <a:stretch>
              <a:fillRect/>
            </a:stretch>
          </p:blipFill>
          <p:spPr bwMode="auto">
            <a:xfrm>
              <a:off x="7109645" y="5574402"/>
              <a:ext cx="642233"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42" name="矩形 41"/>
          <p:cNvSpPr/>
          <p:nvPr/>
        </p:nvSpPr>
        <p:spPr>
          <a:xfrm>
            <a:off x="1160117" y="4444917"/>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云边端异构通信网络</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3" name="矩形 42"/>
          <p:cNvSpPr/>
          <p:nvPr/>
        </p:nvSpPr>
        <p:spPr>
          <a:xfrm>
            <a:off x="1160116" y="3387559"/>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云边端智能计算框架</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4" name="矩形 43"/>
          <p:cNvSpPr/>
          <p:nvPr/>
        </p:nvSpPr>
        <p:spPr>
          <a:xfrm>
            <a:off x="1160116" y="2358635"/>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云边端智能应用</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5" name="矩形 44"/>
          <p:cNvSpPr/>
          <p:nvPr/>
        </p:nvSpPr>
        <p:spPr>
          <a:xfrm>
            <a:off x="2338728" y="4444917"/>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6" name="矩形 45"/>
          <p:cNvSpPr/>
          <p:nvPr/>
        </p:nvSpPr>
        <p:spPr>
          <a:xfrm>
            <a:off x="2338728" y="3387559"/>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7" name="矩形 46"/>
          <p:cNvSpPr/>
          <p:nvPr/>
        </p:nvSpPr>
        <p:spPr>
          <a:xfrm>
            <a:off x="2338728" y="2357465"/>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grpSp>
        <p:nvGrpSpPr>
          <p:cNvPr id="58" name="组合 57"/>
          <p:cNvGrpSpPr/>
          <p:nvPr/>
        </p:nvGrpSpPr>
        <p:grpSpPr>
          <a:xfrm>
            <a:off x="6968938" y="4509970"/>
            <a:ext cx="923644" cy="771013"/>
            <a:chOff x="2419631" y="4512712"/>
            <a:chExt cx="923644" cy="771013"/>
          </a:xfrm>
        </p:grpSpPr>
        <p:sp>
          <p:nvSpPr>
            <p:cNvPr id="48" name="矩形 47"/>
            <p:cNvSpPr/>
            <p:nvPr/>
          </p:nvSpPr>
          <p:spPr>
            <a:xfrm>
              <a:off x="2419631"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矩形 48"/>
            <p:cNvSpPr/>
            <p:nvPr/>
          </p:nvSpPr>
          <p:spPr>
            <a:xfrm>
              <a:off x="2419631"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4G</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6" name="Picture 12" descr="4G LTE Only Mode - Google Play 上的应用"/>
            <p:cNvPicPr>
              <a:picLocks noChangeAspect="1" noChangeArrowheads="1"/>
            </p:cNvPicPr>
            <p:nvPr/>
          </p:nvPicPr>
          <p:blipFill rotWithShape="1">
            <a:blip r:embed="rId11">
              <a:extLst>
                <a:ext uri="{BEBA8EAE-BF5A-486C-A8C5-ECC9F3942E4B}">
                  <a14:imgProps xmlns:a14="http://schemas.microsoft.com/office/drawing/2010/main">
                    <a14:imgLayer r:embed="rId12">
                      <a14:imgEffect>
                        <a14:backgroundRemoval t="10000" b="90000" l="10000" r="90000">
                          <a14:foregroundMark x1="36889" y1="44000" x2="35556" y2="61778"/>
                          <a14:foregroundMark x1="56889" y1="45778" x2="51111" y2="58667"/>
                          <a14:foregroundMark x1="53778" y1="45778" x2="49333" y2="32000"/>
                          <a14:foregroundMark x1="49778" y1="46222" x2="56889" y2="51111"/>
                          <a14:foregroundMark x1="24889" y1="54222" x2="28444" y2="69333"/>
                          <a14:foregroundMark x1="42667" y1="48444" x2="42667" y2="48444"/>
                          <a14:foregroundMark x1="38222" y1="52444" x2="36000" y2="59556"/>
                          <a14:foregroundMark x1="25333" y1="52889" x2="44000" y2="35111"/>
                          <a14:foregroundMark x1="60889" y1="34667" x2="76000" y2="63556"/>
                          <a14:foregroundMark x1="69333" y1="33778" x2="76000" y2="37778"/>
                          <a14:foregroundMark x1="60444" y1="64889" x2="62667" y2="72000"/>
                        </a14:backgroundRemoval>
                      </a14:imgEffect>
                    </a14:imgLayer>
                  </a14:imgProps>
                </a:ext>
                <a:ext uri="{28A0092B-C50C-407E-A947-70E740481C1C}">
                  <a14:useLocalDpi xmlns:a14="http://schemas.microsoft.com/office/drawing/2010/main" val="0"/>
                </a:ext>
              </a:extLst>
            </a:blip>
            <a:srcRect l="5345" t="5362" r="4110" b="4386"/>
            <a:stretch>
              <a:fillRect/>
            </a:stretch>
          </p:blipFill>
          <p:spPr bwMode="auto">
            <a:xfrm>
              <a:off x="2610573" y="4519851"/>
              <a:ext cx="54176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9" name="组合 58"/>
          <p:cNvGrpSpPr/>
          <p:nvPr/>
        </p:nvGrpSpPr>
        <p:grpSpPr>
          <a:xfrm>
            <a:off x="3556958" y="4509970"/>
            <a:ext cx="923644" cy="771013"/>
            <a:chOff x="3556958" y="4512712"/>
            <a:chExt cx="923644" cy="771013"/>
          </a:xfrm>
        </p:grpSpPr>
        <p:sp>
          <p:nvSpPr>
            <p:cNvPr id="50" name="矩形 49"/>
            <p:cNvSpPr/>
            <p:nvPr/>
          </p:nvSpPr>
          <p:spPr>
            <a:xfrm>
              <a:off x="3556958"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56958"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5G</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8" name="Picture 14" descr="UK Disappoints in Global Comparison of 5G Mobile Broadband Speeds -  ISPreview UK"/>
            <p:cNvPicPr>
              <a:picLocks noChangeAspect="1" noChangeArrowheads="1"/>
            </p:cNvPicPr>
            <p:nvPr/>
          </p:nvPicPr>
          <p:blipFill rotWithShape="1">
            <a:blip r:embed="rId13">
              <a:extLst>
                <a:ext uri="{BEBA8EAE-BF5A-486C-A8C5-ECC9F3942E4B}">
                  <a14:imgProps xmlns:a14="http://schemas.microsoft.com/office/drawing/2010/main">
                    <a14:imgLayer r:embed="rId14">
                      <a14:imgEffect>
                        <a14:backgroundRemoval t="10000" b="90000" l="10000" r="90000">
                          <a14:foregroundMark x1="32583" y1="25250" x2="18000" y2="26083"/>
                          <a14:foregroundMark x1="27417" y1="42083" x2="27833" y2="45833"/>
                          <a14:foregroundMark x1="74583" y1="26583" x2="74583" y2="26583"/>
                          <a14:foregroundMark x1="74833" y1="19167" x2="74833" y2="19167"/>
                          <a14:foregroundMark x1="74250" y1="12167" x2="74250" y2="12167"/>
                        </a14:backgroundRemoval>
                      </a14:imgEffect>
                    </a14:imgLayer>
                  </a14:imgProps>
                </a:ext>
                <a:ext uri="{28A0092B-C50C-407E-A947-70E740481C1C}">
                  <a14:useLocalDpi xmlns:a14="http://schemas.microsoft.com/office/drawing/2010/main" val="0"/>
                </a:ext>
              </a:extLst>
            </a:blip>
            <a:srcRect l="5115" t="7023" r="3331" b="14403"/>
            <a:stretch>
              <a:fillRect/>
            </a:stretch>
          </p:blipFill>
          <p:spPr bwMode="auto">
            <a:xfrm>
              <a:off x="3710019" y="4519851"/>
              <a:ext cx="62921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0" name="组合 59"/>
          <p:cNvGrpSpPr/>
          <p:nvPr/>
        </p:nvGrpSpPr>
        <p:grpSpPr>
          <a:xfrm>
            <a:off x="4694285" y="4509970"/>
            <a:ext cx="923644" cy="771013"/>
            <a:chOff x="4694285" y="4512712"/>
            <a:chExt cx="923644" cy="771013"/>
          </a:xfrm>
        </p:grpSpPr>
        <p:sp>
          <p:nvSpPr>
            <p:cNvPr id="52" name="矩形 51"/>
            <p:cNvSpPr/>
            <p:nvPr/>
          </p:nvSpPr>
          <p:spPr>
            <a:xfrm>
              <a:off x="4694285"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4694285"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Wi-Fi</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0" name="Picture 16" descr="Wi-Fi - Wikipedia"/>
            <p:cNvPicPr>
              <a:picLocks noChangeAspect="1" noChangeArrowheads="1"/>
            </p:cNvPicPr>
            <p:nvPr/>
          </p:nvPicPr>
          <p:blipFill>
            <a:blip r:embed="rId15">
              <a:extLst>
                <a:ext uri="{BEBA8EAE-BF5A-486C-A8C5-ECC9F3942E4B}">
                  <a14:imgProps xmlns:a14="http://schemas.microsoft.com/office/drawing/2010/main">
                    <a14:imgLayer r:embed="rId16">
                      <a14:imgEffect>
                        <a14:backgroundRemoval t="6358" b="93064" l="9247" r="89384">
                          <a14:foregroundMark x1="21233" y1="47399" x2="21233" y2="47399"/>
                          <a14:foregroundMark x1="24658" y1="46821" x2="26027" y2="42197"/>
                          <a14:foregroundMark x1="27055" y1="52023" x2="33904" y2="43931"/>
                          <a14:foregroundMark x1="17123" y1="38728" x2="22945" y2="65318"/>
                          <a14:foregroundMark x1="42808" y1="34682" x2="42808" y2="34682"/>
                          <a14:foregroundMark x1="42123" y1="38728" x2="41096" y2="43353"/>
                          <a14:foregroundMark x1="41096" y1="40462" x2="41096" y2="38150"/>
                          <a14:foregroundMark x1="40411" y1="49711" x2="41096" y2="58382"/>
                          <a14:foregroundMark x1="53082" y1="43353" x2="53082" y2="62428"/>
                          <a14:foregroundMark x1="59932" y1="40462" x2="62329" y2="54335"/>
                          <a14:foregroundMark x1="60959" y1="31214" x2="69178" y2="55491"/>
                          <a14:foregroundMark x1="72260" y1="32370" x2="79795" y2="69942"/>
                          <a14:foregroundMark x1="79795" y1="69942" x2="61301" y2="70520"/>
                          <a14:foregroundMark x1="54452" y1="37572" x2="72603" y2="30058"/>
                          <a14:foregroundMark x1="72603" y1="30058" x2="80822" y2="48555"/>
                          <a14:foregroundMark x1="48630" y1="7514" x2="48630" y2="7514"/>
                          <a14:foregroundMark x1="46918" y1="93064" x2="46918" y2="93064"/>
                          <a14:foregroundMark x1="9247" y1="50867" x2="9247" y2="50867"/>
                        </a14:backgroundRemoval>
                      </a14:imgEffect>
                    </a14:imgLayer>
                  </a14:imgProps>
                </a:ext>
                <a:ext uri="{28A0092B-C50C-407E-A947-70E740481C1C}">
                  <a14:useLocalDpi xmlns:a14="http://schemas.microsoft.com/office/drawing/2010/main" val="0"/>
                </a:ext>
              </a:extLst>
            </a:blip>
            <a:srcRect/>
            <a:stretch>
              <a:fillRect/>
            </a:stretch>
          </p:blipFill>
          <p:spPr bwMode="auto">
            <a:xfrm>
              <a:off x="4706482" y="4514668"/>
              <a:ext cx="911446"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1" name="组合 60"/>
          <p:cNvGrpSpPr/>
          <p:nvPr/>
        </p:nvGrpSpPr>
        <p:grpSpPr>
          <a:xfrm>
            <a:off x="5831612" y="4506568"/>
            <a:ext cx="923644" cy="777816"/>
            <a:chOff x="5831612" y="4505909"/>
            <a:chExt cx="923644" cy="777816"/>
          </a:xfrm>
        </p:grpSpPr>
        <p:sp>
          <p:nvSpPr>
            <p:cNvPr id="54" name="矩形 53"/>
            <p:cNvSpPr/>
            <p:nvPr/>
          </p:nvSpPr>
          <p:spPr>
            <a:xfrm>
              <a:off x="5831612"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5831612"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卫星网络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2" name="Picture 18" descr="中国电信天通卫星通信将覆盖香港：华为、小米等都能用- China Telecom 中国电信- cnBeta.COM"/>
            <p:cNvPicPr>
              <a:picLocks noChangeAspect="1" noChangeArrowheads="1"/>
            </p:cNvPicPr>
            <p:nvPr/>
          </p:nvPicPr>
          <p:blipFill rotWithShape="1">
            <a:blip r:embed="rId17">
              <a:extLst>
                <a:ext uri="{BEBA8EAE-BF5A-486C-A8C5-ECC9F3942E4B}">
                  <a14:imgProps xmlns:a14="http://schemas.microsoft.com/office/drawing/2010/main">
                    <a14:imgLayer r:embed="rId18">
                      <a14:imgEffect>
                        <a14:backgroundRemoval t="10000" b="90000" l="10000" r="90000">
                          <a14:foregroundMark x1="64833" y1="18224" x2="68000" y2="30841"/>
                          <a14:foregroundMark x1="63667" y1="16355" x2="63667" y2="16355"/>
                          <a14:foregroundMark x1="62000" y1="16589" x2="62000" y2="16589"/>
                          <a14:foregroundMark x1="62500" y1="20794" x2="62500" y2="20794"/>
                          <a14:foregroundMark x1="63833" y1="25000" x2="63833" y2="25000"/>
                          <a14:foregroundMark x1="70333" y1="42991" x2="70333" y2="42991"/>
                          <a14:foregroundMark x1="70000" y1="37850" x2="70000" y2="37850"/>
                          <a14:foregroundMark x1="71167" y1="39720" x2="71167" y2="39720"/>
                          <a14:foregroundMark x1="66333" y1="15421" x2="66333" y2="15421"/>
                          <a14:foregroundMark x1="76667" y1="38084" x2="76667" y2="38084"/>
                          <a14:foregroundMark x1="74667" y1="39720" x2="74667" y2="39720"/>
                          <a14:foregroundMark x1="66667" y1="32243" x2="66667" y2="32243"/>
                          <a14:foregroundMark x1="68667" y1="35514" x2="68667" y2="35514"/>
                          <a14:foregroundMark x1="72833" y1="50000" x2="72833" y2="50000"/>
                          <a14:foregroundMark x1="57833" y1="51869" x2="57833" y2="51869"/>
                        </a14:backgroundRemoval>
                      </a14:imgEffect>
                    </a14:imgLayer>
                  </a14:imgProps>
                </a:ext>
                <a:ext uri="{28A0092B-C50C-407E-A947-70E740481C1C}">
                  <a14:useLocalDpi xmlns:a14="http://schemas.microsoft.com/office/drawing/2010/main" val="0"/>
                </a:ext>
              </a:extLst>
            </a:blip>
            <a:srcRect l="11233" t="7548" r="15573" b="18474"/>
            <a:stretch>
              <a:fillRect/>
            </a:stretch>
          </p:blipFill>
          <p:spPr bwMode="auto">
            <a:xfrm>
              <a:off x="5918937" y="4505909"/>
              <a:ext cx="748993"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4" name="组合 1023"/>
          <p:cNvGrpSpPr/>
          <p:nvPr/>
        </p:nvGrpSpPr>
        <p:grpSpPr>
          <a:xfrm>
            <a:off x="2419631" y="4509970"/>
            <a:ext cx="923644" cy="771013"/>
            <a:chOff x="6968940" y="4506552"/>
            <a:chExt cx="923644" cy="771013"/>
          </a:xfrm>
        </p:grpSpPr>
        <p:sp>
          <p:nvSpPr>
            <p:cNvPr id="56" name="矩形 55"/>
            <p:cNvSpPr/>
            <p:nvPr/>
          </p:nvSpPr>
          <p:spPr>
            <a:xfrm>
              <a:off x="6968940" y="450655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6968940" y="504653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以太网</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8" name="Picture 24" descr="百兆8口以太网交换机"/>
            <p:cNvPicPr>
              <a:picLocks noChangeAspect="1" noChangeArrowheads="1"/>
            </p:cNvPicPr>
            <p:nvPr/>
          </p:nvPicPr>
          <p:blipFill rotWithShape="1">
            <a:blip r:embed="rId19">
              <a:extLst>
                <a:ext uri="{BEBA8EAE-BF5A-486C-A8C5-ECC9F3942E4B}">
                  <a14:imgProps xmlns:a14="http://schemas.microsoft.com/office/drawing/2010/main">
                    <a14:imgLayer r:embed="rId20">
                      <a14:imgEffect>
                        <a14:backgroundRemoval t="9961" b="89844" l="3711" r="96094">
                          <a14:foregroundMark x1="7617" y1="44336" x2="7617" y2="44336"/>
                          <a14:foregroundMark x1="6836" y1="45898" x2="6836" y2="45898"/>
                          <a14:foregroundMark x1="3711" y1="43164" x2="3711" y2="43164"/>
                          <a14:foregroundMark x1="92969" y1="48047" x2="92969" y2="48047"/>
                          <a14:foregroundMark x1="96094" y1="44727" x2="96094" y2="44727"/>
                        </a14:backgroundRemoval>
                      </a14:imgEffect>
                    </a14:imgLayer>
                  </a14:imgProps>
                </a:ext>
                <a:ext uri="{28A0092B-C50C-407E-A947-70E740481C1C}">
                  <a14:useLocalDpi xmlns:a14="http://schemas.microsoft.com/office/drawing/2010/main" val="0"/>
                </a:ext>
              </a:extLst>
            </a:blip>
            <a:srcRect t="30161" b="28977"/>
            <a:stretch>
              <a:fillRect/>
            </a:stretch>
          </p:blipFill>
          <p:spPr bwMode="auto">
            <a:xfrm>
              <a:off x="7064331" y="4526221"/>
              <a:ext cx="740375"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1025" name="矩形 1024"/>
          <p:cNvSpPr/>
          <p:nvPr/>
        </p:nvSpPr>
        <p:spPr>
          <a:xfrm>
            <a:off x="2419631"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7" name="矩形 1026"/>
          <p:cNvSpPr/>
          <p:nvPr/>
        </p:nvSpPr>
        <p:spPr>
          <a:xfrm>
            <a:off x="2419631"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PyTorch</a:t>
            </a:r>
            <a:r>
              <a:rPr lang="zh-CN" altLang="en-US" sz="900" b="1" dirty="0">
                <a:solidFill>
                  <a:schemeClr val="tx1"/>
                </a:solidFill>
                <a:latin typeface="Times New Roman" panose="02020603050405020304" pitchFamily="18" charset="0"/>
                <a:ea typeface="SimSun" panose="02010600030101010101" pitchFamily="2" charset="-122"/>
              </a:rPr>
              <a:t>计算框架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29" name="矩形 1028"/>
          <p:cNvSpPr/>
          <p:nvPr/>
        </p:nvSpPr>
        <p:spPr>
          <a:xfrm>
            <a:off x="3556958"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1" name="矩形 1030"/>
          <p:cNvSpPr/>
          <p:nvPr/>
        </p:nvSpPr>
        <p:spPr>
          <a:xfrm>
            <a:off x="3556958"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Tensorflow</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33" name="矩形 1032"/>
          <p:cNvSpPr/>
          <p:nvPr/>
        </p:nvSpPr>
        <p:spPr>
          <a:xfrm>
            <a:off x="4706482"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5" name="矩形 1034"/>
          <p:cNvSpPr/>
          <p:nvPr/>
        </p:nvSpPr>
        <p:spPr>
          <a:xfrm>
            <a:off x="4706482"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MindSpore</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37" name="矩形 1036"/>
          <p:cNvSpPr/>
          <p:nvPr/>
        </p:nvSpPr>
        <p:spPr>
          <a:xfrm>
            <a:off x="5831612"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矩形 1038"/>
          <p:cNvSpPr/>
          <p:nvPr/>
        </p:nvSpPr>
        <p:spPr>
          <a:xfrm>
            <a:off x="5831612"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PaddlePaddle</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1" name="矩形 1040"/>
          <p:cNvSpPr/>
          <p:nvPr/>
        </p:nvSpPr>
        <p:spPr>
          <a:xfrm>
            <a:off x="6968940"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3" name="矩形 1042"/>
          <p:cNvSpPr/>
          <p:nvPr/>
        </p:nvSpPr>
        <p:spPr>
          <a:xfrm>
            <a:off x="6968940"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TVM</a:t>
            </a:r>
            <a:r>
              <a:rPr lang="zh-CN" altLang="en-US" sz="900" b="1" dirty="0">
                <a:solidFill>
                  <a:schemeClr val="tx1"/>
                </a:solidFill>
                <a:latin typeface="Times New Roman" panose="02020603050405020304" pitchFamily="18" charset="0"/>
                <a:ea typeface="SimSun" panose="02010600030101010101" pitchFamily="2" charset="-122"/>
              </a:rPr>
              <a:t>计算框架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4" name="矩形 1043"/>
          <p:cNvSpPr/>
          <p:nvPr/>
        </p:nvSpPr>
        <p:spPr>
          <a:xfrm>
            <a:off x="2419631"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5" name="矩形 1044"/>
          <p:cNvSpPr/>
          <p:nvPr/>
        </p:nvSpPr>
        <p:spPr>
          <a:xfrm>
            <a:off x="2419631"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智能驾驶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6" name="矩形 1045"/>
          <p:cNvSpPr/>
          <p:nvPr/>
        </p:nvSpPr>
        <p:spPr>
          <a:xfrm>
            <a:off x="3556958"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7" name="矩形 1046"/>
          <p:cNvSpPr/>
          <p:nvPr/>
        </p:nvSpPr>
        <p:spPr>
          <a:xfrm>
            <a:off x="3556958"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智能交通</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9" name="矩形 1048"/>
          <p:cNvSpPr/>
          <p:nvPr/>
        </p:nvSpPr>
        <p:spPr>
          <a:xfrm>
            <a:off x="4706482"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0" name="矩形 1049"/>
          <p:cNvSpPr/>
          <p:nvPr/>
        </p:nvSpPr>
        <p:spPr>
          <a:xfrm>
            <a:off x="4706482"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智能制造</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51" name="矩形 1050"/>
          <p:cNvSpPr/>
          <p:nvPr/>
        </p:nvSpPr>
        <p:spPr>
          <a:xfrm>
            <a:off x="5831612"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2" name="矩形 1051"/>
          <p:cNvSpPr/>
          <p:nvPr/>
        </p:nvSpPr>
        <p:spPr>
          <a:xfrm>
            <a:off x="5831612"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智能电网</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53" name="矩形 1052"/>
          <p:cNvSpPr/>
          <p:nvPr/>
        </p:nvSpPr>
        <p:spPr>
          <a:xfrm>
            <a:off x="6968940"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4" name="矩形 1053"/>
          <p:cNvSpPr/>
          <p:nvPr/>
        </p:nvSpPr>
        <p:spPr>
          <a:xfrm>
            <a:off x="6968940"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智慧农业</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55" name="Picture 26" descr="Neural Network Compression Apache TVM"/>
          <p:cNvPicPr>
            <a:picLocks noChangeAspect="1" noChangeArrowheads="1"/>
          </p:cNvPicPr>
          <p:nvPr/>
        </p:nvPicPr>
        <p:blipFill rotWithShape="1">
          <a:blip r:embed="rId21">
            <a:extLst>
              <a:ext uri="{28A0092B-C50C-407E-A947-70E740481C1C}">
                <a14:useLocalDpi xmlns:a14="http://schemas.microsoft.com/office/drawing/2010/main" val="0"/>
              </a:ext>
            </a:extLst>
          </a:blip>
          <a:srcRect l="9123" t="22141" r="6894" b="20667"/>
          <a:stretch>
            <a:fillRect/>
          </a:stretch>
        </p:blipFill>
        <p:spPr bwMode="auto">
          <a:xfrm>
            <a:off x="7034266" y="3456065"/>
            <a:ext cx="79299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3" name="Picture 28" descr="Pytorch. 接續上篇建好虛擬環境，如果覺得本篇已經看不懂的話可以先去看之前的文章，連結如下… | by Chicc | Medium"/>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59004" y="3462753"/>
            <a:ext cx="844898"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5" name="Picture 32" descr="GitHub - tensorflow/tensorflow: An Open Source Machine Learning Framework  for Everyone"/>
          <p:cNvPicPr>
            <a:picLocks noChangeAspect="1" noChangeArrowheads="1"/>
          </p:cNvPicPr>
          <p:nvPr/>
        </p:nvPicPr>
        <p:blipFill rotWithShape="1">
          <a:blip r:embed="rId23">
            <a:extLst>
              <a:ext uri="{28A0092B-C50C-407E-A947-70E740481C1C}">
                <a14:useLocalDpi xmlns:a14="http://schemas.microsoft.com/office/drawing/2010/main" val="0"/>
              </a:ext>
            </a:extLst>
          </a:blip>
          <a:srcRect l="6979" t="23377" r="73566" b="22373"/>
          <a:stretch>
            <a:fillRect/>
          </a:stretch>
        </p:blipFill>
        <p:spPr bwMode="auto">
          <a:xfrm>
            <a:off x="3740412" y="3447278"/>
            <a:ext cx="577055"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34" descr="Huawei MindSpore – Medium"/>
          <p:cNvPicPr>
            <a:picLocks noChangeAspect="1" noChangeArrowheads="1"/>
          </p:cNvPicPr>
          <p:nvPr/>
        </p:nvPicPr>
        <p:blipFill rotWithShape="1">
          <a:blip r:embed="rId24">
            <a:extLst>
              <a:ext uri="{28A0092B-C50C-407E-A947-70E740481C1C}">
                <a14:useLocalDpi xmlns:a14="http://schemas.microsoft.com/office/drawing/2010/main" val="0"/>
              </a:ext>
            </a:extLst>
          </a:blip>
          <a:srcRect l="9497" t="19259" r="10801" b="15856"/>
          <a:stretch>
            <a:fillRect/>
          </a:stretch>
        </p:blipFill>
        <p:spPr bwMode="auto">
          <a:xfrm>
            <a:off x="4867579" y="3437118"/>
            <a:ext cx="661242"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7" name="Picture 36" descr="Tengine 支持PaddlePaddle 模型部署- 极术社区- 连接开发者与智能计算生态"/>
          <p:cNvPicPr>
            <a:picLocks noChangeAspect="1" noChangeArrowheads="1"/>
          </p:cNvPicPr>
          <p:nvPr/>
        </p:nvPicPr>
        <p:blipFill rotWithShape="1">
          <a:blip r:embed="rId25">
            <a:extLst>
              <a:ext uri="{BEBA8EAE-BF5A-486C-A8C5-ECC9F3942E4B}">
                <a14:imgProps xmlns:a14="http://schemas.microsoft.com/office/drawing/2010/main">
                  <a14:imgLayer r:embed="rId26">
                    <a14:imgEffect>
                      <a14:backgroundRemoval t="10000" b="90000" l="10000" r="90000">
                        <a14:foregroundMark x1="15038" y1="51794" x2="15038" y2="51794"/>
                        <a14:foregroundMark x1="25846" y1="52242" x2="25846" y2="52242"/>
                        <a14:foregroundMark x1="29981" y1="26009" x2="29981" y2="26009"/>
                        <a14:foregroundMark x1="36936" y1="45067" x2="36936" y2="45067"/>
                        <a14:foregroundMark x1="45865" y1="37444" x2="45865" y2="37444"/>
                        <a14:foregroundMark x1="45207" y1="26457" x2="45207" y2="26457"/>
                        <a14:foregroundMark x1="60808" y1="42377" x2="60808" y2="42377"/>
                        <a14:foregroundMark x1="60432" y1="51570" x2="60432" y2="51570"/>
                        <a14:foregroundMark x1="70301" y1="45067" x2="70301" y2="45067"/>
                        <a14:foregroundMark x1="75564" y1="34529" x2="75564" y2="34529"/>
                        <a14:foregroundMark x1="74436" y1="55605" x2="74436" y2="55605"/>
                        <a14:foregroundMark x1="70959" y1="62108" x2="70959" y2="62108"/>
                        <a14:foregroundMark x1="77538" y1="61211" x2="77538" y2="61211"/>
                      </a14:backgroundRemoval>
                    </a14:imgEffect>
                  </a14:imgLayer>
                </a14:imgProps>
              </a:ext>
              <a:ext uri="{28A0092B-C50C-407E-A947-70E740481C1C}">
                <a14:useLocalDpi xmlns:a14="http://schemas.microsoft.com/office/drawing/2010/main" val="0"/>
              </a:ext>
            </a:extLst>
          </a:blip>
          <a:srcRect l="11642" t="16198" r="16500" b="23225"/>
          <a:stretch>
            <a:fillRect/>
          </a:stretch>
        </p:blipFill>
        <p:spPr bwMode="auto">
          <a:xfrm>
            <a:off x="5928153" y="3454400"/>
            <a:ext cx="742086"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38" descr="智能驾驶打造汽车和交通网络的未来（沉浸式驾乘）"/>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500865" y="2445482"/>
            <a:ext cx="761176" cy="491636"/>
          </a:xfrm>
          <a:prstGeom prst="rect">
            <a:avLst/>
          </a:prstGeom>
          <a:noFill/>
          <a:extLst>
            <a:ext uri="{909E8E84-426E-40DD-AFC4-6F175D3DCCD1}">
              <a14:hiddenFill xmlns:a14="http://schemas.microsoft.com/office/drawing/2010/main">
                <a:solidFill>
                  <a:srgbClr val="FFFFFF"/>
                </a:solidFill>
              </a14:hiddenFill>
            </a:ext>
          </a:extLst>
        </p:spPr>
      </p:pic>
      <p:pic>
        <p:nvPicPr>
          <p:cNvPr id="1079" name="Picture 40" descr="报告认为，到2035年我国智能交通产业生态将保持全球领先水平-中国科技网"/>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649823" y="2444884"/>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42" descr="智能制造“十四五”规划征求意见：核心技术攻关放到首位，2025年规上制造企业普及数字化| 界面新闻"/>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788504" y="2440298"/>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1" name="Picture 44" descr="智能电网或迎新一轮掘金潮一级市场投资逻辑显现"/>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913633" y="2440298"/>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2" name="Picture 46" descr="IIoTx农业：利用IIoT技术的“智慧农业”的未来| 村田制作所技术文章"/>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057496" y="2440298"/>
            <a:ext cx="759600" cy="4932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32"/>
    </p:custData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1781898"/>
          </a:xfrm>
          <a:prstGeom prst="rect">
            <a:avLst/>
          </a:prstGeom>
          <a:noFill/>
        </p:spPr>
        <p:txBody>
          <a:bodyPr wrap="square" rtlCol="0">
            <a:spAutoFit/>
          </a:bodyPr>
          <a:lstStyle/>
          <a:p>
            <a:pPr marL="285750" indent="-285750" algn="just" fontAlgn="auto">
              <a:lnSpc>
                <a:spcPct val="150000"/>
              </a:lnSpc>
              <a:spcBef>
                <a:spcPts val="0"/>
              </a:spcBef>
              <a:spcAft>
                <a:spcPts val="600"/>
              </a:spcAft>
              <a:buFont typeface="Wingdings" panose="05000000000000000000" pitchFamily="2" charset="2"/>
              <a:buChar char="l"/>
            </a:pPr>
            <a:r>
              <a:rPr lang="zh-CN" altLang="en-US" b="1" dirty="0"/>
              <a:t>云边端跨域计算环境成为全球研究和竞争的焦点：</a:t>
            </a:r>
            <a:r>
              <a:rPr lang="zh-CN" altLang="en-US" dirty="0"/>
              <a:t>云边端跨域计算环境是电力、制造等关键领域数智化转型的重要基础设施，成为全球范围的研究热点和竞争焦点</a:t>
            </a:r>
            <a:endParaRPr lang="en-US" altLang="zh-CN" dirty="0"/>
          </a:p>
          <a:p>
            <a:pPr marL="285750" indent="-285750" algn="just" fontAlgn="auto">
              <a:lnSpc>
                <a:spcPct val="150000"/>
              </a:lnSpc>
              <a:spcBef>
                <a:spcPts val="0"/>
              </a:spcBef>
              <a:spcAft>
                <a:spcPts val="600"/>
              </a:spcAft>
              <a:buFont typeface="Wingdings" panose="05000000000000000000" pitchFamily="2" charset="2"/>
              <a:buChar char="l"/>
            </a:pPr>
            <a:r>
              <a:rPr lang="zh-CN" altLang="en-US" b="1" dirty="0"/>
              <a:t>云边端跨域计算环境的智能化水平得到跨越式提升：</a:t>
            </a:r>
            <a:r>
              <a:rPr lang="zh-CN" altLang="en-US" dirty="0"/>
              <a:t>近年来，故障检测等云边端协同场景的智能化水平得到提升，而跨域分布式训练是智能化进一步提升的重要手段</a:t>
            </a:r>
            <a:endParaRPr lang="zh-CN" altLang="en-US" dirty="0"/>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12" name="组合 11"/>
          <p:cNvGrpSpPr/>
          <p:nvPr/>
        </p:nvGrpSpPr>
        <p:grpSpPr>
          <a:xfrm>
            <a:off x="278893" y="3058542"/>
            <a:ext cx="4144910" cy="3373726"/>
            <a:chOff x="278893" y="3058542"/>
            <a:chExt cx="4144910" cy="3373726"/>
          </a:xfrm>
        </p:grpSpPr>
        <p:pic>
          <p:nvPicPr>
            <p:cNvPr id="1026" name="Picture 2" descr="中国通号智能巡检机器人保障高铁安全运营_手机新浪网"/>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a:stretch>
              <a:fillRect/>
            </a:stretch>
          </p:blipFill>
          <p:spPr bwMode="auto">
            <a:xfrm>
              <a:off x="280035" y="3060065"/>
              <a:ext cx="2005965" cy="130887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8" name="Picture 4" descr="全球智能制造发展现状及前景预测工业机器人引领行业发展- 智能制造- 创新助理"/>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0991" y="3058542"/>
              <a:ext cx="1992812"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descr="智慧交通、智慧運輸、智慧交通系統、智慧運輸系統- 大眾電腦FIC"/>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2429769" y="4770466"/>
              <a:ext cx="1992812"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2" name="Picture 8" descr="小鹏推出第二代智能驾驶辅助系统，欲摆脱高精地图限制"/>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8893" y="4770466"/>
              <a:ext cx="2005200" cy="1310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728684" y="4356309"/>
              <a:ext cx="1115153" cy="369332"/>
            </a:xfrm>
            <a:prstGeom prst="rect">
              <a:avLst/>
            </a:prstGeom>
            <a:noFill/>
          </p:spPr>
          <p:txBody>
            <a:bodyPr wrap="square" rtlCol="0">
              <a:spAutoFit/>
            </a:bodyPr>
            <a:lstStyle/>
            <a:p>
              <a:pPr indent="0" algn="ctr" fontAlgn="auto">
                <a:spcBef>
                  <a:spcPts val="0"/>
                </a:spcBef>
              </a:pPr>
              <a:r>
                <a:rPr lang="zh-CN" altLang="en-US" b="1" dirty="0"/>
                <a:t>智能电网</a:t>
              </a:r>
              <a:endParaRPr lang="zh-CN" altLang="en-US" b="1" dirty="0"/>
            </a:p>
          </p:txBody>
        </p:sp>
        <p:sp>
          <p:nvSpPr>
            <p:cNvPr id="8" name="文本框 7"/>
            <p:cNvSpPr txBox="1"/>
            <p:nvPr/>
          </p:nvSpPr>
          <p:spPr>
            <a:xfrm>
              <a:off x="2868598" y="4368942"/>
              <a:ext cx="1115153" cy="369332"/>
            </a:xfrm>
            <a:prstGeom prst="rect">
              <a:avLst/>
            </a:prstGeom>
            <a:noFill/>
          </p:spPr>
          <p:txBody>
            <a:bodyPr wrap="square" rtlCol="0">
              <a:spAutoFit/>
            </a:bodyPr>
            <a:lstStyle/>
            <a:p>
              <a:pPr indent="0" algn="ctr" fontAlgn="auto">
                <a:spcBef>
                  <a:spcPts val="0"/>
                </a:spcBef>
              </a:pPr>
              <a:r>
                <a:rPr lang="zh-CN" altLang="en-US" b="1" dirty="0"/>
                <a:t>智能制造</a:t>
              </a:r>
              <a:endParaRPr lang="zh-CN" altLang="en-US" b="1" dirty="0"/>
            </a:p>
          </p:txBody>
        </p:sp>
        <p:sp>
          <p:nvSpPr>
            <p:cNvPr id="9" name="文本框 8"/>
            <p:cNvSpPr txBox="1"/>
            <p:nvPr/>
          </p:nvSpPr>
          <p:spPr>
            <a:xfrm>
              <a:off x="723916" y="6062936"/>
              <a:ext cx="1115153" cy="369332"/>
            </a:xfrm>
            <a:prstGeom prst="rect">
              <a:avLst/>
            </a:prstGeom>
            <a:noFill/>
          </p:spPr>
          <p:txBody>
            <a:bodyPr wrap="square" rtlCol="0">
              <a:spAutoFit/>
            </a:bodyPr>
            <a:lstStyle/>
            <a:p>
              <a:pPr indent="0" algn="ctr" fontAlgn="auto">
                <a:spcBef>
                  <a:spcPts val="0"/>
                </a:spcBef>
              </a:pPr>
              <a:r>
                <a:rPr lang="zh-CN" altLang="en-US" b="1" dirty="0"/>
                <a:t>智能驾驶</a:t>
              </a:r>
              <a:endParaRPr lang="zh-CN" altLang="en-US" b="1" dirty="0"/>
            </a:p>
          </p:txBody>
        </p:sp>
        <p:sp>
          <p:nvSpPr>
            <p:cNvPr id="10" name="文本框 9"/>
            <p:cNvSpPr txBox="1"/>
            <p:nvPr/>
          </p:nvSpPr>
          <p:spPr>
            <a:xfrm>
              <a:off x="2868598" y="6056767"/>
              <a:ext cx="1115153" cy="369332"/>
            </a:xfrm>
            <a:prstGeom prst="rect">
              <a:avLst/>
            </a:prstGeom>
            <a:noFill/>
          </p:spPr>
          <p:txBody>
            <a:bodyPr wrap="square" rtlCol="0">
              <a:spAutoFit/>
            </a:bodyPr>
            <a:lstStyle/>
            <a:p>
              <a:pPr indent="0" algn="ctr" fontAlgn="auto">
                <a:spcBef>
                  <a:spcPts val="0"/>
                </a:spcBef>
              </a:pPr>
              <a:r>
                <a:rPr lang="zh-CN" altLang="en-US" b="1" dirty="0"/>
                <a:t>智慧交通</a:t>
              </a:r>
              <a:endParaRPr lang="zh-CN" altLang="en-US" b="1" dirty="0"/>
            </a:p>
          </p:txBody>
        </p:sp>
      </p:grpSp>
      <p:graphicFrame>
        <p:nvGraphicFramePr>
          <p:cNvPr id="11" name="表格 10"/>
          <p:cNvGraphicFramePr>
            <a:graphicFrameLocks noGrp="1"/>
          </p:cNvGraphicFramePr>
          <p:nvPr/>
        </p:nvGraphicFramePr>
        <p:xfrm>
          <a:off x="4674282" y="2995787"/>
          <a:ext cx="4232275" cy="336755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19694"/>
                <a:gridCol w="3312581"/>
              </a:tblGrid>
              <a:tr h="428226">
                <a:tc>
                  <a:txBody>
                    <a:bodyPr/>
                    <a:lstStyle/>
                    <a:p>
                      <a:pPr algn="ctr">
                        <a:buNone/>
                      </a:pPr>
                      <a:r>
                        <a:rPr lang="zh-CN" altLang="en-US" sz="1400" baseline="0" dirty="0">
                          <a:latin typeface="Times New Roman" panose="02020603050405020304" pitchFamily="18" charset="0"/>
                        </a:rPr>
                        <a:t>国家地区</a:t>
                      </a:r>
                      <a:endParaRPr lang="zh-CN" altLang="en-US" sz="1400" baseline="0" dirty="0">
                        <a:latin typeface="Times New Roman" panose="02020603050405020304" pitchFamily="18" charset="0"/>
                      </a:endParaRPr>
                    </a:p>
                  </a:txBody>
                  <a:tcPr anchor="ctr">
                    <a:solidFill>
                      <a:srgbClr val="004578"/>
                    </a:solidFill>
                  </a:tcPr>
                </a:tc>
                <a:tc>
                  <a:txBody>
                    <a:bodyPr/>
                    <a:lstStyle/>
                    <a:p>
                      <a:pPr algn="ctr">
                        <a:buNone/>
                      </a:pPr>
                      <a:r>
                        <a:rPr lang="zh-CN" altLang="en-US" sz="1400" baseline="0" dirty="0">
                          <a:latin typeface="Times New Roman" panose="02020603050405020304" pitchFamily="18" charset="0"/>
                        </a:rPr>
                        <a:t>政策法规</a:t>
                      </a:r>
                      <a:endParaRPr lang="zh-CN" altLang="en-US" sz="1400" baseline="0" dirty="0">
                        <a:latin typeface="Times New Roman" panose="02020603050405020304" pitchFamily="18" charset="0"/>
                      </a:endParaRPr>
                    </a:p>
                  </a:txBody>
                  <a:tcPr anchor="ctr">
                    <a:solidFill>
                      <a:srgbClr val="004578"/>
                    </a:solidFill>
                  </a:tcPr>
                </a:tc>
              </a:tr>
              <a:tr h="543137">
                <a:tc>
                  <a:txBody>
                    <a:bodyPr/>
                    <a:lstStyle/>
                    <a:p>
                      <a:pPr algn="ctr">
                        <a:buNone/>
                      </a:pPr>
                      <a:r>
                        <a:rPr lang="zh-CN" altLang="en-US" sz="1400" baseline="0" dirty="0">
                          <a:latin typeface="Times New Roman" panose="02020603050405020304" pitchFamily="18" charset="0"/>
                        </a:rPr>
                        <a:t>美国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引领未来先进计算生态系统：战略计划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将人工智能、边缘计算等列为重点</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欧盟</a:t>
                      </a:r>
                      <a:endParaRPr lang="zh-CN" altLang="en-US" sz="1400" baseline="0" dirty="0">
                        <a:latin typeface="Times New Roman" panose="02020603050405020304" pitchFamily="18" charset="0"/>
                      </a:endParaRPr>
                    </a:p>
                  </a:txBody>
                  <a:tcPr anchor="ctr"/>
                </a:tc>
                <a:tc>
                  <a:txBody>
                    <a:bodyPr/>
                    <a:lstStyle/>
                    <a:p>
                      <a:pPr algn="just">
                        <a:buNone/>
                      </a:pPr>
                      <a:r>
                        <a:rPr lang="zh-CN" altLang="en-US" sz="1400" baseline="0" dirty="0">
                          <a:latin typeface="Times New Roman" panose="02020603050405020304" pitchFamily="18" charset="0"/>
                        </a:rPr>
                        <a:t>“欧洲共同利益重要计划”批准</a:t>
                      </a:r>
                      <a:r>
                        <a:rPr lang="en-US" altLang="zh-CN" sz="1400" baseline="0" dirty="0">
                          <a:latin typeface="Times New Roman" panose="02020603050405020304" pitchFamily="18" charset="0"/>
                        </a:rPr>
                        <a:t>15</a:t>
                      </a:r>
                      <a:r>
                        <a:rPr lang="zh-CN" altLang="en-US" sz="1400" baseline="0" dirty="0">
                          <a:latin typeface="Times New Roman" panose="02020603050405020304" pitchFamily="18" charset="0"/>
                        </a:rPr>
                        <a:t>亿欧元发展边缘计算、云边端协同技术</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日本</a:t>
                      </a:r>
                      <a:endParaRPr lang="zh-CN" altLang="en-US" sz="1400" baseline="0" dirty="0">
                        <a:latin typeface="Times New Roman" panose="02020603050405020304" pitchFamily="18" charset="0"/>
                      </a:endParaRPr>
                    </a:p>
                  </a:txBody>
                  <a:tcPr anchor="ctr"/>
                </a:tc>
                <a:tc>
                  <a:txBody>
                    <a:bodyPr/>
                    <a:lstStyle/>
                    <a:p>
                      <a:pPr algn="just">
                        <a:buNone/>
                      </a:pPr>
                      <a:r>
                        <a:rPr lang="zh-CN" altLang="en-US" sz="1400" baseline="0" dirty="0">
                          <a:latin typeface="Times New Roman" panose="02020603050405020304" pitchFamily="18" charset="0"/>
                        </a:rPr>
                        <a:t>发布“社会</a:t>
                      </a:r>
                      <a:r>
                        <a:rPr lang="en-US" altLang="zh-CN" sz="1400" baseline="0" dirty="0">
                          <a:latin typeface="Times New Roman" panose="02020603050405020304" pitchFamily="18" charset="0"/>
                        </a:rPr>
                        <a:t>5.0</a:t>
                      </a:r>
                      <a:r>
                        <a:rPr lang="zh-CN" altLang="en-US" sz="1400" baseline="0" dirty="0">
                          <a:latin typeface="Times New Roman" panose="02020603050405020304" pitchFamily="18" charset="0"/>
                        </a:rPr>
                        <a:t>”发展计划，将人工智能、边缘计算列为必须优先发展的领域</a:t>
                      </a:r>
                      <a:endParaRPr lang="zh-CN" altLang="en-US" sz="1400" baseline="0" dirty="0">
                        <a:latin typeface="Times New Roman" panose="02020603050405020304" pitchFamily="18" charset="0"/>
                      </a:endParaRPr>
                    </a:p>
                  </a:txBody>
                  <a:tcPr anchor="ctr"/>
                </a:tc>
              </a:tr>
              <a:tr h="766782">
                <a:tc>
                  <a:txBody>
                    <a:bodyPr/>
                    <a:lstStyle/>
                    <a:p>
                      <a:pPr algn="ctr">
                        <a:buNone/>
                      </a:pPr>
                      <a:r>
                        <a:rPr lang="zh-CN" altLang="en-US" sz="1400" baseline="0" dirty="0">
                          <a:latin typeface="Times New Roman" panose="02020603050405020304" pitchFamily="18" charset="0"/>
                        </a:rPr>
                        <a:t>中国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十四五”数字经济发展规划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明确提出要发展边缘计算、云边端协同、人工智能技术，提出重点领域转型升级</a:t>
                      </a:r>
                      <a:endParaRPr lang="zh-CN" altLang="en-US" sz="1400" baseline="0" dirty="0">
                        <a:latin typeface="Times New Roman" panose="02020603050405020304" pitchFamily="18" charset="0"/>
                      </a:endParaRPr>
                    </a:p>
                  </a:txBody>
                  <a:tcPr anchor="ctr"/>
                </a:tc>
              </a:tr>
              <a:tr h="543137">
                <a:tc>
                  <a:txBody>
                    <a:bodyPr/>
                    <a:lstStyle/>
                    <a:p>
                      <a:pPr algn="ctr">
                        <a:buNone/>
                      </a:pPr>
                      <a:r>
                        <a:rPr lang="zh-CN" altLang="en-US" sz="1400" baseline="0" dirty="0">
                          <a:latin typeface="Times New Roman" panose="02020603050405020304" pitchFamily="18" charset="0"/>
                        </a:rPr>
                        <a:t>中国</a:t>
                      </a:r>
                      <a:endParaRPr lang="zh-CN" altLang="en-US" sz="1400" baseline="0" dirty="0">
                        <a:latin typeface="Times New Roman" panose="02020603050405020304" pitchFamily="18" charset="0"/>
                      </a:endParaRPr>
                    </a:p>
                  </a:txBody>
                  <a:tcPr anchor="ctr"/>
                </a:tc>
                <a:tc>
                  <a:txBody>
                    <a:bodyPr/>
                    <a:lstStyle/>
                    <a:p>
                      <a:pPr algn="just">
                        <a:buNone/>
                      </a:pP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数字中国建设整体布局规划</a:t>
                      </a:r>
                      <a:r>
                        <a:rPr lang="en-US" altLang="zh-CN" sz="1400" baseline="0" dirty="0">
                          <a:latin typeface="Times New Roman" panose="02020603050405020304" pitchFamily="18" charset="0"/>
                        </a:rPr>
                        <a:t>》</a:t>
                      </a:r>
                      <a:r>
                        <a:rPr lang="zh-CN" altLang="en-US" sz="1400" baseline="0" dirty="0">
                          <a:latin typeface="Times New Roman" panose="02020603050405020304" pitchFamily="18" charset="0"/>
                        </a:rPr>
                        <a:t>提出引导云计算中心、边缘计算中心合理规划</a:t>
                      </a:r>
                      <a:endParaRPr lang="zh-CN" altLang="en-US" sz="1400" baseline="0" dirty="0">
                        <a:latin typeface="Times New Roman" panose="02020603050405020304" pitchFamily="18" charset="0"/>
                      </a:endParaRPr>
                    </a:p>
                  </a:txBody>
                  <a:tcPr anchor="ctr"/>
                </a:tc>
              </a:tr>
            </a:tbl>
          </a:graphicData>
        </a:graphic>
      </p:graphicFrame>
    </p:spTree>
    <p:custDataLst>
      <p:tags r:id="rId5"/>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1337945"/>
          </a:xfrm>
          <a:prstGeom prst="rect">
            <a:avLst/>
          </a:prstGeom>
          <a:noFill/>
        </p:spPr>
        <p:txBody>
          <a:bodyPr wrap="square" rtlCol="0">
            <a:spAutoFit/>
          </a:bodyPr>
          <a:lstStyle/>
          <a:p>
            <a:pPr indent="0" algn="just" fontAlgn="auto">
              <a:lnSpc>
                <a:spcPct val="150000"/>
              </a:lnSpc>
              <a:spcBef>
                <a:spcPts val="0"/>
              </a:spcBef>
              <a:spcAft>
                <a:spcPts val="600"/>
              </a:spcAft>
            </a:pPr>
            <a:r>
              <a:rPr lang="en-US" altLang="zh-CN" dirty="0">
                <a:sym typeface="+mn-ea"/>
              </a:rPr>
              <a:t> </a:t>
            </a:r>
            <a:r>
              <a:rPr lang="zh-CN" altLang="en-US" dirty="0">
                <a:sym typeface="+mn-ea"/>
              </a:rPr>
              <a:t>随着边端侧硬件算力的增强、基础框架软件的发展、网络连接速度的提升，将模型训练从云侧拓展到边端侧成为可能。</a:t>
            </a:r>
            <a:r>
              <a:rPr lang="zh-CN" altLang="en-US" b="1" dirty="0">
                <a:sym typeface="+mn-ea"/>
              </a:rPr>
              <a:t>云边端协同的跨域分布式训练具有隐私性好、成本低等优势</a:t>
            </a:r>
            <a:r>
              <a:rPr lang="zh-CN" altLang="en-US" dirty="0">
                <a:sym typeface="+mn-ea"/>
              </a:rPr>
              <a:t>。</a:t>
            </a:r>
            <a:endParaRPr lang="zh-CN" altLang="en-US" b="1" dirty="0">
              <a:sym typeface="+mn-ea"/>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矩形 4"/>
          <p:cNvSpPr/>
          <p:nvPr>
            <p:custDataLst>
              <p:tags r:id="rId1"/>
            </p:custDataLst>
          </p:nvPr>
        </p:nvSpPr>
        <p:spPr>
          <a:xfrm>
            <a:off x="1064577" y="2292043"/>
            <a:ext cx="7014845" cy="4180758"/>
          </a:xfrm>
          <a:prstGeom prst="rect">
            <a:avLst/>
          </a:prstGeom>
          <a:solidFill>
            <a:schemeClr val="accent1">
              <a:lumMod val="20000"/>
              <a:lumOff val="80000"/>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42" name="矩形 41"/>
          <p:cNvSpPr/>
          <p:nvPr/>
        </p:nvSpPr>
        <p:spPr>
          <a:xfrm>
            <a:off x="1160117" y="5467267"/>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云边端异构通信网络</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3" name="矩形 42"/>
          <p:cNvSpPr/>
          <p:nvPr/>
        </p:nvSpPr>
        <p:spPr>
          <a:xfrm>
            <a:off x="1160116" y="3387559"/>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云边端智能计算框架</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4" name="矩形 43"/>
          <p:cNvSpPr/>
          <p:nvPr/>
        </p:nvSpPr>
        <p:spPr>
          <a:xfrm>
            <a:off x="1160116" y="2358635"/>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Times New Roman" panose="02020603050405020304" pitchFamily="18" charset="0"/>
                <a:ea typeface="SimSun" panose="02010600030101010101" pitchFamily="2" charset="-122"/>
              </a:rPr>
              <a:t>云边端智能应用</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45" name="矩形 44"/>
          <p:cNvSpPr/>
          <p:nvPr/>
        </p:nvSpPr>
        <p:spPr>
          <a:xfrm>
            <a:off x="2338728" y="5467267"/>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6" name="矩形 45"/>
          <p:cNvSpPr/>
          <p:nvPr/>
        </p:nvSpPr>
        <p:spPr>
          <a:xfrm>
            <a:off x="2338728" y="3387559"/>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7" name="矩形 46"/>
          <p:cNvSpPr/>
          <p:nvPr/>
        </p:nvSpPr>
        <p:spPr>
          <a:xfrm>
            <a:off x="2338728" y="2357465"/>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grpSp>
        <p:nvGrpSpPr>
          <p:cNvPr id="58" name="组合 57"/>
          <p:cNvGrpSpPr/>
          <p:nvPr/>
        </p:nvGrpSpPr>
        <p:grpSpPr>
          <a:xfrm>
            <a:off x="6968938" y="5532320"/>
            <a:ext cx="923644" cy="771013"/>
            <a:chOff x="2419631" y="4512712"/>
            <a:chExt cx="923644" cy="771013"/>
          </a:xfrm>
        </p:grpSpPr>
        <p:sp>
          <p:nvSpPr>
            <p:cNvPr id="48" name="矩形 47"/>
            <p:cNvSpPr/>
            <p:nvPr/>
          </p:nvSpPr>
          <p:spPr>
            <a:xfrm>
              <a:off x="2419631"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矩形 48"/>
            <p:cNvSpPr/>
            <p:nvPr/>
          </p:nvSpPr>
          <p:spPr>
            <a:xfrm>
              <a:off x="2419631"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4G</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6" name="Picture 12" descr="4G LTE Only Mode - Google Play 上的应用"/>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0000" l="10000" r="90000">
                          <a14:foregroundMark x1="36889" y1="44000" x2="35556" y2="61778"/>
                          <a14:foregroundMark x1="56889" y1="45778" x2="51111" y2="58667"/>
                          <a14:foregroundMark x1="53778" y1="45778" x2="49333" y2="32000"/>
                          <a14:foregroundMark x1="49778" y1="46222" x2="56889" y2="51111"/>
                          <a14:foregroundMark x1="24889" y1="54222" x2="28444" y2="69333"/>
                          <a14:foregroundMark x1="42667" y1="48444" x2="42667" y2="48444"/>
                          <a14:foregroundMark x1="38222" y1="52444" x2="36000" y2="59556"/>
                          <a14:foregroundMark x1="25333" y1="52889" x2="44000" y2="35111"/>
                          <a14:foregroundMark x1="60889" y1="34667" x2="76000" y2="63556"/>
                          <a14:foregroundMark x1="69333" y1="33778" x2="76000" y2="37778"/>
                          <a14:foregroundMark x1="60444" y1="64889" x2="62667" y2="72000"/>
                        </a14:backgroundRemoval>
                      </a14:imgEffect>
                    </a14:imgLayer>
                  </a14:imgProps>
                </a:ext>
                <a:ext uri="{28A0092B-C50C-407E-A947-70E740481C1C}">
                  <a14:useLocalDpi xmlns:a14="http://schemas.microsoft.com/office/drawing/2010/main" val="0"/>
                </a:ext>
              </a:extLst>
            </a:blip>
            <a:srcRect l="5345" t="5362" r="4110" b="4386"/>
            <a:stretch>
              <a:fillRect/>
            </a:stretch>
          </p:blipFill>
          <p:spPr bwMode="auto">
            <a:xfrm>
              <a:off x="2610573" y="4519851"/>
              <a:ext cx="54176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9" name="组合 58"/>
          <p:cNvGrpSpPr/>
          <p:nvPr/>
        </p:nvGrpSpPr>
        <p:grpSpPr>
          <a:xfrm>
            <a:off x="3556958" y="5532320"/>
            <a:ext cx="923644" cy="771013"/>
            <a:chOff x="3556958" y="4512712"/>
            <a:chExt cx="923644" cy="771013"/>
          </a:xfrm>
        </p:grpSpPr>
        <p:sp>
          <p:nvSpPr>
            <p:cNvPr id="50" name="矩形 49"/>
            <p:cNvSpPr/>
            <p:nvPr/>
          </p:nvSpPr>
          <p:spPr>
            <a:xfrm>
              <a:off x="3556958"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56958"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5G</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38" name="Picture 14" descr="UK Disappoints in Global Comparison of 5G Mobile Broadband Speeds -  ISPreview UK"/>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32583" y1="25250" x2="18000" y2="26083"/>
                          <a14:foregroundMark x1="27417" y1="42083" x2="27833" y2="45833"/>
                          <a14:foregroundMark x1="74583" y1="26583" x2="74583" y2="26583"/>
                          <a14:foregroundMark x1="74833" y1="19167" x2="74833" y2="19167"/>
                          <a14:foregroundMark x1="74250" y1="12167" x2="74250" y2="12167"/>
                        </a14:backgroundRemoval>
                      </a14:imgEffect>
                    </a14:imgLayer>
                  </a14:imgProps>
                </a:ext>
                <a:ext uri="{28A0092B-C50C-407E-A947-70E740481C1C}">
                  <a14:useLocalDpi xmlns:a14="http://schemas.microsoft.com/office/drawing/2010/main" val="0"/>
                </a:ext>
              </a:extLst>
            </a:blip>
            <a:srcRect l="5115" t="7023" r="3331" b="14403"/>
            <a:stretch>
              <a:fillRect/>
            </a:stretch>
          </p:blipFill>
          <p:spPr bwMode="auto">
            <a:xfrm>
              <a:off x="3710019" y="4519851"/>
              <a:ext cx="62921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0" name="组合 59"/>
          <p:cNvGrpSpPr/>
          <p:nvPr/>
        </p:nvGrpSpPr>
        <p:grpSpPr>
          <a:xfrm>
            <a:off x="4694285" y="5532320"/>
            <a:ext cx="923644" cy="771013"/>
            <a:chOff x="4694285" y="4512712"/>
            <a:chExt cx="923644" cy="771013"/>
          </a:xfrm>
        </p:grpSpPr>
        <p:sp>
          <p:nvSpPr>
            <p:cNvPr id="52" name="矩形 51"/>
            <p:cNvSpPr/>
            <p:nvPr/>
          </p:nvSpPr>
          <p:spPr>
            <a:xfrm>
              <a:off x="4694285"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4694285"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Wi-Fi</a:t>
              </a:r>
              <a:r>
                <a:rPr lang="zh-CN" altLang="en-US" sz="900" b="1" dirty="0">
                  <a:solidFill>
                    <a:schemeClr val="tx1"/>
                  </a:solidFill>
                  <a:latin typeface="Times New Roman" panose="02020603050405020304" pitchFamily="18" charset="0"/>
                  <a:ea typeface="SimSun" panose="02010600030101010101" pitchFamily="2" charset="-122"/>
                </a:rPr>
                <a:t>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0" name="Picture 16" descr="Wi-Fi - Wikipedia"/>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6358" b="93064" l="9247" r="89384">
                          <a14:foregroundMark x1="21233" y1="47399" x2="21233" y2="47399"/>
                          <a14:foregroundMark x1="24658" y1="46821" x2="26027" y2="42197"/>
                          <a14:foregroundMark x1="27055" y1="52023" x2="33904" y2="43931"/>
                          <a14:foregroundMark x1="17123" y1="38728" x2="22945" y2="65318"/>
                          <a14:foregroundMark x1="42808" y1="34682" x2="42808" y2="34682"/>
                          <a14:foregroundMark x1="42123" y1="38728" x2="41096" y2="43353"/>
                          <a14:foregroundMark x1="41096" y1="40462" x2="41096" y2="38150"/>
                          <a14:foregroundMark x1="40411" y1="49711" x2="41096" y2="58382"/>
                          <a14:foregroundMark x1="53082" y1="43353" x2="53082" y2="62428"/>
                          <a14:foregroundMark x1="59932" y1="40462" x2="62329" y2="54335"/>
                          <a14:foregroundMark x1="60959" y1="31214" x2="69178" y2="55491"/>
                          <a14:foregroundMark x1="72260" y1="32370" x2="79795" y2="69942"/>
                          <a14:foregroundMark x1="79795" y1="69942" x2="61301" y2="70520"/>
                          <a14:foregroundMark x1="54452" y1="37572" x2="72603" y2="30058"/>
                          <a14:foregroundMark x1="72603" y1="30058" x2="80822" y2="48555"/>
                          <a14:foregroundMark x1="48630" y1="7514" x2="48630" y2="7514"/>
                          <a14:foregroundMark x1="46918" y1="93064" x2="46918" y2="93064"/>
                          <a14:foregroundMark x1="9247" y1="50867" x2="9247" y2="50867"/>
                        </a14:backgroundRemoval>
                      </a14:imgEffect>
                    </a14:imgLayer>
                  </a14:imgProps>
                </a:ext>
                <a:ext uri="{28A0092B-C50C-407E-A947-70E740481C1C}">
                  <a14:useLocalDpi xmlns:a14="http://schemas.microsoft.com/office/drawing/2010/main" val="0"/>
                </a:ext>
              </a:extLst>
            </a:blip>
            <a:srcRect/>
            <a:stretch>
              <a:fillRect/>
            </a:stretch>
          </p:blipFill>
          <p:spPr bwMode="auto">
            <a:xfrm>
              <a:off x="4706482" y="4514668"/>
              <a:ext cx="911446"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1" name="组合 60"/>
          <p:cNvGrpSpPr/>
          <p:nvPr/>
        </p:nvGrpSpPr>
        <p:grpSpPr>
          <a:xfrm>
            <a:off x="5831612" y="5528918"/>
            <a:ext cx="923644" cy="777816"/>
            <a:chOff x="5831612" y="4505909"/>
            <a:chExt cx="923644" cy="777816"/>
          </a:xfrm>
        </p:grpSpPr>
        <p:sp>
          <p:nvSpPr>
            <p:cNvPr id="54" name="矩形 53"/>
            <p:cNvSpPr/>
            <p:nvPr/>
          </p:nvSpPr>
          <p:spPr>
            <a:xfrm>
              <a:off x="5831612" y="451271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5831612" y="505269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卫星网络</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2" name="Picture 18" descr="中国电信天通卫星通信将覆盖香港：华为、小米等都能用- China Telecom 中国电信- cnBeta.COM"/>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0000" b="90000" l="10000" r="90000">
                          <a14:foregroundMark x1="64833" y1="18224" x2="68000" y2="30841"/>
                          <a14:foregroundMark x1="63667" y1="16355" x2="63667" y2="16355"/>
                          <a14:foregroundMark x1="62000" y1="16589" x2="62000" y2="16589"/>
                          <a14:foregroundMark x1="62500" y1="20794" x2="62500" y2="20794"/>
                          <a14:foregroundMark x1="63833" y1="25000" x2="63833" y2="25000"/>
                          <a14:foregroundMark x1="70333" y1="42991" x2="70333" y2="42991"/>
                          <a14:foregroundMark x1="70000" y1="37850" x2="70000" y2="37850"/>
                          <a14:foregroundMark x1="71167" y1="39720" x2="71167" y2="39720"/>
                          <a14:foregroundMark x1="66333" y1="15421" x2="66333" y2="15421"/>
                          <a14:foregroundMark x1="76667" y1="38084" x2="76667" y2="38084"/>
                          <a14:foregroundMark x1="74667" y1="39720" x2="74667" y2="39720"/>
                          <a14:foregroundMark x1="66667" y1="32243" x2="66667" y2="32243"/>
                          <a14:foregroundMark x1="68667" y1="35514" x2="68667" y2="35514"/>
                          <a14:foregroundMark x1="72833" y1="50000" x2="72833" y2="50000"/>
                          <a14:foregroundMark x1="57833" y1="51869" x2="57833" y2="51869"/>
                        </a14:backgroundRemoval>
                      </a14:imgEffect>
                    </a14:imgLayer>
                  </a14:imgProps>
                </a:ext>
                <a:ext uri="{28A0092B-C50C-407E-A947-70E740481C1C}">
                  <a14:useLocalDpi xmlns:a14="http://schemas.microsoft.com/office/drawing/2010/main" val="0"/>
                </a:ext>
              </a:extLst>
            </a:blip>
            <a:srcRect l="11233" t="7548" r="15573" b="18474"/>
            <a:stretch>
              <a:fillRect/>
            </a:stretch>
          </p:blipFill>
          <p:spPr bwMode="auto">
            <a:xfrm>
              <a:off x="5918937" y="4505909"/>
              <a:ext cx="748993"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4" name="组合 1023"/>
          <p:cNvGrpSpPr/>
          <p:nvPr/>
        </p:nvGrpSpPr>
        <p:grpSpPr>
          <a:xfrm>
            <a:off x="2419631" y="5532320"/>
            <a:ext cx="923644" cy="771013"/>
            <a:chOff x="6968940" y="4506552"/>
            <a:chExt cx="923644" cy="771013"/>
          </a:xfrm>
        </p:grpSpPr>
        <p:sp>
          <p:nvSpPr>
            <p:cNvPr id="56" name="矩形 55"/>
            <p:cNvSpPr/>
            <p:nvPr/>
          </p:nvSpPr>
          <p:spPr>
            <a:xfrm>
              <a:off x="6968940" y="4506552"/>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6968940" y="5046534"/>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以太网</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48" name="Picture 24" descr="百兆8口以太网交换机"/>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9961" b="89844" l="3711" r="96094">
                          <a14:foregroundMark x1="7617" y1="44336" x2="7617" y2="44336"/>
                          <a14:foregroundMark x1="6836" y1="45898" x2="6836" y2="45898"/>
                          <a14:foregroundMark x1="3711" y1="43164" x2="3711" y2="43164"/>
                          <a14:foregroundMark x1="92969" y1="48047" x2="92969" y2="48047"/>
                          <a14:foregroundMark x1="96094" y1="44727" x2="96094" y2="44727"/>
                        </a14:backgroundRemoval>
                      </a14:imgEffect>
                    </a14:imgLayer>
                  </a14:imgProps>
                </a:ext>
                <a:ext uri="{28A0092B-C50C-407E-A947-70E740481C1C}">
                  <a14:useLocalDpi xmlns:a14="http://schemas.microsoft.com/office/drawing/2010/main" val="0"/>
                </a:ext>
              </a:extLst>
            </a:blip>
            <a:srcRect t="30161" b="28977"/>
            <a:stretch>
              <a:fillRect/>
            </a:stretch>
          </p:blipFill>
          <p:spPr bwMode="auto">
            <a:xfrm>
              <a:off x="7064331" y="4526221"/>
              <a:ext cx="740375"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1025" name="矩形 1024"/>
          <p:cNvSpPr/>
          <p:nvPr/>
        </p:nvSpPr>
        <p:spPr>
          <a:xfrm>
            <a:off x="2419631"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7" name="矩形 1026"/>
          <p:cNvSpPr/>
          <p:nvPr/>
        </p:nvSpPr>
        <p:spPr>
          <a:xfrm>
            <a:off x="2419631"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PyTorch</a:t>
            </a:r>
            <a:r>
              <a:rPr lang="zh-CN" altLang="en-US" sz="900" b="1" dirty="0">
                <a:solidFill>
                  <a:schemeClr val="tx1"/>
                </a:solidFill>
                <a:latin typeface="Times New Roman" panose="02020603050405020304" pitchFamily="18" charset="0"/>
                <a:ea typeface="SimSun" panose="02010600030101010101" pitchFamily="2" charset="-122"/>
              </a:rPr>
              <a:t>计算框架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29" name="矩形 1028"/>
          <p:cNvSpPr/>
          <p:nvPr/>
        </p:nvSpPr>
        <p:spPr>
          <a:xfrm>
            <a:off x="3556958"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1" name="矩形 1030"/>
          <p:cNvSpPr/>
          <p:nvPr/>
        </p:nvSpPr>
        <p:spPr>
          <a:xfrm>
            <a:off x="3556958"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Tensorflow</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33" name="矩形 1032"/>
          <p:cNvSpPr/>
          <p:nvPr/>
        </p:nvSpPr>
        <p:spPr>
          <a:xfrm>
            <a:off x="4706482"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5" name="矩形 1034"/>
          <p:cNvSpPr/>
          <p:nvPr/>
        </p:nvSpPr>
        <p:spPr>
          <a:xfrm>
            <a:off x="4706482"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MindSpore</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37" name="矩形 1036"/>
          <p:cNvSpPr/>
          <p:nvPr/>
        </p:nvSpPr>
        <p:spPr>
          <a:xfrm>
            <a:off x="5831612"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矩形 1038"/>
          <p:cNvSpPr/>
          <p:nvPr/>
        </p:nvSpPr>
        <p:spPr>
          <a:xfrm>
            <a:off x="5831612"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err="1">
                <a:solidFill>
                  <a:schemeClr val="tx1"/>
                </a:solidFill>
                <a:latin typeface="Times New Roman" panose="02020603050405020304" pitchFamily="18" charset="0"/>
                <a:ea typeface="SimSun" panose="02010600030101010101" pitchFamily="2" charset="-122"/>
              </a:rPr>
              <a:t>PaddlePaddle</a:t>
            </a:r>
            <a:r>
              <a:rPr lang="zh-CN" altLang="en-US" sz="900" b="1" dirty="0">
                <a:solidFill>
                  <a:schemeClr val="tx1"/>
                </a:solidFill>
                <a:latin typeface="Times New Roman" panose="02020603050405020304" pitchFamily="18" charset="0"/>
                <a:ea typeface="SimSun" panose="02010600030101010101" pitchFamily="2" charset="-122"/>
              </a:rPr>
              <a:t>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1" name="矩形 1040"/>
          <p:cNvSpPr/>
          <p:nvPr/>
        </p:nvSpPr>
        <p:spPr>
          <a:xfrm>
            <a:off x="6968940" y="345292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3" name="矩形 1042"/>
          <p:cNvSpPr/>
          <p:nvPr/>
        </p:nvSpPr>
        <p:spPr>
          <a:xfrm>
            <a:off x="6968940" y="399290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900" b="1" dirty="0">
                <a:solidFill>
                  <a:schemeClr val="tx1"/>
                </a:solidFill>
                <a:latin typeface="Times New Roman" panose="02020603050405020304" pitchFamily="18" charset="0"/>
                <a:ea typeface="SimSun" panose="02010600030101010101" pitchFamily="2" charset="-122"/>
              </a:rPr>
              <a:t>TVM</a:t>
            </a:r>
            <a:r>
              <a:rPr lang="zh-CN" altLang="en-US" sz="900" b="1" dirty="0">
                <a:solidFill>
                  <a:schemeClr val="tx1"/>
                </a:solidFill>
                <a:latin typeface="Times New Roman" panose="02020603050405020304" pitchFamily="18" charset="0"/>
                <a:ea typeface="SimSun" panose="02010600030101010101" pitchFamily="2" charset="-122"/>
              </a:rPr>
              <a:t>计算框架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4" name="矩形 1043"/>
          <p:cNvSpPr/>
          <p:nvPr/>
        </p:nvSpPr>
        <p:spPr>
          <a:xfrm>
            <a:off x="2419631"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5" name="矩形 1044"/>
          <p:cNvSpPr/>
          <p:nvPr/>
        </p:nvSpPr>
        <p:spPr>
          <a:xfrm>
            <a:off x="2419631"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智能驾驶</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6" name="矩形 1045"/>
          <p:cNvSpPr/>
          <p:nvPr/>
        </p:nvSpPr>
        <p:spPr>
          <a:xfrm>
            <a:off x="3556958"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7" name="矩形 1046"/>
          <p:cNvSpPr/>
          <p:nvPr/>
        </p:nvSpPr>
        <p:spPr>
          <a:xfrm>
            <a:off x="3556958"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智能交通</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49" name="矩形 1048"/>
          <p:cNvSpPr/>
          <p:nvPr/>
        </p:nvSpPr>
        <p:spPr>
          <a:xfrm>
            <a:off x="4706482"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0" name="矩形 1049"/>
          <p:cNvSpPr/>
          <p:nvPr/>
        </p:nvSpPr>
        <p:spPr>
          <a:xfrm>
            <a:off x="4706482"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智能制造</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51" name="矩形 1050"/>
          <p:cNvSpPr/>
          <p:nvPr/>
        </p:nvSpPr>
        <p:spPr>
          <a:xfrm>
            <a:off x="5831612"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2" name="矩形 1051"/>
          <p:cNvSpPr/>
          <p:nvPr/>
        </p:nvSpPr>
        <p:spPr>
          <a:xfrm>
            <a:off x="5831612"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智能电网</a:t>
            </a:r>
            <a:endParaRPr lang="zh-CN" altLang="en-US" sz="900" b="1" dirty="0">
              <a:solidFill>
                <a:schemeClr val="tx1"/>
              </a:solidFill>
              <a:latin typeface="Times New Roman" panose="02020603050405020304" pitchFamily="18" charset="0"/>
              <a:ea typeface="SimSun" panose="02010600030101010101" pitchFamily="2" charset="-122"/>
            </a:endParaRPr>
          </a:p>
        </p:txBody>
      </p:sp>
      <p:sp>
        <p:nvSpPr>
          <p:cNvPr id="1053" name="矩形 1052"/>
          <p:cNvSpPr/>
          <p:nvPr/>
        </p:nvSpPr>
        <p:spPr>
          <a:xfrm>
            <a:off x="6968940" y="2418295"/>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4" name="矩形 1053"/>
          <p:cNvSpPr/>
          <p:nvPr/>
        </p:nvSpPr>
        <p:spPr>
          <a:xfrm>
            <a:off x="6968940" y="2958277"/>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900" b="1" dirty="0">
                <a:solidFill>
                  <a:schemeClr val="tx1"/>
                </a:solidFill>
                <a:latin typeface="Times New Roman" panose="02020603050405020304" pitchFamily="18" charset="0"/>
                <a:ea typeface="SimSun" panose="02010600030101010101" pitchFamily="2" charset="-122"/>
              </a:rPr>
              <a:t>智慧农业</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055" name="Picture 26" descr="Neural Network Compression Apache TVM"/>
          <p:cNvPicPr>
            <a:picLocks noChangeAspect="1" noChangeArrowheads="1"/>
          </p:cNvPicPr>
          <p:nvPr/>
        </p:nvPicPr>
        <p:blipFill rotWithShape="1">
          <a:blip r:embed="rId12">
            <a:extLst>
              <a:ext uri="{28A0092B-C50C-407E-A947-70E740481C1C}">
                <a14:useLocalDpi xmlns:a14="http://schemas.microsoft.com/office/drawing/2010/main" val="0"/>
              </a:ext>
            </a:extLst>
          </a:blip>
          <a:srcRect l="9123" t="22141" r="6894" b="20667"/>
          <a:stretch>
            <a:fillRect/>
          </a:stretch>
        </p:blipFill>
        <p:spPr bwMode="auto">
          <a:xfrm>
            <a:off x="7034266" y="3456065"/>
            <a:ext cx="79299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3" name="Picture 28" descr="Pytorch. 接續上篇建好虛擬環境，如果覺得本篇已經看不懂的話可以先去看之前的文章，連結如下… | by Chicc | Medium"/>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59004" y="3462753"/>
            <a:ext cx="844898"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5" name="Picture 32" descr="GitHub - tensorflow/tensorflow: An Open Source Machine Learning Framework  for Everyone"/>
          <p:cNvPicPr>
            <a:picLocks noChangeAspect="1" noChangeArrowheads="1"/>
          </p:cNvPicPr>
          <p:nvPr/>
        </p:nvPicPr>
        <p:blipFill rotWithShape="1">
          <a:blip r:embed="rId14">
            <a:extLst>
              <a:ext uri="{28A0092B-C50C-407E-A947-70E740481C1C}">
                <a14:useLocalDpi xmlns:a14="http://schemas.microsoft.com/office/drawing/2010/main" val="0"/>
              </a:ext>
            </a:extLst>
          </a:blip>
          <a:srcRect l="6979" t="23377" r="73566" b="22373"/>
          <a:stretch>
            <a:fillRect/>
          </a:stretch>
        </p:blipFill>
        <p:spPr bwMode="auto">
          <a:xfrm>
            <a:off x="3740412" y="3447278"/>
            <a:ext cx="577055"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34" descr="Huawei MindSpore – Medium"/>
          <p:cNvPicPr>
            <a:picLocks noChangeAspect="1" noChangeArrowheads="1"/>
          </p:cNvPicPr>
          <p:nvPr/>
        </p:nvPicPr>
        <p:blipFill rotWithShape="1">
          <a:blip r:embed="rId15">
            <a:extLst>
              <a:ext uri="{28A0092B-C50C-407E-A947-70E740481C1C}">
                <a14:useLocalDpi xmlns:a14="http://schemas.microsoft.com/office/drawing/2010/main" val="0"/>
              </a:ext>
            </a:extLst>
          </a:blip>
          <a:srcRect l="9497" t="19259" r="10801" b="15856"/>
          <a:stretch>
            <a:fillRect/>
          </a:stretch>
        </p:blipFill>
        <p:spPr bwMode="auto">
          <a:xfrm>
            <a:off x="4867579" y="3437118"/>
            <a:ext cx="661242"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7" name="Picture 36" descr="Tengine 支持PaddlePaddle 模型部署- 极术社区- 连接开发者与智能计算生态"/>
          <p:cNvPicPr>
            <a:picLocks noChangeAspect="1" noChangeArrowheads="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15038" y1="51794" x2="15038" y2="51794"/>
                        <a14:foregroundMark x1="25846" y1="52242" x2="25846" y2="52242"/>
                        <a14:foregroundMark x1="29981" y1="26009" x2="29981" y2="26009"/>
                        <a14:foregroundMark x1="36936" y1="45067" x2="36936" y2="45067"/>
                        <a14:foregroundMark x1="45865" y1="37444" x2="45865" y2="37444"/>
                        <a14:foregroundMark x1="45207" y1="26457" x2="45207" y2="26457"/>
                        <a14:foregroundMark x1="60808" y1="42377" x2="60808" y2="42377"/>
                        <a14:foregroundMark x1="60432" y1="51570" x2="60432" y2="51570"/>
                        <a14:foregroundMark x1="70301" y1="45067" x2="70301" y2="45067"/>
                        <a14:foregroundMark x1="75564" y1="34529" x2="75564" y2="34529"/>
                        <a14:foregroundMark x1="74436" y1="55605" x2="74436" y2="55605"/>
                        <a14:foregroundMark x1="70959" y1="62108" x2="70959" y2="62108"/>
                        <a14:foregroundMark x1="77538" y1="61211" x2="77538" y2="61211"/>
                      </a14:backgroundRemoval>
                    </a14:imgEffect>
                  </a14:imgLayer>
                </a14:imgProps>
              </a:ext>
              <a:ext uri="{28A0092B-C50C-407E-A947-70E740481C1C}">
                <a14:useLocalDpi xmlns:a14="http://schemas.microsoft.com/office/drawing/2010/main" val="0"/>
              </a:ext>
            </a:extLst>
          </a:blip>
          <a:srcRect l="11642" t="16198" r="16500" b="23225"/>
          <a:stretch>
            <a:fillRect/>
          </a:stretch>
        </p:blipFill>
        <p:spPr bwMode="auto">
          <a:xfrm>
            <a:off x="5928153" y="3454400"/>
            <a:ext cx="742086"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38" descr="智能驾驶打造汽车和交通网络的未来（沉浸式驾乘）"/>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00865" y="2445482"/>
            <a:ext cx="761176" cy="491636"/>
          </a:xfrm>
          <a:prstGeom prst="rect">
            <a:avLst/>
          </a:prstGeom>
          <a:noFill/>
          <a:extLst>
            <a:ext uri="{909E8E84-426E-40DD-AFC4-6F175D3DCCD1}">
              <a14:hiddenFill xmlns:a14="http://schemas.microsoft.com/office/drawing/2010/main">
                <a:solidFill>
                  <a:srgbClr val="FFFFFF"/>
                </a:solidFill>
              </a14:hiddenFill>
            </a:ext>
          </a:extLst>
        </p:spPr>
      </p:pic>
      <p:pic>
        <p:nvPicPr>
          <p:cNvPr id="1079" name="Picture 40" descr="报告认为，到2035年我国智能交通产业生态将保持全球领先水平-中国科技网"/>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49823" y="2444884"/>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42" descr="智能制造“十四五”规划征求意见：核心技术攻关放到首位，2025年规上制造企业普及数字化| 界面新闻"/>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88504" y="2440298"/>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1" name="Picture 44" descr="智能电网或迎新一轮掘金潮一级市场投资逻辑显现"/>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913633" y="2440298"/>
            <a:ext cx="759600" cy="493200"/>
          </a:xfrm>
          <a:prstGeom prst="rect">
            <a:avLst/>
          </a:prstGeom>
          <a:noFill/>
          <a:extLst>
            <a:ext uri="{909E8E84-426E-40DD-AFC4-6F175D3DCCD1}">
              <a14:hiddenFill xmlns:a14="http://schemas.microsoft.com/office/drawing/2010/main">
                <a:solidFill>
                  <a:srgbClr val="FFFFFF"/>
                </a:solidFill>
              </a14:hiddenFill>
            </a:ext>
          </a:extLst>
        </p:spPr>
      </p:pic>
      <p:pic>
        <p:nvPicPr>
          <p:cNvPr id="1082" name="Picture 46" descr="IIoTx农业：利用IIoT技术的“智慧农业”的未来| 村田制作所技术文章"/>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57496" y="2440298"/>
            <a:ext cx="759600" cy="49320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1160118" y="4427855"/>
            <a:ext cx="1015107" cy="898958"/>
          </a:xfrm>
          <a:prstGeom prst="rect">
            <a:avLst/>
          </a:prstGeom>
          <a:solidFill>
            <a:srgbClr val="004578"/>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200" b="1" dirty="0">
                <a:solidFill>
                  <a:schemeClr val="bg1"/>
                </a:solidFill>
                <a:latin typeface="Times New Roman" panose="02020603050405020304" pitchFamily="18" charset="0"/>
                <a:ea typeface="SimSun" panose="02010600030101010101" pitchFamily="2" charset="-122"/>
              </a:rPr>
              <a:t>云边端异构</a:t>
            </a:r>
            <a:endParaRPr lang="en-US" altLang="zh-CN" sz="1200" b="1" dirty="0">
              <a:solidFill>
                <a:schemeClr val="bg1"/>
              </a:solidFill>
              <a:latin typeface="Times New Roman" panose="02020603050405020304" pitchFamily="18" charset="0"/>
              <a:ea typeface="SimSun" panose="02010600030101010101" pitchFamily="2" charset="-122"/>
            </a:endParaRPr>
          </a:p>
          <a:p>
            <a:pPr algn="ctr"/>
            <a:r>
              <a:rPr lang="zh-CN" altLang="en-US" sz="1200" b="1" dirty="0">
                <a:solidFill>
                  <a:schemeClr val="bg1"/>
                </a:solidFill>
                <a:latin typeface="Times New Roman" panose="02020603050405020304" pitchFamily="18" charset="0"/>
                <a:ea typeface="SimSun" panose="02010600030101010101" pitchFamily="2" charset="-122"/>
              </a:rPr>
              <a:t>智算硬件</a:t>
            </a:r>
            <a:endParaRPr lang="zh-CN" altLang="en-US" sz="1200" b="1" dirty="0">
              <a:solidFill>
                <a:schemeClr val="bg1"/>
              </a:solidFill>
              <a:latin typeface="Times New Roman" panose="02020603050405020304" pitchFamily="18" charset="0"/>
              <a:ea typeface="SimSun" panose="02010600030101010101" pitchFamily="2" charset="-122"/>
            </a:endParaRPr>
          </a:p>
        </p:txBody>
      </p:sp>
      <p:sp>
        <p:nvSpPr>
          <p:cNvPr id="7" name="矩形 6"/>
          <p:cNvSpPr/>
          <p:nvPr/>
        </p:nvSpPr>
        <p:spPr>
          <a:xfrm>
            <a:off x="2338728" y="4427855"/>
            <a:ext cx="5645154" cy="898958"/>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1200" dirty="0">
              <a:solidFill>
                <a:schemeClr val="tx1"/>
              </a:solidFill>
            </a:endParaRPr>
          </a:p>
        </p:txBody>
      </p:sp>
      <p:grpSp>
        <p:nvGrpSpPr>
          <p:cNvPr id="8" name="组合 7"/>
          <p:cNvGrpSpPr/>
          <p:nvPr/>
        </p:nvGrpSpPr>
        <p:grpSpPr>
          <a:xfrm>
            <a:off x="2419631" y="4491827"/>
            <a:ext cx="923644" cy="771013"/>
            <a:chOff x="2419631" y="5566247"/>
            <a:chExt cx="923644" cy="771013"/>
          </a:xfrm>
        </p:grpSpPr>
        <p:sp>
          <p:nvSpPr>
            <p:cNvPr id="9" name="矩形 8"/>
            <p:cNvSpPr/>
            <p:nvPr/>
          </p:nvSpPr>
          <p:spPr>
            <a:xfrm>
              <a:off x="2419631" y="5566247"/>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nvSpPr>
          <p:spPr>
            <a:xfrm>
              <a:off x="2419631" y="6106229"/>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900" b="1" dirty="0">
                  <a:solidFill>
                    <a:schemeClr val="tx1"/>
                  </a:solidFill>
                  <a:latin typeface="Times New Roman" panose="02020603050405020304" pitchFamily="18" charset="0"/>
                  <a:ea typeface="SimSun" panose="02010600030101010101" pitchFamily="2" charset="-122"/>
                </a:rPr>
                <a:t>A100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1" name="Picture 2" descr="NVIDIA A100 | NVIDIA"/>
            <p:cNvPicPr>
              <a:picLocks noChangeAspect="1" noChangeArrowheads="1"/>
            </p:cNvPicPr>
            <p:nvPr/>
          </p:nvPicPr>
          <p:blipFill rotWithShape="1">
            <a:blip r:embed="rId23">
              <a:extLst>
                <a:ext uri="{BEBA8EAE-BF5A-486C-A8C5-ECC9F3942E4B}">
                  <a14:imgProps xmlns:a14="http://schemas.microsoft.com/office/drawing/2010/main">
                    <a14:imgLayer r:embed="rId24">
                      <a14:imgEffect>
                        <a14:backgroundRemoval t="10000" b="90000" l="10000" r="90000"/>
                      </a14:imgEffect>
                    </a14:imgLayer>
                  </a14:imgProps>
                </a:ext>
                <a:ext uri="{28A0092B-C50C-407E-A947-70E740481C1C}">
                  <a14:useLocalDpi xmlns:a14="http://schemas.microsoft.com/office/drawing/2010/main" val="0"/>
                </a:ext>
              </a:extLst>
            </a:blip>
            <a:srcRect l="24881" t="7017" r="26831" b="10007"/>
            <a:stretch>
              <a:fillRect/>
            </a:stretch>
          </p:blipFill>
          <p:spPr bwMode="auto">
            <a:xfrm>
              <a:off x="2513946" y="5573404"/>
              <a:ext cx="735014"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组合 11"/>
          <p:cNvGrpSpPr/>
          <p:nvPr/>
        </p:nvGrpSpPr>
        <p:grpSpPr>
          <a:xfrm>
            <a:off x="3556958" y="4498984"/>
            <a:ext cx="923644" cy="771013"/>
            <a:chOff x="3556958" y="5573404"/>
            <a:chExt cx="923644" cy="771013"/>
          </a:xfrm>
        </p:grpSpPr>
        <p:sp>
          <p:nvSpPr>
            <p:cNvPr id="13" name="矩形 12"/>
            <p:cNvSpPr/>
            <p:nvPr/>
          </p:nvSpPr>
          <p:spPr>
            <a:xfrm>
              <a:off x="3556958" y="5573404"/>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矩形 13"/>
            <p:cNvSpPr/>
            <p:nvPr/>
          </p:nvSpPr>
          <p:spPr>
            <a:xfrm>
              <a:off x="3556958" y="6113386"/>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zh-CN" altLang="en-US" sz="900" b="1" dirty="0">
                  <a:solidFill>
                    <a:schemeClr val="tx1"/>
                  </a:solidFill>
                  <a:latin typeface="Times New Roman" panose="02020603050405020304" pitchFamily="18" charset="0"/>
                  <a:ea typeface="SimSun" panose="02010600030101010101" pitchFamily="2" charset="-122"/>
                </a:rPr>
                <a:t>天垓</a:t>
              </a:r>
              <a:r>
                <a:rPr lang="en-US" altLang="zh-CN" sz="900" b="1" dirty="0">
                  <a:solidFill>
                    <a:schemeClr val="tx1"/>
                  </a:solidFill>
                  <a:latin typeface="Times New Roman" panose="02020603050405020304" pitchFamily="18" charset="0"/>
                  <a:ea typeface="SimSun" panose="02010600030101010101" pitchFamily="2" charset="-122"/>
                </a:rPr>
                <a:t>100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15" name="Picture 4" descr="天数智芯通用GPU产品天垓100与飞桨完成III级兼容性测试，加速人工智能产业生态建设"/>
            <p:cNvPicPr>
              <a:picLocks noChangeAspect="1" noChangeArrowheads="1"/>
            </p:cNvPicPr>
            <p:nvPr/>
          </p:nvPicPr>
          <p:blipFill rotWithShape="1">
            <a:blip r:embed="rId25">
              <a:extLst>
                <a:ext uri="{28A0092B-C50C-407E-A947-70E740481C1C}">
                  <a14:useLocalDpi xmlns:a14="http://schemas.microsoft.com/office/drawing/2010/main" val="0"/>
                </a:ext>
              </a:extLst>
            </a:blip>
            <a:srcRect l="8477" t="11050" r="12142" b="15361"/>
            <a:stretch>
              <a:fillRect/>
            </a:stretch>
          </p:blipFill>
          <p:spPr bwMode="auto">
            <a:xfrm>
              <a:off x="3722260" y="5590470"/>
              <a:ext cx="603603"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组合 19"/>
          <p:cNvGrpSpPr/>
          <p:nvPr/>
        </p:nvGrpSpPr>
        <p:grpSpPr>
          <a:xfrm>
            <a:off x="4694285" y="4506141"/>
            <a:ext cx="923644" cy="771013"/>
            <a:chOff x="4694285" y="5580561"/>
            <a:chExt cx="923644" cy="771013"/>
          </a:xfrm>
        </p:grpSpPr>
        <p:sp>
          <p:nvSpPr>
            <p:cNvPr id="21" name="矩形 20"/>
            <p:cNvSpPr/>
            <p:nvPr/>
          </p:nvSpPr>
          <p:spPr>
            <a:xfrm>
              <a:off x="4694285" y="5580561"/>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矩形 22"/>
            <p:cNvSpPr/>
            <p:nvPr/>
          </p:nvSpPr>
          <p:spPr>
            <a:xfrm>
              <a:off x="4694285" y="6120543"/>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sz="900" b="1" dirty="0">
                  <a:solidFill>
                    <a:schemeClr val="tx1"/>
                  </a:solidFill>
                  <a:latin typeface="Times New Roman" panose="02020603050405020304" pitchFamily="18" charset="0"/>
                  <a:ea typeface="SimSun" panose="02010600030101010101" pitchFamily="2" charset="-122"/>
                </a:rPr>
                <a:t>Jetson</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26" name="Picture 6" descr="Decatron | STEM 設備| AI 人工智能設備| NVIDIA Jetson Nano 4GB 開發套件"/>
            <p:cNvPicPr>
              <a:picLocks noChangeAspect="1" noChangeArrowheads="1"/>
            </p:cNvPicPr>
            <p:nvPr/>
          </p:nvPicPr>
          <p:blipFill>
            <a:blip r:embed="rId26">
              <a:extLst>
                <a:ext uri="{BEBA8EAE-BF5A-486C-A8C5-ECC9F3942E4B}">
                  <a14:imgProps xmlns:a14="http://schemas.microsoft.com/office/drawing/2010/main">
                    <a14:imgLayer r:embed="rId27">
                      <a14:imgEffect>
                        <a14:backgroundRemoval t="8478" b="92033" l="7500" r="94167">
                          <a14:foregroundMark x1="77583" y1="37181" x2="71333" y2="49438"/>
                          <a14:foregroundMark x1="65250" y1="58121" x2="57750" y2="64964"/>
                          <a14:foregroundMark x1="92250" y1="43514" x2="94167" y2="43514"/>
                          <a14:foregroundMark x1="44250" y1="90092" x2="45667" y2="92033"/>
                          <a14:foregroundMark x1="11250" y1="57712" x2="7500" y2="56180"/>
                          <a14:foregroundMark x1="43333" y1="8478" x2="39083" y2="11747"/>
                        </a14:backgroundRemoval>
                      </a14:imgEffect>
                    </a14:imgLayer>
                  </a14:imgProps>
                </a:ext>
                <a:ext uri="{28A0092B-C50C-407E-A947-70E740481C1C}">
                  <a14:useLocalDpi xmlns:a14="http://schemas.microsoft.com/office/drawing/2010/main" val="0"/>
                </a:ext>
              </a:extLst>
            </a:blip>
            <a:srcRect/>
            <a:stretch>
              <a:fillRect/>
            </a:stretch>
          </p:blipFill>
          <p:spPr bwMode="auto">
            <a:xfrm>
              <a:off x="4825169" y="5580561"/>
              <a:ext cx="661875"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 name="组合 26"/>
          <p:cNvGrpSpPr/>
          <p:nvPr/>
        </p:nvGrpSpPr>
        <p:grpSpPr>
          <a:xfrm>
            <a:off x="5831612" y="4494303"/>
            <a:ext cx="923644" cy="771013"/>
            <a:chOff x="5831612" y="5568723"/>
            <a:chExt cx="923644" cy="771013"/>
          </a:xfrm>
        </p:grpSpPr>
        <p:sp>
          <p:nvSpPr>
            <p:cNvPr id="30" name="矩形 29"/>
            <p:cNvSpPr/>
            <p:nvPr/>
          </p:nvSpPr>
          <p:spPr>
            <a:xfrm>
              <a:off x="5831612" y="5568723"/>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矩形 30"/>
            <p:cNvSpPr/>
            <p:nvPr/>
          </p:nvSpPr>
          <p:spPr>
            <a:xfrm>
              <a:off x="5831612" y="6108705"/>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sz="900" b="1" dirty="0">
                  <a:solidFill>
                    <a:schemeClr val="tx1"/>
                  </a:solidFill>
                  <a:latin typeface="Times New Roman" panose="02020603050405020304" pitchFamily="18" charset="0"/>
                  <a:ea typeface="SimSun" panose="02010600030101010101" pitchFamily="2" charset="-122"/>
                </a:rPr>
                <a:t>Atlas 300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34" name="Picture 8" descr="全爱科技- Atlas 300I Pro 推理卡"/>
            <p:cNvPicPr>
              <a:picLocks noChangeAspect="1" noChangeArrowheads="1"/>
            </p:cNvPicPr>
            <p:nvPr/>
          </p:nvPicPr>
          <p:blipFill rotWithShape="1">
            <a:blip r:embed="rId28">
              <a:extLst>
                <a:ext uri="{BEBA8EAE-BF5A-486C-A8C5-ECC9F3942E4B}">
                  <a14:imgProps xmlns:a14="http://schemas.microsoft.com/office/drawing/2010/main">
                    <a14:imgLayer r:embed="rId29">
                      <a14:imgEffect>
                        <a14:backgroundRemoval t="10000" b="90000" l="10000" r="90000">
                          <a14:foregroundMark x1="55390" y1="31915" x2="53160" y2="35638"/>
                        </a14:backgroundRemoval>
                      </a14:imgEffect>
                    </a14:imgLayer>
                  </a14:imgProps>
                </a:ext>
                <a:ext uri="{28A0092B-C50C-407E-A947-70E740481C1C}">
                  <a14:useLocalDpi xmlns:a14="http://schemas.microsoft.com/office/drawing/2010/main" val="0"/>
                </a:ext>
              </a:extLst>
            </a:blip>
            <a:srcRect l="17664" t="10923" r="11754" b="19524"/>
            <a:stretch>
              <a:fillRect/>
            </a:stretch>
          </p:blipFill>
          <p:spPr bwMode="auto">
            <a:xfrm>
              <a:off x="5901389" y="5582294"/>
              <a:ext cx="784090" cy="54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5" name="组合 34"/>
          <p:cNvGrpSpPr/>
          <p:nvPr/>
        </p:nvGrpSpPr>
        <p:grpSpPr>
          <a:xfrm>
            <a:off x="6968940" y="4498984"/>
            <a:ext cx="923644" cy="771013"/>
            <a:chOff x="6968940" y="5573404"/>
            <a:chExt cx="923644" cy="771013"/>
          </a:xfrm>
        </p:grpSpPr>
        <p:sp>
          <p:nvSpPr>
            <p:cNvPr id="38" name="矩形 37"/>
            <p:cNvSpPr/>
            <p:nvPr/>
          </p:nvSpPr>
          <p:spPr>
            <a:xfrm>
              <a:off x="6968940" y="5573404"/>
              <a:ext cx="923644" cy="539982"/>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矩形 61"/>
            <p:cNvSpPr/>
            <p:nvPr/>
          </p:nvSpPr>
          <p:spPr>
            <a:xfrm>
              <a:off x="6968940" y="6113386"/>
              <a:ext cx="923644" cy="231031"/>
            </a:xfrm>
            <a:prstGeom prst="rect">
              <a:avLst/>
            </a:prstGeom>
            <a:solidFill>
              <a:schemeClr val="bg1"/>
            </a:solidFill>
            <a:ln>
              <a:solidFill>
                <a:schemeClr val="tx1"/>
              </a:solidFill>
            </a:ln>
            <a:effectLst>
              <a:outerShdw blurRad="50800" dist="381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p>
              <a:pPr algn="ctr"/>
              <a:r>
                <a:rPr lang="en-US" altLang="zh-CN" sz="900" b="1" dirty="0">
                  <a:solidFill>
                    <a:schemeClr val="tx1"/>
                  </a:solidFill>
                  <a:latin typeface="Times New Roman" panose="02020603050405020304" pitchFamily="18" charset="0"/>
                  <a:ea typeface="SimSun" panose="02010600030101010101" pitchFamily="2" charset="-122"/>
                </a:rPr>
                <a:t>MLU270</a:t>
              </a:r>
              <a:r>
                <a:rPr lang="zh-CN" altLang="en-US" sz="900" b="1" dirty="0">
                  <a:solidFill>
                    <a:schemeClr val="tx1"/>
                  </a:solidFill>
                  <a:latin typeface="Times New Roman" panose="02020603050405020304" pitchFamily="18" charset="0"/>
                  <a:ea typeface="SimSun" panose="02010600030101010101" pitchFamily="2" charset="-122"/>
                </a:rPr>
                <a:t>计算芯片</a:t>
              </a:r>
              <a:endParaRPr lang="zh-CN" altLang="en-US" sz="900" b="1" dirty="0">
                <a:solidFill>
                  <a:schemeClr val="tx1"/>
                </a:solidFill>
                <a:latin typeface="Times New Roman" panose="02020603050405020304" pitchFamily="18" charset="0"/>
                <a:ea typeface="SimSun" panose="02010600030101010101" pitchFamily="2" charset="-122"/>
              </a:endParaRPr>
            </a:p>
          </p:txBody>
        </p:sp>
        <p:pic>
          <p:nvPicPr>
            <p:cNvPr id="63" name="Picture 10" descr="MLU270-S4智能加速卡"/>
            <p:cNvPicPr>
              <a:picLocks noChangeAspect="1" noChangeArrowheads="1"/>
            </p:cNvPicPr>
            <p:nvPr/>
          </p:nvPicPr>
          <p:blipFill rotWithShape="1">
            <a:blip r:embed="rId30">
              <a:extLst>
                <a:ext uri="{BEBA8EAE-BF5A-486C-A8C5-ECC9F3942E4B}">
                  <a14:imgProps xmlns:a14="http://schemas.microsoft.com/office/drawing/2010/main">
                    <a14:imgLayer r:embed="rId31">
                      <a14:imgEffect>
                        <a14:backgroundRemoval t="10000" b="90000" l="10000" r="90000">
                          <a14:foregroundMark x1="28237" y1="42909" x2="27769" y2="56000"/>
                          <a14:foregroundMark x1="25117" y1="34727" x2="25117" y2="34727"/>
                          <a14:foregroundMark x1="26989" y1="35818" x2="24337" y2="32727"/>
                          <a14:foregroundMark x1="27769" y1="35273" x2="21997" y2="33455"/>
                          <a14:foregroundMark x1="32449" y1="46909" x2="32293" y2="54727"/>
                          <a14:foregroundMark x1="32293" y1="59455" x2="32137" y2="63636"/>
                          <a14:foregroundMark x1="32293" y1="64182" x2="32605" y2="66909"/>
                        </a14:backgroundRemoval>
                      </a14:imgEffect>
                    </a14:imgLayer>
                  </a14:imgProps>
                </a:ext>
                <a:ext uri="{28A0092B-C50C-407E-A947-70E740481C1C}">
                  <a14:useLocalDpi xmlns:a14="http://schemas.microsoft.com/office/drawing/2010/main" val="0"/>
                </a:ext>
              </a:extLst>
            </a:blip>
            <a:srcRect l="19881" t="19455" r="18965" b="20618"/>
            <a:stretch>
              <a:fillRect/>
            </a:stretch>
          </p:blipFill>
          <p:spPr bwMode="auto">
            <a:xfrm>
              <a:off x="7109645" y="5574402"/>
              <a:ext cx="642233" cy="54000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32"/>
    </p:custData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t>研究背景与意义</a:t>
            </a:r>
          </a:p>
        </p:txBody>
      </p:sp>
      <p:sp>
        <p:nvSpPr>
          <p:cNvPr id="4" name="文本框 3"/>
          <p:cNvSpPr txBox="1"/>
          <p:nvPr/>
        </p:nvSpPr>
        <p:spPr>
          <a:xfrm>
            <a:off x="140970" y="915035"/>
            <a:ext cx="8862060" cy="922020"/>
          </a:xfrm>
          <a:prstGeom prst="rect">
            <a:avLst/>
          </a:prstGeom>
          <a:noFill/>
        </p:spPr>
        <p:txBody>
          <a:bodyPr wrap="square" rtlCol="0">
            <a:spAutoFit/>
          </a:bodyPr>
          <a:lstStyle/>
          <a:p>
            <a:pPr indent="0" algn="just" fontAlgn="auto">
              <a:lnSpc>
                <a:spcPct val="150000"/>
              </a:lnSpc>
              <a:spcBef>
                <a:spcPts val="0"/>
              </a:spcBef>
              <a:spcAft>
                <a:spcPts val="600"/>
              </a:spcAft>
            </a:pPr>
            <a:r>
              <a:rPr lang="zh-CN" altLang="en-US" dirty="0">
                <a:sym typeface="+mn-ea"/>
              </a:rPr>
              <a:t>云边端中的训练场景呈现出</a:t>
            </a:r>
            <a:r>
              <a:rPr lang="zh-CN" altLang="en-US" b="1" dirty="0">
                <a:sym typeface="+mn-ea"/>
              </a:rPr>
              <a:t>跨域训练通信瓶颈严重、节点间网络状态不一</a:t>
            </a:r>
            <a:r>
              <a:rPr lang="zh-CN" altLang="en-US" dirty="0">
                <a:sym typeface="+mn-ea"/>
              </a:rPr>
              <a:t>的特征，对跨域分布式训练提出了全新的挑战。</a:t>
            </a:r>
            <a:endParaRPr lang="zh-CN" altLang="en-US" dirty="0">
              <a:sym typeface="+mn-ea"/>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2" name="矩形 11"/>
          <p:cNvSpPr/>
          <p:nvPr/>
        </p:nvSpPr>
        <p:spPr>
          <a:xfrm>
            <a:off x="539836" y="1832987"/>
            <a:ext cx="8061321" cy="42354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dirty="0">
                <a:solidFill>
                  <a:schemeClr val="tx1"/>
                </a:solidFill>
                <a:sym typeface="+mn-ea"/>
              </a:rPr>
              <a:t>面向云边端协同的跨域分布式训练场景</a:t>
            </a:r>
            <a:endParaRPr lang="zh-CN" altLang="en-US" sz="2000" b="1" dirty="0">
              <a:solidFill>
                <a:schemeClr val="tx1"/>
              </a:solidFill>
              <a:sym typeface="+mn-ea"/>
            </a:endParaRPr>
          </a:p>
        </p:txBody>
      </p:sp>
      <p:sp>
        <p:nvSpPr>
          <p:cNvPr id="15" name="矩形 14"/>
          <p:cNvSpPr/>
          <p:nvPr>
            <p:custDataLst>
              <p:tags r:id="rId1"/>
            </p:custDataLst>
          </p:nvPr>
        </p:nvSpPr>
        <p:spPr>
          <a:xfrm>
            <a:off x="539115" y="2345055"/>
            <a:ext cx="8000365" cy="816610"/>
          </a:xfrm>
          <a:prstGeom prst="rect">
            <a:avLst/>
          </a:prstGeom>
          <a:solidFill>
            <a:srgbClr val="145396"/>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dirty="0">
                <a:sym typeface="+mn-ea"/>
              </a:rPr>
              <a:t>特征：云边端跨域训练通信瓶颈严重、节点间网络状态</a:t>
            </a:r>
            <a:r>
              <a:rPr lang="zh-CN" altLang="en-US" sz="1600" b="1" dirty="0">
                <a:sym typeface="+mn-ea"/>
              </a:rPr>
              <a:t>不一</a:t>
            </a:r>
            <a:endParaRPr lang="zh-CN" altLang="en-US" sz="1600" b="1" dirty="0">
              <a:sym typeface="+mn-ea"/>
            </a:endParaRPr>
          </a:p>
        </p:txBody>
      </p:sp>
      <p:sp>
        <p:nvSpPr>
          <p:cNvPr id="16" name="矩形 15"/>
          <p:cNvSpPr/>
          <p:nvPr>
            <p:custDataLst>
              <p:tags r:id="rId2"/>
            </p:custDataLst>
          </p:nvPr>
        </p:nvSpPr>
        <p:spPr>
          <a:xfrm>
            <a:off x="542925" y="3249930"/>
            <a:ext cx="7995920" cy="288099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just" fontAlgn="auto">
              <a:lnSpc>
                <a:spcPct val="120000"/>
              </a:lnSpc>
            </a:pPr>
            <a:r>
              <a:rPr lang="zh-CN" altLang="en-US" sz="1600" dirty="0">
                <a:solidFill>
                  <a:schemeClr val="tx1"/>
                </a:solidFill>
                <a:sym typeface="+mn-ea"/>
              </a:rPr>
              <a:t>在云边端协同的跨域分布式训练场景中，训练任务运行于不同的云边端设备中，节点间在低速网络中传输模型参数与梯度，造成分布式训练的通信瓶颈更加严重，通信</a:t>
            </a:r>
            <a:r>
              <a:rPr lang="en-US" altLang="zh-CN" sz="1600" dirty="0">
                <a:solidFill>
                  <a:schemeClr val="tx1"/>
                </a:solidFill>
                <a:sym typeface="+mn-ea"/>
              </a:rPr>
              <a:t>-</a:t>
            </a:r>
            <a:r>
              <a:rPr lang="zh-CN" altLang="en-US" sz="1600" dirty="0">
                <a:solidFill>
                  <a:schemeClr val="tx1"/>
                </a:solidFill>
                <a:sym typeface="+mn-ea"/>
              </a:rPr>
              <a:t>计算比进一步扩大，严重降低计算设备利用率，影响训练速度。同时，云边端低速的网络造成各节点进行集合通信的速度远低于集群内，造成了大量计算节点等待，降低了分布式训练时节点间的协同速度。因此，跨域分布式训练需要合理的压缩通信，降低通信规模</a:t>
            </a:r>
            <a:r>
              <a:rPr lang="en-US" altLang="zh-CN" sz="1600" dirty="0">
                <a:solidFill>
                  <a:schemeClr val="tx1"/>
                </a:solidFill>
                <a:sym typeface="+mn-ea"/>
              </a:rPr>
              <a:t>；</a:t>
            </a:r>
            <a:r>
              <a:rPr lang="zh-CN" altLang="en-US" sz="1600" dirty="0">
                <a:solidFill>
                  <a:schemeClr val="tx1"/>
                </a:solidFill>
                <a:sym typeface="+mn-ea"/>
              </a:rPr>
              <a:t>还需要合理调度节点间的集合通信，动态构建通信拓扑、调度通信操作的执行</a:t>
            </a:r>
            <a:r>
              <a:rPr lang="en-US" altLang="zh-CN" sz="1600" dirty="0">
                <a:solidFill>
                  <a:schemeClr val="tx1"/>
                </a:solidFill>
                <a:sym typeface="+mn-ea"/>
              </a:rPr>
              <a:t>；</a:t>
            </a:r>
            <a:r>
              <a:rPr lang="zh-CN" altLang="en-US" sz="1600" dirty="0">
                <a:solidFill>
                  <a:schemeClr val="tx1"/>
                </a:solidFill>
                <a:sym typeface="+mn-ea"/>
              </a:rPr>
              <a:t>最后需要适当的调整节点间的更新策略</a:t>
            </a:r>
            <a:r>
              <a:rPr lang="en-US" altLang="zh-CN" sz="1600" dirty="0">
                <a:solidFill>
                  <a:schemeClr val="tx1"/>
                </a:solidFill>
                <a:sym typeface="+mn-ea"/>
              </a:rPr>
              <a:t>，</a:t>
            </a:r>
            <a:r>
              <a:rPr lang="zh-CN" altLang="en-US" sz="1600" dirty="0">
                <a:solidFill>
                  <a:schemeClr val="tx1"/>
                </a:solidFill>
                <a:sym typeface="+mn-ea"/>
              </a:rPr>
              <a:t>从而提升训练</a:t>
            </a:r>
            <a:r>
              <a:rPr lang="zh-CN" altLang="en-US" sz="1600" dirty="0">
                <a:solidFill>
                  <a:schemeClr val="tx1"/>
                </a:solidFill>
                <a:sym typeface="+mn-ea"/>
              </a:rPr>
              <a:t>速度。</a:t>
            </a:r>
            <a:endParaRPr lang="zh-CN" altLang="en-US" sz="1600" dirty="0">
              <a:solidFill>
                <a:schemeClr val="tx1"/>
              </a:solidFill>
              <a:sym typeface="+mn-ea"/>
            </a:endParaRPr>
          </a:p>
        </p:txBody>
      </p:sp>
    </p:spTree>
    <p:custDataLst>
      <p:tags r:id="rId3"/>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8.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1.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4.xml><?xml version="1.0" encoding="utf-8"?>
<p:tagLst xmlns:p="http://schemas.openxmlformats.org/presentationml/2006/main">
  <p:tag name="KSO_WM_BEAUTIFY_FLAG" val=""/>
  <p:tag name="KSO_WM_DIAGRAM_VIRTUALLY_FRAME" val="{&quot;height&quot;:298.26606299212597,&quot;left&quot;:42.45,&quot;top&quot;:184.583937007874,&quot;width&quot;:634.8064566929132}"/>
</p:tagLst>
</file>

<file path=ppt/tags/tag35.xml><?xml version="1.0" encoding="utf-8"?>
<p:tagLst xmlns:p="http://schemas.openxmlformats.org/presentationml/2006/main">
  <p:tag name="KSO_WM_BEAUTIFY_FLAG" val=""/>
  <p:tag name="KSO_WM_DIAGRAM_VIRTUALLY_FRAME" val="{&quot;height&quot;:298.26606299212597,&quot;left&quot;:42.45,&quot;top&quot;:184.583937007874,&quot;width&quot;:634.8064566929132}"/>
</p:tagLst>
</file>

<file path=ppt/tags/tag36.xml><?xml version="1.0" encoding="utf-8"?>
<p:tagLst xmlns:p="http://schemas.openxmlformats.org/presentationml/2006/main">
  <p:tag name="KSO_WM_BEAUTIFY_FLAG" val=""/>
  <p:tag name="KSO_WM_DIAGRAM_VIRTUALLY_FRAME" val="{&quot;height&quot;:298.26606299212597,&quot;left&quot;:42.45,&quot;top&quot;:184.583937007874,&quot;width&quot;:634.8064566929132}"/>
</p:tagLst>
</file>

<file path=ppt/tags/tag37.xml><?xml version="1.0" encoding="utf-8"?>
<p:tagLst xmlns:p="http://schemas.openxmlformats.org/presentationml/2006/main">
  <p:tag name="KSO_WM_BEAUTIFY_FLAG" val=""/>
  <p:tag name="KSO_WM_DIAGRAM_VIRTUALLY_FRAME" val="{&quot;height&quot;:298.26606299212597,&quot;left&quot;:42.45,&quot;top&quot;:184.583937007874,&quot;width&quot;:634.8064566929132}"/>
</p:tagLst>
</file>

<file path=ppt/tags/tag38.xml><?xml version="1.0" encoding="utf-8"?>
<p:tagLst xmlns:p="http://schemas.openxmlformats.org/presentationml/2006/main">
  <p:tag name="KSO_WM_BEAUTIFY_FLAG" val=""/>
  <p:tag name="KSO_WM_DIAGRAM_VIRTUALLY_FRAME" val="{&quot;height&quot;:298.26606299212597,&quot;left&quot;:42.45,&quot;top&quot;:184.583937007874,&quot;width&quot;:634.8064566929132}"/>
</p:tagLst>
</file>

<file path=ppt/tags/tag39.xml><?xml version="1.0" encoding="utf-8"?>
<p:tagLst xmlns:p="http://schemas.openxmlformats.org/presentationml/2006/main">
  <p:tag name="KSO_WM_BEAUTIFY_FLAG" val=""/>
  <p:tag name="KSO_WM_DIAGRAM_VIRTUALLY_FRAME" val="{&quot;height&quot;:298.26606299212597,&quot;left&quot;:42.45,&quot;top&quot;:184.583937007874,&quot;width&quot;:634.8064566929132}"/>
</p:tagLst>
</file>

<file path=ppt/tags/tag40.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TABLE_ENDDRAG_ORIGIN_RECT" val="669*354"/>
  <p:tag name="TABLE_ENDDRAG_RECT" val="25*80*669*354"/>
  <p:tag name="KSO_WM_BEAUTIFY_FLAG" val=""/>
</p:tagLst>
</file>

<file path=ppt/tags/tag51.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TABLE_ENDDRAG_ORIGIN_RECT" val="669*373"/>
  <p:tag name="TABLE_ENDDRAG_RECT" val="25*80*669*374"/>
  <p:tag name="KSO_WM_BEAUTIFY_FLAG" val=""/>
</p:tagLst>
</file>

<file path=ppt/tags/tag62.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TABLE_ENDDRAG_ORIGIN_RECT" val="669*373"/>
  <p:tag name="TABLE_ENDDRAG_RECT" val="25*80*669*374"/>
  <p:tag name="KSO_WM_BEAUTIFY_FLAG" val=""/>
</p:tagLst>
</file>

<file path=ppt/tags/tag73.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80.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81.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82.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83.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84.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85.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86.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91.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92.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93.xml><?xml version="1.0" encoding="utf-8"?>
<p:tagLst xmlns:p="http://schemas.openxmlformats.org/presentationml/2006/main">
  <p:tag name="KSO_WM_BEAUTIFY_FLAG" val=""/>
  <p:tag name="KSO_WM_DIAGRAM_VIRTUALLY_FRAME" val="{&quot;height&quot;:358.2,&quot;left&quot;:-343.01732283464565,&quot;top&quot;:133.5,&quot;width&quot;:825.0673228346457}"/>
</p:tagLst>
</file>

<file path=ppt/tags/tag94.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22.xml><?xml version="1.0" encoding="utf-8"?>
<p:tagLst xmlns:p="http://schemas.openxmlformats.org/presentationml/2006/main">
  <p:tag name="KSO_WM_DIAGRAM_VIRTUALLY_FRAME" val="{&quot;height&quot;:425.05,&quot;left&quot;:25.7,&quot;top&quot;:93.15,&quot;width&quot;:684.45}"/>
</p:tagLst>
</file>

<file path=ppt/tags/tag123.xml><?xml version="1.0" encoding="utf-8"?>
<p:tagLst xmlns:p="http://schemas.openxmlformats.org/presentationml/2006/main">
  <p:tag name="KSO_WM_DIAGRAM_VIRTUALLY_FRAME" val="{&quot;height&quot;:425.05,&quot;left&quot;:25.7,&quot;top&quot;:93.15,&quot;width&quot;:684.45}"/>
</p:tagLst>
</file>

<file path=ppt/tags/tag124.xml><?xml version="1.0" encoding="utf-8"?>
<p:tagLst xmlns:p="http://schemas.openxmlformats.org/presentationml/2006/main">
  <p:tag name="KSO_WM_DIAGRAM_VIRTUALLY_FRAME" val="{&quot;height&quot;:425.05,&quot;left&quot;:25.7,&quot;top&quot;:93.15,&quot;width&quot;:684.45}"/>
</p:tagLst>
</file>

<file path=ppt/tags/tag125.xml><?xml version="1.0" encoding="utf-8"?>
<p:tagLst xmlns:p="http://schemas.openxmlformats.org/presentationml/2006/main">
  <p:tag name="KSO_WM_BEAUTIFY_FLAG" val=""/>
  <p:tag name="KSO_WM_DIAGRAM_VIRTUALLY_FRAME" val="{&quot;height&quot;:425.05,&quot;left&quot;:25.7,&quot;top&quot;:93.15,&quot;width&quot;:684.45}"/>
</p:tagLst>
</file>

<file path=ppt/tags/tag126.xml><?xml version="1.0" encoding="utf-8"?>
<p:tagLst xmlns:p="http://schemas.openxmlformats.org/presentationml/2006/main">
  <p:tag name="KSO_WM_BEAUTIFY_FLAG" val=""/>
  <p:tag name="KSO_WM_DIAGRAM_VIRTUALLY_FRAME" val="{&quot;height&quot;:425.05,&quot;left&quot;:25.7,&quot;top&quot;:93.15,&quot;width&quot;:684.45}"/>
</p:tagLst>
</file>

<file path=ppt/tags/tag127.xml><?xml version="1.0" encoding="utf-8"?>
<p:tagLst xmlns:p="http://schemas.openxmlformats.org/presentationml/2006/main">
  <p:tag name="KSO_WM_BEAUTIFY_FLAG" val=""/>
  <p:tag name="KSO_WM_DIAGRAM_VIRTUALLY_FRAME" val="{&quot;height&quot;:425.05,&quot;left&quot;:25.7,&quot;top&quot;:93.15,&quot;width&quot;:684.45}"/>
</p:tagLst>
</file>

<file path=ppt/tags/tag128.xml><?xml version="1.0" encoding="utf-8"?>
<p:tagLst xmlns:p="http://schemas.openxmlformats.org/presentationml/2006/main">
  <p:tag name="KSO_WM_BEAUTIFY_FLAG" val=""/>
  <p:tag name="KSO_WM_DIAGRAM_VIRTUALLY_FRAME" val="{&quot;height&quot;:425.05,&quot;left&quot;:25.7,&quot;top&quot;:93.15,&quot;width&quot;:684.45}"/>
</p:tagLst>
</file>

<file path=ppt/tags/tag129.xml><?xml version="1.0" encoding="utf-8"?>
<p:tagLst xmlns:p="http://schemas.openxmlformats.org/presentationml/2006/main">
  <p:tag name="KSO_WM_DIAGRAM_VIRTUALLY_FRAME" val="{&quot;height&quot;:425.05,&quot;left&quot;:25.7,&quot;top&quot;:93.15,&quot;width&quot;:684.45}"/>
</p:tagLst>
</file>

<file path=ppt/tags/tag130.xml><?xml version="1.0" encoding="utf-8"?>
<p:tagLst xmlns:p="http://schemas.openxmlformats.org/presentationml/2006/main">
  <p:tag name="KSO_WM_DIAGRAM_VIRTUALLY_FRAME" val="{&quot;height&quot;:425.05,&quot;left&quot;:25.7,&quot;top&quot;:93.15,&quot;width&quot;:684.45}"/>
</p:tagLst>
</file>

<file path=ppt/tags/tag131.xml><?xml version="1.0" encoding="utf-8"?>
<p:tagLst xmlns:p="http://schemas.openxmlformats.org/presentationml/2006/main">
  <p:tag name="KSO_WM_DIAGRAM_VIRTUALLY_FRAME" val="{&quot;height&quot;:425.05,&quot;left&quot;:25.7,&quot;top&quot;:93.15,&quot;width&quot;:684.45}"/>
</p:tagLst>
</file>

<file path=ppt/tags/tag132.xml><?xml version="1.0" encoding="utf-8"?>
<p:tagLst xmlns:p="http://schemas.openxmlformats.org/presentationml/2006/main">
  <p:tag name="KSO_WM_BEAUTIFY_FLAG" val=""/>
  <p:tag name="KSO_WM_DIAGRAM_VIRTUALLY_FRAME" val="{&quot;height&quot;:425.05,&quot;left&quot;:25.7,&quot;top&quot;:93.15,&quot;width&quot;:684.45}"/>
</p:tagLst>
</file>

<file path=ppt/tags/tag133.xml><?xml version="1.0" encoding="utf-8"?>
<p:tagLst xmlns:p="http://schemas.openxmlformats.org/presentationml/2006/main">
  <p:tag name="KSO_WM_BEAUTIFY_FLAG" val=""/>
  <p:tag name="KSO_WM_DIAGRAM_VIRTUALLY_FRAME" val="{&quot;height&quot;:425.05,&quot;left&quot;:25.7,&quot;top&quot;:93.15,&quot;width&quot;:684.45}"/>
</p:tagLst>
</file>

<file path=ppt/tags/tag134.xml><?xml version="1.0" encoding="utf-8"?>
<p:tagLst xmlns:p="http://schemas.openxmlformats.org/presentationml/2006/main">
  <p:tag name="KSO_WM_BEAUTIFY_FLAG" val=""/>
  <p:tag name="KSO_WM_DIAGRAM_VIRTUALLY_FRAME" val="{&quot;height&quot;:425.05,&quot;left&quot;:25.7,&quot;top&quot;:93.15,&quot;width&quot;:684.45}"/>
</p:tagLst>
</file>

<file path=ppt/tags/tag135.xml><?xml version="1.0" encoding="utf-8"?>
<p:tagLst xmlns:p="http://schemas.openxmlformats.org/presentationml/2006/main">
  <p:tag name="KSO_WM_BEAUTIFY_FLAG" val=""/>
  <p:tag name="KSO_WM_DIAGRAM_VIRTUALLY_FRAME" val="{&quot;height&quot;:425.05,&quot;left&quot;:25.7,&quot;top&quot;:93.15,&quot;width&quot;:684.45}"/>
</p:tagLst>
</file>

<file path=ppt/tags/tag136.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37.xml><?xml version="1.0" encoding="utf-8"?>
<p:tagLst xmlns:p="http://schemas.openxmlformats.org/presentationml/2006/main">
  <p:tag name="KSO_WM_DIAGRAM_VIRTUALLY_FRAME" val="{&quot;height&quot;:425.05,&quot;left&quot;:25.7,&quot;top&quot;:93.15,&quot;width&quot;:684.45}"/>
</p:tagLst>
</file>

<file path=ppt/tags/tag138.xml><?xml version="1.0" encoding="utf-8"?>
<p:tagLst xmlns:p="http://schemas.openxmlformats.org/presentationml/2006/main">
  <p:tag name="KSO_WM_DIAGRAM_VIRTUALLY_FRAME" val="{&quot;height&quot;:425.05,&quot;left&quot;:25.7,&quot;top&quot;:93.15,&quot;width&quot;:684.45}"/>
</p:tagLst>
</file>

<file path=ppt/tags/tag139.xml><?xml version="1.0" encoding="utf-8"?>
<p:tagLst xmlns:p="http://schemas.openxmlformats.org/presentationml/2006/main">
  <p:tag name="KSO_WM_DIAGRAM_VIRTUALLY_FRAME" val="{&quot;height&quot;:425.05,&quot;left&quot;:25.7,&quot;top&quot;:93.15,&quot;width&quot;:684.45}"/>
</p:tagLst>
</file>

<file path=ppt/tags/tag140.xml><?xml version="1.0" encoding="utf-8"?>
<p:tagLst xmlns:p="http://schemas.openxmlformats.org/presentationml/2006/main">
  <p:tag name="KSO_WM_BEAUTIFY_FLAG" val=""/>
  <p:tag name="KSO_WM_DIAGRAM_VIRTUALLY_FRAME" val="{&quot;height&quot;:425.05,&quot;left&quot;:25.7,&quot;top&quot;:93.15,&quot;width&quot;:684.45}"/>
</p:tagLst>
</file>

<file path=ppt/tags/tag141.xml><?xml version="1.0" encoding="utf-8"?>
<p:tagLst xmlns:p="http://schemas.openxmlformats.org/presentationml/2006/main">
  <p:tag name="KSO_WM_BEAUTIFY_FLAG" val=""/>
  <p:tag name="KSO_WM_DIAGRAM_VIRTUALLY_FRAME" val="{&quot;height&quot;:425.05,&quot;left&quot;:25.7,&quot;top&quot;:93.15,&quot;width&quot;:684.45}"/>
</p:tagLst>
</file>

<file path=ppt/tags/tag142.xml><?xml version="1.0" encoding="utf-8"?>
<p:tagLst xmlns:p="http://schemas.openxmlformats.org/presentationml/2006/main">
  <p:tag name="KSO_WM_BEAUTIFY_FLAG" val=""/>
  <p:tag name="KSO_WM_DIAGRAM_VIRTUALLY_FRAME" val="{&quot;height&quot;:425.05,&quot;left&quot;:25.7,&quot;top&quot;:93.15,&quot;width&quot;:684.45}"/>
</p:tagLst>
</file>

<file path=ppt/tags/tag143.xml><?xml version="1.0" encoding="utf-8"?>
<p:tagLst xmlns:p="http://schemas.openxmlformats.org/presentationml/2006/main">
  <p:tag name="KSO_WM_BEAUTIFY_FLAG" val=""/>
  <p:tag name="KSO_WM_DIAGRAM_VIRTUALLY_FRAME" val="{&quot;height&quot;:425.05,&quot;left&quot;:25.7,&quot;top&quot;:93.15,&quot;width&quot;:684.45}"/>
</p:tagLst>
</file>

<file path=ppt/tags/tag144.xml><?xml version="1.0" encoding="utf-8"?>
<p:tagLst xmlns:p="http://schemas.openxmlformats.org/presentationml/2006/main">
  <p:tag name="KSO_WM_DIAGRAM_VIRTUALLY_FRAME" val="{&quot;height&quot;:425.05,&quot;left&quot;:25.7,&quot;top&quot;:93.15,&quot;width&quot;:684.45}"/>
</p:tagLst>
</file>

<file path=ppt/tags/tag145.xml><?xml version="1.0" encoding="utf-8"?>
<p:tagLst xmlns:p="http://schemas.openxmlformats.org/presentationml/2006/main">
  <p:tag name="KSO_WM_DIAGRAM_VIRTUALLY_FRAME" val="{&quot;height&quot;:425.05,&quot;left&quot;:25.7,&quot;top&quot;:93.15,&quot;width&quot;:684.45}"/>
</p:tagLst>
</file>

<file path=ppt/tags/tag146.xml><?xml version="1.0" encoding="utf-8"?>
<p:tagLst xmlns:p="http://schemas.openxmlformats.org/presentationml/2006/main">
  <p:tag name="KSO_WM_DIAGRAM_VIRTUALLY_FRAME" val="{&quot;height&quot;:425.05,&quot;left&quot;:25.7,&quot;top&quot;:93.15,&quot;width&quot;:684.45}"/>
</p:tagLst>
</file>

<file path=ppt/tags/tag147.xml><?xml version="1.0" encoding="utf-8"?>
<p:tagLst xmlns:p="http://schemas.openxmlformats.org/presentationml/2006/main">
  <p:tag name="KSO_WM_BEAUTIFY_FLAG" val=""/>
  <p:tag name="KSO_WM_DIAGRAM_VIRTUALLY_FRAME" val="{&quot;height&quot;:425.05,&quot;left&quot;:25.7,&quot;top&quot;:93.15,&quot;width&quot;:684.45}"/>
</p:tagLst>
</file>

<file path=ppt/tags/tag148.xml><?xml version="1.0" encoding="utf-8"?>
<p:tagLst xmlns:p="http://schemas.openxmlformats.org/presentationml/2006/main">
  <p:tag name="KSO_WM_BEAUTIFY_FLAG" val=""/>
  <p:tag name="KSO_WM_DIAGRAM_VIRTUALLY_FRAME" val="{&quot;height&quot;:425.05,&quot;left&quot;:25.7,&quot;top&quot;:93.15,&quot;width&quot;:684.45}"/>
</p:tagLst>
</file>

<file path=ppt/tags/tag149.xml><?xml version="1.0" encoding="utf-8"?>
<p:tagLst xmlns:p="http://schemas.openxmlformats.org/presentationml/2006/main">
  <p:tag name="KSO_WM_BEAUTIFY_FLAG" val=""/>
  <p:tag name="KSO_WM_DIAGRAM_VIRTUALLY_FRAME" val="{&quot;height&quot;:425.05,&quot;left&quot;:25.7,&quot;top&quot;:93.15,&quot;width&quot;:684.45}"/>
</p:tagLst>
</file>

<file path=ppt/tags/tag150.xml><?xml version="1.0" encoding="utf-8"?>
<p:tagLst xmlns:p="http://schemas.openxmlformats.org/presentationml/2006/main">
  <p:tag name="KSO_WM_BEAUTIFY_FLAG" val=""/>
  <p:tag name="KSO_WM_DIAGRAM_VIRTUALLY_FRAME" val="{&quot;height&quot;:425.05,&quot;left&quot;:25.7,&quot;top&quot;:93.15,&quot;width&quot;:684.45}"/>
</p:tagLst>
</file>

<file path=ppt/tags/tag151.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52.xml><?xml version="1.0" encoding="utf-8"?>
<p:tagLst xmlns:p="http://schemas.openxmlformats.org/presentationml/2006/main">
  <p:tag name="KSO_WM_DIAGRAM_VIRTUALLY_FRAME" val="{&quot;height&quot;:425.05,&quot;left&quot;:25.7,&quot;top&quot;:93.15,&quot;width&quot;:684.45}"/>
</p:tagLst>
</file>

<file path=ppt/tags/tag153.xml><?xml version="1.0" encoding="utf-8"?>
<p:tagLst xmlns:p="http://schemas.openxmlformats.org/presentationml/2006/main">
  <p:tag name="KSO_WM_DIAGRAM_VIRTUALLY_FRAME" val="{&quot;height&quot;:425.05,&quot;left&quot;:25.7,&quot;top&quot;:93.15,&quot;width&quot;:684.45}"/>
</p:tagLst>
</file>

<file path=ppt/tags/tag154.xml><?xml version="1.0" encoding="utf-8"?>
<p:tagLst xmlns:p="http://schemas.openxmlformats.org/presentationml/2006/main">
  <p:tag name="KSO_WM_BEAUTIFY_FLAG" val=""/>
  <p:tag name="KSO_WM_DIAGRAM_VIRTUALLY_FRAME" val="{&quot;height&quot;:425.05,&quot;left&quot;:25.7,&quot;top&quot;:93.15,&quot;width&quot;:684.45}"/>
</p:tagLst>
</file>

<file path=ppt/tags/tag155.xml><?xml version="1.0" encoding="utf-8"?>
<p:tagLst xmlns:p="http://schemas.openxmlformats.org/presentationml/2006/main">
  <p:tag name="KSO_WM_BEAUTIFY_FLAG" val=""/>
  <p:tag name="KSO_WM_DIAGRAM_VIRTUALLY_FRAME" val="{&quot;height&quot;:425.05,&quot;left&quot;:25.7,&quot;top&quot;:93.15,&quot;width&quot;:684.45}"/>
</p:tagLst>
</file>

<file path=ppt/tags/tag156.xml><?xml version="1.0" encoding="utf-8"?>
<p:tagLst xmlns:p="http://schemas.openxmlformats.org/presentationml/2006/main">
  <p:tag name="KSO_WM_DIAGRAM_VIRTUALLY_FRAME" val="{&quot;height&quot;:425.05,&quot;left&quot;:25.7,&quot;top&quot;:93.15,&quot;width&quot;:684.45}"/>
</p:tagLst>
</file>

<file path=ppt/tags/tag157.xml><?xml version="1.0" encoding="utf-8"?>
<p:tagLst xmlns:p="http://schemas.openxmlformats.org/presentationml/2006/main">
  <p:tag name="KSO_WM_DIAGRAM_VIRTUALLY_FRAME" val="{&quot;height&quot;:425.05,&quot;left&quot;:25.7,&quot;top&quot;:93.15,&quot;width&quot;:684.45}"/>
</p:tagLst>
</file>

<file path=ppt/tags/tag158.xml><?xml version="1.0" encoding="utf-8"?>
<p:tagLst xmlns:p="http://schemas.openxmlformats.org/presentationml/2006/main">
  <p:tag name="KSO_WM_DIAGRAM_VIRTUALLY_FRAME" val="{&quot;height&quot;:425.05,&quot;left&quot;:25.7,&quot;top&quot;:93.15,&quot;width&quot;:684.45}"/>
</p:tagLst>
</file>

<file path=ppt/tags/tag159.xml><?xml version="1.0" encoding="utf-8"?>
<p:tagLst xmlns:p="http://schemas.openxmlformats.org/presentationml/2006/main">
  <p:tag name="KSO_WM_DIAGRAM_VIRTUALLY_FRAME" val="{&quot;height&quot;:425.05,&quot;left&quot;:25.7,&quot;top&quot;:93.15,&quot;width&quot;:684.45}"/>
</p:tagLst>
</file>

<file path=ppt/tags/tag160.xml><?xml version="1.0" encoding="utf-8"?>
<p:tagLst xmlns:p="http://schemas.openxmlformats.org/presentationml/2006/main">
  <p:tag name="KSO_WM_DIAGRAM_VIRTUALLY_FRAME" val="{&quot;height&quot;:425.05,&quot;left&quot;:25.7,&quot;top&quot;:93.15,&quot;width&quot;:684.45}"/>
</p:tagLst>
</file>

<file path=ppt/tags/tag161.xml><?xml version="1.0" encoding="utf-8"?>
<p:tagLst xmlns:p="http://schemas.openxmlformats.org/presentationml/2006/main">
  <p:tag name="KSO_WM_DIAGRAM_VIRTUALLY_FRAME" val="{&quot;height&quot;:425.05,&quot;left&quot;:25.7,&quot;top&quot;:93.15,&quot;width&quot;:684.45}"/>
</p:tagLst>
</file>

<file path=ppt/tags/tag162.xml><?xml version="1.0" encoding="utf-8"?>
<p:tagLst xmlns:p="http://schemas.openxmlformats.org/presentationml/2006/main">
  <p:tag name="KSO_WM_DIAGRAM_VIRTUALLY_FRAME" val="{&quot;height&quot;:425.05,&quot;left&quot;:25.7,&quot;top&quot;:93.15,&quot;width&quot;:684.45}"/>
</p:tagLst>
</file>

<file path=ppt/tags/tag163.xml><?xml version="1.0" encoding="utf-8"?>
<p:tagLst xmlns:p="http://schemas.openxmlformats.org/presentationml/2006/main">
  <p:tag name="KSO_WM_DIAGRAM_VIRTUALLY_FRAME" val="{&quot;height&quot;:425.05,&quot;left&quot;:25.7,&quot;top&quot;:93.15,&quot;width&quot;:684.45}"/>
</p:tagLst>
</file>

<file path=ppt/tags/tag164.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65.xml><?xml version="1.0" encoding="utf-8"?>
<p:tagLst xmlns:p="http://schemas.openxmlformats.org/presentationml/2006/main">
  <p:tag name="KSO_WM_DIAGRAM_VIRTUALLY_FRAME" val="{&quot;height&quot;:425.05,&quot;left&quot;:25.7,&quot;top&quot;:93.15,&quot;width&quot;:684.45}"/>
</p:tagLst>
</file>

<file path=ppt/tags/tag166.xml><?xml version="1.0" encoding="utf-8"?>
<p:tagLst xmlns:p="http://schemas.openxmlformats.org/presentationml/2006/main">
  <p:tag name="KSO_WM_DIAGRAM_VIRTUALLY_FRAME" val="{&quot;height&quot;:425.05,&quot;left&quot;:25.7,&quot;top&quot;:93.15,&quot;width&quot;:684.45}"/>
</p:tagLst>
</file>

<file path=ppt/tags/tag167.xml><?xml version="1.0" encoding="utf-8"?>
<p:tagLst xmlns:p="http://schemas.openxmlformats.org/presentationml/2006/main">
  <p:tag name="KSO_WM_DIAGRAM_VIRTUALLY_FRAME" val="{&quot;height&quot;:425.05,&quot;left&quot;:25.7,&quot;top&quot;:93.15,&quot;width&quot;:684.45}"/>
</p:tagLst>
</file>

<file path=ppt/tags/tag168.xml><?xml version="1.0" encoding="utf-8"?>
<p:tagLst xmlns:p="http://schemas.openxmlformats.org/presentationml/2006/main">
  <p:tag name="KSO_WM_BEAUTIFY_FLAG" val=""/>
  <p:tag name="KSO_WM_DIAGRAM_VIRTUALLY_FRAME" val="{&quot;height&quot;:425.05,&quot;left&quot;:25.7,&quot;top&quot;:93.15,&quot;width&quot;:684.45}"/>
</p:tagLst>
</file>

<file path=ppt/tags/tag169.xml><?xml version="1.0" encoding="utf-8"?>
<p:tagLst xmlns:p="http://schemas.openxmlformats.org/presentationml/2006/main">
  <p:tag name="KSO_WM_BEAUTIFY_FLAG" val=""/>
  <p:tag name="KSO_WM_DIAGRAM_VIRTUALLY_FRAME" val="{&quot;height&quot;:425.05,&quot;left&quot;:25.7,&quot;top&quot;:93.15,&quot;width&quot;:684.45}"/>
</p:tagLst>
</file>

<file path=ppt/tags/tag170.xml><?xml version="1.0" encoding="utf-8"?>
<p:tagLst xmlns:p="http://schemas.openxmlformats.org/presentationml/2006/main">
  <p:tag name="KSO_WM_BEAUTIFY_FLAG" val=""/>
  <p:tag name="KSO_WM_DIAGRAM_VIRTUALLY_FRAME" val="{&quot;height&quot;:425.05,&quot;left&quot;:25.7,&quot;top&quot;:93.15,&quot;width&quot;:684.45}"/>
</p:tagLst>
</file>

<file path=ppt/tags/tag171.xml><?xml version="1.0" encoding="utf-8"?>
<p:tagLst xmlns:p="http://schemas.openxmlformats.org/presentationml/2006/main">
  <p:tag name="KSO_WM_BEAUTIFY_FLAG" val=""/>
  <p:tag name="KSO_WM_DIAGRAM_VIRTUALLY_FRAME" val="{&quot;height&quot;:425.05,&quot;left&quot;:25.7,&quot;top&quot;:93.15,&quot;width&quot;:684.45}"/>
</p:tagLst>
</file>

<file path=ppt/tags/tag172.xml><?xml version="1.0" encoding="utf-8"?>
<p:tagLst xmlns:p="http://schemas.openxmlformats.org/presentationml/2006/main">
  <p:tag name="KSO_WM_DIAGRAM_VIRTUALLY_FRAME" val="{&quot;height&quot;:425.05,&quot;left&quot;:25.7,&quot;top&quot;:93.15,&quot;width&quot;:684.45}"/>
</p:tagLst>
</file>

<file path=ppt/tags/tag173.xml><?xml version="1.0" encoding="utf-8"?>
<p:tagLst xmlns:p="http://schemas.openxmlformats.org/presentationml/2006/main">
  <p:tag name="KSO_WM_DIAGRAM_VIRTUALLY_FRAME" val="{&quot;height&quot;:425.05,&quot;left&quot;:25.7,&quot;top&quot;:93.15,&quot;width&quot;:684.45}"/>
</p:tagLst>
</file>

<file path=ppt/tags/tag174.xml><?xml version="1.0" encoding="utf-8"?>
<p:tagLst xmlns:p="http://schemas.openxmlformats.org/presentationml/2006/main">
  <p:tag name="KSO_WM_DIAGRAM_VIRTUALLY_FRAME" val="{&quot;height&quot;:425.05,&quot;left&quot;:25.7,&quot;top&quot;:93.15,&quot;width&quot;:684.45}"/>
</p:tagLst>
</file>

<file path=ppt/tags/tag175.xml><?xml version="1.0" encoding="utf-8"?>
<p:tagLst xmlns:p="http://schemas.openxmlformats.org/presentationml/2006/main">
  <p:tag name="KSO_WM_BEAUTIFY_FLAG" val=""/>
  <p:tag name="KSO_WM_DIAGRAM_VIRTUALLY_FRAME" val="{&quot;height&quot;:425.05,&quot;left&quot;:25.7,&quot;top&quot;:93.15,&quot;width&quot;:684.45}"/>
</p:tagLst>
</file>

<file path=ppt/tags/tag176.xml><?xml version="1.0" encoding="utf-8"?>
<p:tagLst xmlns:p="http://schemas.openxmlformats.org/presentationml/2006/main">
  <p:tag name="KSO_WM_BEAUTIFY_FLAG" val=""/>
  <p:tag name="KSO_WM_DIAGRAM_VIRTUALLY_FRAME" val="{&quot;height&quot;:425.05,&quot;left&quot;:25.7,&quot;top&quot;:93.15,&quot;width&quot;:684.45}"/>
</p:tagLst>
</file>

<file path=ppt/tags/tag177.xml><?xml version="1.0" encoding="utf-8"?>
<p:tagLst xmlns:p="http://schemas.openxmlformats.org/presentationml/2006/main">
  <p:tag name="KSO_WM_BEAUTIFY_FLAG" val=""/>
  <p:tag name="KSO_WM_DIAGRAM_VIRTUALLY_FRAME" val="{&quot;height&quot;:425.05,&quot;left&quot;:25.7,&quot;top&quot;:93.15,&quot;width&quot;:684.45}"/>
</p:tagLst>
</file>

<file path=ppt/tags/tag178.xml><?xml version="1.0" encoding="utf-8"?>
<p:tagLst xmlns:p="http://schemas.openxmlformats.org/presentationml/2006/main">
  <p:tag name="KSO_WM_BEAUTIFY_FLAG" val=""/>
  <p:tag name="KSO_WM_DIAGRAM_VIRTUALLY_FRAME" val="{&quot;height&quot;:425.05,&quot;left&quot;:25.7,&quot;top&quot;:93.15,&quot;width&quot;:684.45}"/>
</p:tagLst>
</file>

<file path=ppt/tags/tag179.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80.xml><?xml version="1.0" encoding="utf-8"?>
<p:tagLst xmlns:p="http://schemas.openxmlformats.org/presentationml/2006/main">
  <p:tag name="KSO_WM_DIAGRAM_VIRTUALLY_FRAME" val="{&quot;height&quot;:161.1,&quot;left&quot;:12.55,&quot;top&quot;:365.7,&quot;width&quot;:700.2}"/>
</p:tagLst>
</file>

<file path=ppt/tags/tag181.xml><?xml version="1.0" encoding="utf-8"?>
<p:tagLst xmlns:p="http://schemas.openxmlformats.org/presentationml/2006/main">
  <p:tag name="KSO_WM_DIAGRAM_VIRTUALLY_FRAME" val="{&quot;height&quot;:161.1,&quot;left&quot;:12.55,&quot;top&quot;:365.7,&quot;width&quot;:700.2}"/>
</p:tagLst>
</file>

<file path=ppt/tags/tag182.xml><?xml version="1.0" encoding="utf-8"?>
<p:tagLst xmlns:p="http://schemas.openxmlformats.org/presentationml/2006/main">
  <p:tag name="KSO_WM_DIAGRAM_VIRTUALLY_FRAME" val="{&quot;height&quot;:161.1,&quot;left&quot;:12.55,&quot;top&quot;:365.7,&quot;width&quot;:700.2}"/>
</p:tagLst>
</file>

<file path=ppt/tags/tag183.xml><?xml version="1.0" encoding="utf-8"?>
<p:tagLst xmlns:p="http://schemas.openxmlformats.org/presentationml/2006/main">
  <p:tag name="KSO_WM_BEAUTIFY_FLAG" val=""/>
  <p:tag name="KSO_WM_DIAGRAM_VIRTUALLY_FRAME" val="{&quot;height&quot;:161.1,&quot;left&quot;:12.55,&quot;top&quot;:365.7,&quot;width&quot;:700.2}"/>
</p:tagLst>
</file>

<file path=ppt/tags/tag184.xml><?xml version="1.0" encoding="utf-8"?>
<p:tagLst xmlns:p="http://schemas.openxmlformats.org/presentationml/2006/main">
  <p:tag name="KSO_WM_DIAGRAM_VIRTUALLY_FRAME" val="{&quot;height&quot;:161.1,&quot;left&quot;:12.55,&quot;top&quot;:365.7,&quot;width&quot;:700.2}"/>
</p:tagLst>
</file>

<file path=ppt/tags/tag185.xml><?xml version="1.0" encoding="utf-8"?>
<p:tagLst xmlns:p="http://schemas.openxmlformats.org/presentationml/2006/main">
  <p:tag name="KSO_WM_DIAGRAM_VIRTUALLY_FRAME" val="{&quot;height&quot;:161.1,&quot;left&quot;:12.55,&quot;top&quot;:365.7,&quot;width&quot;:700.2}"/>
</p:tagLst>
</file>

<file path=ppt/tags/tag186.xml><?xml version="1.0" encoding="utf-8"?>
<p:tagLst xmlns:p="http://schemas.openxmlformats.org/presentationml/2006/main">
  <p:tag name="KSO_WM_DIAGRAM_VIRTUALLY_FRAME" val="{&quot;height&quot;:161.1,&quot;left&quot;:12.55,&quot;top&quot;:365.7,&quot;width&quot;:700.2}"/>
</p:tagLst>
</file>

<file path=ppt/tags/tag187.xml><?xml version="1.0" encoding="utf-8"?>
<p:tagLst xmlns:p="http://schemas.openxmlformats.org/presentationml/2006/main">
  <p:tag name="KSO_WM_BEAUTIFY_FLAG" val=""/>
  <p:tag name="KSO_WM_DIAGRAM_VIRTUALLY_FRAME" val="{&quot;height&quot;:161.1,&quot;left&quot;:12.55,&quot;top&quot;:365.7,&quot;width&quot;:700.2}"/>
</p:tagLst>
</file>

<file path=ppt/tags/tag188.xml><?xml version="1.0" encoding="utf-8"?>
<p:tagLst xmlns:p="http://schemas.openxmlformats.org/presentationml/2006/main">
  <p:tag name="KSO_WM_DIAGRAM_VIRTUALLY_FRAME" val="{&quot;height&quot;:161.1,&quot;left&quot;:12.55,&quot;top&quot;:365.7,&quot;width&quot;:700.2}"/>
</p:tagLst>
</file>

<file path=ppt/tags/tag189.xml><?xml version="1.0" encoding="utf-8"?>
<p:tagLst xmlns:p="http://schemas.openxmlformats.org/presentationml/2006/main">
  <p:tag name="KSO_WM_DIAGRAM_VIRTUALLY_FRAME" val="{&quot;height&quot;:161.1,&quot;left&quot;:12.55,&quot;top&quot;:365.7,&quot;width&quot;:700.2}"/>
</p:tagLst>
</file>

<file path=ppt/tags/tag190.xml><?xml version="1.0" encoding="utf-8"?>
<p:tagLst xmlns:p="http://schemas.openxmlformats.org/presentationml/2006/main">
  <p:tag name="KSO_WM_DIAGRAM_VIRTUALLY_FRAME" val="{&quot;height&quot;:161.1,&quot;left&quot;:12.55,&quot;top&quot;:365.7,&quot;width&quot;:700.2}"/>
</p:tagLst>
</file>

<file path=ppt/tags/tag191.xml><?xml version="1.0" encoding="utf-8"?>
<p:tagLst xmlns:p="http://schemas.openxmlformats.org/presentationml/2006/main">
  <p:tag name="KSO_WM_BEAUTIFY_FLAG" val=""/>
  <p:tag name="KSO_WM_DIAGRAM_VIRTUALLY_FRAME" val="{&quot;height&quot;:161.1,&quot;left&quot;:12.55,&quot;top&quot;:365.7,&quot;width&quot;:700.2}"/>
</p:tagLst>
</file>

<file path=ppt/tags/tag192.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05.xml><?xml version="1.0" encoding="utf-8"?>
<p:tagLst xmlns:p="http://schemas.openxmlformats.org/presentationml/2006/main">
  <p:tag name="TABLE_ENDDRAG_ORIGIN_RECT" val="669*369"/>
  <p:tag name="TABLE_ENDDRAG_RECT" val="25*89*669*369"/>
  <p:tag name="KSO_WM_BEAUTIFY_FLAG" val=""/>
</p:tagLst>
</file>

<file path=ppt/tags/tag206.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07.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08.xml><?xml version="1.0" encoding="utf-8"?>
<p:tagLst xmlns:p="http://schemas.openxmlformats.org/presentationml/2006/main">
  <p:tag name="TABLE_ENDDRAG_ORIGIN_RECT" val="669*369"/>
  <p:tag name="TABLE_ENDDRAG_RECT" val="25*89*669*369"/>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28.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84.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89.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92.xml><?xml version="1.0" encoding="utf-8"?>
<p:tagLst xmlns:p="http://schemas.openxmlformats.org/presentationml/2006/main">
  <p:tag name="KSO_WM_BEAUTIFY_FLAG" val=""/>
  <p:tag name="KSO_WM_DIAGRAM_VIRTUALLY_FRAME" val="{&quot;height&quot;:298.26606299212597,&quot;left&quot;:42.45,&quot;top&quot;:184.583937007874,&quot;width&quot;:634.8064566929132}"/>
</p:tagLst>
</file>

<file path=ppt/tags/tag293.xml><?xml version="1.0" encoding="utf-8"?>
<p:tagLst xmlns:p="http://schemas.openxmlformats.org/presentationml/2006/main">
  <p:tag name="KSO_WM_BEAUTIFY_FLAG" val=""/>
  <p:tag name="KSO_WM_DIAGRAM_VIRTUALLY_FRAME" val="{&quot;height&quot;:298.26606299212597,&quot;left&quot;:42.45,&quot;top&quot;:184.583937007874,&quot;width&quot;:634.8064566929132}"/>
</p:tagLst>
</file>

<file path=ppt/tags/tag294.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95.xml><?xml version="1.0" encoding="utf-8"?>
<p:tagLst xmlns:p="http://schemas.openxmlformats.org/presentationml/2006/main">
  <p:tag name="COMMONDATA" val="eyJoZGlkIjoiNDUxNDRmZTYxNjQwM2M4NjVhYzJmODQwZmNjMGNiZGEifQ=="/>
  <p:tag name="commondata" val="eyJoZGlkIjoiN2VmOTA5NWU3YWJkYWNlZTAyNjRlNDZhNGQzYTI3ZWQifQ=="/>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noFill/>
        </a:ln>
      </a:spPr>
      <a:bodyPr numCol="2" spcCol="36000"/>
      <a:lstStyle>
        <a:defPPr marL="69850" indent="0" algn="just" fontAlgn="auto">
          <a:lnSpc>
            <a:spcPct val="130000"/>
          </a:lnSpc>
          <a:spcBef>
            <a:spcPts val="0"/>
          </a:spcBef>
          <a:spcAft>
            <a:spcPts val="600"/>
          </a:spcAft>
          <a:buClr>
            <a:schemeClr val="tx2"/>
          </a:buClr>
          <a:defRPr lang="en-US" sz="1400" b="0" noProof="0" dirty="0">
            <a:ln>
              <a:noFill/>
            </a:ln>
            <a:solidFill>
              <a:schemeClr val="tx1"/>
            </a:solidFill>
            <a:effectLst/>
            <a:uLnTx/>
            <a:uFillTx/>
            <a:latin typeface="Times New Roman" panose="02020603050405020304" pitchFamily="18" charset="0"/>
            <a:ea typeface="Microsoft YaHei" panose="020B0503020204020204" charset="-122"/>
            <a:cs typeface="Times New Roman" panose="02020603050405020304" pitchFamily="18" charset="0"/>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14441</Words>
  <Application>WPS 演示</Application>
  <PresentationFormat>全屏显示(4:3)</PresentationFormat>
  <Paragraphs>1485</Paragraphs>
  <Slides>38</Slides>
  <Notes>41</Notes>
  <HiddenSlides>12</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38</vt:i4>
      </vt:variant>
    </vt:vector>
  </HeadingPairs>
  <TitlesOfParts>
    <vt:vector size="57" baseType="lpstr">
      <vt:lpstr>Arial</vt:lpstr>
      <vt:lpstr>SimSun</vt:lpstr>
      <vt:lpstr>Wingdings</vt:lpstr>
      <vt:lpstr>Times New Roman</vt:lpstr>
      <vt:lpstr>Microsoft YaHei</vt:lpstr>
      <vt:lpstr>Wingdings</vt:lpstr>
      <vt:lpstr>华文细黑</vt:lpstr>
      <vt:lpstr>Arial Unicode MS</vt:lpstr>
      <vt:lpstr>Calibri</vt:lpstr>
      <vt:lpstr>DengXian Light</vt:lpstr>
      <vt:lpstr>Cambria Math</vt:lpstr>
      <vt:lpstr>MS Mincho</vt:lpstr>
      <vt:lpstr>华文细黑</vt:lpstr>
      <vt:lpstr>Ms.Luce</vt:lpstr>
      <vt:lpstr>WPS</vt:lpstr>
      <vt:lpstr>Equation.KSEE3</vt:lpstr>
      <vt:lpstr>Equation.KSEE3</vt:lpstr>
      <vt:lpstr>Equation.KSEE3</vt:lpstr>
      <vt:lpstr>Equation.KSEE3</vt:lpstr>
      <vt:lpstr>面向云边端协同的跨域分布式训练 通信优化技术研究</vt:lpstr>
      <vt:lpstr>PowerPoint 演示文稿</vt:lpstr>
      <vt:lpstr>研究背景与意义</vt:lpstr>
      <vt:lpstr>研究背景与意义</vt:lpstr>
      <vt:lpstr>研究背景与意义</vt:lpstr>
      <vt:lpstr>国内外研究现状 - 云边端跨域训练压缩策略</vt:lpstr>
      <vt:lpstr>国内外研究现状 – 云边端跨域集合通信设计</vt:lpstr>
      <vt:lpstr>国内外研究现状 – 通信掩盖与同步尾部优化</vt:lpstr>
      <vt:lpstr>关键科学问题</vt:lpstr>
      <vt:lpstr>研究目标</vt:lpstr>
      <vt:lpstr>研究方案-总体研究方案概述</vt:lpstr>
      <vt:lpstr>核心技术-分布式优化器低比特量化方法</vt:lpstr>
      <vt:lpstr>核心技术-分布式优化器低比特量化方法</vt:lpstr>
      <vt:lpstr>核心技术-分布式优化器低比特量化方法</vt:lpstr>
      <vt:lpstr>核心技术-分布式优化器低比特量化方法</vt:lpstr>
      <vt:lpstr>核心技术-层次化梯度流水通信调度策略</vt:lpstr>
      <vt:lpstr>核心技术-层次化梯度流水通信调度策略</vt:lpstr>
      <vt:lpstr>核心技术-通信受限场景下的计算通信掩盖策略</vt:lpstr>
      <vt:lpstr>实验结果-通信受限场景下的计算通信掩盖策略</vt:lpstr>
      <vt:lpstr>预期成果</vt:lpstr>
      <vt:lpstr>尚未完成的工作</vt:lpstr>
      <vt:lpstr>研究计划</vt:lpstr>
      <vt:lpstr>谢谢各位老师，敬请指正</vt:lpstr>
      <vt:lpstr>国内外研究现状 - 模型微调并行策略</vt:lpstr>
      <vt:lpstr>研究方案-基于并行策略计划与网络状态感知的跨域集合通信方法</vt:lpstr>
      <vt:lpstr>PowerPoint 演示文稿</vt:lpstr>
      <vt:lpstr>研究背景与意义</vt:lpstr>
      <vt:lpstr>研究背景与意义</vt:lpstr>
      <vt:lpstr>研究背景与意义</vt:lpstr>
      <vt:lpstr>关键科学问题</vt:lpstr>
      <vt:lpstr>研究目标</vt:lpstr>
      <vt:lpstr>研究方案-总体研究方案概述</vt:lpstr>
      <vt:lpstr>研究背景与意义</vt:lpstr>
      <vt:lpstr>研究背景与意义</vt:lpstr>
      <vt:lpstr>研究背景与意义</vt:lpstr>
      <vt:lpstr>研究背景与意义</vt:lpstr>
      <vt:lpstr>研究背景与意义</vt:lpstr>
      <vt:lpstr>研究背景与意义</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2023年国家重点研发计划“先进计算与新兴软件”重点专项申报  面向云边端协同的芯粒结构与系统软件项目申报</dc:title>
  <dc:creator/>
  <cp:lastModifiedBy>李云潼</cp:lastModifiedBy>
  <cp:revision>381</cp:revision>
  <dcterms:created xsi:type="dcterms:W3CDTF">2025-06-25T19:35:00Z</dcterms:created>
  <dcterms:modified xsi:type="dcterms:W3CDTF">2026-05-18T11:15:28Z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053EAED3F2A44681B8FDA32A824DBF2E_13</vt:lpwstr>
  </property>
</Properties>
</file>